
<file path=[Content_Types].xml><?xml version="1.0" encoding="utf-8"?>
<Types xmlns="http://schemas.openxmlformats.org/package/2006/content-types">
  <Default Extension="png" ContentType="image/png"/>
  <Default Extension="emf" ContentType="image/x-emf"/>
  <Default Extension="xls" ContentType="application/vnd.ms-excel"/>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6"/>
  </p:notesMasterIdLst>
  <p:sldIdLst>
    <p:sldId id="256" r:id="rId2"/>
    <p:sldId id="261" r:id="rId3"/>
    <p:sldId id="262" r:id="rId4"/>
    <p:sldId id="257" r:id="rId5"/>
    <p:sldId id="359" r:id="rId6"/>
    <p:sldId id="336" r:id="rId7"/>
    <p:sldId id="337" r:id="rId8"/>
    <p:sldId id="338" r:id="rId9"/>
    <p:sldId id="339" r:id="rId10"/>
    <p:sldId id="340" r:id="rId11"/>
    <p:sldId id="341" r:id="rId12"/>
    <p:sldId id="342" r:id="rId13"/>
    <p:sldId id="343" r:id="rId14"/>
    <p:sldId id="344" r:id="rId15"/>
    <p:sldId id="360" r:id="rId16"/>
    <p:sldId id="345" r:id="rId17"/>
    <p:sldId id="264" r:id="rId18"/>
    <p:sldId id="347" r:id="rId19"/>
    <p:sldId id="346" r:id="rId20"/>
    <p:sldId id="348" r:id="rId21"/>
    <p:sldId id="349" r:id="rId22"/>
    <p:sldId id="396" r:id="rId23"/>
    <p:sldId id="361" r:id="rId24"/>
    <p:sldId id="279" r:id="rId25"/>
    <p:sldId id="300" r:id="rId26"/>
    <p:sldId id="301" r:id="rId27"/>
    <p:sldId id="302" r:id="rId28"/>
    <p:sldId id="357" r:id="rId29"/>
    <p:sldId id="358" r:id="rId30"/>
    <p:sldId id="303" r:id="rId31"/>
    <p:sldId id="352" r:id="rId32"/>
    <p:sldId id="351" r:id="rId33"/>
    <p:sldId id="353" r:id="rId34"/>
    <p:sldId id="354" r:id="rId35"/>
    <p:sldId id="356" r:id="rId36"/>
    <p:sldId id="362" r:id="rId37"/>
    <p:sldId id="267" r:id="rId38"/>
    <p:sldId id="363" r:id="rId39"/>
    <p:sldId id="281" r:id="rId40"/>
    <p:sldId id="304" r:id="rId41"/>
    <p:sldId id="305" r:id="rId42"/>
    <p:sldId id="364" r:id="rId43"/>
    <p:sldId id="283" r:id="rId44"/>
    <p:sldId id="308" r:id="rId45"/>
    <p:sldId id="380" r:id="rId46"/>
    <p:sldId id="271" r:id="rId47"/>
    <p:sldId id="381" r:id="rId48"/>
    <p:sldId id="289" r:id="rId49"/>
    <p:sldId id="323" r:id="rId50"/>
    <p:sldId id="382" r:id="rId51"/>
    <p:sldId id="273" r:id="rId52"/>
    <p:sldId id="383" r:id="rId53"/>
    <p:sldId id="291" r:id="rId54"/>
    <p:sldId id="324" r:id="rId55"/>
    <p:sldId id="325" r:id="rId56"/>
    <p:sldId id="326" r:id="rId57"/>
    <p:sldId id="393" r:id="rId58"/>
    <p:sldId id="327" r:id="rId59"/>
    <p:sldId id="390" r:id="rId60"/>
    <p:sldId id="384" r:id="rId61"/>
    <p:sldId id="293" r:id="rId62"/>
    <p:sldId id="328" r:id="rId63"/>
    <p:sldId id="329" r:id="rId64"/>
    <p:sldId id="330" r:id="rId65"/>
    <p:sldId id="331" r:id="rId66"/>
    <p:sldId id="385" r:id="rId67"/>
    <p:sldId id="275" r:id="rId68"/>
    <p:sldId id="391" r:id="rId69"/>
    <p:sldId id="392" r:id="rId70"/>
    <p:sldId id="386" r:id="rId71"/>
    <p:sldId id="295" r:id="rId72"/>
    <p:sldId id="332" r:id="rId73"/>
    <p:sldId id="387" r:id="rId74"/>
    <p:sldId id="367" r:id="rId75"/>
    <p:sldId id="388" r:id="rId76"/>
    <p:sldId id="369" r:id="rId77"/>
    <p:sldId id="370" r:id="rId78"/>
    <p:sldId id="371" r:id="rId79"/>
    <p:sldId id="372" r:id="rId80"/>
    <p:sldId id="389" r:id="rId81"/>
    <p:sldId id="375" r:id="rId82"/>
    <p:sldId id="376" r:id="rId83"/>
    <p:sldId id="395" r:id="rId84"/>
    <p:sldId id="394" r:id="rId85"/>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4" d="100"/>
          <a:sy n="64" d="100"/>
        </p:scale>
        <p:origin x="84" y="438"/>
      </p:cViewPr>
      <p:guideLst/>
    </p:cSldViewPr>
  </p:slideViewPr>
  <p:notesTextViewPr>
    <p:cViewPr>
      <p:scale>
        <a:sx n="1" d="1"/>
        <a:sy n="1" d="1"/>
      </p:scale>
      <p:origin x="0" y="0"/>
    </p:cViewPr>
  </p:notesTextViewPr>
  <p:sorterViewPr>
    <p:cViewPr varScale="1">
      <p:scale>
        <a:sx n="100" d="100"/>
        <a:sy n="100" d="100"/>
      </p:scale>
      <p:origin x="0" y="-1850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ableStyles" Target="tableStyle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AA0D40-8378-4061-8E46-32D276A63578}"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E3140728-4C68-4510-A64F-0A839B6185DC}">
      <dgm:prSet phldrT="[Text]"/>
      <dgm:spPr/>
      <dgm:t>
        <a:bodyPr/>
        <a:lstStyle/>
        <a:p>
          <a:r>
            <a:rPr lang="en-US" dirty="0" smtClean="0"/>
            <a:t>Handling missing values</a:t>
          </a:r>
          <a:endParaRPr lang="en-US" dirty="0"/>
        </a:p>
      </dgm:t>
    </dgm:pt>
    <dgm:pt modelId="{28BDE59F-B38C-46D1-B536-CCB317DD8CCD}" type="parTrans" cxnId="{9C74188B-84BD-4276-BA26-874FBA0E391E}">
      <dgm:prSet/>
      <dgm:spPr/>
      <dgm:t>
        <a:bodyPr/>
        <a:lstStyle/>
        <a:p>
          <a:endParaRPr lang="en-US"/>
        </a:p>
      </dgm:t>
    </dgm:pt>
    <dgm:pt modelId="{A7AA57CF-84CF-4BCC-8601-67BCF2C05D01}" type="sibTrans" cxnId="{9C74188B-84BD-4276-BA26-874FBA0E391E}">
      <dgm:prSet/>
      <dgm:spPr/>
      <dgm:t>
        <a:bodyPr/>
        <a:lstStyle/>
        <a:p>
          <a:endParaRPr lang="en-US"/>
        </a:p>
      </dgm:t>
    </dgm:pt>
    <dgm:pt modelId="{D36012C4-EC86-437C-AE61-A0EC9E151431}">
      <dgm:prSet phldrT="[Text]"/>
      <dgm:spPr>
        <a:solidFill>
          <a:schemeClr val="accent1">
            <a:hueOff val="0"/>
            <a:satOff val="0"/>
            <a:lumOff val="0"/>
          </a:schemeClr>
        </a:solidFill>
      </dgm:spPr>
      <dgm:t>
        <a:bodyPr/>
        <a:lstStyle/>
        <a:p>
          <a:r>
            <a:rPr lang="en-US" dirty="0" smtClean="0"/>
            <a:t>Data deletion</a:t>
          </a:r>
          <a:endParaRPr lang="en-US" dirty="0"/>
        </a:p>
      </dgm:t>
    </dgm:pt>
    <dgm:pt modelId="{7F228A30-73B7-4549-9456-0DE9608E5533}" type="parTrans" cxnId="{0F012984-5B8E-4883-B7DB-8CD92680ACE7}">
      <dgm:prSet/>
      <dgm:spPr/>
      <dgm:t>
        <a:bodyPr/>
        <a:lstStyle/>
        <a:p>
          <a:endParaRPr lang="en-US"/>
        </a:p>
      </dgm:t>
    </dgm:pt>
    <dgm:pt modelId="{6B8E905E-9AA6-4A7A-9981-35E501461C99}" type="sibTrans" cxnId="{0F012984-5B8E-4883-B7DB-8CD92680ACE7}">
      <dgm:prSet/>
      <dgm:spPr/>
      <dgm:t>
        <a:bodyPr/>
        <a:lstStyle/>
        <a:p>
          <a:endParaRPr lang="en-US"/>
        </a:p>
      </dgm:t>
    </dgm:pt>
    <dgm:pt modelId="{05F0ED99-F09C-44D5-B074-321D5AAB3499}">
      <dgm:prSet phldrT="[Text]"/>
      <dgm:spPr/>
      <dgm:t>
        <a:bodyPr/>
        <a:lstStyle/>
        <a:p>
          <a:r>
            <a:rPr lang="en-US" dirty="0" smtClean="0"/>
            <a:t>Delete entire row</a:t>
          </a:r>
          <a:endParaRPr lang="en-US" dirty="0"/>
        </a:p>
      </dgm:t>
    </dgm:pt>
    <dgm:pt modelId="{E8A5D672-594C-4793-AD15-F9B3D52F852E}" type="parTrans" cxnId="{1092742D-BA29-41BB-BC0E-F0FF2207A6AF}">
      <dgm:prSet/>
      <dgm:spPr/>
      <dgm:t>
        <a:bodyPr/>
        <a:lstStyle/>
        <a:p>
          <a:endParaRPr lang="en-US"/>
        </a:p>
      </dgm:t>
    </dgm:pt>
    <dgm:pt modelId="{2884879E-A8A8-4B71-81BD-F585C2EF3BF5}" type="sibTrans" cxnId="{1092742D-BA29-41BB-BC0E-F0FF2207A6AF}">
      <dgm:prSet/>
      <dgm:spPr/>
      <dgm:t>
        <a:bodyPr/>
        <a:lstStyle/>
        <a:p>
          <a:endParaRPr lang="en-US"/>
        </a:p>
      </dgm:t>
    </dgm:pt>
    <dgm:pt modelId="{5197198E-321E-48F3-8693-9D0392899E82}">
      <dgm:prSet phldrT="[Text]"/>
      <dgm:spPr/>
      <dgm:t>
        <a:bodyPr/>
        <a:lstStyle/>
        <a:p>
          <a:r>
            <a:rPr lang="en-US" dirty="0" smtClean="0"/>
            <a:t>Delete entire column</a:t>
          </a:r>
          <a:endParaRPr lang="en-US" dirty="0"/>
        </a:p>
      </dgm:t>
    </dgm:pt>
    <dgm:pt modelId="{F01C4E5D-FCC7-44FF-9E65-515C3744BBA1}" type="parTrans" cxnId="{40D5DAEF-343D-4AC6-AADC-E46C226874BC}">
      <dgm:prSet/>
      <dgm:spPr/>
      <dgm:t>
        <a:bodyPr/>
        <a:lstStyle/>
        <a:p>
          <a:endParaRPr lang="en-US"/>
        </a:p>
      </dgm:t>
    </dgm:pt>
    <dgm:pt modelId="{D9DD0617-86A0-4FC3-B79B-A20772539E8F}" type="sibTrans" cxnId="{40D5DAEF-343D-4AC6-AADC-E46C226874BC}">
      <dgm:prSet/>
      <dgm:spPr/>
      <dgm:t>
        <a:bodyPr/>
        <a:lstStyle/>
        <a:p>
          <a:endParaRPr lang="en-US"/>
        </a:p>
      </dgm:t>
    </dgm:pt>
    <dgm:pt modelId="{66C5773C-2FF0-4002-9433-A966C06E4922}">
      <dgm:prSet phldrT="[Text]"/>
      <dgm:spPr/>
      <dgm:t>
        <a:bodyPr/>
        <a:lstStyle/>
        <a:p>
          <a:r>
            <a:rPr lang="en-US" dirty="0" smtClean="0"/>
            <a:t>Data imputation</a:t>
          </a:r>
          <a:endParaRPr lang="en-US" dirty="0"/>
        </a:p>
      </dgm:t>
    </dgm:pt>
    <dgm:pt modelId="{47261596-1C70-4185-843D-F7AF3AECFB23}" type="parTrans" cxnId="{A5243E41-32EC-4EB5-A8D5-A4D1B696876A}">
      <dgm:prSet/>
      <dgm:spPr/>
      <dgm:t>
        <a:bodyPr/>
        <a:lstStyle/>
        <a:p>
          <a:endParaRPr lang="en-US"/>
        </a:p>
      </dgm:t>
    </dgm:pt>
    <dgm:pt modelId="{13F77E02-8DF5-49AF-AFD7-0A22D61E5279}" type="sibTrans" cxnId="{A5243E41-32EC-4EB5-A8D5-A4D1B696876A}">
      <dgm:prSet/>
      <dgm:spPr/>
      <dgm:t>
        <a:bodyPr/>
        <a:lstStyle/>
        <a:p>
          <a:endParaRPr lang="en-US"/>
        </a:p>
      </dgm:t>
    </dgm:pt>
    <dgm:pt modelId="{426DD187-176C-4AEA-BBAD-AE3CA82978BB}">
      <dgm:prSet phldrT="[Text]"/>
      <dgm:spPr/>
      <dgm:t>
        <a:bodyPr/>
        <a:lstStyle/>
        <a:p>
          <a:r>
            <a:rPr lang="en-US" dirty="0" smtClean="0"/>
            <a:t>Impute a constant value</a:t>
          </a:r>
          <a:endParaRPr lang="en-US" dirty="0"/>
        </a:p>
      </dgm:t>
    </dgm:pt>
    <dgm:pt modelId="{F7E99CC3-CD71-40B0-AD84-E01668803050}" type="parTrans" cxnId="{917FD3AE-582D-4011-BC84-82DF3A9DDF76}">
      <dgm:prSet/>
      <dgm:spPr/>
      <dgm:t>
        <a:bodyPr/>
        <a:lstStyle/>
        <a:p>
          <a:endParaRPr lang="en-US"/>
        </a:p>
      </dgm:t>
    </dgm:pt>
    <dgm:pt modelId="{BD113A17-5683-49FA-9808-6AE454630B61}" type="sibTrans" cxnId="{917FD3AE-582D-4011-BC84-82DF3A9DDF76}">
      <dgm:prSet/>
      <dgm:spPr/>
      <dgm:t>
        <a:bodyPr/>
        <a:lstStyle/>
        <a:p>
          <a:endParaRPr lang="en-US"/>
        </a:p>
      </dgm:t>
    </dgm:pt>
    <dgm:pt modelId="{176AF77E-0AE3-4678-8BA7-BFA40609006C}">
      <dgm:prSet/>
      <dgm:spPr/>
      <dgm:t>
        <a:bodyPr/>
        <a:lstStyle/>
        <a:p>
          <a:r>
            <a:rPr lang="en-US" dirty="0" smtClean="0"/>
            <a:t>Impute with mean …</a:t>
          </a:r>
          <a:endParaRPr lang="en-US" dirty="0"/>
        </a:p>
      </dgm:t>
    </dgm:pt>
    <dgm:pt modelId="{9A854A59-B857-4075-BADF-6F0CA9A1D3ED}" type="parTrans" cxnId="{E138B276-6831-4F14-BE9C-136F3BF1703E}">
      <dgm:prSet/>
      <dgm:spPr/>
      <dgm:t>
        <a:bodyPr/>
        <a:lstStyle/>
        <a:p>
          <a:endParaRPr lang="en-US"/>
        </a:p>
      </dgm:t>
    </dgm:pt>
    <dgm:pt modelId="{14166C62-9B46-4A06-9A59-4A84B5D9948F}" type="sibTrans" cxnId="{E138B276-6831-4F14-BE9C-136F3BF1703E}">
      <dgm:prSet/>
      <dgm:spPr/>
      <dgm:t>
        <a:bodyPr/>
        <a:lstStyle/>
        <a:p>
          <a:endParaRPr lang="en-US"/>
        </a:p>
      </dgm:t>
    </dgm:pt>
    <dgm:pt modelId="{12E22FD5-2E7C-405C-B20D-5225C2BEB88C}">
      <dgm:prSet/>
      <dgm:spPr/>
      <dgm:t>
        <a:bodyPr/>
        <a:lstStyle/>
        <a:p>
          <a:r>
            <a:rPr lang="en-US" dirty="0" smtClean="0"/>
            <a:t>Impute from neighbors</a:t>
          </a:r>
          <a:endParaRPr lang="en-US" dirty="0"/>
        </a:p>
      </dgm:t>
    </dgm:pt>
    <dgm:pt modelId="{C2D67413-B134-459C-8B90-AB5CDB3216A0}" type="parTrans" cxnId="{6EC1BAD8-BB30-4921-881C-E598A97CE798}">
      <dgm:prSet/>
      <dgm:spPr/>
      <dgm:t>
        <a:bodyPr/>
        <a:lstStyle/>
        <a:p>
          <a:endParaRPr lang="en-US"/>
        </a:p>
      </dgm:t>
    </dgm:pt>
    <dgm:pt modelId="{9B9180CE-D3D3-4034-919D-8C6FBBDBF943}" type="sibTrans" cxnId="{6EC1BAD8-BB30-4921-881C-E598A97CE798}">
      <dgm:prSet/>
      <dgm:spPr/>
      <dgm:t>
        <a:bodyPr/>
        <a:lstStyle/>
        <a:p>
          <a:endParaRPr lang="en-US"/>
        </a:p>
      </dgm:t>
    </dgm:pt>
    <dgm:pt modelId="{BF20A900-3CD1-408F-AF1D-FEF9000377DA}">
      <dgm:prSet/>
      <dgm:spPr/>
      <dgm:t>
        <a:bodyPr/>
        <a:lstStyle/>
        <a:p>
          <a:r>
            <a:rPr lang="en-US" dirty="0" smtClean="0"/>
            <a:t>Impute based on a model</a:t>
          </a:r>
          <a:endParaRPr lang="en-US" dirty="0"/>
        </a:p>
      </dgm:t>
    </dgm:pt>
    <dgm:pt modelId="{7047C23C-9D28-4510-B080-58BF04EA0A94}" type="parTrans" cxnId="{C5729FE5-BB76-43D8-B890-45FCA68E92EC}">
      <dgm:prSet/>
      <dgm:spPr/>
      <dgm:t>
        <a:bodyPr/>
        <a:lstStyle/>
        <a:p>
          <a:endParaRPr lang="en-US"/>
        </a:p>
      </dgm:t>
    </dgm:pt>
    <dgm:pt modelId="{A75AD81E-4D2E-4485-94F7-60B699EDF0D0}" type="sibTrans" cxnId="{C5729FE5-BB76-43D8-B890-45FCA68E92EC}">
      <dgm:prSet/>
      <dgm:spPr/>
      <dgm:t>
        <a:bodyPr/>
        <a:lstStyle/>
        <a:p>
          <a:endParaRPr lang="en-US"/>
        </a:p>
      </dgm:t>
    </dgm:pt>
    <dgm:pt modelId="{2CC87071-2782-4BB2-AB31-9E42328CE391}">
      <dgm:prSet/>
      <dgm:spPr/>
      <dgm:t>
        <a:bodyPr/>
        <a:lstStyle/>
        <a:p>
          <a:r>
            <a:rPr lang="en-US" dirty="0" smtClean="0"/>
            <a:t>Impute randomly</a:t>
          </a:r>
          <a:endParaRPr lang="en-US" dirty="0"/>
        </a:p>
      </dgm:t>
    </dgm:pt>
    <dgm:pt modelId="{8E55C8F9-BC9D-4BC8-8E9A-DC8ADBD2F3FE}" type="parTrans" cxnId="{C0B4CFA6-5053-421C-A817-B1A6AC388055}">
      <dgm:prSet/>
      <dgm:spPr/>
      <dgm:t>
        <a:bodyPr/>
        <a:lstStyle/>
        <a:p>
          <a:endParaRPr lang="en-US"/>
        </a:p>
      </dgm:t>
    </dgm:pt>
    <dgm:pt modelId="{4ECE4069-8C90-46FB-8DA0-0F54FEDCBC35}" type="sibTrans" cxnId="{C0B4CFA6-5053-421C-A817-B1A6AC388055}">
      <dgm:prSet/>
      <dgm:spPr/>
      <dgm:t>
        <a:bodyPr/>
        <a:lstStyle/>
        <a:p>
          <a:endParaRPr lang="en-US"/>
        </a:p>
      </dgm:t>
    </dgm:pt>
    <dgm:pt modelId="{49C505C5-A73F-441F-BA2D-F19D6B0B502A}" type="pres">
      <dgm:prSet presAssocID="{01AA0D40-8378-4061-8E46-32D276A63578}" presName="diagram" presStyleCnt="0">
        <dgm:presLayoutVars>
          <dgm:chPref val="1"/>
          <dgm:dir/>
          <dgm:animOne val="branch"/>
          <dgm:animLvl val="lvl"/>
          <dgm:resizeHandles val="exact"/>
        </dgm:presLayoutVars>
      </dgm:prSet>
      <dgm:spPr/>
      <dgm:t>
        <a:bodyPr/>
        <a:lstStyle/>
        <a:p>
          <a:endParaRPr lang="en-US"/>
        </a:p>
      </dgm:t>
    </dgm:pt>
    <dgm:pt modelId="{FAECBA84-2C0C-4FED-ADF2-964C64FD0D77}" type="pres">
      <dgm:prSet presAssocID="{E3140728-4C68-4510-A64F-0A839B6185DC}" presName="root1" presStyleCnt="0"/>
      <dgm:spPr/>
    </dgm:pt>
    <dgm:pt modelId="{AF1F3480-D68A-4E21-A757-8B42ACC27FF6}" type="pres">
      <dgm:prSet presAssocID="{E3140728-4C68-4510-A64F-0A839B6185DC}" presName="LevelOneTextNode" presStyleLbl="node0" presStyleIdx="0" presStyleCnt="1">
        <dgm:presLayoutVars>
          <dgm:chPref val="3"/>
        </dgm:presLayoutVars>
      </dgm:prSet>
      <dgm:spPr/>
      <dgm:t>
        <a:bodyPr/>
        <a:lstStyle/>
        <a:p>
          <a:endParaRPr lang="en-US"/>
        </a:p>
      </dgm:t>
    </dgm:pt>
    <dgm:pt modelId="{4CB180C1-189B-4D53-8D78-72795AE626F6}" type="pres">
      <dgm:prSet presAssocID="{E3140728-4C68-4510-A64F-0A839B6185DC}" presName="level2hierChild" presStyleCnt="0"/>
      <dgm:spPr/>
    </dgm:pt>
    <dgm:pt modelId="{079E43DC-3B51-4A57-AF28-1225B5295667}" type="pres">
      <dgm:prSet presAssocID="{7F228A30-73B7-4549-9456-0DE9608E5533}" presName="conn2-1" presStyleLbl="parChTrans1D2" presStyleIdx="0" presStyleCnt="2"/>
      <dgm:spPr/>
      <dgm:t>
        <a:bodyPr/>
        <a:lstStyle/>
        <a:p>
          <a:endParaRPr lang="en-US"/>
        </a:p>
      </dgm:t>
    </dgm:pt>
    <dgm:pt modelId="{4DAE552B-6D17-4AC6-83C0-03E55E1C8B3D}" type="pres">
      <dgm:prSet presAssocID="{7F228A30-73B7-4549-9456-0DE9608E5533}" presName="connTx" presStyleLbl="parChTrans1D2" presStyleIdx="0" presStyleCnt="2"/>
      <dgm:spPr/>
      <dgm:t>
        <a:bodyPr/>
        <a:lstStyle/>
        <a:p>
          <a:endParaRPr lang="en-US"/>
        </a:p>
      </dgm:t>
    </dgm:pt>
    <dgm:pt modelId="{4E55848B-CED0-4845-B598-A50DF9BC886B}" type="pres">
      <dgm:prSet presAssocID="{D36012C4-EC86-437C-AE61-A0EC9E151431}" presName="root2" presStyleCnt="0"/>
      <dgm:spPr/>
    </dgm:pt>
    <dgm:pt modelId="{3D5FD036-6445-4E22-972E-EFDD941618A7}" type="pres">
      <dgm:prSet presAssocID="{D36012C4-EC86-437C-AE61-A0EC9E151431}" presName="LevelTwoTextNode" presStyleLbl="node2" presStyleIdx="0" presStyleCnt="2">
        <dgm:presLayoutVars>
          <dgm:chPref val="3"/>
        </dgm:presLayoutVars>
      </dgm:prSet>
      <dgm:spPr/>
      <dgm:t>
        <a:bodyPr/>
        <a:lstStyle/>
        <a:p>
          <a:endParaRPr lang="en-US"/>
        </a:p>
      </dgm:t>
    </dgm:pt>
    <dgm:pt modelId="{8FA7C848-4C28-455D-924D-D50F3B32B526}" type="pres">
      <dgm:prSet presAssocID="{D36012C4-EC86-437C-AE61-A0EC9E151431}" presName="level3hierChild" presStyleCnt="0"/>
      <dgm:spPr/>
    </dgm:pt>
    <dgm:pt modelId="{76103FD5-1F4A-4E9F-8C5F-A5CB4DAA4F3C}" type="pres">
      <dgm:prSet presAssocID="{E8A5D672-594C-4793-AD15-F9B3D52F852E}" presName="conn2-1" presStyleLbl="parChTrans1D3" presStyleIdx="0" presStyleCnt="7"/>
      <dgm:spPr/>
      <dgm:t>
        <a:bodyPr/>
        <a:lstStyle/>
        <a:p>
          <a:endParaRPr lang="en-US"/>
        </a:p>
      </dgm:t>
    </dgm:pt>
    <dgm:pt modelId="{1496CB53-7F7A-4E54-AEC3-DA2965DF08B2}" type="pres">
      <dgm:prSet presAssocID="{E8A5D672-594C-4793-AD15-F9B3D52F852E}" presName="connTx" presStyleLbl="parChTrans1D3" presStyleIdx="0" presStyleCnt="7"/>
      <dgm:spPr/>
      <dgm:t>
        <a:bodyPr/>
        <a:lstStyle/>
        <a:p>
          <a:endParaRPr lang="en-US"/>
        </a:p>
      </dgm:t>
    </dgm:pt>
    <dgm:pt modelId="{7A9059EA-15FE-4790-94AB-D6DFCB899AA6}" type="pres">
      <dgm:prSet presAssocID="{05F0ED99-F09C-44D5-B074-321D5AAB3499}" presName="root2" presStyleCnt="0"/>
      <dgm:spPr/>
    </dgm:pt>
    <dgm:pt modelId="{D81D5973-38E6-4072-97DF-CC0309B05790}" type="pres">
      <dgm:prSet presAssocID="{05F0ED99-F09C-44D5-B074-321D5AAB3499}" presName="LevelTwoTextNode" presStyleLbl="node3" presStyleIdx="0" presStyleCnt="7">
        <dgm:presLayoutVars>
          <dgm:chPref val="3"/>
        </dgm:presLayoutVars>
      </dgm:prSet>
      <dgm:spPr/>
      <dgm:t>
        <a:bodyPr/>
        <a:lstStyle/>
        <a:p>
          <a:endParaRPr lang="en-US"/>
        </a:p>
      </dgm:t>
    </dgm:pt>
    <dgm:pt modelId="{8D9C5844-80C5-4B9A-8DBD-B89C370F9815}" type="pres">
      <dgm:prSet presAssocID="{05F0ED99-F09C-44D5-B074-321D5AAB3499}" presName="level3hierChild" presStyleCnt="0"/>
      <dgm:spPr/>
    </dgm:pt>
    <dgm:pt modelId="{FF3289CC-9777-4DAC-A103-F8BCF8EC26F3}" type="pres">
      <dgm:prSet presAssocID="{F01C4E5D-FCC7-44FF-9E65-515C3744BBA1}" presName="conn2-1" presStyleLbl="parChTrans1D3" presStyleIdx="1" presStyleCnt="7"/>
      <dgm:spPr/>
      <dgm:t>
        <a:bodyPr/>
        <a:lstStyle/>
        <a:p>
          <a:endParaRPr lang="en-US"/>
        </a:p>
      </dgm:t>
    </dgm:pt>
    <dgm:pt modelId="{92AD57FE-467B-4C61-9427-4DC7941DD221}" type="pres">
      <dgm:prSet presAssocID="{F01C4E5D-FCC7-44FF-9E65-515C3744BBA1}" presName="connTx" presStyleLbl="parChTrans1D3" presStyleIdx="1" presStyleCnt="7"/>
      <dgm:spPr/>
      <dgm:t>
        <a:bodyPr/>
        <a:lstStyle/>
        <a:p>
          <a:endParaRPr lang="en-US"/>
        </a:p>
      </dgm:t>
    </dgm:pt>
    <dgm:pt modelId="{68D59A79-3461-451A-ADC5-60FE26AEE1FF}" type="pres">
      <dgm:prSet presAssocID="{5197198E-321E-48F3-8693-9D0392899E82}" presName="root2" presStyleCnt="0"/>
      <dgm:spPr/>
    </dgm:pt>
    <dgm:pt modelId="{9720B5D5-1162-49A3-853E-4C5B04D7034E}" type="pres">
      <dgm:prSet presAssocID="{5197198E-321E-48F3-8693-9D0392899E82}" presName="LevelTwoTextNode" presStyleLbl="node3" presStyleIdx="1" presStyleCnt="7">
        <dgm:presLayoutVars>
          <dgm:chPref val="3"/>
        </dgm:presLayoutVars>
      </dgm:prSet>
      <dgm:spPr/>
      <dgm:t>
        <a:bodyPr/>
        <a:lstStyle/>
        <a:p>
          <a:endParaRPr lang="en-US"/>
        </a:p>
      </dgm:t>
    </dgm:pt>
    <dgm:pt modelId="{7C2FAA80-3F06-40A5-9CAB-EBA598BF79A6}" type="pres">
      <dgm:prSet presAssocID="{5197198E-321E-48F3-8693-9D0392899E82}" presName="level3hierChild" presStyleCnt="0"/>
      <dgm:spPr/>
    </dgm:pt>
    <dgm:pt modelId="{07C54524-071C-4F4F-B1A2-ACBE761392CD}" type="pres">
      <dgm:prSet presAssocID="{47261596-1C70-4185-843D-F7AF3AECFB23}" presName="conn2-1" presStyleLbl="parChTrans1D2" presStyleIdx="1" presStyleCnt="2"/>
      <dgm:spPr/>
      <dgm:t>
        <a:bodyPr/>
        <a:lstStyle/>
        <a:p>
          <a:endParaRPr lang="en-US"/>
        </a:p>
      </dgm:t>
    </dgm:pt>
    <dgm:pt modelId="{120FC83C-E1B3-4C25-B37F-1190FD9E0D09}" type="pres">
      <dgm:prSet presAssocID="{47261596-1C70-4185-843D-F7AF3AECFB23}" presName="connTx" presStyleLbl="parChTrans1D2" presStyleIdx="1" presStyleCnt="2"/>
      <dgm:spPr/>
      <dgm:t>
        <a:bodyPr/>
        <a:lstStyle/>
        <a:p>
          <a:endParaRPr lang="en-US"/>
        </a:p>
      </dgm:t>
    </dgm:pt>
    <dgm:pt modelId="{3B8982AB-9DE5-4C9F-AAFB-FE83EDF6D287}" type="pres">
      <dgm:prSet presAssocID="{66C5773C-2FF0-4002-9433-A966C06E4922}" presName="root2" presStyleCnt="0"/>
      <dgm:spPr/>
    </dgm:pt>
    <dgm:pt modelId="{8348983F-C1F9-4D22-85A2-5F8B1862C11B}" type="pres">
      <dgm:prSet presAssocID="{66C5773C-2FF0-4002-9433-A966C06E4922}" presName="LevelTwoTextNode" presStyleLbl="node2" presStyleIdx="1" presStyleCnt="2">
        <dgm:presLayoutVars>
          <dgm:chPref val="3"/>
        </dgm:presLayoutVars>
      </dgm:prSet>
      <dgm:spPr/>
      <dgm:t>
        <a:bodyPr/>
        <a:lstStyle/>
        <a:p>
          <a:endParaRPr lang="en-US"/>
        </a:p>
      </dgm:t>
    </dgm:pt>
    <dgm:pt modelId="{CC8F94D6-B3D6-4A73-B3C0-B07526DD681C}" type="pres">
      <dgm:prSet presAssocID="{66C5773C-2FF0-4002-9433-A966C06E4922}" presName="level3hierChild" presStyleCnt="0"/>
      <dgm:spPr/>
    </dgm:pt>
    <dgm:pt modelId="{EAF4AFDC-9A47-46AA-855D-CC385F530E52}" type="pres">
      <dgm:prSet presAssocID="{F7E99CC3-CD71-40B0-AD84-E01668803050}" presName="conn2-1" presStyleLbl="parChTrans1D3" presStyleIdx="2" presStyleCnt="7"/>
      <dgm:spPr/>
      <dgm:t>
        <a:bodyPr/>
        <a:lstStyle/>
        <a:p>
          <a:endParaRPr lang="en-US"/>
        </a:p>
      </dgm:t>
    </dgm:pt>
    <dgm:pt modelId="{355A23C4-91AE-4602-AC3D-F1C7FD8AE1C7}" type="pres">
      <dgm:prSet presAssocID="{F7E99CC3-CD71-40B0-AD84-E01668803050}" presName="connTx" presStyleLbl="parChTrans1D3" presStyleIdx="2" presStyleCnt="7"/>
      <dgm:spPr/>
      <dgm:t>
        <a:bodyPr/>
        <a:lstStyle/>
        <a:p>
          <a:endParaRPr lang="en-US"/>
        </a:p>
      </dgm:t>
    </dgm:pt>
    <dgm:pt modelId="{B190AAE5-7299-47D0-9D14-F01F6BDA1CE9}" type="pres">
      <dgm:prSet presAssocID="{426DD187-176C-4AEA-BBAD-AE3CA82978BB}" presName="root2" presStyleCnt="0"/>
      <dgm:spPr/>
    </dgm:pt>
    <dgm:pt modelId="{AE2C0DF1-42F7-4EB4-9242-B744B937CA21}" type="pres">
      <dgm:prSet presAssocID="{426DD187-176C-4AEA-BBAD-AE3CA82978BB}" presName="LevelTwoTextNode" presStyleLbl="node3" presStyleIdx="2" presStyleCnt="7">
        <dgm:presLayoutVars>
          <dgm:chPref val="3"/>
        </dgm:presLayoutVars>
      </dgm:prSet>
      <dgm:spPr/>
      <dgm:t>
        <a:bodyPr/>
        <a:lstStyle/>
        <a:p>
          <a:endParaRPr lang="en-US"/>
        </a:p>
      </dgm:t>
    </dgm:pt>
    <dgm:pt modelId="{81AD9BBE-E70E-4B28-92A7-8664F0F6677B}" type="pres">
      <dgm:prSet presAssocID="{426DD187-176C-4AEA-BBAD-AE3CA82978BB}" presName="level3hierChild" presStyleCnt="0"/>
      <dgm:spPr/>
    </dgm:pt>
    <dgm:pt modelId="{62551CA6-22C0-4A46-A14D-D7F6CAC9C5A0}" type="pres">
      <dgm:prSet presAssocID="{9A854A59-B857-4075-BADF-6F0CA9A1D3ED}" presName="conn2-1" presStyleLbl="parChTrans1D3" presStyleIdx="3" presStyleCnt="7"/>
      <dgm:spPr/>
      <dgm:t>
        <a:bodyPr/>
        <a:lstStyle/>
        <a:p>
          <a:endParaRPr lang="en-US"/>
        </a:p>
      </dgm:t>
    </dgm:pt>
    <dgm:pt modelId="{728275F4-F553-43E4-A216-B5A92202AD85}" type="pres">
      <dgm:prSet presAssocID="{9A854A59-B857-4075-BADF-6F0CA9A1D3ED}" presName="connTx" presStyleLbl="parChTrans1D3" presStyleIdx="3" presStyleCnt="7"/>
      <dgm:spPr/>
      <dgm:t>
        <a:bodyPr/>
        <a:lstStyle/>
        <a:p>
          <a:endParaRPr lang="en-US"/>
        </a:p>
      </dgm:t>
    </dgm:pt>
    <dgm:pt modelId="{AE51DE0E-2BC8-4ADF-8B74-0519D4C27A1C}" type="pres">
      <dgm:prSet presAssocID="{176AF77E-0AE3-4678-8BA7-BFA40609006C}" presName="root2" presStyleCnt="0"/>
      <dgm:spPr/>
    </dgm:pt>
    <dgm:pt modelId="{903C2804-9A8B-4800-B067-1A6623952B07}" type="pres">
      <dgm:prSet presAssocID="{176AF77E-0AE3-4678-8BA7-BFA40609006C}" presName="LevelTwoTextNode" presStyleLbl="node3" presStyleIdx="3" presStyleCnt="7">
        <dgm:presLayoutVars>
          <dgm:chPref val="3"/>
        </dgm:presLayoutVars>
      </dgm:prSet>
      <dgm:spPr/>
      <dgm:t>
        <a:bodyPr/>
        <a:lstStyle/>
        <a:p>
          <a:endParaRPr lang="en-US"/>
        </a:p>
      </dgm:t>
    </dgm:pt>
    <dgm:pt modelId="{95771758-7375-465B-9BF3-8247F4A3FC02}" type="pres">
      <dgm:prSet presAssocID="{176AF77E-0AE3-4678-8BA7-BFA40609006C}" presName="level3hierChild" presStyleCnt="0"/>
      <dgm:spPr/>
    </dgm:pt>
    <dgm:pt modelId="{0273E675-A42C-445E-9B28-D7937D3F0FBA}" type="pres">
      <dgm:prSet presAssocID="{C2D67413-B134-459C-8B90-AB5CDB3216A0}" presName="conn2-1" presStyleLbl="parChTrans1D3" presStyleIdx="4" presStyleCnt="7"/>
      <dgm:spPr/>
      <dgm:t>
        <a:bodyPr/>
        <a:lstStyle/>
        <a:p>
          <a:endParaRPr lang="en-US"/>
        </a:p>
      </dgm:t>
    </dgm:pt>
    <dgm:pt modelId="{4744B48A-5040-4F74-954D-F4A95026354E}" type="pres">
      <dgm:prSet presAssocID="{C2D67413-B134-459C-8B90-AB5CDB3216A0}" presName="connTx" presStyleLbl="parChTrans1D3" presStyleIdx="4" presStyleCnt="7"/>
      <dgm:spPr/>
      <dgm:t>
        <a:bodyPr/>
        <a:lstStyle/>
        <a:p>
          <a:endParaRPr lang="en-US"/>
        </a:p>
      </dgm:t>
    </dgm:pt>
    <dgm:pt modelId="{B88935FD-81A2-4226-9354-E1D4B087D720}" type="pres">
      <dgm:prSet presAssocID="{12E22FD5-2E7C-405C-B20D-5225C2BEB88C}" presName="root2" presStyleCnt="0"/>
      <dgm:spPr/>
    </dgm:pt>
    <dgm:pt modelId="{AF93D9EF-63CF-4F93-8FAB-5F400F1F9682}" type="pres">
      <dgm:prSet presAssocID="{12E22FD5-2E7C-405C-B20D-5225C2BEB88C}" presName="LevelTwoTextNode" presStyleLbl="node3" presStyleIdx="4" presStyleCnt="7">
        <dgm:presLayoutVars>
          <dgm:chPref val="3"/>
        </dgm:presLayoutVars>
      </dgm:prSet>
      <dgm:spPr/>
      <dgm:t>
        <a:bodyPr/>
        <a:lstStyle/>
        <a:p>
          <a:endParaRPr lang="en-US"/>
        </a:p>
      </dgm:t>
    </dgm:pt>
    <dgm:pt modelId="{067A879D-DA6E-4208-8D38-8361DB3C1322}" type="pres">
      <dgm:prSet presAssocID="{12E22FD5-2E7C-405C-B20D-5225C2BEB88C}" presName="level3hierChild" presStyleCnt="0"/>
      <dgm:spPr/>
    </dgm:pt>
    <dgm:pt modelId="{C5F46B1F-6B22-43AF-BF39-58A0CA73E354}" type="pres">
      <dgm:prSet presAssocID="{7047C23C-9D28-4510-B080-58BF04EA0A94}" presName="conn2-1" presStyleLbl="parChTrans1D3" presStyleIdx="5" presStyleCnt="7"/>
      <dgm:spPr/>
      <dgm:t>
        <a:bodyPr/>
        <a:lstStyle/>
        <a:p>
          <a:endParaRPr lang="en-US"/>
        </a:p>
      </dgm:t>
    </dgm:pt>
    <dgm:pt modelId="{33C65784-26D6-4393-B56B-9E8485951F7D}" type="pres">
      <dgm:prSet presAssocID="{7047C23C-9D28-4510-B080-58BF04EA0A94}" presName="connTx" presStyleLbl="parChTrans1D3" presStyleIdx="5" presStyleCnt="7"/>
      <dgm:spPr/>
      <dgm:t>
        <a:bodyPr/>
        <a:lstStyle/>
        <a:p>
          <a:endParaRPr lang="en-US"/>
        </a:p>
      </dgm:t>
    </dgm:pt>
    <dgm:pt modelId="{D158FFAF-F70C-49D7-8DBF-5FCF0C4377B3}" type="pres">
      <dgm:prSet presAssocID="{BF20A900-3CD1-408F-AF1D-FEF9000377DA}" presName="root2" presStyleCnt="0"/>
      <dgm:spPr/>
    </dgm:pt>
    <dgm:pt modelId="{4E91551F-F7F7-4C16-9527-3BB43D32A251}" type="pres">
      <dgm:prSet presAssocID="{BF20A900-3CD1-408F-AF1D-FEF9000377DA}" presName="LevelTwoTextNode" presStyleLbl="node3" presStyleIdx="5" presStyleCnt="7">
        <dgm:presLayoutVars>
          <dgm:chPref val="3"/>
        </dgm:presLayoutVars>
      </dgm:prSet>
      <dgm:spPr/>
      <dgm:t>
        <a:bodyPr/>
        <a:lstStyle/>
        <a:p>
          <a:endParaRPr lang="en-US"/>
        </a:p>
      </dgm:t>
    </dgm:pt>
    <dgm:pt modelId="{53C3725A-95C0-4BBA-BA99-165F9B5C5C9B}" type="pres">
      <dgm:prSet presAssocID="{BF20A900-3CD1-408F-AF1D-FEF9000377DA}" presName="level3hierChild" presStyleCnt="0"/>
      <dgm:spPr/>
    </dgm:pt>
    <dgm:pt modelId="{598A4999-CDFB-4A5E-9FAC-CCF3114584C0}" type="pres">
      <dgm:prSet presAssocID="{8E55C8F9-BC9D-4BC8-8E9A-DC8ADBD2F3FE}" presName="conn2-1" presStyleLbl="parChTrans1D3" presStyleIdx="6" presStyleCnt="7"/>
      <dgm:spPr/>
      <dgm:t>
        <a:bodyPr/>
        <a:lstStyle/>
        <a:p>
          <a:endParaRPr lang="en-US"/>
        </a:p>
      </dgm:t>
    </dgm:pt>
    <dgm:pt modelId="{4AF51B0B-5FB2-497E-8409-23A2DA1E74A9}" type="pres">
      <dgm:prSet presAssocID="{8E55C8F9-BC9D-4BC8-8E9A-DC8ADBD2F3FE}" presName="connTx" presStyleLbl="parChTrans1D3" presStyleIdx="6" presStyleCnt="7"/>
      <dgm:spPr/>
      <dgm:t>
        <a:bodyPr/>
        <a:lstStyle/>
        <a:p>
          <a:endParaRPr lang="en-US"/>
        </a:p>
      </dgm:t>
    </dgm:pt>
    <dgm:pt modelId="{2601AB09-AF90-4BB6-8D96-5A8BEC1258C5}" type="pres">
      <dgm:prSet presAssocID="{2CC87071-2782-4BB2-AB31-9E42328CE391}" presName="root2" presStyleCnt="0"/>
      <dgm:spPr/>
    </dgm:pt>
    <dgm:pt modelId="{0657B2EE-1508-410A-827B-44A92AA51974}" type="pres">
      <dgm:prSet presAssocID="{2CC87071-2782-4BB2-AB31-9E42328CE391}" presName="LevelTwoTextNode" presStyleLbl="node3" presStyleIdx="6" presStyleCnt="7">
        <dgm:presLayoutVars>
          <dgm:chPref val="3"/>
        </dgm:presLayoutVars>
      </dgm:prSet>
      <dgm:spPr/>
      <dgm:t>
        <a:bodyPr/>
        <a:lstStyle/>
        <a:p>
          <a:endParaRPr lang="en-US"/>
        </a:p>
      </dgm:t>
    </dgm:pt>
    <dgm:pt modelId="{6E11D042-3132-45F0-828C-39B926249D9F}" type="pres">
      <dgm:prSet presAssocID="{2CC87071-2782-4BB2-AB31-9E42328CE391}" presName="level3hierChild" presStyleCnt="0"/>
      <dgm:spPr/>
    </dgm:pt>
  </dgm:ptLst>
  <dgm:cxnLst>
    <dgm:cxn modelId="{D01C287E-DF6C-44A7-B29D-42339884D98D}" type="presOf" srcId="{426DD187-176C-4AEA-BBAD-AE3CA82978BB}" destId="{AE2C0DF1-42F7-4EB4-9242-B744B937CA21}" srcOrd="0" destOrd="0" presId="urn:microsoft.com/office/officeart/2005/8/layout/hierarchy2"/>
    <dgm:cxn modelId="{B9766FDA-4C84-4AEA-873C-F2833DA4F904}" type="presOf" srcId="{BF20A900-3CD1-408F-AF1D-FEF9000377DA}" destId="{4E91551F-F7F7-4C16-9527-3BB43D32A251}" srcOrd="0" destOrd="0" presId="urn:microsoft.com/office/officeart/2005/8/layout/hierarchy2"/>
    <dgm:cxn modelId="{939F2700-4C21-44F3-8033-2AD545E2DC0F}" type="presOf" srcId="{9A854A59-B857-4075-BADF-6F0CA9A1D3ED}" destId="{62551CA6-22C0-4A46-A14D-D7F6CAC9C5A0}" srcOrd="0" destOrd="0" presId="urn:microsoft.com/office/officeart/2005/8/layout/hierarchy2"/>
    <dgm:cxn modelId="{3DA50DB4-72B9-4CE0-BEE3-5619B7061AE0}" type="presOf" srcId="{9A854A59-B857-4075-BADF-6F0CA9A1D3ED}" destId="{728275F4-F553-43E4-A216-B5A92202AD85}" srcOrd="1" destOrd="0" presId="urn:microsoft.com/office/officeart/2005/8/layout/hierarchy2"/>
    <dgm:cxn modelId="{6EC1BAD8-BB30-4921-881C-E598A97CE798}" srcId="{66C5773C-2FF0-4002-9433-A966C06E4922}" destId="{12E22FD5-2E7C-405C-B20D-5225C2BEB88C}" srcOrd="2" destOrd="0" parTransId="{C2D67413-B134-459C-8B90-AB5CDB3216A0}" sibTransId="{9B9180CE-D3D3-4034-919D-8C6FBBDBF943}"/>
    <dgm:cxn modelId="{BD8CE60F-DFD6-416D-8D24-F63A652AD071}" type="presOf" srcId="{C2D67413-B134-459C-8B90-AB5CDB3216A0}" destId="{0273E675-A42C-445E-9B28-D7937D3F0FBA}" srcOrd="0" destOrd="0" presId="urn:microsoft.com/office/officeart/2005/8/layout/hierarchy2"/>
    <dgm:cxn modelId="{C0B4CFA6-5053-421C-A817-B1A6AC388055}" srcId="{66C5773C-2FF0-4002-9433-A966C06E4922}" destId="{2CC87071-2782-4BB2-AB31-9E42328CE391}" srcOrd="4" destOrd="0" parTransId="{8E55C8F9-BC9D-4BC8-8E9A-DC8ADBD2F3FE}" sibTransId="{4ECE4069-8C90-46FB-8DA0-0F54FEDCBC35}"/>
    <dgm:cxn modelId="{D6D37628-2AD5-4537-A96C-37D29FE69688}" type="presOf" srcId="{C2D67413-B134-459C-8B90-AB5CDB3216A0}" destId="{4744B48A-5040-4F74-954D-F4A95026354E}" srcOrd="1" destOrd="0" presId="urn:microsoft.com/office/officeart/2005/8/layout/hierarchy2"/>
    <dgm:cxn modelId="{9C74188B-84BD-4276-BA26-874FBA0E391E}" srcId="{01AA0D40-8378-4061-8E46-32D276A63578}" destId="{E3140728-4C68-4510-A64F-0A839B6185DC}" srcOrd="0" destOrd="0" parTransId="{28BDE59F-B38C-46D1-B536-CCB317DD8CCD}" sibTransId="{A7AA57CF-84CF-4BCC-8601-67BCF2C05D01}"/>
    <dgm:cxn modelId="{47EED47F-BBCA-4929-B7C7-9BCE382DAD99}" type="presOf" srcId="{F7E99CC3-CD71-40B0-AD84-E01668803050}" destId="{355A23C4-91AE-4602-AC3D-F1C7FD8AE1C7}" srcOrd="1" destOrd="0" presId="urn:microsoft.com/office/officeart/2005/8/layout/hierarchy2"/>
    <dgm:cxn modelId="{1A9C5DF1-6234-4638-8CC0-BC402BA1DA62}" type="presOf" srcId="{66C5773C-2FF0-4002-9433-A966C06E4922}" destId="{8348983F-C1F9-4D22-85A2-5F8B1862C11B}" srcOrd="0" destOrd="0" presId="urn:microsoft.com/office/officeart/2005/8/layout/hierarchy2"/>
    <dgm:cxn modelId="{A5243E41-32EC-4EB5-A8D5-A4D1B696876A}" srcId="{E3140728-4C68-4510-A64F-0A839B6185DC}" destId="{66C5773C-2FF0-4002-9433-A966C06E4922}" srcOrd="1" destOrd="0" parTransId="{47261596-1C70-4185-843D-F7AF3AECFB23}" sibTransId="{13F77E02-8DF5-49AF-AFD7-0A22D61E5279}"/>
    <dgm:cxn modelId="{FDA57A15-E9D4-4C1A-8D16-F62EC45F60C0}" type="presOf" srcId="{7F228A30-73B7-4549-9456-0DE9608E5533}" destId="{4DAE552B-6D17-4AC6-83C0-03E55E1C8B3D}" srcOrd="1" destOrd="0" presId="urn:microsoft.com/office/officeart/2005/8/layout/hierarchy2"/>
    <dgm:cxn modelId="{AC8E6AD6-6D83-4E41-9D40-223E61C6CA8F}" type="presOf" srcId="{05F0ED99-F09C-44D5-B074-321D5AAB3499}" destId="{D81D5973-38E6-4072-97DF-CC0309B05790}" srcOrd="0" destOrd="0" presId="urn:microsoft.com/office/officeart/2005/8/layout/hierarchy2"/>
    <dgm:cxn modelId="{AA90DE91-0ADB-41F3-A6E1-7E2BE7122529}" type="presOf" srcId="{01AA0D40-8378-4061-8E46-32D276A63578}" destId="{49C505C5-A73F-441F-BA2D-F19D6B0B502A}" srcOrd="0" destOrd="0" presId="urn:microsoft.com/office/officeart/2005/8/layout/hierarchy2"/>
    <dgm:cxn modelId="{B4C7AF69-005C-42C8-95DF-658885AE7A65}" type="presOf" srcId="{E3140728-4C68-4510-A64F-0A839B6185DC}" destId="{AF1F3480-D68A-4E21-A757-8B42ACC27FF6}" srcOrd="0" destOrd="0" presId="urn:microsoft.com/office/officeart/2005/8/layout/hierarchy2"/>
    <dgm:cxn modelId="{3F30FDC8-9817-4C3F-A381-2224CB58147D}" type="presOf" srcId="{5197198E-321E-48F3-8693-9D0392899E82}" destId="{9720B5D5-1162-49A3-853E-4C5B04D7034E}" srcOrd="0" destOrd="0" presId="urn:microsoft.com/office/officeart/2005/8/layout/hierarchy2"/>
    <dgm:cxn modelId="{3D294D80-91B2-44F0-BF93-92412055516E}" type="presOf" srcId="{7047C23C-9D28-4510-B080-58BF04EA0A94}" destId="{33C65784-26D6-4393-B56B-9E8485951F7D}" srcOrd="1" destOrd="0" presId="urn:microsoft.com/office/officeart/2005/8/layout/hierarchy2"/>
    <dgm:cxn modelId="{25B929EE-92C8-42CF-9758-287A160FA335}" type="presOf" srcId="{F7E99CC3-CD71-40B0-AD84-E01668803050}" destId="{EAF4AFDC-9A47-46AA-855D-CC385F530E52}" srcOrd="0" destOrd="0" presId="urn:microsoft.com/office/officeart/2005/8/layout/hierarchy2"/>
    <dgm:cxn modelId="{1E30C3F1-A9E3-404F-9571-E9F732F9281F}" type="presOf" srcId="{176AF77E-0AE3-4678-8BA7-BFA40609006C}" destId="{903C2804-9A8B-4800-B067-1A6623952B07}" srcOrd="0" destOrd="0" presId="urn:microsoft.com/office/officeart/2005/8/layout/hierarchy2"/>
    <dgm:cxn modelId="{2E62C3FF-E0AC-44C4-83B5-6EC44DFFA3F2}" type="presOf" srcId="{F01C4E5D-FCC7-44FF-9E65-515C3744BBA1}" destId="{92AD57FE-467B-4C61-9427-4DC7941DD221}" srcOrd="1" destOrd="0" presId="urn:microsoft.com/office/officeart/2005/8/layout/hierarchy2"/>
    <dgm:cxn modelId="{02658592-33CA-4D9C-A50E-30FAF75A32FC}" type="presOf" srcId="{47261596-1C70-4185-843D-F7AF3AECFB23}" destId="{07C54524-071C-4F4F-B1A2-ACBE761392CD}" srcOrd="0" destOrd="0" presId="urn:microsoft.com/office/officeart/2005/8/layout/hierarchy2"/>
    <dgm:cxn modelId="{47969C7B-B646-4343-9F4F-7F431BAC1F21}" type="presOf" srcId="{7047C23C-9D28-4510-B080-58BF04EA0A94}" destId="{C5F46B1F-6B22-43AF-BF39-58A0CA73E354}" srcOrd="0" destOrd="0" presId="urn:microsoft.com/office/officeart/2005/8/layout/hierarchy2"/>
    <dgm:cxn modelId="{1092742D-BA29-41BB-BC0E-F0FF2207A6AF}" srcId="{D36012C4-EC86-437C-AE61-A0EC9E151431}" destId="{05F0ED99-F09C-44D5-B074-321D5AAB3499}" srcOrd="0" destOrd="0" parTransId="{E8A5D672-594C-4793-AD15-F9B3D52F852E}" sibTransId="{2884879E-A8A8-4B71-81BD-F585C2EF3BF5}"/>
    <dgm:cxn modelId="{5CA3C436-BC9D-4C2A-8ACC-535EAAE8BA33}" type="presOf" srcId="{F01C4E5D-FCC7-44FF-9E65-515C3744BBA1}" destId="{FF3289CC-9777-4DAC-A103-F8BCF8EC26F3}" srcOrd="0" destOrd="0" presId="urn:microsoft.com/office/officeart/2005/8/layout/hierarchy2"/>
    <dgm:cxn modelId="{49BE2A4A-90FB-46A5-9089-737C76FF55F9}" type="presOf" srcId="{12E22FD5-2E7C-405C-B20D-5225C2BEB88C}" destId="{AF93D9EF-63CF-4F93-8FAB-5F400F1F9682}" srcOrd="0" destOrd="0" presId="urn:microsoft.com/office/officeart/2005/8/layout/hierarchy2"/>
    <dgm:cxn modelId="{40D5DAEF-343D-4AC6-AADC-E46C226874BC}" srcId="{D36012C4-EC86-437C-AE61-A0EC9E151431}" destId="{5197198E-321E-48F3-8693-9D0392899E82}" srcOrd="1" destOrd="0" parTransId="{F01C4E5D-FCC7-44FF-9E65-515C3744BBA1}" sibTransId="{D9DD0617-86A0-4FC3-B79B-A20772539E8F}"/>
    <dgm:cxn modelId="{54CC5AB6-5B8F-4BCE-8F75-47663BCD7BD6}" type="presOf" srcId="{D36012C4-EC86-437C-AE61-A0EC9E151431}" destId="{3D5FD036-6445-4E22-972E-EFDD941618A7}" srcOrd="0" destOrd="0" presId="urn:microsoft.com/office/officeart/2005/8/layout/hierarchy2"/>
    <dgm:cxn modelId="{E138B276-6831-4F14-BE9C-136F3BF1703E}" srcId="{66C5773C-2FF0-4002-9433-A966C06E4922}" destId="{176AF77E-0AE3-4678-8BA7-BFA40609006C}" srcOrd="1" destOrd="0" parTransId="{9A854A59-B857-4075-BADF-6F0CA9A1D3ED}" sibTransId="{14166C62-9B46-4A06-9A59-4A84B5D9948F}"/>
    <dgm:cxn modelId="{E5C2ED89-92F7-4EED-8B04-05F21E3E881C}" type="presOf" srcId="{E8A5D672-594C-4793-AD15-F9B3D52F852E}" destId="{76103FD5-1F4A-4E9F-8C5F-A5CB4DAA4F3C}" srcOrd="0" destOrd="0" presId="urn:microsoft.com/office/officeart/2005/8/layout/hierarchy2"/>
    <dgm:cxn modelId="{98F14430-5EED-4B21-85AD-91DC4238E71B}" type="presOf" srcId="{7F228A30-73B7-4549-9456-0DE9608E5533}" destId="{079E43DC-3B51-4A57-AF28-1225B5295667}" srcOrd="0" destOrd="0" presId="urn:microsoft.com/office/officeart/2005/8/layout/hierarchy2"/>
    <dgm:cxn modelId="{917FD3AE-582D-4011-BC84-82DF3A9DDF76}" srcId="{66C5773C-2FF0-4002-9433-A966C06E4922}" destId="{426DD187-176C-4AEA-BBAD-AE3CA82978BB}" srcOrd="0" destOrd="0" parTransId="{F7E99CC3-CD71-40B0-AD84-E01668803050}" sibTransId="{BD113A17-5683-49FA-9808-6AE454630B61}"/>
    <dgm:cxn modelId="{EE1B68D4-5E1C-459D-BF3B-49F13C3E1189}" type="presOf" srcId="{47261596-1C70-4185-843D-F7AF3AECFB23}" destId="{120FC83C-E1B3-4C25-B37F-1190FD9E0D09}" srcOrd="1" destOrd="0" presId="urn:microsoft.com/office/officeart/2005/8/layout/hierarchy2"/>
    <dgm:cxn modelId="{7A175A10-E31C-4758-8D3E-CC89044EAE0F}" type="presOf" srcId="{E8A5D672-594C-4793-AD15-F9B3D52F852E}" destId="{1496CB53-7F7A-4E54-AEC3-DA2965DF08B2}" srcOrd="1" destOrd="0" presId="urn:microsoft.com/office/officeart/2005/8/layout/hierarchy2"/>
    <dgm:cxn modelId="{205A94CB-AE0C-4EFC-A667-F22E47EFF383}" type="presOf" srcId="{2CC87071-2782-4BB2-AB31-9E42328CE391}" destId="{0657B2EE-1508-410A-827B-44A92AA51974}" srcOrd="0" destOrd="0" presId="urn:microsoft.com/office/officeart/2005/8/layout/hierarchy2"/>
    <dgm:cxn modelId="{4B7083EF-AAE0-4839-8A3E-62AFE6053599}" type="presOf" srcId="{8E55C8F9-BC9D-4BC8-8E9A-DC8ADBD2F3FE}" destId="{4AF51B0B-5FB2-497E-8409-23A2DA1E74A9}" srcOrd="1" destOrd="0" presId="urn:microsoft.com/office/officeart/2005/8/layout/hierarchy2"/>
    <dgm:cxn modelId="{ECAC8A7B-45DE-4BBE-8D8F-B743AC32F1D4}" type="presOf" srcId="{8E55C8F9-BC9D-4BC8-8E9A-DC8ADBD2F3FE}" destId="{598A4999-CDFB-4A5E-9FAC-CCF3114584C0}" srcOrd="0" destOrd="0" presId="urn:microsoft.com/office/officeart/2005/8/layout/hierarchy2"/>
    <dgm:cxn modelId="{C5729FE5-BB76-43D8-B890-45FCA68E92EC}" srcId="{66C5773C-2FF0-4002-9433-A966C06E4922}" destId="{BF20A900-3CD1-408F-AF1D-FEF9000377DA}" srcOrd="3" destOrd="0" parTransId="{7047C23C-9D28-4510-B080-58BF04EA0A94}" sibTransId="{A75AD81E-4D2E-4485-94F7-60B699EDF0D0}"/>
    <dgm:cxn modelId="{0F012984-5B8E-4883-B7DB-8CD92680ACE7}" srcId="{E3140728-4C68-4510-A64F-0A839B6185DC}" destId="{D36012C4-EC86-437C-AE61-A0EC9E151431}" srcOrd="0" destOrd="0" parTransId="{7F228A30-73B7-4549-9456-0DE9608E5533}" sibTransId="{6B8E905E-9AA6-4A7A-9981-35E501461C99}"/>
    <dgm:cxn modelId="{0F9F6D55-765F-4D79-AA5B-41227087ACEA}" type="presParOf" srcId="{49C505C5-A73F-441F-BA2D-F19D6B0B502A}" destId="{FAECBA84-2C0C-4FED-ADF2-964C64FD0D77}" srcOrd="0" destOrd="0" presId="urn:microsoft.com/office/officeart/2005/8/layout/hierarchy2"/>
    <dgm:cxn modelId="{3912DD53-2F6E-4640-865A-35B42AED9EFA}" type="presParOf" srcId="{FAECBA84-2C0C-4FED-ADF2-964C64FD0D77}" destId="{AF1F3480-D68A-4E21-A757-8B42ACC27FF6}" srcOrd="0" destOrd="0" presId="urn:microsoft.com/office/officeart/2005/8/layout/hierarchy2"/>
    <dgm:cxn modelId="{3A4700C4-1803-4462-93CD-0C6D09C8EB7C}" type="presParOf" srcId="{FAECBA84-2C0C-4FED-ADF2-964C64FD0D77}" destId="{4CB180C1-189B-4D53-8D78-72795AE626F6}" srcOrd="1" destOrd="0" presId="urn:microsoft.com/office/officeart/2005/8/layout/hierarchy2"/>
    <dgm:cxn modelId="{38AC3266-9E6B-4D3C-A41A-35C8D4D15FF9}" type="presParOf" srcId="{4CB180C1-189B-4D53-8D78-72795AE626F6}" destId="{079E43DC-3B51-4A57-AF28-1225B5295667}" srcOrd="0" destOrd="0" presId="urn:microsoft.com/office/officeart/2005/8/layout/hierarchy2"/>
    <dgm:cxn modelId="{0B67A350-1206-42C4-BB43-125EA352FDF9}" type="presParOf" srcId="{079E43DC-3B51-4A57-AF28-1225B5295667}" destId="{4DAE552B-6D17-4AC6-83C0-03E55E1C8B3D}" srcOrd="0" destOrd="0" presId="urn:microsoft.com/office/officeart/2005/8/layout/hierarchy2"/>
    <dgm:cxn modelId="{F795AF47-A773-4EED-A7A4-3C7DF708DF69}" type="presParOf" srcId="{4CB180C1-189B-4D53-8D78-72795AE626F6}" destId="{4E55848B-CED0-4845-B598-A50DF9BC886B}" srcOrd="1" destOrd="0" presId="urn:microsoft.com/office/officeart/2005/8/layout/hierarchy2"/>
    <dgm:cxn modelId="{2BD398FB-17C0-43EF-9D20-E47E98582A09}" type="presParOf" srcId="{4E55848B-CED0-4845-B598-A50DF9BC886B}" destId="{3D5FD036-6445-4E22-972E-EFDD941618A7}" srcOrd="0" destOrd="0" presId="urn:microsoft.com/office/officeart/2005/8/layout/hierarchy2"/>
    <dgm:cxn modelId="{DF00A2A1-4497-488A-98FF-269CA3670155}" type="presParOf" srcId="{4E55848B-CED0-4845-B598-A50DF9BC886B}" destId="{8FA7C848-4C28-455D-924D-D50F3B32B526}" srcOrd="1" destOrd="0" presId="urn:microsoft.com/office/officeart/2005/8/layout/hierarchy2"/>
    <dgm:cxn modelId="{7E66142F-6C30-48BD-8042-2F99DCBE2FAF}" type="presParOf" srcId="{8FA7C848-4C28-455D-924D-D50F3B32B526}" destId="{76103FD5-1F4A-4E9F-8C5F-A5CB4DAA4F3C}" srcOrd="0" destOrd="0" presId="urn:microsoft.com/office/officeart/2005/8/layout/hierarchy2"/>
    <dgm:cxn modelId="{F1EECB77-9AD1-4E3D-AE3F-E70945C31D2F}" type="presParOf" srcId="{76103FD5-1F4A-4E9F-8C5F-A5CB4DAA4F3C}" destId="{1496CB53-7F7A-4E54-AEC3-DA2965DF08B2}" srcOrd="0" destOrd="0" presId="urn:microsoft.com/office/officeart/2005/8/layout/hierarchy2"/>
    <dgm:cxn modelId="{B420DE40-961D-499A-852E-CC1486CC81BE}" type="presParOf" srcId="{8FA7C848-4C28-455D-924D-D50F3B32B526}" destId="{7A9059EA-15FE-4790-94AB-D6DFCB899AA6}" srcOrd="1" destOrd="0" presId="urn:microsoft.com/office/officeart/2005/8/layout/hierarchy2"/>
    <dgm:cxn modelId="{352725CB-BDB4-4C94-9A58-DEC7C307BF83}" type="presParOf" srcId="{7A9059EA-15FE-4790-94AB-D6DFCB899AA6}" destId="{D81D5973-38E6-4072-97DF-CC0309B05790}" srcOrd="0" destOrd="0" presId="urn:microsoft.com/office/officeart/2005/8/layout/hierarchy2"/>
    <dgm:cxn modelId="{B0AB0544-5D58-45AD-8E30-9C26D5E0BB04}" type="presParOf" srcId="{7A9059EA-15FE-4790-94AB-D6DFCB899AA6}" destId="{8D9C5844-80C5-4B9A-8DBD-B89C370F9815}" srcOrd="1" destOrd="0" presId="urn:microsoft.com/office/officeart/2005/8/layout/hierarchy2"/>
    <dgm:cxn modelId="{A516C67B-6EA3-472F-AA20-CAC964528F15}" type="presParOf" srcId="{8FA7C848-4C28-455D-924D-D50F3B32B526}" destId="{FF3289CC-9777-4DAC-A103-F8BCF8EC26F3}" srcOrd="2" destOrd="0" presId="urn:microsoft.com/office/officeart/2005/8/layout/hierarchy2"/>
    <dgm:cxn modelId="{E2CAEB35-61C1-4BD5-9119-B1FC0E4C1254}" type="presParOf" srcId="{FF3289CC-9777-4DAC-A103-F8BCF8EC26F3}" destId="{92AD57FE-467B-4C61-9427-4DC7941DD221}" srcOrd="0" destOrd="0" presId="urn:microsoft.com/office/officeart/2005/8/layout/hierarchy2"/>
    <dgm:cxn modelId="{BDB03C5A-1521-46BE-982D-5641FC120FAA}" type="presParOf" srcId="{8FA7C848-4C28-455D-924D-D50F3B32B526}" destId="{68D59A79-3461-451A-ADC5-60FE26AEE1FF}" srcOrd="3" destOrd="0" presId="urn:microsoft.com/office/officeart/2005/8/layout/hierarchy2"/>
    <dgm:cxn modelId="{D14EFF91-55CA-4B0A-B82E-00B82AD08DE7}" type="presParOf" srcId="{68D59A79-3461-451A-ADC5-60FE26AEE1FF}" destId="{9720B5D5-1162-49A3-853E-4C5B04D7034E}" srcOrd="0" destOrd="0" presId="urn:microsoft.com/office/officeart/2005/8/layout/hierarchy2"/>
    <dgm:cxn modelId="{EE48303E-B597-423E-942A-FED3798AC6B2}" type="presParOf" srcId="{68D59A79-3461-451A-ADC5-60FE26AEE1FF}" destId="{7C2FAA80-3F06-40A5-9CAB-EBA598BF79A6}" srcOrd="1" destOrd="0" presId="urn:microsoft.com/office/officeart/2005/8/layout/hierarchy2"/>
    <dgm:cxn modelId="{71B66199-494A-43FB-8CC7-2DB49FEF5D78}" type="presParOf" srcId="{4CB180C1-189B-4D53-8D78-72795AE626F6}" destId="{07C54524-071C-4F4F-B1A2-ACBE761392CD}" srcOrd="2" destOrd="0" presId="urn:microsoft.com/office/officeart/2005/8/layout/hierarchy2"/>
    <dgm:cxn modelId="{EEF7B3AB-1591-45F3-BA2B-2B9D2659F6C1}" type="presParOf" srcId="{07C54524-071C-4F4F-B1A2-ACBE761392CD}" destId="{120FC83C-E1B3-4C25-B37F-1190FD9E0D09}" srcOrd="0" destOrd="0" presId="urn:microsoft.com/office/officeart/2005/8/layout/hierarchy2"/>
    <dgm:cxn modelId="{69D4A90E-4CD2-453B-BEBA-2727FAF5449F}" type="presParOf" srcId="{4CB180C1-189B-4D53-8D78-72795AE626F6}" destId="{3B8982AB-9DE5-4C9F-AAFB-FE83EDF6D287}" srcOrd="3" destOrd="0" presId="urn:microsoft.com/office/officeart/2005/8/layout/hierarchy2"/>
    <dgm:cxn modelId="{C02FE403-A2E5-4A51-BB26-A026B6A15844}" type="presParOf" srcId="{3B8982AB-9DE5-4C9F-AAFB-FE83EDF6D287}" destId="{8348983F-C1F9-4D22-85A2-5F8B1862C11B}" srcOrd="0" destOrd="0" presId="urn:microsoft.com/office/officeart/2005/8/layout/hierarchy2"/>
    <dgm:cxn modelId="{AA81F02A-B88B-4E5A-8DB3-16AA074372E8}" type="presParOf" srcId="{3B8982AB-9DE5-4C9F-AAFB-FE83EDF6D287}" destId="{CC8F94D6-B3D6-4A73-B3C0-B07526DD681C}" srcOrd="1" destOrd="0" presId="urn:microsoft.com/office/officeart/2005/8/layout/hierarchy2"/>
    <dgm:cxn modelId="{CCD44796-208B-45E8-BACC-F1E2CF3CC17F}" type="presParOf" srcId="{CC8F94D6-B3D6-4A73-B3C0-B07526DD681C}" destId="{EAF4AFDC-9A47-46AA-855D-CC385F530E52}" srcOrd="0" destOrd="0" presId="urn:microsoft.com/office/officeart/2005/8/layout/hierarchy2"/>
    <dgm:cxn modelId="{CCE57A90-C050-4A6F-98E7-9DF8E393AF39}" type="presParOf" srcId="{EAF4AFDC-9A47-46AA-855D-CC385F530E52}" destId="{355A23C4-91AE-4602-AC3D-F1C7FD8AE1C7}" srcOrd="0" destOrd="0" presId="urn:microsoft.com/office/officeart/2005/8/layout/hierarchy2"/>
    <dgm:cxn modelId="{29BA4797-771A-4CC1-86B2-EB62FB1A66D6}" type="presParOf" srcId="{CC8F94D6-B3D6-4A73-B3C0-B07526DD681C}" destId="{B190AAE5-7299-47D0-9D14-F01F6BDA1CE9}" srcOrd="1" destOrd="0" presId="urn:microsoft.com/office/officeart/2005/8/layout/hierarchy2"/>
    <dgm:cxn modelId="{EE3FE17C-5395-4514-BC86-D52DED48688A}" type="presParOf" srcId="{B190AAE5-7299-47D0-9D14-F01F6BDA1CE9}" destId="{AE2C0DF1-42F7-4EB4-9242-B744B937CA21}" srcOrd="0" destOrd="0" presId="urn:microsoft.com/office/officeart/2005/8/layout/hierarchy2"/>
    <dgm:cxn modelId="{86F0EFE5-5FE7-45B3-AE0B-8604AEE2C0CE}" type="presParOf" srcId="{B190AAE5-7299-47D0-9D14-F01F6BDA1CE9}" destId="{81AD9BBE-E70E-4B28-92A7-8664F0F6677B}" srcOrd="1" destOrd="0" presId="urn:microsoft.com/office/officeart/2005/8/layout/hierarchy2"/>
    <dgm:cxn modelId="{3AD26346-772F-404C-933E-080D3B156479}" type="presParOf" srcId="{CC8F94D6-B3D6-4A73-B3C0-B07526DD681C}" destId="{62551CA6-22C0-4A46-A14D-D7F6CAC9C5A0}" srcOrd="2" destOrd="0" presId="urn:microsoft.com/office/officeart/2005/8/layout/hierarchy2"/>
    <dgm:cxn modelId="{1B985EC5-E8E0-424E-83B6-A1FF6B7CE268}" type="presParOf" srcId="{62551CA6-22C0-4A46-A14D-D7F6CAC9C5A0}" destId="{728275F4-F553-43E4-A216-B5A92202AD85}" srcOrd="0" destOrd="0" presId="urn:microsoft.com/office/officeart/2005/8/layout/hierarchy2"/>
    <dgm:cxn modelId="{8F9C7E4F-2B5C-48C0-9688-212AC9CD81B7}" type="presParOf" srcId="{CC8F94D6-B3D6-4A73-B3C0-B07526DD681C}" destId="{AE51DE0E-2BC8-4ADF-8B74-0519D4C27A1C}" srcOrd="3" destOrd="0" presId="urn:microsoft.com/office/officeart/2005/8/layout/hierarchy2"/>
    <dgm:cxn modelId="{4E2F8629-51A6-4B91-9491-189A0446DDCB}" type="presParOf" srcId="{AE51DE0E-2BC8-4ADF-8B74-0519D4C27A1C}" destId="{903C2804-9A8B-4800-B067-1A6623952B07}" srcOrd="0" destOrd="0" presId="urn:microsoft.com/office/officeart/2005/8/layout/hierarchy2"/>
    <dgm:cxn modelId="{4C2ABAE4-E110-4DD2-87CE-98B72A7614E6}" type="presParOf" srcId="{AE51DE0E-2BC8-4ADF-8B74-0519D4C27A1C}" destId="{95771758-7375-465B-9BF3-8247F4A3FC02}" srcOrd="1" destOrd="0" presId="urn:microsoft.com/office/officeart/2005/8/layout/hierarchy2"/>
    <dgm:cxn modelId="{0F571B6F-CC76-4655-A7ED-DFA58DB3F121}" type="presParOf" srcId="{CC8F94D6-B3D6-4A73-B3C0-B07526DD681C}" destId="{0273E675-A42C-445E-9B28-D7937D3F0FBA}" srcOrd="4" destOrd="0" presId="urn:microsoft.com/office/officeart/2005/8/layout/hierarchy2"/>
    <dgm:cxn modelId="{FEAEF6DE-8BB0-4072-B6BB-D2EFA63749BC}" type="presParOf" srcId="{0273E675-A42C-445E-9B28-D7937D3F0FBA}" destId="{4744B48A-5040-4F74-954D-F4A95026354E}" srcOrd="0" destOrd="0" presId="urn:microsoft.com/office/officeart/2005/8/layout/hierarchy2"/>
    <dgm:cxn modelId="{891C1D12-2ACB-43B8-9FC2-7ACE6D5CD68A}" type="presParOf" srcId="{CC8F94D6-B3D6-4A73-B3C0-B07526DD681C}" destId="{B88935FD-81A2-4226-9354-E1D4B087D720}" srcOrd="5" destOrd="0" presId="urn:microsoft.com/office/officeart/2005/8/layout/hierarchy2"/>
    <dgm:cxn modelId="{14A4C223-ED1A-4D17-865B-0085FFD51804}" type="presParOf" srcId="{B88935FD-81A2-4226-9354-E1D4B087D720}" destId="{AF93D9EF-63CF-4F93-8FAB-5F400F1F9682}" srcOrd="0" destOrd="0" presId="urn:microsoft.com/office/officeart/2005/8/layout/hierarchy2"/>
    <dgm:cxn modelId="{F9FEC3FB-EE26-44FE-BAAB-2171CA9E7092}" type="presParOf" srcId="{B88935FD-81A2-4226-9354-E1D4B087D720}" destId="{067A879D-DA6E-4208-8D38-8361DB3C1322}" srcOrd="1" destOrd="0" presId="urn:microsoft.com/office/officeart/2005/8/layout/hierarchy2"/>
    <dgm:cxn modelId="{55C3A566-90AF-4770-9034-D3FE894212AB}" type="presParOf" srcId="{CC8F94D6-B3D6-4A73-B3C0-B07526DD681C}" destId="{C5F46B1F-6B22-43AF-BF39-58A0CA73E354}" srcOrd="6" destOrd="0" presId="urn:microsoft.com/office/officeart/2005/8/layout/hierarchy2"/>
    <dgm:cxn modelId="{52010912-C2DC-426E-B7DC-73BB8B2289FC}" type="presParOf" srcId="{C5F46B1F-6B22-43AF-BF39-58A0CA73E354}" destId="{33C65784-26D6-4393-B56B-9E8485951F7D}" srcOrd="0" destOrd="0" presId="urn:microsoft.com/office/officeart/2005/8/layout/hierarchy2"/>
    <dgm:cxn modelId="{9E905999-C49E-41D7-AD84-6E84E4655442}" type="presParOf" srcId="{CC8F94D6-B3D6-4A73-B3C0-B07526DD681C}" destId="{D158FFAF-F70C-49D7-8DBF-5FCF0C4377B3}" srcOrd="7" destOrd="0" presId="urn:microsoft.com/office/officeart/2005/8/layout/hierarchy2"/>
    <dgm:cxn modelId="{A1C65EE3-8E5E-42E6-824E-CC413BD15FCA}" type="presParOf" srcId="{D158FFAF-F70C-49D7-8DBF-5FCF0C4377B3}" destId="{4E91551F-F7F7-4C16-9527-3BB43D32A251}" srcOrd="0" destOrd="0" presId="urn:microsoft.com/office/officeart/2005/8/layout/hierarchy2"/>
    <dgm:cxn modelId="{78E4FD9E-746E-470F-A7EC-72E6E5E54397}" type="presParOf" srcId="{D158FFAF-F70C-49D7-8DBF-5FCF0C4377B3}" destId="{53C3725A-95C0-4BBA-BA99-165F9B5C5C9B}" srcOrd="1" destOrd="0" presId="urn:microsoft.com/office/officeart/2005/8/layout/hierarchy2"/>
    <dgm:cxn modelId="{DF43912F-C31D-4B39-9CD2-5B1B11F892D7}" type="presParOf" srcId="{CC8F94D6-B3D6-4A73-B3C0-B07526DD681C}" destId="{598A4999-CDFB-4A5E-9FAC-CCF3114584C0}" srcOrd="8" destOrd="0" presId="urn:microsoft.com/office/officeart/2005/8/layout/hierarchy2"/>
    <dgm:cxn modelId="{1485FCE6-95CC-43B9-8B4C-0261DDF3E857}" type="presParOf" srcId="{598A4999-CDFB-4A5E-9FAC-CCF3114584C0}" destId="{4AF51B0B-5FB2-497E-8409-23A2DA1E74A9}" srcOrd="0" destOrd="0" presId="urn:microsoft.com/office/officeart/2005/8/layout/hierarchy2"/>
    <dgm:cxn modelId="{4CD829B8-8BEC-41EB-91E3-8F62797C2D95}" type="presParOf" srcId="{CC8F94D6-B3D6-4A73-B3C0-B07526DD681C}" destId="{2601AB09-AF90-4BB6-8D96-5A8BEC1258C5}" srcOrd="9" destOrd="0" presId="urn:microsoft.com/office/officeart/2005/8/layout/hierarchy2"/>
    <dgm:cxn modelId="{719311A6-B979-4233-95B7-7C69F535320A}" type="presParOf" srcId="{2601AB09-AF90-4BB6-8D96-5A8BEC1258C5}" destId="{0657B2EE-1508-410A-827B-44A92AA51974}" srcOrd="0" destOrd="0" presId="urn:microsoft.com/office/officeart/2005/8/layout/hierarchy2"/>
    <dgm:cxn modelId="{F3402817-79FD-4C7B-8444-3B3D5B378F77}" type="presParOf" srcId="{2601AB09-AF90-4BB6-8D96-5A8BEC1258C5}" destId="{6E11D042-3132-45F0-828C-39B926249D9F}"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308481BC-C8FD-4874-AC97-BD3798764E27}" type="datetimeFigureOut">
              <a:rPr lang="en-US" smtClean="0"/>
              <a:t>9/22/2016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2ADF3B73-E173-45C2-B65F-B02BEF24A8B4}" type="slidenum">
              <a:rPr lang="en-US" smtClean="0"/>
              <a:t>‹#›</a:t>
            </a:fld>
            <a:endParaRPr lang="en-US"/>
          </a:p>
        </p:txBody>
      </p:sp>
    </p:spTree>
    <p:extLst>
      <p:ext uri="{BB962C8B-B14F-4D97-AF65-F5344CB8AC3E}">
        <p14:creationId xmlns:p14="http://schemas.microsoft.com/office/powerpoint/2010/main" val="1012555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ADF3B73-E173-45C2-B65F-B02BEF24A8B4}" type="slidenum">
              <a:rPr lang="en-US" smtClean="0"/>
              <a:t>1</a:t>
            </a:fld>
            <a:endParaRPr lang="en-US" dirty="0"/>
          </a:p>
        </p:txBody>
      </p:sp>
    </p:spTree>
    <p:extLst>
      <p:ext uri="{BB962C8B-B14F-4D97-AF65-F5344CB8AC3E}">
        <p14:creationId xmlns:p14="http://schemas.microsoft.com/office/powerpoint/2010/main" val="23017915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2</a:t>
            </a:fld>
            <a:endParaRPr lang="en-US" altLang="en-US" sz="1200" dirty="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1980003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3</a:t>
            </a:fld>
            <a:endParaRPr lang="en-US" altLang="en-US" sz="1200" dirty="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1036358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5</a:t>
            </a:fld>
            <a:endParaRPr lang="en-US" altLang="en-US" sz="1200" dirty="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218174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42B4357-C53A-469D-AAAF-0122FDA52283}" type="slidenum">
              <a:rPr lang="fr-FR"/>
              <a:pPr/>
              <a:t>6</a:t>
            </a:fld>
            <a:endParaRPr lang="fr-FR"/>
          </a:p>
        </p:txBody>
      </p:sp>
      <p:sp>
        <p:nvSpPr>
          <p:cNvPr id="1504258" name="Rectangle 2"/>
          <p:cNvSpPr>
            <a:spLocks noGrp="1" noRot="1" noChangeAspect="1" noChangeArrowheads="1" noTextEdit="1"/>
          </p:cNvSpPr>
          <p:nvPr>
            <p:ph type="sldImg"/>
          </p:nvPr>
        </p:nvSpPr>
        <p:spPr>
          <a:xfrm>
            <a:off x="449263" y="715963"/>
            <a:ext cx="6362700" cy="3579812"/>
          </a:xfrm>
          <a:ln/>
        </p:spPr>
      </p:sp>
      <p:sp>
        <p:nvSpPr>
          <p:cNvPr id="1504259" name="Rectangle 3"/>
          <p:cNvSpPr>
            <a:spLocks noGrp="1" noChangeArrowheads="1"/>
          </p:cNvSpPr>
          <p:nvPr>
            <p:ph type="body" idx="1"/>
          </p:nvPr>
        </p:nvSpPr>
        <p:spPr/>
        <p:txBody>
          <a:bodyPr/>
          <a:lstStyle/>
          <a:p>
            <a:endParaRPr lang="fr-FR"/>
          </a:p>
        </p:txBody>
      </p:sp>
    </p:spTree>
    <p:extLst>
      <p:ext uri="{BB962C8B-B14F-4D97-AF65-F5344CB8AC3E}">
        <p14:creationId xmlns:p14="http://schemas.microsoft.com/office/powerpoint/2010/main" val="4286168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0CD1EFF-FC7E-470E-A07D-52069F35217E}" type="slidenum">
              <a:rPr lang="fr-FR"/>
              <a:pPr/>
              <a:t>7</a:t>
            </a:fld>
            <a:endParaRPr lang="fr-FR"/>
          </a:p>
        </p:txBody>
      </p:sp>
      <p:sp>
        <p:nvSpPr>
          <p:cNvPr id="1508354" name="Rectangle 2"/>
          <p:cNvSpPr>
            <a:spLocks noGrp="1" noRot="1" noChangeAspect="1" noChangeArrowheads="1" noTextEdit="1"/>
          </p:cNvSpPr>
          <p:nvPr>
            <p:ph type="sldImg"/>
          </p:nvPr>
        </p:nvSpPr>
        <p:spPr>
          <a:xfrm>
            <a:off x="449263" y="715963"/>
            <a:ext cx="6362700" cy="3579812"/>
          </a:xfrm>
          <a:ln/>
        </p:spPr>
      </p:sp>
      <p:sp>
        <p:nvSpPr>
          <p:cNvPr id="1508355" name="Rectangle 3"/>
          <p:cNvSpPr>
            <a:spLocks noGrp="1" noChangeArrowheads="1"/>
          </p:cNvSpPr>
          <p:nvPr>
            <p:ph type="body" idx="1"/>
          </p:nvPr>
        </p:nvSpPr>
        <p:spPr/>
        <p:txBody>
          <a:bodyPr/>
          <a:lstStyle/>
          <a:p>
            <a:endParaRPr lang="fr-FR"/>
          </a:p>
        </p:txBody>
      </p:sp>
    </p:spTree>
    <p:extLst>
      <p:ext uri="{BB962C8B-B14F-4D97-AF65-F5344CB8AC3E}">
        <p14:creationId xmlns:p14="http://schemas.microsoft.com/office/powerpoint/2010/main" val="2632314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C11A5C-347B-4A6A-AEED-B96DD805D4E2}" type="slidenum">
              <a:rPr lang="fr-FR"/>
              <a:pPr/>
              <a:t>8</a:t>
            </a:fld>
            <a:endParaRPr lang="fr-FR"/>
          </a:p>
        </p:txBody>
      </p:sp>
      <p:sp>
        <p:nvSpPr>
          <p:cNvPr id="1235970" name="Rectangle 2"/>
          <p:cNvSpPr>
            <a:spLocks noGrp="1" noRot="1" noChangeAspect="1" noChangeArrowheads="1" noTextEdit="1"/>
          </p:cNvSpPr>
          <p:nvPr>
            <p:ph type="sldImg"/>
          </p:nvPr>
        </p:nvSpPr>
        <p:spPr>
          <a:xfrm>
            <a:off x="449263" y="715963"/>
            <a:ext cx="6362700" cy="3579812"/>
          </a:xfrm>
          <a:ln/>
        </p:spPr>
      </p:sp>
      <p:sp>
        <p:nvSpPr>
          <p:cNvPr id="1235971" name="Rectangle 3"/>
          <p:cNvSpPr>
            <a:spLocks noGrp="1" noChangeArrowheads="1"/>
          </p:cNvSpPr>
          <p:nvPr>
            <p:ph type="body" idx="1"/>
          </p:nvPr>
        </p:nvSpPr>
        <p:spPr/>
        <p:txBody>
          <a:bodyPr/>
          <a:lstStyle/>
          <a:p>
            <a:endParaRPr lang="fr-FR"/>
          </a:p>
        </p:txBody>
      </p:sp>
    </p:spTree>
    <p:extLst>
      <p:ext uri="{BB962C8B-B14F-4D97-AF65-F5344CB8AC3E}">
        <p14:creationId xmlns:p14="http://schemas.microsoft.com/office/powerpoint/2010/main" val="3778385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1247DEB-CDD5-49E1-8CD8-E147809BA61B}" type="slidenum">
              <a:rPr lang="fr-FR"/>
              <a:pPr/>
              <a:t>9</a:t>
            </a:fld>
            <a:endParaRPr lang="fr-FR"/>
          </a:p>
        </p:txBody>
      </p:sp>
      <p:sp>
        <p:nvSpPr>
          <p:cNvPr id="1197058" name="Rectangle 2"/>
          <p:cNvSpPr>
            <a:spLocks noGrp="1" noRot="1" noChangeAspect="1" noChangeArrowheads="1" noTextEdit="1"/>
          </p:cNvSpPr>
          <p:nvPr>
            <p:ph type="sldImg"/>
          </p:nvPr>
        </p:nvSpPr>
        <p:spPr>
          <a:xfrm>
            <a:off x="449263" y="715963"/>
            <a:ext cx="6362700" cy="3579812"/>
          </a:xfrm>
          <a:ln/>
        </p:spPr>
      </p:sp>
      <p:sp>
        <p:nvSpPr>
          <p:cNvPr id="1197059" name="Rectangle 3"/>
          <p:cNvSpPr>
            <a:spLocks noGrp="1" noChangeArrowheads="1"/>
          </p:cNvSpPr>
          <p:nvPr>
            <p:ph type="body" idx="1"/>
          </p:nvPr>
        </p:nvSpPr>
        <p:spPr/>
        <p:txBody>
          <a:bodyPr/>
          <a:lstStyle/>
          <a:p>
            <a:endParaRPr lang="fr-FR"/>
          </a:p>
        </p:txBody>
      </p:sp>
    </p:spTree>
    <p:extLst>
      <p:ext uri="{BB962C8B-B14F-4D97-AF65-F5344CB8AC3E}">
        <p14:creationId xmlns:p14="http://schemas.microsoft.com/office/powerpoint/2010/main" val="2337045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0A1177-C289-4F00-A128-520C5668DBD5}" type="slidenum">
              <a:rPr lang="fr-FR"/>
              <a:pPr/>
              <a:t>10</a:t>
            </a:fld>
            <a:endParaRPr lang="fr-FR"/>
          </a:p>
        </p:txBody>
      </p:sp>
      <p:sp>
        <p:nvSpPr>
          <p:cNvPr id="1199106" name="Rectangle 2"/>
          <p:cNvSpPr>
            <a:spLocks noGrp="1" noRot="1" noChangeAspect="1" noChangeArrowheads="1" noTextEdit="1"/>
          </p:cNvSpPr>
          <p:nvPr>
            <p:ph type="sldImg"/>
          </p:nvPr>
        </p:nvSpPr>
        <p:spPr>
          <a:xfrm>
            <a:off x="449263" y="715963"/>
            <a:ext cx="6362700" cy="3579812"/>
          </a:xfrm>
          <a:ln/>
        </p:spPr>
      </p:sp>
      <p:sp>
        <p:nvSpPr>
          <p:cNvPr id="1199107" name="Rectangle 3"/>
          <p:cNvSpPr>
            <a:spLocks noGrp="1" noChangeArrowheads="1"/>
          </p:cNvSpPr>
          <p:nvPr>
            <p:ph type="body" idx="1"/>
          </p:nvPr>
        </p:nvSpPr>
        <p:spPr/>
        <p:txBody>
          <a:bodyPr/>
          <a:lstStyle/>
          <a:p>
            <a:endParaRPr lang="fr-FR"/>
          </a:p>
        </p:txBody>
      </p:sp>
    </p:spTree>
    <p:extLst>
      <p:ext uri="{BB962C8B-B14F-4D97-AF65-F5344CB8AC3E}">
        <p14:creationId xmlns:p14="http://schemas.microsoft.com/office/powerpoint/2010/main" val="5585704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95BF71-8F6A-488A-8702-697D7B68E5FD}" type="slidenum">
              <a:rPr lang="fr-FR"/>
              <a:pPr/>
              <a:t>11</a:t>
            </a:fld>
            <a:endParaRPr lang="fr-FR"/>
          </a:p>
        </p:txBody>
      </p:sp>
      <p:sp>
        <p:nvSpPr>
          <p:cNvPr id="1201154" name="Rectangle 2"/>
          <p:cNvSpPr>
            <a:spLocks noGrp="1" noRot="1" noChangeAspect="1" noChangeArrowheads="1" noTextEdit="1"/>
          </p:cNvSpPr>
          <p:nvPr>
            <p:ph type="sldImg"/>
          </p:nvPr>
        </p:nvSpPr>
        <p:spPr>
          <a:xfrm>
            <a:off x="449263" y="715963"/>
            <a:ext cx="6362700" cy="3579812"/>
          </a:xfrm>
          <a:ln/>
        </p:spPr>
      </p:sp>
      <p:sp>
        <p:nvSpPr>
          <p:cNvPr id="1201155" name="Rectangle 3"/>
          <p:cNvSpPr>
            <a:spLocks noGrp="1" noChangeArrowheads="1"/>
          </p:cNvSpPr>
          <p:nvPr>
            <p:ph type="body" idx="1"/>
          </p:nvPr>
        </p:nvSpPr>
        <p:spPr/>
        <p:txBody>
          <a:bodyPr/>
          <a:lstStyle/>
          <a:p>
            <a:endParaRPr lang="fr-FR"/>
          </a:p>
        </p:txBody>
      </p:sp>
    </p:spTree>
    <p:extLst>
      <p:ext uri="{BB962C8B-B14F-4D97-AF65-F5344CB8AC3E}">
        <p14:creationId xmlns:p14="http://schemas.microsoft.com/office/powerpoint/2010/main" val="11355441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A8B77D2-DA33-4C95-8FFE-9D1608FA5F66}" type="slidenum">
              <a:rPr lang="fr-FR"/>
              <a:pPr/>
              <a:t>12</a:t>
            </a:fld>
            <a:endParaRPr lang="fr-FR"/>
          </a:p>
        </p:txBody>
      </p:sp>
      <p:sp>
        <p:nvSpPr>
          <p:cNvPr id="1203202" name="Rectangle 2"/>
          <p:cNvSpPr>
            <a:spLocks noGrp="1" noRot="1" noChangeAspect="1" noChangeArrowheads="1" noTextEdit="1"/>
          </p:cNvSpPr>
          <p:nvPr>
            <p:ph type="sldImg"/>
          </p:nvPr>
        </p:nvSpPr>
        <p:spPr>
          <a:xfrm>
            <a:off x="449263" y="715963"/>
            <a:ext cx="6362700" cy="3579812"/>
          </a:xfrm>
          <a:ln/>
        </p:spPr>
      </p:sp>
      <p:sp>
        <p:nvSpPr>
          <p:cNvPr id="1203203" name="Rectangle 3"/>
          <p:cNvSpPr>
            <a:spLocks noGrp="1" noChangeArrowheads="1"/>
          </p:cNvSpPr>
          <p:nvPr>
            <p:ph type="body" idx="1"/>
          </p:nvPr>
        </p:nvSpPr>
        <p:spPr/>
        <p:txBody>
          <a:bodyPr/>
          <a:lstStyle/>
          <a:p>
            <a:endParaRPr lang="fr-FR"/>
          </a:p>
        </p:txBody>
      </p:sp>
    </p:spTree>
    <p:extLst>
      <p:ext uri="{BB962C8B-B14F-4D97-AF65-F5344CB8AC3E}">
        <p14:creationId xmlns:p14="http://schemas.microsoft.com/office/powerpoint/2010/main" val="8635140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97038C-E382-4461-AA73-477F08854C58}" type="slidenum">
              <a:rPr lang="fr-FR"/>
              <a:pPr/>
              <a:t>13</a:t>
            </a:fld>
            <a:endParaRPr lang="fr-FR"/>
          </a:p>
        </p:txBody>
      </p:sp>
      <p:sp>
        <p:nvSpPr>
          <p:cNvPr id="1205250" name="Rectangle 2"/>
          <p:cNvSpPr>
            <a:spLocks noGrp="1" noRot="1" noChangeAspect="1" noChangeArrowheads="1" noTextEdit="1"/>
          </p:cNvSpPr>
          <p:nvPr>
            <p:ph type="sldImg"/>
          </p:nvPr>
        </p:nvSpPr>
        <p:spPr>
          <a:xfrm>
            <a:off x="449263" y="715963"/>
            <a:ext cx="6362700" cy="3579812"/>
          </a:xfrm>
          <a:ln/>
        </p:spPr>
      </p:sp>
      <p:sp>
        <p:nvSpPr>
          <p:cNvPr id="1205251" name="Rectangle 3"/>
          <p:cNvSpPr>
            <a:spLocks noGrp="1" noChangeArrowheads="1"/>
          </p:cNvSpPr>
          <p:nvPr>
            <p:ph type="body" idx="1"/>
          </p:nvPr>
        </p:nvSpPr>
        <p:spPr/>
        <p:txBody>
          <a:bodyPr/>
          <a:lstStyle/>
          <a:p>
            <a:endParaRPr lang="fr-FR"/>
          </a:p>
        </p:txBody>
      </p:sp>
    </p:spTree>
    <p:extLst>
      <p:ext uri="{BB962C8B-B14F-4D97-AF65-F5344CB8AC3E}">
        <p14:creationId xmlns:p14="http://schemas.microsoft.com/office/powerpoint/2010/main" val="12736403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DEBB8E-71D9-4F6D-A635-43E22B1E74E0}" type="slidenum">
              <a:rPr lang="fr-FR"/>
              <a:pPr/>
              <a:t>14</a:t>
            </a:fld>
            <a:endParaRPr lang="fr-FR"/>
          </a:p>
        </p:txBody>
      </p:sp>
      <p:sp>
        <p:nvSpPr>
          <p:cNvPr id="1207298" name="Rectangle 2"/>
          <p:cNvSpPr>
            <a:spLocks noGrp="1" noRot="1" noChangeAspect="1" noChangeArrowheads="1" noTextEdit="1"/>
          </p:cNvSpPr>
          <p:nvPr>
            <p:ph type="sldImg"/>
          </p:nvPr>
        </p:nvSpPr>
        <p:spPr>
          <a:xfrm>
            <a:off x="449263" y="715963"/>
            <a:ext cx="6362700" cy="3579812"/>
          </a:xfrm>
          <a:ln/>
        </p:spPr>
      </p:sp>
      <p:sp>
        <p:nvSpPr>
          <p:cNvPr id="1207299" name="Rectangle 3"/>
          <p:cNvSpPr>
            <a:spLocks noGrp="1" noChangeArrowheads="1"/>
          </p:cNvSpPr>
          <p:nvPr>
            <p:ph type="body" idx="1"/>
          </p:nvPr>
        </p:nvSpPr>
        <p:spPr/>
        <p:txBody>
          <a:bodyPr/>
          <a:lstStyle/>
          <a:p>
            <a:endParaRPr lang="fr-FR"/>
          </a:p>
        </p:txBody>
      </p:sp>
    </p:spTree>
    <p:extLst>
      <p:ext uri="{BB962C8B-B14F-4D97-AF65-F5344CB8AC3E}">
        <p14:creationId xmlns:p14="http://schemas.microsoft.com/office/powerpoint/2010/main" val="32252514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15</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5103173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2173A7E-3CBD-4817-9028-F241576AC00E}" type="slidenum">
              <a:rPr lang="fr-FR"/>
              <a:pPr/>
              <a:t>16</a:t>
            </a:fld>
            <a:endParaRPr lang="fr-FR"/>
          </a:p>
        </p:txBody>
      </p:sp>
      <p:sp>
        <p:nvSpPr>
          <p:cNvPr id="1276930" name="Rectangle 2"/>
          <p:cNvSpPr>
            <a:spLocks noGrp="1" noRot="1" noChangeAspect="1" noChangeArrowheads="1" noTextEdit="1"/>
          </p:cNvSpPr>
          <p:nvPr>
            <p:ph type="sldImg"/>
          </p:nvPr>
        </p:nvSpPr>
        <p:spPr>
          <a:xfrm>
            <a:off x="449263" y="715963"/>
            <a:ext cx="6362700" cy="3579812"/>
          </a:xfrm>
          <a:ln/>
        </p:spPr>
      </p:sp>
      <p:sp>
        <p:nvSpPr>
          <p:cNvPr id="1276931" name="Rectangle 3"/>
          <p:cNvSpPr>
            <a:spLocks noGrp="1" noChangeArrowheads="1"/>
          </p:cNvSpPr>
          <p:nvPr>
            <p:ph type="body" idx="1"/>
          </p:nvPr>
        </p:nvSpPr>
        <p:spPr/>
        <p:txBody>
          <a:bodyPr/>
          <a:lstStyle/>
          <a:p>
            <a:endParaRPr lang="fr-FR"/>
          </a:p>
        </p:txBody>
      </p:sp>
    </p:spTree>
    <p:extLst>
      <p:ext uri="{BB962C8B-B14F-4D97-AF65-F5344CB8AC3E}">
        <p14:creationId xmlns:p14="http://schemas.microsoft.com/office/powerpoint/2010/main" val="41352634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23</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4997039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36</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0015275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38</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1478818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42</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1050221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45</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4263374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47</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9818476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50</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42870141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52</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946913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60</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41851369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66</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460374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68</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2481842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70</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999228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73</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4553438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75</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9435119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80</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0086151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6333">
              <a:defRPr sz="2400">
                <a:solidFill>
                  <a:schemeClr val="tx1"/>
                </a:solidFill>
                <a:latin typeface="Times New Roman" panose="02020603050405020304" pitchFamily="18" charset="0"/>
              </a:defRPr>
            </a:lvl1pPr>
            <a:lvl2pPr marL="757066" indent="-291179" defTabSz="946333">
              <a:defRPr sz="2400">
                <a:solidFill>
                  <a:schemeClr val="tx1"/>
                </a:solidFill>
                <a:latin typeface="Times New Roman" panose="02020603050405020304" pitchFamily="18" charset="0"/>
              </a:defRPr>
            </a:lvl2pPr>
            <a:lvl3pPr marL="1164717" indent="-232943" defTabSz="946333">
              <a:defRPr sz="2400">
                <a:solidFill>
                  <a:schemeClr val="tx1"/>
                </a:solidFill>
                <a:latin typeface="Times New Roman" panose="02020603050405020304" pitchFamily="18" charset="0"/>
              </a:defRPr>
            </a:lvl3pPr>
            <a:lvl4pPr marL="1630604" indent="-232943" defTabSz="946333">
              <a:defRPr sz="2400">
                <a:solidFill>
                  <a:schemeClr val="tx1"/>
                </a:solidFill>
                <a:latin typeface="Times New Roman" panose="02020603050405020304" pitchFamily="18" charset="0"/>
              </a:defRPr>
            </a:lvl4pPr>
            <a:lvl5pPr marL="2096491" indent="-232943" defTabSz="946333">
              <a:defRPr sz="2400">
                <a:solidFill>
                  <a:schemeClr val="tx1"/>
                </a:solidFill>
                <a:latin typeface="Times New Roman" panose="02020603050405020304" pitchFamily="18" charset="0"/>
              </a:defRPr>
            </a:lvl5pPr>
            <a:lvl6pPr marL="2562377" indent="-232943" algn="ctr" defTabSz="946333" eaLnBrk="0" fontAlgn="base" hangingPunct="0">
              <a:spcBef>
                <a:spcPct val="0"/>
              </a:spcBef>
              <a:spcAft>
                <a:spcPct val="0"/>
              </a:spcAft>
              <a:defRPr sz="2400">
                <a:solidFill>
                  <a:schemeClr val="tx1"/>
                </a:solidFill>
                <a:latin typeface="Times New Roman" panose="02020603050405020304" pitchFamily="18" charset="0"/>
              </a:defRPr>
            </a:lvl6pPr>
            <a:lvl7pPr marL="3028264" indent="-232943" algn="ctr" defTabSz="946333" eaLnBrk="0" fontAlgn="base" hangingPunct="0">
              <a:spcBef>
                <a:spcPct val="0"/>
              </a:spcBef>
              <a:spcAft>
                <a:spcPct val="0"/>
              </a:spcAft>
              <a:defRPr sz="2400">
                <a:solidFill>
                  <a:schemeClr val="tx1"/>
                </a:solidFill>
                <a:latin typeface="Times New Roman" panose="02020603050405020304" pitchFamily="18" charset="0"/>
              </a:defRPr>
            </a:lvl7pPr>
            <a:lvl8pPr marL="3494151" indent="-232943" algn="ctr" defTabSz="946333" eaLnBrk="0" fontAlgn="base" hangingPunct="0">
              <a:spcBef>
                <a:spcPct val="0"/>
              </a:spcBef>
              <a:spcAft>
                <a:spcPct val="0"/>
              </a:spcAft>
              <a:defRPr sz="2400">
                <a:solidFill>
                  <a:schemeClr val="tx1"/>
                </a:solidFill>
                <a:latin typeface="Times New Roman" panose="02020603050405020304" pitchFamily="18" charset="0"/>
              </a:defRPr>
            </a:lvl8pPr>
            <a:lvl9pPr marL="3960038" indent="-232943" algn="ctr" defTabSz="946333" eaLnBrk="0" fontAlgn="base" hangingPunct="0">
              <a:spcBef>
                <a:spcPct val="0"/>
              </a:spcBef>
              <a:spcAft>
                <a:spcPct val="0"/>
              </a:spcAft>
              <a:defRPr sz="2400">
                <a:solidFill>
                  <a:schemeClr val="tx1"/>
                </a:solidFill>
                <a:latin typeface="Times New Roman" panose="02020603050405020304" pitchFamily="18" charset="0"/>
              </a:defRPr>
            </a:lvl9pPr>
          </a:lstStyle>
          <a:p>
            <a:fld id="{37CD84D6-A37C-4066-8057-22ADF90E1769}" type="slidenum">
              <a:rPr lang="en-US" altLang="en-US" sz="1200"/>
              <a:pPr/>
              <a:t>83</a:t>
            </a:fld>
            <a:endParaRPr lang="en-US" altLang="en-US" sz="1200"/>
          </a:p>
        </p:txBody>
      </p:sp>
      <p:sp>
        <p:nvSpPr>
          <p:cNvPr id="38915" name="Rectangle 2"/>
          <p:cNvSpPr>
            <a:spLocks noGrp="1" noRot="1" noChangeAspect="1" noChangeArrowheads="1" noTextEdit="1"/>
          </p:cNvSpPr>
          <p:nvPr>
            <p:ph type="sldImg"/>
          </p:nvPr>
        </p:nvSpPr>
        <p:spPr>
          <a:xfrm>
            <a:off x="412750" y="685800"/>
            <a:ext cx="6329363" cy="3560763"/>
          </a:xfrm>
          <a:ln/>
        </p:spPr>
      </p:sp>
      <p:sp>
        <p:nvSpPr>
          <p:cNvPr id="38916" name="Rectangle 3"/>
          <p:cNvSpPr>
            <a:spLocks noGrp="1" noChangeArrowheads="1"/>
          </p:cNvSpPr>
          <p:nvPr>
            <p:ph type="body" idx="1"/>
          </p:nvPr>
        </p:nvSpPr>
        <p:spPr>
          <a:xfrm>
            <a:off x="985027" y="4486805"/>
            <a:ext cx="5183152" cy="427214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639696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r>
              <a:rPr lang="en-US" smtClean="0"/>
              <a:t>1/4/2010</a:t>
            </a:r>
            <a:endParaRPr lang="en-US"/>
          </a:p>
        </p:txBody>
      </p:sp>
      <p:sp>
        <p:nvSpPr>
          <p:cNvPr id="5" name="Footer Placeholder 4"/>
          <p:cNvSpPr>
            <a:spLocks noGrp="1"/>
          </p:cNvSpPr>
          <p:nvPr>
            <p:ph type="ftr" sz="quarter" idx="11"/>
          </p:nvPr>
        </p:nvSpPr>
        <p:spPr/>
        <p:txBody>
          <a:bodyPr/>
          <a:lstStyle/>
          <a:p>
            <a:r>
              <a:rPr lang="en-US" smtClean="0"/>
              <a:t>Isabelle Bichindaritz, SUNY Oswego</a:t>
            </a:r>
            <a:endParaRPr lang="en-US"/>
          </a:p>
        </p:txBody>
      </p:sp>
      <p:sp>
        <p:nvSpPr>
          <p:cNvPr id="6" name="Slide Number Placeholder 5"/>
          <p:cNvSpPr>
            <a:spLocks noGrp="1"/>
          </p:cNvSpPr>
          <p:nvPr>
            <p:ph type="sldNum" sz="quarter" idx="12"/>
          </p:nvPr>
        </p:nvSpPr>
        <p:spPr/>
        <p:txBody>
          <a:bodyPr/>
          <a:lstStyle/>
          <a:p>
            <a:fld id="{CC28588C-1661-40F2-A5C9-AAE089DDE36E}" type="slidenum">
              <a:rPr lang="en-US" smtClean="0"/>
              <a:t>‹#›</a:t>
            </a:fld>
            <a:endParaRPr lang="en-US"/>
          </a:p>
        </p:txBody>
      </p:sp>
    </p:spTree>
    <p:extLst>
      <p:ext uri="{BB962C8B-B14F-4D97-AF65-F5344CB8AC3E}">
        <p14:creationId xmlns:p14="http://schemas.microsoft.com/office/powerpoint/2010/main" val="3029997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r>
              <a:rPr lang="en-US" smtClean="0"/>
              <a:t>1/4/2010</a:t>
            </a:r>
            <a:endParaRPr lang="en-US"/>
          </a:p>
        </p:txBody>
      </p:sp>
      <p:sp>
        <p:nvSpPr>
          <p:cNvPr id="5" name="Footer Placeholder 4"/>
          <p:cNvSpPr>
            <a:spLocks noGrp="1"/>
          </p:cNvSpPr>
          <p:nvPr>
            <p:ph type="ftr" sz="quarter" idx="11"/>
          </p:nvPr>
        </p:nvSpPr>
        <p:spPr/>
        <p:txBody>
          <a:bodyPr/>
          <a:lstStyle/>
          <a:p>
            <a:r>
              <a:rPr lang="en-US" smtClean="0"/>
              <a:t>Isabelle Bichindaritz, SUNY Oswego</a:t>
            </a:r>
            <a:endParaRPr lang="en-US"/>
          </a:p>
        </p:txBody>
      </p:sp>
      <p:sp>
        <p:nvSpPr>
          <p:cNvPr id="6" name="Slide Number Placeholder 5"/>
          <p:cNvSpPr>
            <a:spLocks noGrp="1"/>
          </p:cNvSpPr>
          <p:nvPr>
            <p:ph type="sldNum" sz="quarter" idx="12"/>
          </p:nvPr>
        </p:nvSpPr>
        <p:spPr/>
        <p:txBody>
          <a:bodyPr/>
          <a:lstStyle/>
          <a:p>
            <a:fld id="{CC28588C-1661-40F2-A5C9-AAE089DDE36E}" type="slidenum">
              <a:rPr lang="en-US" smtClean="0"/>
              <a:t>‹#›</a:t>
            </a:fld>
            <a:endParaRPr lang="en-US"/>
          </a:p>
        </p:txBody>
      </p:sp>
    </p:spTree>
    <p:extLst>
      <p:ext uri="{BB962C8B-B14F-4D97-AF65-F5344CB8AC3E}">
        <p14:creationId xmlns:p14="http://schemas.microsoft.com/office/powerpoint/2010/main" val="2945169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1/4/2010</a:t>
            </a:r>
            <a:endParaRPr lang="en-US"/>
          </a:p>
        </p:txBody>
      </p:sp>
      <p:sp>
        <p:nvSpPr>
          <p:cNvPr id="5" name="Footer Placeholder 4"/>
          <p:cNvSpPr>
            <a:spLocks noGrp="1"/>
          </p:cNvSpPr>
          <p:nvPr>
            <p:ph type="ftr" sz="quarter" idx="11"/>
          </p:nvPr>
        </p:nvSpPr>
        <p:spPr/>
        <p:txBody>
          <a:bodyPr/>
          <a:lstStyle/>
          <a:p>
            <a:r>
              <a:rPr lang="en-US" smtClean="0"/>
              <a:t>Isabelle Bichindaritz, SUNY Oswego</a:t>
            </a:r>
            <a:endParaRPr lang="en-US"/>
          </a:p>
        </p:txBody>
      </p:sp>
      <p:sp>
        <p:nvSpPr>
          <p:cNvPr id="6" name="Slide Number Placeholder 5"/>
          <p:cNvSpPr>
            <a:spLocks noGrp="1"/>
          </p:cNvSpPr>
          <p:nvPr>
            <p:ph type="sldNum" sz="quarter" idx="12"/>
          </p:nvPr>
        </p:nvSpPr>
        <p:spPr/>
        <p:txBody>
          <a:bodyPr/>
          <a:lstStyle/>
          <a:p>
            <a:fld id="{CC28588C-1661-40F2-A5C9-AAE089DDE36E}" type="slidenum">
              <a:rPr lang="en-US" smtClean="0"/>
              <a:t>‹#›</a:t>
            </a:fld>
            <a:endParaRPr lang="en-US"/>
          </a:p>
        </p:txBody>
      </p:sp>
    </p:spTree>
    <p:extLst>
      <p:ext uri="{BB962C8B-B14F-4D97-AF65-F5344CB8AC3E}">
        <p14:creationId xmlns:p14="http://schemas.microsoft.com/office/powerpoint/2010/main" val="3384263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r>
              <a:rPr lang="en-US" smtClean="0"/>
              <a:t>1/4/2010</a:t>
            </a:r>
            <a:endParaRPr lang="en-US"/>
          </a:p>
        </p:txBody>
      </p:sp>
      <p:sp>
        <p:nvSpPr>
          <p:cNvPr id="6" name="Footer Placeholder 5"/>
          <p:cNvSpPr>
            <a:spLocks noGrp="1"/>
          </p:cNvSpPr>
          <p:nvPr>
            <p:ph type="ftr" sz="quarter" idx="11"/>
          </p:nvPr>
        </p:nvSpPr>
        <p:spPr/>
        <p:txBody>
          <a:bodyPr/>
          <a:lstStyle/>
          <a:p>
            <a:r>
              <a:rPr lang="en-US" smtClean="0"/>
              <a:t>Isabelle Bichindaritz, SUNY Oswego</a:t>
            </a:r>
            <a:endParaRPr lang="en-US"/>
          </a:p>
        </p:txBody>
      </p:sp>
      <p:sp>
        <p:nvSpPr>
          <p:cNvPr id="7" name="Slide Number Placeholder 6"/>
          <p:cNvSpPr>
            <a:spLocks noGrp="1"/>
          </p:cNvSpPr>
          <p:nvPr>
            <p:ph type="sldNum" sz="quarter" idx="12"/>
          </p:nvPr>
        </p:nvSpPr>
        <p:spPr/>
        <p:txBody>
          <a:bodyPr/>
          <a:lstStyle/>
          <a:p>
            <a:fld id="{CC28588C-1661-40F2-A5C9-AAE089DDE36E}" type="slidenum">
              <a:rPr lang="en-US" smtClean="0"/>
              <a:t>‹#›</a:t>
            </a:fld>
            <a:endParaRPr lang="en-US"/>
          </a:p>
        </p:txBody>
      </p:sp>
    </p:spTree>
    <p:extLst>
      <p:ext uri="{BB962C8B-B14F-4D97-AF65-F5344CB8AC3E}">
        <p14:creationId xmlns:p14="http://schemas.microsoft.com/office/powerpoint/2010/main" val="3182884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5127" y="2507550"/>
            <a:ext cx="5156200" cy="3680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7550"/>
            <a:ext cx="5181601" cy="3680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en-US" smtClean="0"/>
              <a:t>1/4/2010</a:t>
            </a:r>
            <a:endParaRPr lang="en-US"/>
          </a:p>
        </p:txBody>
      </p:sp>
      <p:sp>
        <p:nvSpPr>
          <p:cNvPr id="8" name="Footer Placeholder 7"/>
          <p:cNvSpPr>
            <a:spLocks noGrp="1"/>
          </p:cNvSpPr>
          <p:nvPr>
            <p:ph type="ftr" sz="quarter" idx="11"/>
          </p:nvPr>
        </p:nvSpPr>
        <p:spPr/>
        <p:txBody>
          <a:bodyPr/>
          <a:lstStyle/>
          <a:p>
            <a:r>
              <a:rPr lang="en-US" smtClean="0"/>
              <a:t>Isabelle Bichindaritz, SUNY Oswego</a:t>
            </a:r>
            <a:endParaRPr lang="en-US"/>
          </a:p>
        </p:txBody>
      </p:sp>
      <p:sp>
        <p:nvSpPr>
          <p:cNvPr id="9" name="Slide Number Placeholder 8"/>
          <p:cNvSpPr>
            <a:spLocks noGrp="1"/>
          </p:cNvSpPr>
          <p:nvPr>
            <p:ph type="sldNum" sz="quarter" idx="12"/>
          </p:nvPr>
        </p:nvSpPr>
        <p:spPr/>
        <p:txBody>
          <a:bodyPr/>
          <a:lstStyle/>
          <a:p>
            <a:fld id="{CC28588C-1661-40F2-A5C9-AAE089DDE36E}" type="slidenum">
              <a:rPr lang="en-US" smtClean="0"/>
              <a:t>‹#›</a:t>
            </a:fld>
            <a:endParaRPr lang="en-US"/>
          </a:p>
        </p:txBody>
      </p:sp>
      <p:sp>
        <p:nvSpPr>
          <p:cNvPr id="10" name="Title 9"/>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168988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r>
              <a:rPr lang="en-US" smtClean="0"/>
              <a:t>1/4/2010</a:t>
            </a:r>
            <a:endParaRPr lang="en-US"/>
          </a:p>
        </p:txBody>
      </p:sp>
      <p:sp>
        <p:nvSpPr>
          <p:cNvPr id="4" name="Footer Placeholder 3"/>
          <p:cNvSpPr>
            <a:spLocks noGrp="1"/>
          </p:cNvSpPr>
          <p:nvPr>
            <p:ph type="ftr" sz="quarter" idx="11"/>
          </p:nvPr>
        </p:nvSpPr>
        <p:spPr/>
        <p:txBody>
          <a:bodyPr/>
          <a:lstStyle/>
          <a:p>
            <a:r>
              <a:rPr lang="en-US" smtClean="0"/>
              <a:t>Isabelle Bichindaritz, SUNY Oswego</a:t>
            </a:r>
            <a:endParaRPr lang="en-US"/>
          </a:p>
        </p:txBody>
      </p:sp>
      <p:sp>
        <p:nvSpPr>
          <p:cNvPr id="5" name="Slide Number Placeholder 4"/>
          <p:cNvSpPr>
            <a:spLocks noGrp="1"/>
          </p:cNvSpPr>
          <p:nvPr>
            <p:ph type="sldNum" sz="quarter" idx="12"/>
          </p:nvPr>
        </p:nvSpPr>
        <p:spPr/>
        <p:txBody>
          <a:bodyPr/>
          <a:lstStyle/>
          <a:p>
            <a:fld id="{CC28588C-1661-40F2-A5C9-AAE089DDE36E}" type="slidenum">
              <a:rPr lang="en-US" smtClean="0"/>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068919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1/4/2010</a:t>
            </a:r>
            <a:endParaRPr lang="en-US"/>
          </a:p>
        </p:txBody>
      </p:sp>
      <p:sp>
        <p:nvSpPr>
          <p:cNvPr id="3" name="Footer Placeholder 2"/>
          <p:cNvSpPr>
            <a:spLocks noGrp="1"/>
          </p:cNvSpPr>
          <p:nvPr>
            <p:ph type="ftr" sz="quarter" idx="11"/>
          </p:nvPr>
        </p:nvSpPr>
        <p:spPr/>
        <p:txBody>
          <a:bodyPr/>
          <a:lstStyle/>
          <a:p>
            <a:r>
              <a:rPr lang="en-US" smtClean="0"/>
              <a:t>Isabelle Bichindaritz, SUNY Oswego</a:t>
            </a:r>
            <a:endParaRPr lang="en-US"/>
          </a:p>
        </p:txBody>
      </p:sp>
      <p:sp>
        <p:nvSpPr>
          <p:cNvPr id="4" name="Slide Number Placeholder 3"/>
          <p:cNvSpPr>
            <a:spLocks noGrp="1"/>
          </p:cNvSpPr>
          <p:nvPr>
            <p:ph type="sldNum" sz="quarter" idx="12"/>
          </p:nvPr>
        </p:nvSpPr>
        <p:spPr/>
        <p:txBody>
          <a:bodyPr/>
          <a:lstStyle/>
          <a:p>
            <a:fld id="{CC28588C-1661-40F2-A5C9-AAE089DDE36E}" type="slidenum">
              <a:rPr lang="en-US" smtClean="0"/>
              <a:t>‹#›</a:t>
            </a:fld>
            <a:endParaRPr lang="en-US"/>
          </a:p>
        </p:txBody>
      </p:sp>
    </p:spTree>
    <p:extLst>
      <p:ext uri="{BB962C8B-B14F-4D97-AF65-F5344CB8AC3E}">
        <p14:creationId xmlns:p14="http://schemas.microsoft.com/office/powerpoint/2010/main" val="2524609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en-US" smtClean="0"/>
              <a:t>Click to edit Master title style</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1/4/2010</a:t>
            </a:r>
            <a:endParaRPr lang="en-US"/>
          </a:p>
        </p:txBody>
      </p:sp>
      <p:sp>
        <p:nvSpPr>
          <p:cNvPr id="6" name="Footer Placeholder 5"/>
          <p:cNvSpPr>
            <a:spLocks noGrp="1"/>
          </p:cNvSpPr>
          <p:nvPr>
            <p:ph type="ftr" sz="quarter" idx="11"/>
          </p:nvPr>
        </p:nvSpPr>
        <p:spPr/>
        <p:txBody>
          <a:bodyPr/>
          <a:lstStyle/>
          <a:p>
            <a:r>
              <a:rPr lang="en-US" smtClean="0"/>
              <a:t>Isabelle Bichindaritz, SUNY Oswego</a:t>
            </a:r>
            <a:endParaRPr lang="en-US"/>
          </a:p>
        </p:txBody>
      </p:sp>
      <p:sp>
        <p:nvSpPr>
          <p:cNvPr id="7" name="Slide Number Placeholder 6"/>
          <p:cNvSpPr>
            <a:spLocks noGrp="1"/>
          </p:cNvSpPr>
          <p:nvPr>
            <p:ph type="sldNum" sz="quarter" idx="12"/>
          </p:nvPr>
        </p:nvSpPr>
        <p:spPr/>
        <p:txBody>
          <a:bodyPr/>
          <a:lstStyle/>
          <a:p>
            <a:fld id="{CC28588C-1661-40F2-A5C9-AAE089DDE36E}" type="slidenum">
              <a:rPr lang="en-US" smtClean="0"/>
              <a:t>‹#›</a:t>
            </a:fld>
            <a:endParaRPr lang="en-US"/>
          </a:p>
        </p:txBody>
      </p:sp>
    </p:spTree>
    <p:extLst>
      <p:ext uri="{BB962C8B-B14F-4D97-AF65-F5344CB8AC3E}">
        <p14:creationId xmlns:p14="http://schemas.microsoft.com/office/powerpoint/2010/main" val="3107001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en-US" smtClean="0"/>
              <a:t>Click to edit Master title style</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1/4/2010</a:t>
            </a:r>
            <a:endParaRPr lang="en-US"/>
          </a:p>
        </p:txBody>
      </p:sp>
      <p:sp>
        <p:nvSpPr>
          <p:cNvPr id="6" name="Footer Placeholder 5"/>
          <p:cNvSpPr>
            <a:spLocks noGrp="1"/>
          </p:cNvSpPr>
          <p:nvPr>
            <p:ph type="ftr" sz="quarter" idx="11"/>
          </p:nvPr>
        </p:nvSpPr>
        <p:spPr/>
        <p:txBody>
          <a:bodyPr/>
          <a:lstStyle/>
          <a:p>
            <a:r>
              <a:rPr lang="en-US" smtClean="0"/>
              <a:t>Isabelle Bichindaritz, SUNY Oswego</a:t>
            </a:r>
            <a:endParaRPr lang="en-US"/>
          </a:p>
        </p:txBody>
      </p:sp>
      <p:sp>
        <p:nvSpPr>
          <p:cNvPr id="7" name="Slide Number Placeholder 6"/>
          <p:cNvSpPr>
            <a:spLocks noGrp="1"/>
          </p:cNvSpPr>
          <p:nvPr>
            <p:ph type="sldNum" sz="quarter" idx="12"/>
          </p:nvPr>
        </p:nvSpPr>
        <p:spPr/>
        <p:txBody>
          <a:bodyPr/>
          <a:lstStyle/>
          <a:p>
            <a:fld id="{CC28588C-1661-40F2-A5C9-AAE089DDE36E}" type="slidenum">
              <a:rPr lang="en-US" smtClean="0"/>
              <a:t>‹#›</a:t>
            </a:fld>
            <a:endParaRPr lang="en-US"/>
          </a:p>
        </p:txBody>
      </p:sp>
    </p:spTree>
    <p:extLst>
      <p:ext uri="{BB962C8B-B14F-4D97-AF65-F5344CB8AC3E}">
        <p14:creationId xmlns:p14="http://schemas.microsoft.com/office/powerpoint/2010/main" val="1474358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r>
              <a:rPr lang="en-US" smtClean="0"/>
              <a:t>1/4/2010</a:t>
            </a:r>
            <a:endParaRPr lang="en-US"/>
          </a:p>
        </p:txBody>
      </p:sp>
      <p:sp>
        <p:nvSpPr>
          <p:cNvPr id="5" name="Footer Placeholder 4"/>
          <p:cNvSpPr>
            <a:spLocks noGrp="1"/>
          </p:cNvSpPr>
          <p:nvPr>
            <p:ph type="ftr" sz="quarter" idx="11"/>
          </p:nvPr>
        </p:nvSpPr>
        <p:spPr/>
        <p:txBody>
          <a:bodyPr/>
          <a:lstStyle/>
          <a:p>
            <a:r>
              <a:rPr lang="en-US" smtClean="0"/>
              <a:t>Isabelle Bichindaritz, SUNY Oswego</a:t>
            </a:r>
            <a:endParaRPr lang="en-US"/>
          </a:p>
        </p:txBody>
      </p:sp>
      <p:sp>
        <p:nvSpPr>
          <p:cNvPr id="6" name="Slide Number Placeholder 5"/>
          <p:cNvSpPr>
            <a:spLocks noGrp="1"/>
          </p:cNvSpPr>
          <p:nvPr>
            <p:ph type="sldNum" sz="quarter" idx="12"/>
          </p:nvPr>
        </p:nvSpPr>
        <p:spPr/>
        <p:txBody>
          <a:bodyPr/>
          <a:lstStyle/>
          <a:p>
            <a:fld id="{CC28588C-1661-40F2-A5C9-AAE089DDE36E}" type="slidenum">
              <a:rPr lang="en-US" smtClean="0"/>
              <a:t>‹#›</a:t>
            </a:fld>
            <a:endParaRPr lang="en-US"/>
          </a:p>
        </p:txBody>
      </p:sp>
    </p:spTree>
    <p:extLst>
      <p:ext uri="{BB962C8B-B14F-4D97-AF65-F5344CB8AC3E}">
        <p14:creationId xmlns:p14="http://schemas.microsoft.com/office/powerpoint/2010/main" val="1560277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1/4/2010</a:t>
            </a:r>
            <a:endParaRPr lang="en-US"/>
          </a:p>
        </p:txBody>
      </p:sp>
      <p:sp>
        <p:nvSpPr>
          <p:cNvPr id="5" name="Footer Placeholder 4"/>
          <p:cNvSpPr>
            <a:spLocks noGrp="1"/>
          </p:cNvSpPr>
          <p:nvPr>
            <p:ph type="ftr" sz="quarter" idx="11"/>
          </p:nvPr>
        </p:nvSpPr>
        <p:spPr/>
        <p:txBody>
          <a:bodyPr/>
          <a:lstStyle/>
          <a:p>
            <a:r>
              <a:rPr lang="en-US" smtClean="0"/>
              <a:t>Isabelle Bichindaritz, SUNY Oswego</a:t>
            </a:r>
            <a:endParaRPr lang="en-US"/>
          </a:p>
        </p:txBody>
      </p:sp>
      <p:sp>
        <p:nvSpPr>
          <p:cNvPr id="6" name="Slide Number Placeholder 5"/>
          <p:cNvSpPr>
            <a:spLocks noGrp="1"/>
          </p:cNvSpPr>
          <p:nvPr>
            <p:ph type="sldNum" sz="quarter" idx="12"/>
          </p:nvPr>
        </p:nvSpPr>
        <p:spPr/>
        <p:txBody>
          <a:bodyPr/>
          <a:lstStyle/>
          <a:p>
            <a:fld id="{CC28588C-1661-40F2-A5C9-AAE089DDE36E}" type="slidenum">
              <a:rPr lang="en-US" smtClean="0"/>
              <a:t>‹#›</a:t>
            </a:fld>
            <a:endParaRPr lang="en-US"/>
          </a:p>
        </p:txBody>
      </p:sp>
    </p:spTree>
    <p:extLst>
      <p:ext uri="{BB962C8B-B14F-4D97-AF65-F5344CB8AC3E}">
        <p14:creationId xmlns:p14="http://schemas.microsoft.com/office/powerpoint/2010/main" val="501645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rPr lang="en-US" smtClean="0"/>
              <a:t>1/4/2010</a:t>
            </a: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r>
              <a:rPr lang="en-US" smtClean="0"/>
              <a:t>Isabelle Bichindaritz, SUNY Oswego</a:t>
            </a:r>
            <a:endParaRPr lang="en-US"/>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CC28588C-1661-40F2-A5C9-AAE089DDE36E}" type="slidenum">
              <a:rPr lang="en-US" smtClean="0"/>
              <a:t>‹#›</a:t>
            </a:fld>
            <a:endParaRPr lang="en-US"/>
          </a:p>
        </p:txBody>
      </p:sp>
    </p:spTree>
    <p:extLst>
      <p:ext uri="{BB962C8B-B14F-4D97-AF65-F5344CB8AC3E}">
        <p14:creationId xmlns:p14="http://schemas.microsoft.com/office/powerpoint/2010/main" val="26275612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Microsoft_Excel_97-2003_Worksheet1.xls"/><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archive.ics.uci.edu/ml/" TargetMode="External"/><Relationship Id="rId3" Type="http://schemas.openxmlformats.org/officeDocument/2006/relationships/hyperlink" Target="http://adni.loni.usc.edu/about/" TargetMode="External"/><Relationship Id="rId7" Type="http://schemas.openxmlformats.org/officeDocument/2006/relationships/hyperlink" Target="https://www.caliberresearch.org/" TargetMode="External"/><Relationship Id="rId2" Type="http://schemas.openxmlformats.org/officeDocument/2006/relationships/hyperlink" Target="https://tcga-data.nci.nih.gov/tcga/tcgaHome2.jsp" TargetMode="External"/><Relationship Id="rId1" Type="http://schemas.openxmlformats.org/officeDocument/2006/relationships/slideLayout" Target="../slideLayouts/slideLayout2.xml"/><Relationship Id="rId6" Type="http://schemas.openxmlformats.org/officeDocument/2006/relationships/hyperlink" Target="http://www.cls.ioe.ac.uk/page.aspx?sitesectionid=851" TargetMode="External"/><Relationship Id="rId5" Type="http://schemas.openxmlformats.org/officeDocument/2006/relationships/hyperlink" Target="http://www.ukbiobank.ac.uk/about-biobank-uk/" TargetMode="External"/><Relationship Id="rId4" Type="http://schemas.openxmlformats.org/officeDocument/2006/relationships/hyperlink" Target="http://hrsonline.isr.umich.edu/index.php"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learn.genetics.utah.edu/content/labs/microarray/"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gdac.broadinstitute.org/"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www.r-project.org/"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hyperlink" Target="https://cran.r-project.org/mirrors.html" TargetMode="Externa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hyperlink" Target="http://cran.r-project.org/doc/FAQ/R-FAQ.html" TargetMode="External"/><Relationship Id="rId2" Type="http://schemas.openxmlformats.org/officeDocument/2006/relationships/hyperlink" Target="http://cran.r-project.org/bin/windows/base/rw-FAQ.html" TargetMode="External"/><Relationship Id="rId1" Type="http://schemas.openxmlformats.org/officeDocument/2006/relationships/slideLayout" Target="../slideLayouts/slideLayout2.xml"/><Relationship Id="rId5" Type="http://schemas.openxmlformats.org/officeDocument/2006/relationships/hyperlink" Target="http://cran.fhcrc.org/" TargetMode="External"/><Relationship Id="rId4" Type="http://schemas.openxmlformats.org/officeDocument/2006/relationships/hyperlink" Target="http://cran.r-project.org/doc/contrib/usingR.pdf"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hyperlink" Target="https://www.continuum.io/downloads" TargetMode="External"/><Relationship Id="rId2" Type="http://schemas.openxmlformats.org/officeDocument/2006/relationships/hyperlink" Target="http://bioconductor.org/" TargetMode="Externa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Module 2</a:t>
            </a:r>
            <a:endParaRPr lang="en-US" dirty="0"/>
          </a:p>
        </p:txBody>
      </p:sp>
      <p:sp>
        <p:nvSpPr>
          <p:cNvPr id="3" name="Subtitle 2"/>
          <p:cNvSpPr>
            <a:spLocks noGrp="1"/>
          </p:cNvSpPr>
          <p:nvPr>
            <p:ph type="subTitle" idx="1"/>
          </p:nvPr>
        </p:nvSpPr>
        <p:spPr/>
        <p:txBody>
          <a:bodyPr/>
          <a:lstStyle/>
          <a:p>
            <a:r>
              <a:rPr lang="en-US" dirty="0" smtClean="0"/>
              <a:t>Preparing Data for Analysis</a:t>
            </a:r>
            <a:endParaRPr lang="en-US" dirty="0"/>
          </a:p>
        </p:txBody>
      </p:sp>
      <p:sp>
        <p:nvSpPr>
          <p:cNvPr id="4" name="Footer Placeholder 3"/>
          <p:cNvSpPr>
            <a:spLocks noGrp="1"/>
          </p:cNvSpPr>
          <p:nvPr>
            <p:ph type="ftr" sz="quarter" idx="11"/>
          </p:nvPr>
        </p:nvSpPr>
        <p:spPr/>
        <p:txBody>
          <a:bodyPr/>
          <a:lstStyle/>
          <a:p>
            <a:r>
              <a:rPr lang="en-US" dirty="0" smtClean="0"/>
              <a:t>Isabelle Bichindaritz, SUNY Oswego</a:t>
            </a:r>
            <a:endParaRPr lang="en-US" dirty="0"/>
          </a:p>
        </p:txBody>
      </p:sp>
      <p:sp>
        <p:nvSpPr>
          <p:cNvPr id="5" name="Slide Number Placeholder 4"/>
          <p:cNvSpPr>
            <a:spLocks noGrp="1"/>
          </p:cNvSpPr>
          <p:nvPr>
            <p:ph type="sldNum" sz="quarter" idx="12"/>
          </p:nvPr>
        </p:nvSpPr>
        <p:spPr/>
        <p:txBody>
          <a:bodyPr/>
          <a:lstStyle/>
          <a:p>
            <a:fld id="{CC28588C-1661-40F2-A5C9-AAE089DDE36E}" type="slidenum">
              <a:rPr lang="en-US" smtClean="0"/>
              <a:t>1</a:t>
            </a:fld>
            <a:endParaRPr lang="en-US" dirty="0"/>
          </a:p>
        </p:txBody>
      </p:sp>
    </p:spTree>
    <p:extLst>
      <p:ext uri="{BB962C8B-B14F-4D97-AF65-F5344CB8AC3E}">
        <p14:creationId xmlns:p14="http://schemas.microsoft.com/office/powerpoint/2010/main" val="638188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2</a:t>
            </a:fld>
            <a:endParaRPr lang="en-US" altLang="en-US" sz="1400" dirty="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70000" lnSpcReduction="2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altLang="en-US" sz="2400" dirty="0" smtClean="0"/>
              <a:t>Locating and downloading datasets</a:t>
            </a:r>
          </a:p>
          <a:p>
            <a:pPr lvl="1"/>
            <a:r>
              <a:rPr lang="en-US" altLang="en-US" dirty="0" smtClean="0"/>
              <a:t>Datasets and files</a:t>
            </a:r>
          </a:p>
          <a:p>
            <a:pPr lvl="1"/>
            <a:r>
              <a:rPr lang="en-US" altLang="en-US" dirty="0" smtClean="0"/>
              <a:t>Data sources</a:t>
            </a:r>
            <a:endParaRPr lang="en-US" altLang="en-US" dirty="0"/>
          </a:p>
          <a:p>
            <a:r>
              <a:rPr lang="en-US" altLang="en-US" sz="2400" dirty="0" smtClean="0"/>
              <a:t>Data preprocessing</a:t>
            </a:r>
            <a:endParaRPr lang="en-US" altLang="en-US" sz="2400" dirty="0"/>
          </a:p>
          <a:p>
            <a:pPr lvl="1"/>
            <a:r>
              <a:rPr lang="en-US" altLang="en-US" dirty="0" smtClean="0"/>
              <a:t>Importance of data preprocessing</a:t>
            </a:r>
            <a:endParaRPr lang="en-US" altLang="en-US" dirty="0"/>
          </a:p>
          <a:p>
            <a:pPr lvl="1"/>
            <a:r>
              <a:rPr lang="en-US" altLang="en-US" dirty="0" smtClean="0"/>
              <a:t>Data preprocessing tasks</a:t>
            </a:r>
            <a:endParaRPr lang="en-US" altLang="en-US" dirty="0"/>
          </a:p>
          <a:p>
            <a:r>
              <a:rPr lang="en-US" altLang="en-US" sz="2400" dirty="0" smtClean="0"/>
              <a:t>Missing values</a:t>
            </a:r>
          </a:p>
          <a:p>
            <a:pPr lvl="1"/>
            <a:r>
              <a:rPr lang="en-US" altLang="en-US" dirty="0" smtClean="0"/>
              <a:t>Replacing missing values</a:t>
            </a:r>
          </a:p>
          <a:p>
            <a:r>
              <a:rPr lang="en-US" altLang="en-US" sz="2400" dirty="0" smtClean="0"/>
              <a:t>Normalizing and discretizing data</a:t>
            </a:r>
          </a:p>
          <a:p>
            <a:pPr lvl="1"/>
            <a:r>
              <a:rPr lang="en-US" altLang="en-US" dirty="0" smtClean="0"/>
              <a:t>Data normalization</a:t>
            </a:r>
          </a:p>
          <a:p>
            <a:pPr lvl="1"/>
            <a:r>
              <a:rPr lang="en-US" altLang="en-US" dirty="0" smtClean="0"/>
              <a:t>Discretization</a:t>
            </a:r>
          </a:p>
          <a:p>
            <a:r>
              <a:rPr lang="en-US" altLang="en-US" sz="2400" dirty="0" smtClean="0"/>
              <a:t>Data reduction</a:t>
            </a:r>
          </a:p>
          <a:p>
            <a:pPr lvl="1"/>
            <a:r>
              <a:rPr lang="en-US" altLang="en-US" dirty="0" smtClean="0"/>
              <a:t>Feature selection</a:t>
            </a:r>
          </a:p>
          <a:p>
            <a:pPr lvl="1"/>
            <a:r>
              <a:rPr lang="en-US" altLang="en-US" dirty="0" smtClean="0"/>
              <a:t>Data sampling</a:t>
            </a:r>
          </a:p>
          <a:p>
            <a:r>
              <a:rPr lang="en-US" altLang="en-US" sz="2400" dirty="0"/>
              <a:t>Introduction to R language</a:t>
            </a:r>
          </a:p>
          <a:p>
            <a:pPr lvl="1"/>
            <a:r>
              <a:rPr lang="en-US" altLang="en-US" dirty="0"/>
              <a:t>Principles of R</a:t>
            </a:r>
          </a:p>
          <a:p>
            <a:pPr lvl="1"/>
            <a:r>
              <a:rPr lang="en-US" altLang="en-US" dirty="0"/>
              <a:t>Working with </a:t>
            </a:r>
            <a:r>
              <a:rPr lang="en-US" altLang="en-US" dirty="0" smtClean="0"/>
              <a:t>R</a:t>
            </a:r>
          </a:p>
          <a:p>
            <a:pPr lvl="1"/>
            <a:r>
              <a:rPr lang="en-US" altLang="en-US" dirty="0" smtClean="0"/>
              <a:t>Data preprocessing with R</a:t>
            </a:r>
            <a:endParaRPr lang="en-US" altLang="en-US" dirty="0"/>
          </a:p>
          <a:p>
            <a:pPr lvl="1"/>
            <a:endParaRPr lang="en-US" altLang="en-US" dirty="0"/>
          </a:p>
        </p:txBody>
      </p:sp>
    </p:spTree>
    <p:extLst>
      <p:ext uri="{BB962C8B-B14F-4D97-AF65-F5344CB8AC3E}">
        <p14:creationId xmlns:p14="http://schemas.microsoft.com/office/powerpoint/2010/main" val="1243746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3</a:t>
            </a:fld>
            <a:endParaRPr lang="en-US" altLang="en-US" sz="1400" dirty="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Learning Objectives</a:t>
            </a:r>
          </a:p>
        </p:txBody>
      </p:sp>
      <p:sp>
        <p:nvSpPr>
          <p:cNvPr id="7174" name="Rectangle 3"/>
          <p:cNvSpPr>
            <a:spLocks noGrp="1" noChangeArrowheads="1"/>
          </p:cNvSpPr>
          <p:nvPr>
            <p:ph type="body" idx="1"/>
          </p:nvPr>
        </p:nvSpPr>
        <p:spPr>
          <a:xfrm>
            <a:off x="1310639" y="1143000"/>
            <a:ext cx="9074727" cy="4724400"/>
          </a:xfrm>
          <a:noFill/>
        </p:spPr>
        <p:txBody>
          <a:bodyPr vert="horz" lIns="92075" tIns="46038" rIns="92075" bIns="46038" rtlCol="0">
            <a:normAutofit/>
          </a:bodyPr>
          <a:lstStyle/>
          <a:p>
            <a:pPr>
              <a:lnSpc>
                <a:spcPct val="90000"/>
              </a:lnSpc>
            </a:pPr>
            <a:endParaRPr lang="en-US" altLang="en-US" dirty="0"/>
          </a:p>
          <a:p>
            <a:pPr marL="514350" indent="-514350">
              <a:buFont typeface="+mj-lt"/>
              <a:buAutoNum type="arabicPeriod"/>
            </a:pPr>
            <a:r>
              <a:rPr lang="en-US" sz="3600" dirty="0"/>
              <a:t>Locate and download files for data analysis involving genes and medicine.</a:t>
            </a:r>
          </a:p>
          <a:p>
            <a:pPr marL="514350" indent="-514350">
              <a:buFont typeface="+mj-lt"/>
              <a:buAutoNum type="arabicPeriod"/>
            </a:pPr>
            <a:r>
              <a:rPr lang="en-US" sz="3600" dirty="0" smtClean="0"/>
              <a:t>Open </a:t>
            </a:r>
            <a:r>
              <a:rPr lang="en-US" sz="3600" dirty="0"/>
              <a:t>files and preprocess data using R language.</a:t>
            </a:r>
          </a:p>
          <a:p>
            <a:pPr marL="514350" indent="-514350">
              <a:buFont typeface="+mj-lt"/>
              <a:buAutoNum type="arabicPeriod"/>
            </a:pPr>
            <a:r>
              <a:rPr lang="en-US" sz="3600" dirty="0" smtClean="0"/>
              <a:t>Write </a:t>
            </a:r>
            <a:r>
              <a:rPr lang="en-US" sz="3600" dirty="0"/>
              <a:t>R scripts to replace missing values, normalize data, discretize data, and sample data.</a:t>
            </a:r>
          </a:p>
          <a:p>
            <a:pPr>
              <a:lnSpc>
                <a:spcPct val="90000"/>
              </a:lnSpc>
            </a:pPr>
            <a:endParaRPr lang="en-US" altLang="en-US" dirty="0"/>
          </a:p>
        </p:txBody>
      </p:sp>
    </p:spTree>
    <p:extLst>
      <p:ext uri="{BB962C8B-B14F-4D97-AF65-F5344CB8AC3E}">
        <p14:creationId xmlns:p14="http://schemas.microsoft.com/office/powerpoint/2010/main" val="2998654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lstStyle/>
          <a:p>
            <a:r>
              <a:rPr lang="en-US" altLang="en-US" b="1" dirty="0" smtClean="0">
                <a:effectLst>
                  <a:outerShdw blurRad="38100" dist="38100" dir="2700000" algn="tl">
                    <a:srgbClr val="000000">
                      <a:alpha val="43137"/>
                    </a:srgbClr>
                  </a:outerShdw>
                </a:effectLst>
              </a:rPr>
              <a:t>Introduction to Module</a:t>
            </a:r>
          </a:p>
        </p:txBody>
      </p:sp>
      <p:sp>
        <p:nvSpPr>
          <p:cNvPr id="8198" name="Rectangle 3"/>
          <p:cNvSpPr>
            <a:spLocks noGrp="1" noChangeArrowheads="1"/>
          </p:cNvSpPr>
          <p:nvPr>
            <p:ph type="body" idx="1"/>
          </p:nvPr>
        </p:nvSpPr>
        <p:spPr>
          <a:xfrm>
            <a:off x="1752600" y="1524000"/>
            <a:ext cx="8686800" cy="4114800"/>
          </a:xfrm>
        </p:spPr>
        <p:txBody>
          <a:bodyPr>
            <a:normAutofit fontScale="77500" lnSpcReduction="20000"/>
          </a:bodyPr>
          <a:lstStyle/>
          <a:p>
            <a:r>
              <a:rPr lang="en-US" altLang="en-US" dirty="0" smtClean="0"/>
              <a:t>This module focuses on locating, downloading, and preprocessing data to prepare it for Big Data analytics.</a:t>
            </a:r>
          </a:p>
          <a:p>
            <a:r>
              <a:rPr lang="en-US" altLang="en-US" dirty="0" smtClean="0"/>
              <a:t>Data are stored in files located on computers either on a personal, server, or cloud-based computer.</a:t>
            </a:r>
          </a:p>
          <a:p>
            <a:r>
              <a:rPr lang="en-US" altLang="en-US" dirty="0" smtClean="0"/>
              <a:t>In order to analyze these data, they are loaded in the main memory of a computer in containers called variables.</a:t>
            </a:r>
          </a:p>
          <a:p>
            <a:r>
              <a:rPr lang="en-US" altLang="en-US" dirty="0" smtClean="0"/>
              <a:t>These data are preprocessed to remedy some of their defects, such as missing values, noisy values, values of different ranges, or to change data types.</a:t>
            </a:r>
          </a:p>
          <a:p>
            <a:r>
              <a:rPr lang="en-US" altLang="en-US" dirty="0" smtClean="0"/>
              <a:t>The R programming language provides ready to use functions to download files, read them, and preprocess them.</a:t>
            </a:r>
          </a:p>
          <a:p>
            <a:r>
              <a:rPr lang="en-US" altLang="en-US" dirty="0" smtClean="0"/>
              <a:t>We provide in this course a cloud-based infrastructure to analyze Big Data without having to install the environment locally. All analyzes can be performed from a Web-browser.</a:t>
            </a:r>
          </a:p>
        </p:txBody>
      </p:sp>
    </p:spTree>
    <p:extLst>
      <p:ext uri="{BB962C8B-B14F-4D97-AF65-F5344CB8AC3E}">
        <p14:creationId xmlns:p14="http://schemas.microsoft.com/office/powerpoint/2010/main" val="697558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5</a:t>
            </a:fld>
            <a:endParaRPr lang="en-US" altLang="en-US" sz="1400" dirty="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70000" lnSpcReduction="2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altLang="en-US" sz="2400" b="1" dirty="0" smtClean="0">
                <a:solidFill>
                  <a:srgbClr val="FFFF00"/>
                </a:solidFill>
              </a:rPr>
              <a:t>Locating and downloading datasets</a:t>
            </a:r>
          </a:p>
          <a:p>
            <a:pPr lvl="1"/>
            <a:r>
              <a:rPr lang="en-US" altLang="en-US" dirty="0" smtClean="0"/>
              <a:t>Datasets and files</a:t>
            </a:r>
          </a:p>
          <a:p>
            <a:pPr lvl="1"/>
            <a:r>
              <a:rPr lang="en-US" altLang="en-US" dirty="0" smtClean="0"/>
              <a:t>Data sources</a:t>
            </a:r>
            <a:endParaRPr lang="en-US" altLang="en-US" dirty="0"/>
          </a:p>
          <a:p>
            <a:r>
              <a:rPr lang="en-US" altLang="en-US" sz="2400" dirty="0" smtClean="0"/>
              <a:t>Data preprocessing</a:t>
            </a:r>
            <a:endParaRPr lang="en-US" altLang="en-US" sz="2400" dirty="0"/>
          </a:p>
          <a:p>
            <a:pPr lvl="1"/>
            <a:r>
              <a:rPr lang="en-US" altLang="en-US" dirty="0" smtClean="0"/>
              <a:t>Importance of data preprocessing</a:t>
            </a:r>
            <a:endParaRPr lang="en-US" altLang="en-US" dirty="0"/>
          </a:p>
          <a:p>
            <a:pPr lvl="1"/>
            <a:r>
              <a:rPr lang="en-US" altLang="en-US" dirty="0" smtClean="0"/>
              <a:t>Data preprocessing tasks</a:t>
            </a:r>
            <a:endParaRPr lang="en-US" altLang="en-US" dirty="0"/>
          </a:p>
          <a:p>
            <a:r>
              <a:rPr lang="en-US" altLang="en-US" sz="2400" dirty="0" smtClean="0"/>
              <a:t>Missing values</a:t>
            </a:r>
          </a:p>
          <a:p>
            <a:pPr lvl="1"/>
            <a:r>
              <a:rPr lang="en-US" altLang="en-US" dirty="0" smtClean="0"/>
              <a:t>Replacing missing values</a:t>
            </a:r>
          </a:p>
          <a:p>
            <a:r>
              <a:rPr lang="en-US" altLang="en-US" sz="2400" dirty="0" smtClean="0"/>
              <a:t>Normalizing and discretizing data</a:t>
            </a:r>
          </a:p>
          <a:p>
            <a:pPr lvl="1"/>
            <a:r>
              <a:rPr lang="en-US" altLang="en-US" dirty="0" smtClean="0"/>
              <a:t>Data normalization</a:t>
            </a:r>
          </a:p>
          <a:p>
            <a:pPr lvl="1"/>
            <a:r>
              <a:rPr lang="en-US" altLang="en-US" dirty="0" smtClean="0"/>
              <a:t>Discretization</a:t>
            </a:r>
          </a:p>
          <a:p>
            <a:r>
              <a:rPr lang="en-US" altLang="en-US" sz="2400" dirty="0" smtClean="0"/>
              <a:t>Data reduction</a:t>
            </a:r>
          </a:p>
          <a:p>
            <a:pPr lvl="1"/>
            <a:r>
              <a:rPr lang="en-US" altLang="en-US" dirty="0"/>
              <a:t>Feature selection</a:t>
            </a:r>
          </a:p>
          <a:p>
            <a:pPr lvl="1"/>
            <a:r>
              <a:rPr lang="en-US" altLang="en-US" dirty="0" smtClean="0"/>
              <a:t>Data sampling</a:t>
            </a:r>
          </a:p>
          <a:p>
            <a:r>
              <a:rPr lang="en-US" altLang="en-US" sz="2400" dirty="0"/>
              <a:t>Introduction to R language</a:t>
            </a:r>
          </a:p>
          <a:p>
            <a:pPr lvl="1"/>
            <a:r>
              <a:rPr lang="en-US" altLang="en-US" dirty="0"/>
              <a:t>Principles of R</a:t>
            </a:r>
          </a:p>
          <a:p>
            <a:pPr lvl="1"/>
            <a:r>
              <a:rPr lang="en-US" altLang="en-US" dirty="0"/>
              <a:t>Working with </a:t>
            </a:r>
            <a:r>
              <a:rPr lang="en-US" altLang="en-US" dirty="0" smtClean="0"/>
              <a:t>R</a:t>
            </a:r>
          </a:p>
          <a:p>
            <a:pPr lvl="1"/>
            <a:r>
              <a:rPr lang="en-US" altLang="en-US" dirty="0"/>
              <a:t>Data preprocessing with </a:t>
            </a:r>
            <a:r>
              <a:rPr lang="en-US" altLang="en-US" dirty="0" smtClean="0"/>
              <a:t>R</a:t>
            </a:r>
            <a:endParaRPr lang="en-US" altLang="en-US" dirty="0"/>
          </a:p>
          <a:p>
            <a:pPr lvl="1"/>
            <a:endParaRPr lang="en-US" altLang="en-US" dirty="0"/>
          </a:p>
        </p:txBody>
      </p:sp>
    </p:spTree>
    <p:extLst>
      <p:ext uri="{BB962C8B-B14F-4D97-AF65-F5344CB8AC3E}">
        <p14:creationId xmlns:p14="http://schemas.microsoft.com/office/powerpoint/2010/main" val="874404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4294967295"/>
          </p:nvPr>
        </p:nvSpPr>
        <p:spPr>
          <a:xfrm>
            <a:off x="8763000" y="6553200"/>
            <a:ext cx="1905000" cy="304800"/>
          </a:xfrm>
          <a:prstGeom prst="rect">
            <a:avLst/>
          </a:prstGeom>
        </p:spPr>
        <p:txBody>
          <a:bodyPr/>
          <a:lstStyle/>
          <a:p>
            <a:fld id="{C3174134-E4A2-4FF6-A41E-625712C56CF9}" type="slidenum">
              <a:rPr lang="fr-FR"/>
              <a:pPr/>
              <a:t>6</a:t>
            </a:fld>
            <a:endParaRPr lang="fr-FR" dirty="0"/>
          </a:p>
        </p:txBody>
      </p:sp>
      <p:sp>
        <p:nvSpPr>
          <p:cNvPr id="1503234" name="Text Box 2"/>
          <p:cNvSpPr txBox="1">
            <a:spLocks noChangeArrowheads="1"/>
          </p:cNvSpPr>
          <p:nvPr/>
        </p:nvSpPr>
        <p:spPr bwMode="auto">
          <a:xfrm>
            <a:off x="5791200" y="3886200"/>
            <a:ext cx="4876800" cy="1754326"/>
          </a:xfrm>
          <a:prstGeom prst="rect">
            <a:avLst/>
          </a:prstGeom>
          <a:noFill/>
          <a:ln>
            <a:noFill/>
          </a:ln>
          <a:effectLst>
            <a:outerShdw dist="45791" dir="2021404"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spcBef>
                <a:spcPts val="500"/>
              </a:spcBef>
              <a:spcAft>
                <a:spcPts val="500"/>
              </a:spcAft>
              <a:buClr>
                <a:srgbClr val="CC6600"/>
              </a:buClr>
              <a:buSzPct val="150000"/>
            </a:pPr>
            <a:r>
              <a:rPr lang="fr-FR" sz="3600" dirty="0">
                <a:solidFill>
                  <a:schemeClr val="tx2"/>
                </a:solidFill>
                <a:effectLst>
                  <a:outerShdw blurRad="38100" dist="38100" dir="2700000" algn="tl">
                    <a:srgbClr val="000000"/>
                  </a:outerShdw>
                </a:effectLst>
                <a:latin typeface="Tahoma" pitchFamily="34" charset="0"/>
              </a:rPr>
              <a:t>Change in the state of « </a:t>
            </a:r>
            <a:r>
              <a:rPr lang="fr-FR" sz="3600" dirty="0" err="1">
                <a:solidFill>
                  <a:schemeClr val="tx2"/>
                </a:solidFill>
                <a:effectLst>
                  <a:outerShdw blurRad="38100" dist="38100" dir="2700000" algn="tl">
                    <a:srgbClr val="000000"/>
                  </a:outerShdw>
                </a:effectLst>
                <a:latin typeface="Tahoma" pitchFamily="34" charset="0"/>
              </a:rPr>
              <a:t>uncertainty</a:t>
            </a:r>
            <a:r>
              <a:rPr lang="fr-FR" sz="3600" dirty="0">
                <a:solidFill>
                  <a:schemeClr val="tx2"/>
                </a:solidFill>
                <a:effectLst>
                  <a:outerShdw blurRad="38100" dist="38100" dir="2700000" algn="tl">
                    <a:srgbClr val="000000"/>
                  </a:outerShdw>
                </a:effectLst>
                <a:latin typeface="Tahoma" pitchFamily="34" charset="0"/>
              </a:rPr>
              <a:t>" in a  system</a:t>
            </a:r>
            <a:endParaRPr lang="fr-FR" dirty="0">
              <a:latin typeface="Tahoma" pitchFamily="34" charset="0"/>
            </a:endParaRPr>
          </a:p>
        </p:txBody>
      </p:sp>
      <p:sp>
        <p:nvSpPr>
          <p:cNvPr id="1503235" name="Text Box 3"/>
          <p:cNvSpPr txBox="1">
            <a:spLocks noChangeArrowheads="1"/>
          </p:cNvSpPr>
          <p:nvPr/>
        </p:nvSpPr>
        <p:spPr bwMode="auto">
          <a:xfrm>
            <a:off x="1638300" y="1557946"/>
            <a:ext cx="8915400" cy="1646605"/>
          </a:xfrm>
          <a:prstGeom prst="rect">
            <a:avLst/>
          </a:prstGeom>
          <a:noFill/>
          <a:ln>
            <a:noFill/>
          </a:ln>
          <a:effectLst>
            <a:outerShdw dist="45791" dir="2021404"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l">
              <a:defRPr sz="2400">
                <a:solidFill>
                  <a:schemeClr val="tx1"/>
                </a:solidFill>
                <a:latin typeface="Times New Roman" pitchFamily="18" charset="0"/>
              </a:defRPr>
            </a:lvl1pPr>
            <a:lvl2pPr marL="285750" algn="l">
              <a:defRPr sz="2400">
                <a:solidFill>
                  <a:schemeClr val="tx1"/>
                </a:solidFill>
                <a:latin typeface="Times New Roman" pitchFamily="18" charset="0"/>
              </a:defRPr>
            </a:lvl2pPr>
            <a:lvl3pPr marL="476250" indent="190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lvl="2" algn="ctr">
              <a:spcBef>
                <a:spcPts val="600"/>
              </a:spcBef>
            </a:pPr>
            <a:r>
              <a:rPr lang="fr-FR" sz="3200" dirty="0">
                <a:effectLst>
                  <a:outerShdw blurRad="38100" dist="38100" dir="2700000" algn="tl">
                    <a:srgbClr val="000000"/>
                  </a:outerShdw>
                </a:effectLst>
                <a:latin typeface="Tahoma" pitchFamily="34" charset="0"/>
              </a:rPr>
              <a:t>In </a:t>
            </a:r>
            <a:r>
              <a:rPr lang="fr-FR" sz="3200" dirty="0" err="1">
                <a:effectLst>
                  <a:outerShdw blurRad="38100" dist="38100" dir="2700000" algn="tl">
                    <a:srgbClr val="000000"/>
                  </a:outerShdw>
                </a:effectLst>
                <a:latin typeface="Tahoma" pitchFamily="34" charset="0"/>
              </a:rPr>
              <a:t>general</a:t>
            </a:r>
            <a:r>
              <a:rPr lang="fr-FR" sz="3200" dirty="0">
                <a:effectLst>
                  <a:outerShdw blurRad="38100" dist="38100" dir="2700000" algn="tl">
                    <a:srgbClr val="000000"/>
                  </a:outerShdw>
                </a:effectLst>
                <a:latin typeface="Tahoma" pitchFamily="34" charset="0"/>
              </a:rPr>
              <a:t>, </a:t>
            </a:r>
            <a:r>
              <a:rPr lang="fr-FR" sz="3200" dirty="0" err="1">
                <a:effectLst>
                  <a:outerShdw blurRad="38100" dist="38100" dir="2700000" algn="tl">
                    <a:srgbClr val="000000"/>
                  </a:outerShdw>
                </a:effectLst>
                <a:latin typeface="Tahoma" pitchFamily="34" charset="0"/>
              </a:rPr>
              <a:t>we</a:t>
            </a:r>
            <a:r>
              <a:rPr lang="fr-FR" sz="3200" dirty="0">
                <a:effectLst>
                  <a:outerShdw blurRad="38100" dist="38100" dir="2700000" algn="tl">
                    <a:srgbClr val="000000"/>
                  </a:outerShdw>
                </a:effectLst>
                <a:latin typeface="Tahoma" pitchFamily="34" charset="0"/>
              </a:rPr>
              <a:t> are </a:t>
            </a:r>
            <a:r>
              <a:rPr lang="fr-FR" sz="3200" dirty="0" err="1">
                <a:effectLst>
                  <a:outerShdw blurRad="38100" dist="38100" dir="2700000" algn="tl">
                    <a:srgbClr val="000000"/>
                  </a:outerShdw>
                </a:effectLst>
                <a:latin typeface="Tahoma" pitchFamily="34" charset="0"/>
              </a:rPr>
              <a:t>interested</a:t>
            </a:r>
            <a:r>
              <a:rPr lang="fr-FR" sz="3200" dirty="0">
                <a:effectLst>
                  <a:outerShdw blurRad="38100" dist="38100" dir="2700000" algn="tl">
                    <a:srgbClr val="000000"/>
                  </a:outerShdw>
                </a:effectLst>
                <a:latin typeface="Tahoma" pitchFamily="34" charset="0"/>
              </a:rPr>
              <a:t> in </a:t>
            </a:r>
          </a:p>
          <a:p>
            <a:pPr lvl="2" algn="ctr">
              <a:spcBef>
                <a:spcPts val="600"/>
              </a:spcBef>
            </a:pPr>
            <a:r>
              <a:rPr lang="fr-FR" sz="3200" dirty="0" err="1">
                <a:effectLst>
                  <a:outerShdw blurRad="38100" dist="38100" dir="2700000" algn="tl">
                    <a:srgbClr val="000000"/>
                  </a:outerShdw>
                </a:effectLst>
                <a:latin typeface="Tahoma" pitchFamily="34" charset="0"/>
              </a:rPr>
              <a:t>any</a:t>
            </a:r>
            <a:r>
              <a:rPr lang="fr-FR" sz="3200" dirty="0">
                <a:effectLst>
                  <a:outerShdw blurRad="38100" dist="38100" dir="2700000" algn="tl">
                    <a:srgbClr val="000000"/>
                  </a:outerShdw>
                </a:effectLst>
                <a:latin typeface="Tahoma" pitchFamily="34" charset="0"/>
              </a:rPr>
              <a:t> </a:t>
            </a:r>
            <a:r>
              <a:rPr lang="fr-FR" sz="3200" dirty="0" err="1">
                <a:effectLst>
                  <a:outerShdw blurRad="38100" dist="38100" dir="2700000" algn="tl">
                    <a:srgbClr val="000000"/>
                  </a:outerShdw>
                </a:effectLst>
                <a:latin typeface="Tahoma" pitchFamily="34" charset="0"/>
              </a:rPr>
              <a:t>element</a:t>
            </a:r>
            <a:r>
              <a:rPr lang="fr-FR" sz="3200" dirty="0">
                <a:effectLst>
                  <a:outerShdw blurRad="38100" dist="38100" dir="2700000" algn="tl">
                    <a:srgbClr val="000000"/>
                  </a:outerShdw>
                </a:effectLst>
                <a:latin typeface="Tahoma" pitchFamily="34" charset="0"/>
              </a:rPr>
              <a:t> capable of </a:t>
            </a:r>
            <a:r>
              <a:rPr lang="fr-FR" sz="3200" dirty="0" err="1">
                <a:solidFill>
                  <a:schemeClr val="tx2"/>
                </a:solidFill>
                <a:effectLst>
                  <a:outerShdw blurRad="38100" dist="38100" dir="2700000" algn="tl">
                    <a:srgbClr val="000000"/>
                  </a:outerShdw>
                </a:effectLst>
                <a:latin typeface="Tahoma" pitchFamily="34" charset="0"/>
              </a:rPr>
              <a:t>decreasing</a:t>
            </a:r>
            <a:r>
              <a:rPr lang="fr-FR" sz="3200" dirty="0">
                <a:solidFill>
                  <a:schemeClr val="tx2"/>
                </a:solidFill>
                <a:effectLst>
                  <a:outerShdw blurRad="38100" dist="38100" dir="2700000" algn="tl">
                    <a:srgbClr val="000000"/>
                  </a:outerShdw>
                </a:effectLst>
                <a:latin typeface="Tahoma" pitchFamily="34" charset="0"/>
              </a:rPr>
              <a:t> or </a:t>
            </a:r>
            <a:r>
              <a:rPr lang="fr-FR" sz="3200" dirty="0" err="1">
                <a:solidFill>
                  <a:schemeClr val="tx2"/>
                </a:solidFill>
                <a:effectLst>
                  <a:outerShdw blurRad="38100" dist="38100" dir="2700000" algn="tl">
                    <a:srgbClr val="000000"/>
                  </a:outerShdw>
                </a:effectLst>
                <a:latin typeface="Tahoma" pitchFamily="34" charset="0"/>
              </a:rPr>
              <a:t>increasing</a:t>
            </a:r>
            <a:r>
              <a:rPr lang="fr-FR" sz="3200" dirty="0">
                <a:solidFill>
                  <a:schemeClr val="tx2"/>
                </a:solidFill>
                <a:effectLst>
                  <a:outerShdw blurRad="38100" dist="38100" dir="2700000" algn="tl">
                    <a:srgbClr val="000000"/>
                  </a:outerShdw>
                </a:effectLst>
                <a:latin typeface="Tahoma" pitchFamily="34" charset="0"/>
              </a:rPr>
              <a:t> the </a:t>
            </a:r>
            <a:r>
              <a:rPr lang="fr-FR" sz="3200" dirty="0" err="1">
                <a:solidFill>
                  <a:schemeClr val="tx2"/>
                </a:solidFill>
                <a:effectLst>
                  <a:outerShdw blurRad="38100" dist="38100" dir="2700000" algn="tl">
                    <a:srgbClr val="000000"/>
                  </a:outerShdw>
                </a:effectLst>
                <a:latin typeface="Tahoma" pitchFamily="34" charset="0"/>
              </a:rPr>
              <a:t>uncertainty</a:t>
            </a:r>
            <a:r>
              <a:rPr lang="fr-FR" sz="3200" dirty="0">
                <a:solidFill>
                  <a:schemeClr val="tx2"/>
                </a:solidFill>
                <a:effectLst>
                  <a:outerShdw blurRad="38100" dist="38100" dir="2700000" algn="tl">
                    <a:srgbClr val="000000"/>
                  </a:outerShdw>
                </a:effectLst>
                <a:latin typeface="Tahoma" pitchFamily="34" charset="0"/>
              </a:rPr>
              <a:t> of a system</a:t>
            </a:r>
          </a:p>
        </p:txBody>
      </p:sp>
      <p:sp>
        <p:nvSpPr>
          <p:cNvPr id="1503236" name="Text Box 4"/>
          <p:cNvSpPr txBox="1">
            <a:spLocks noChangeArrowheads="1"/>
          </p:cNvSpPr>
          <p:nvPr/>
        </p:nvSpPr>
        <p:spPr bwMode="auto">
          <a:xfrm>
            <a:off x="4724400" y="4041776"/>
            <a:ext cx="1016000" cy="1311275"/>
          </a:xfrm>
          <a:prstGeom prst="rect">
            <a:avLst/>
          </a:prstGeom>
          <a:noFill/>
          <a:ln>
            <a:noFill/>
          </a:ln>
          <a:effectLst>
            <a:outerShdw dist="56796" dir="1593903"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lang="fr-FR" sz="8000"/>
              <a:t>=</a:t>
            </a:r>
            <a:endParaRPr lang="fr-FR" sz="6000">
              <a:solidFill>
                <a:srgbClr val="CC6600"/>
              </a:solidFill>
            </a:endParaRPr>
          </a:p>
        </p:txBody>
      </p:sp>
      <p:sp>
        <p:nvSpPr>
          <p:cNvPr id="1503237" name="Text Box 5"/>
          <p:cNvSpPr txBox="1">
            <a:spLocks noChangeArrowheads="1"/>
          </p:cNvSpPr>
          <p:nvPr/>
        </p:nvSpPr>
        <p:spPr bwMode="auto">
          <a:xfrm>
            <a:off x="1676400" y="4422775"/>
            <a:ext cx="2971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500"/>
              </a:spcBef>
              <a:spcAft>
                <a:spcPts val="500"/>
              </a:spcAft>
              <a:buClr>
                <a:srgbClr val="CC6600"/>
              </a:buClr>
              <a:buSzPct val="150000"/>
            </a:pPr>
            <a:r>
              <a:rPr lang="fr-FR" sz="3600" i="1">
                <a:solidFill>
                  <a:srgbClr val="FFFF00"/>
                </a:solidFill>
                <a:effectLst>
                  <a:outerShdw blurRad="38100" dist="38100" dir="2700000" algn="tl">
                    <a:srgbClr val="000000"/>
                  </a:outerShdw>
                </a:effectLst>
                <a:latin typeface="Tahoma" pitchFamily="34" charset="0"/>
              </a:rPr>
              <a:t>Information</a:t>
            </a:r>
            <a:endParaRPr lang="fr-FR" sz="2800">
              <a:solidFill>
                <a:srgbClr val="CC6600"/>
              </a:solidFill>
              <a:effectLst>
                <a:outerShdw blurRad="38100" dist="38100" dir="2700000" algn="tl">
                  <a:srgbClr val="000000"/>
                </a:outerShdw>
              </a:effectLst>
              <a:latin typeface="Tahoma" pitchFamily="34" charset="0"/>
            </a:endParaRPr>
          </a:p>
        </p:txBody>
      </p:sp>
      <p:sp>
        <p:nvSpPr>
          <p:cNvPr id="3" name="Footer Placeholder 2"/>
          <p:cNvSpPr>
            <a:spLocks noGrp="1"/>
          </p:cNvSpPr>
          <p:nvPr>
            <p:ph type="ftr" sz="quarter" idx="11"/>
          </p:nvPr>
        </p:nvSpPr>
        <p:spPr/>
        <p:txBody>
          <a:bodyPr/>
          <a:lstStyle/>
          <a:p>
            <a:pPr>
              <a:defRPr/>
            </a:pPr>
            <a:r>
              <a:rPr lang="en-US" smtClean="0"/>
              <a:t>Isabelle Bichindaritz, SUNY Oswego</a:t>
            </a:r>
            <a:endParaRPr lang="en-US" dirty="0"/>
          </a:p>
        </p:txBody>
      </p:sp>
      <p:sp>
        <p:nvSpPr>
          <p:cNvPr id="9" name="Rectangle 2"/>
          <p:cNvSpPr txBox="1">
            <a:spLocks noChangeArrowheads="1"/>
          </p:cNvSpPr>
          <p:nvPr/>
        </p:nvSpPr>
        <p:spPr>
          <a:xfrm>
            <a:off x="2040515" y="244835"/>
            <a:ext cx="8983800" cy="952499"/>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b="1" dirty="0" smtClean="0">
                <a:effectLst>
                  <a:outerShdw blurRad="38100" dist="38100" dir="2700000" algn="tl">
                    <a:srgbClr val="000000">
                      <a:alpha val="43137"/>
                    </a:srgbClr>
                  </a:outerShdw>
                </a:effectLst>
              </a:rPr>
              <a:t>Locating and Downloading Datasets</a:t>
            </a:r>
          </a:p>
        </p:txBody>
      </p:sp>
    </p:spTree>
    <p:extLst>
      <p:ext uri="{BB962C8B-B14F-4D97-AF65-F5344CB8AC3E}">
        <p14:creationId xmlns:p14="http://schemas.microsoft.com/office/powerpoint/2010/main" val="20463764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503235"/>
                                        </p:tgtEl>
                                        <p:attrNameLst>
                                          <p:attrName>style.visibility</p:attrName>
                                        </p:attrNameLst>
                                      </p:cBhvr>
                                      <p:to>
                                        <p:strVal val="visible"/>
                                      </p:to>
                                    </p:set>
                                    <p:animEffect transition="in" filter="box(in)">
                                      <p:cBhvr>
                                        <p:cTn id="7" dur="500"/>
                                        <p:tgtEl>
                                          <p:spTgt spid="15032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03237"/>
                                        </p:tgtEl>
                                        <p:attrNameLst>
                                          <p:attrName>style.visibility</p:attrName>
                                        </p:attrNameLst>
                                      </p:cBhvr>
                                      <p:to>
                                        <p:strVal val="visible"/>
                                      </p:to>
                                    </p:set>
                                    <p:animEffect transition="in" filter="wipe(left)">
                                      <p:cBhvr>
                                        <p:cTn id="12" dur="500"/>
                                        <p:tgtEl>
                                          <p:spTgt spid="1503237"/>
                                        </p:tgtEl>
                                      </p:cBhvr>
                                    </p:animEffect>
                                  </p:childTnLst>
                                </p:cTn>
                              </p:par>
                            </p:childTnLst>
                          </p:cTn>
                        </p:par>
                        <p:par>
                          <p:cTn id="13" fill="hold" nodeType="afterGroup">
                            <p:stCondLst>
                              <p:cond delay="500"/>
                            </p:stCondLst>
                            <p:childTnLst>
                              <p:par>
                                <p:cTn id="14" presetID="12" presetClass="entr" presetSubtype="8" fill="hold" grpId="0" nodeType="afterEffect">
                                  <p:stCondLst>
                                    <p:cond delay="0"/>
                                  </p:stCondLst>
                                  <p:childTnLst>
                                    <p:set>
                                      <p:cBhvr>
                                        <p:cTn id="15" dur="1" fill="hold">
                                          <p:stCondLst>
                                            <p:cond delay="0"/>
                                          </p:stCondLst>
                                        </p:cTn>
                                        <p:tgtEl>
                                          <p:spTgt spid="1503236"/>
                                        </p:tgtEl>
                                        <p:attrNameLst>
                                          <p:attrName>style.visibility</p:attrName>
                                        </p:attrNameLst>
                                      </p:cBhvr>
                                      <p:to>
                                        <p:strVal val="visible"/>
                                      </p:to>
                                    </p:set>
                                    <p:anim calcmode="lin" valueType="num">
                                      <p:cBhvr additive="base">
                                        <p:cTn id="16" dur="500"/>
                                        <p:tgtEl>
                                          <p:spTgt spid="1503236"/>
                                        </p:tgtEl>
                                        <p:attrNameLst>
                                          <p:attrName>ppt_x</p:attrName>
                                        </p:attrNameLst>
                                      </p:cBhvr>
                                      <p:tavLst>
                                        <p:tav tm="0">
                                          <p:val>
                                            <p:strVal val="#ppt_x-#ppt_w*1.125000"/>
                                          </p:val>
                                        </p:tav>
                                        <p:tav tm="100000">
                                          <p:val>
                                            <p:strVal val="#ppt_x"/>
                                          </p:val>
                                        </p:tav>
                                      </p:tavLst>
                                    </p:anim>
                                    <p:animEffect transition="in" filter="wipe(right)">
                                      <p:cBhvr>
                                        <p:cTn id="17" dur="500"/>
                                        <p:tgtEl>
                                          <p:spTgt spid="1503236"/>
                                        </p:tgtEl>
                                      </p:cBhvr>
                                    </p:animEffect>
                                  </p:childTnLst>
                                  <p:subTnLst>
                                    <p:animClr clrSpc="rgb" dir="cw">
                                      <p:cBhvr override="childStyle">
                                        <p:cTn dur="1" fill="hold" display="0" masterRel="nextClick" afterEffect="1"/>
                                        <p:tgtEl>
                                          <p:spTgt spid="1503236"/>
                                        </p:tgtEl>
                                        <p:attrNameLst>
                                          <p:attrName>ppt_c</p:attrName>
                                        </p:attrNameLst>
                                      </p:cBhvr>
                                      <p:to>
                                        <a:srgbClr val="CC6600"/>
                                      </p:to>
                                    </p:animClr>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503234"/>
                                        </p:tgtEl>
                                        <p:attrNameLst>
                                          <p:attrName>style.visibility</p:attrName>
                                        </p:attrNameLst>
                                      </p:cBhvr>
                                      <p:to>
                                        <p:strVal val="visible"/>
                                      </p:to>
                                    </p:set>
                                    <p:animEffect transition="in" filter="box(in)">
                                      <p:cBhvr>
                                        <p:cTn id="22" dur="500"/>
                                        <p:tgtEl>
                                          <p:spTgt spid="1503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3234" grpId="0" autoUpdateAnimBg="0"/>
      <p:bldP spid="1503235" grpId="0" autoUpdateAnimBg="0"/>
      <p:bldP spid="1503236" grpId="0" autoUpdateAnimBg="0"/>
      <p:bldP spid="1503237"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noChangeArrowheads="1"/>
          </p:cNvSpPr>
          <p:nvPr>
            <p:ph type="sldNum" sz="quarter" idx="4294967295"/>
          </p:nvPr>
        </p:nvSpPr>
        <p:spPr>
          <a:xfrm>
            <a:off x="8763000" y="6553200"/>
            <a:ext cx="1905000" cy="304800"/>
          </a:xfrm>
          <a:prstGeom prst="rect">
            <a:avLst/>
          </a:prstGeom>
        </p:spPr>
        <p:txBody>
          <a:bodyPr/>
          <a:lstStyle/>
          <a:p>
            <a:fld id="{9721FAA8-3440-427B-9CE5-987016F1A02C}" type="slidenum">
              <a:rPr lang="fr-FR"/>
              <a:pPr/>
              <a:t>7</a:t>
            </a:fld>
            <a:endParaRPr lang="fr-FR"/>
          </a:p>
        </p:txBody>
      </p:sp>
      <p:sp>
        <p:nvSpPr>
          <p:cNvPr id="1507330" name="Text Box 2"/>
          <p:cNvSpPr txBox="1">
            <a:spLocks noChangeArrowheads="1"/>
          </p:cNvSpPr>
          <p:nvPr/>
        </p:nvSpPr>
        <p:spPr bwMode="auto">
          <a:xfrm>
            <a:off x="1676400" y="2438400"/>
            <a:ext cx="8915400" cy="1569660"/>
          </a:xfrm>
          <a:prstGeom prst="rect">
            <a:avLst/>
          </a:prstGeom>
          <a:noFill/>
          <a:ln>
            <a:noFill/>
          </a:ln>
          <a:effectLst>
            <a:outerShdw dist="45791" dir="2021404"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lgn="l">
              <a:defRPr sz="2400">
                <a:solidFill>
                  <a:schemeClr val="tx1"/>
                </a:solidFill>
                <a:latin typeface="Times New Roman" pitchFamily="18" charset="0"/>
              </a:defRPr>
            </a:lvl1pPr>
            <a:lvl2pPr marL="285750" algn="l">
              <a:defRPr sz="2400">
                <a:solidFill>
                  <a:schemeClr val="tx1"/>
                </a:solidFill>
                <a:latin typeface="Times New Roman" pitchFamily="18" charset="0"/>
              </a:defRPr>
            </a:lvl2pPr>
            <a:lvl3pPr marL="476250" indent="190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lvl="2" algn="ctr">
              <a:spcBef>
                <a:spcPts val="600"/>
              </a:spcBef>
            </a:pPr>
            <a:r>
              <a:rPr lang="fr-FR" sz="3200" dirty="0">
                <a:effectLst>
                  <a:outerShdw blurRad="38100" dist="38100" dir="2700000" algn="tl">
                    <a:srgbClr val="000000"/>
                  </a:outerShdw>
                </a:effectLst>
                <a:latin typeface="Tahoma" pitchFamily="34" charset="0"/>
              </a:rPr>
              <a:t>A </a:t>
            </a:r>
            <a:r>
              <a:rPr lang="fr-FR" sz="3200" dirty="0" err="1">
                <a:effectLst>
                  <a:outerShdw blurRad="38100" dist="38100" dir="2700000" algn="tl">
                    <a:srgbClr val="000000"/>
                  </a:outerShdw>
                </a:effectLst>
                <a:latin typeface="Tahoma" pitchFamily="34" charset="0"/>
              </a:rPr>
              <a:t>piece</a:t>
            </a:r>
            <a:r>
              <a:rPr lang="fr-FR" sz="3200" dirty="0">
                <a:effectLst>
                  <a:outerShdw blurRad="38100" dist="38100" dir="2700000" algn="tl">
                    <a:srgbClr val="000000"/>
                  </a:outerShdw>
                </a:effectLst>
                <a:latin typeface="Tahoma" pitchFamily="34" charset="0"/>
              </a:rPr>
              <a:t> of information </a:t>
            </a:r>
            <a:r>
              <a:rPr lang="fr-FR" sz="3200" dirty="0" err="1">
                <a:effectLst>
                  <a:outerShdw blurRad="38100" dist="38100" dir="2700000" algn="tl">
                    <a:srgbClr val="000000"/>
                  </a:outerShdw>
                </a:effectLst>
                <a:latin typeface="Tahoma" pitchFamily="34" charset="0"/>
              </a:rPr>
              <a:t>is</a:t>
            </a:r>
            <a:r>
              <a:rPr lang="fr-FR" sz="3200" dirty="0">
                <a:effectLst>
                  <a:outerShdw blurRad="38100" dist="38100" dir="2700000" algn="tl">
                    <a:srgbClr val="000000"/>
                  </a:outerShdw>
                </a:effectLst>
                <a:latin typeface="Tahoma" pitchFamily="34" charset="0"/>
              </a:rPr>
              <a:t> </a:t>
            </a:r>
            <a:r>
              <a:rPr lang="fr-FR" sz="3200" dirty="0" err="1">
                <a:solidFill>
                  <a:schemeClr val="tx2"/>
                </a:solidFill>
                <a:effectLst>
                  <a:outerShdw blurRad="38100" dist="38100" dir="2700000" algn="tl">
                    <a:srgbClr val="000000"/>
                  </a:outerShdw>
                </a:effectLst>
                <a:latin typeface="Tahoma" pitchFamily="34" charset="0"/>
              </a:rPr>
              <a:t>some</a:t>
            </a:r>
            <a:r>
              <a:rPr lang="fr-FR" sz="3200" dirty="0">
                <a:solidFill>
                  <a:schemeClr val="tx2"/>
                </a:solidFill>
                <a:effectLst>
                  <a:outerShdw blurRad="38100" dist="38100" dir="2700000" algn="tl">
                    <a:srgbClr val="000000"/>
                  </a:outerShdw>
                </a:effectLst>
                <a:latin typeface="Tahoma" pitchFamily="34" charset="0"/>
              </a:rPr>
              <a:t> </a:t>
            </a:r>
            <a:r>
              <a:rPr lang="fr-FR" sz="3200" dirty="0" err="1">
                <a:solidFill>
                  <a:schemeClr val="tx2"/>
                </a:solidFill>
                <a:effectLst>
                  <a:outerShdw blurRad="38100" dist="38100" dir="2700000" algn="tl">
                    <a:srgbClr val="000000"/>
                  </a:outerShdw>
                </a:effectLst>
                <a:latin typeface="Tahoma" pitchFamily="34" charset="0"/>
              </a:rPr>
              <a:t>knowledge</a:t>
            </a:r>
            <a:r>
              <a:rPr lang="fr-FR" sz="3200" dirty="0">
                <a:effectLst>
                  <a:outerShdw blurRad="38100" dist="38100" dir="2700000" algn="tl">
                    <a:srgbClr val="000000"/>
                  </a:outerShdw>
                </a:effectLst>
                <a:latin typeface="Tahoma" pitchFamily="34" charset="0"/>
              </a:rPr>
              <a:t>, </a:t>
            </a:r>
            <a:r>
              <a:rPr lang="fr-FR" sz="3200" dirty="0" err="1">
                <a:effectLst>
                  <a:outerShdw blurRad="38100" dist="38100" dir="2700000" algn="tl">
                    <a:srgbClr val="000000"/>
                  </a:outerShdw>
                </a:effectLst>
                <a:latin typeface="Tahoma" pitchFamily="34" charset="0"/>
              </a:rPr>
              <a:t>some</a:t>
            </a:r>
            <a:r>
              <a:rPr lang="fr-FR" sz="3200" dirty="0">
                <a:effectLst>
                  <a:outerShdw blurRad="38100" dist="38100" dir="2700000" algn="tl">
                    <a:srgbClr val="000000"/>
                  </a:outerShdw>
                </a:effectLst>
                <a:latin typeface="Tahoma" pitchFamily="34" charset="0"/>
              </a:rPr>
              <a:t> </a:t>
            </a:r>
            <a:r>
              <a:rPr lang="fr-FR" sz="3200" dirty="0">
                <a:solidFill>
                  <a:schemeClr val="tx2"/>
                </a:solidFill>
                <a:effectLst>
                  <a:outerShdw blurRad="38100" dist="38100" dir="2700000" algn="tl">
                    <a:srgbClr val="000000"/>
                  </a:outerShdw>
                </a:effectLst>
                <a:latin typeface="Tahoma" pitchFamily="34" charset="0"/>
              </a:rPr>
              <a:t>data </a:t>
            </a:r>
            <a:r>
              <a:rPr lang="fr-FR" sz="3200" dirty="0" err="1">
                <a:solidFill>
                  <a:schemeClr val="tx2"/>
                </a:solidFill>
                <a:effectLst>
                  <a:outerShdw blurRad="38100" dist="38100" dir="2700000" algn="tl">
                    <a:srgbClr val="000000"/>
                  </a:outerShdw>
                </a:effectLst>
                <a:latin typeface="Tahoma" pitchFamily="34" charset="0"/>
              </a:rPr>
              <a:t>processed</a:t>
            </a:r>
            <a:r>
              <a:rPr lang="fr-FR" sz="3200" dirty="0">
                <a:solidFill>
                  <a:schemeClr val="tx2"/>
                </a:solidFill>
                <a:effectLst>
                  <a:outerShdw blurRad="38100" dist="38100" dir="2700000" algn="tl">
                    <a:srgbClr val="000000"/>
                  </a:outerShdw>
                </a:effectLst>
                <a:latin typeface="Tahoma" pitchFamily="34" charset="0"/>
              </a:rPr>
              <a:t> </a:t>
            </a:r>
            <a:r>
              <a:rPr lang="fr-FR" sz="3200" dirty="0" err="1">
                <a:effectLst>
                  <a:outerShdw blurRad="38100" dist="38100" dir="2700000" algn="tl">
                    <a:srgbClr val="000000"/>
                  </a:outerShdw>
                </a:effectLst>
                <a:latin typeface="Tahoma" pitchFamily="34" charset="0"/>
              </a:rPr>
              <a:t>so</a:t>
            </a:r>
            <a:r>
              <a:rPr lang="fr-FR" sz="3200" dirty="0">
                <a:solidFill>
                  <a:schemeClr val="tx2"/>
                </a:solidFill>
                <a:effectLst>
                  <a:outerShdw blurRad="38100" dist="38100" dir="2700000" algn="tl">
                    <a:srgbClr val="000000"/>
                  </a:outerShdw>
                </a:effectLst>
                <a:latin typeface="Tahoma" pitchFamily="34" charset="0"/>
              </a:rPr>
              <a:t> </a:t>
            </a:r>
            <a:r>
              <a:rPr lang="fr-FR" sz="3200" dirty="0" err="1">
                <a:effectLst>
                  <a:outerShdw blurRad="38100" dist="38100" dir="2700000" algn="tl">
                    <a:srgbClr val="000000"/>
                  </a:outerShdw>
                </a:effectLst>
                <a:latin typeface="Tahoma" pitchFamily="34" charset="0"/>
              </a:rPr>
              <a:t>that</a:t>
            </a:r>
            <a:r>
              <a:rPr lang="fr-FR" sz="3200" dirty="0">
                <a:effectLst>
                  <a:outerShdw blurRad="38100" dist="38100" dir="2700000" algn="tl">
                    <a:srgbClr val="000000"/>
                  </a:outerShdw>
                </a:effectLst>
                <a:latin typeface="Tahoma" pitchFamily="34" charset="0"/>
              </a:rPr>
              <a:t> </a:t>
            </a:r>
            <a:r>
              <a:rPr lang="fr-FR" sz="3200" dirty="0" err="1">
                <a:effectLst>
                  <a:outerShdw blurRad="38100" dist="38100" dir="2700000" algn="tl">
                    <a:srgbClr val="000000"/>
                  </a:outerShdw>
                </a:effectLst>
                <a:latin typeface="Tahoma" pitchFamily="34" charset="0"/>
              </a:rPr>
              <a:t>it</a:t>
            </a:r>
            <a:r>
              <a:rPr lang="fr-FR" sz="3200" dirty="0">
                <a:effectLst>
                  <a:outerShdw blurRad="38100" dist="38100" dir="2700000" algn="tl">
                    <a:srgbClr val="000000"/>
                  </a:outerShdw>
                </a:effectLst>
                <a:latin typeface="Tahoma" pitchFamily="34" charset="0"/>
              </a:rPr>
              <a:t> modifies the state of « </a:t>
            </a:r>
            <a:r>
              <a:rPr lang="fr-FR" sz="3200" dirty="0" err="1">
                <a:solidFill>
                  <a:schemeClr val="tx2"/>
                </a:solidFill>
                <a:effectLst>
                  <a:outerShdw blurRad="38100" dist="38100" dir="2700000" algn="tl">
                    <a:srgbClr val="000000"/>
                  </a:outerShdw>
                </a:effectLst>
                <a:latin typeface="Tahoma" pitchFamily="34" charset="0"/>
              </a:rPr>
              <a:t>uncertainty</a:t>
            </a:r>
            <a:r>
              <a:rPr lang="fr-FR" sz="3200" dirty="0">
                <a:effectLst>
                  <a:outerShdw blurRad="38100" dist="38100" dir="2700000" algn="tl">
                    <a:srgbClr val="000000"/>
                  </a:outerShdw>
                </a:effectLst>
                <a:latin typeface="Tahoma" pitchFamily="34" charset="0"/>
              </a:rPr>
              <a:t> » about a system</a:t>
            </a:r>
          </a:p>
        </p:txBody>
      </p:sp>
      <p:sp>
        <p:nvSpPr>
          <p:cNvPr id="1507333" name="Text Box 5"/>
          <p:cNvSpPr txBox="1">
            <a:spLocks noChangeArrowheads="1"/>
          </p:cNvSpPr>
          <p:nvPr/>
        </p:nvSpPr>
        <p:spPr bwMode="auto">
          <a:xfrm>
            <a:off x="7321446" y="4686801"/>
            <a:ext cx="2971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500"/>
              </a:spcBef>
              <a:spcAft>
                <a:spcPts val="500"/>
              </a:spcAft>
              <a:buClr>
                <a:srgbClr val="CC6600"/>
              </a:buClr>
              <a:buSzPct val="150000"/>
            </a:pPr>
            <a:r>
              <a:rPr lang="fr-FR" sz="3600" dirty="0">
                <a:solidFill>
                  <a:srgbClr val="FFFF00"/>
                </a:solidFill>
                <a:effectLst>
                  <a:outerShdw blurRad="38100" dist="38100" dir="2700000" algn="tl">
                    <a:srgbClr val="000000"/>
                  </a:outerShdw>
                </a:effectLst>
                <a:latin typeface="Tahoma" pitchFamily="34" charset="0"/>
              </a:rPr>
              <a:t>Information</a:t>
            </a:r>
            <a:endParaRPr lang="fr-FR" sz="2800" dirty="0">
              <a:solidFill>
                <a:srgbClr val="CC6600"/>
              </a:solidFill>
              <a:effectLst>
                <a:outerShdw blurRad="38100" dist="38100" dir="2700000" algn="tl">
                  <a:srgbClr val="000000"/>
                </a:outerShdw>
              </a:effectLst>
              <a:latin typeface="Tahoma" pitchFamily="34" charset="0"/>
            </a:endParaRPr>
          </a:p>
        </p:txBody>
      </p:sp>
      <p:sp>
        <p:nvSpPr>
          <p:cNvPr id="3" name="Footer Placeholder 2"/>
          <p:cNvSpPr>
            <a:spLocks noGrp="1"/>
          </p:cNvSpPr>
          <p:nvPr>
            <p:ph type="ftr" sz="quarter" idx="11"/>
          </p:nvPr>
        </p:nvSpPr>
        <p:spPr/>
        <p:txBody>
          <a:bodyPr/>
          <a:lstStyle/>
          <a:p>
            <a:pPr>
              <a:defRPr/>
            </a:pPr>
            <a:r>
              <a:rPr lang="en-US" smtClean="0"/>
              <a:t>Isabelle Bichindaritz, SUNY Oswego</a:t>
            </a:r>
            <a:endParaRPr lang="en-US" dirty="0"/>
          </a:p>
        </p:txBody>
      </p:sp>
      <p:sp>
        <p:nvSpPr>
          <p:cNvPr id="10" name="Rectangle 2"/>
          <p:cNvSpPr txBox="1">
            <a:spLocks noChangeArrowheads="1"/>
          </p:cNvSpPr>
          <p:nvPr/>
        </p:nvSpPr>
        <p:spPr>
          <a:xfrm>
            <a:off x="2040515" y="244835"/>
            <a:ext cx="8983800" cy="952499"/>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b="1" dirty="0" smtClean="0">
                <a:effectLst>
                  <a:outerShdw blurRad="38100" dist="38100" dir="2700000" algn="tl">
                    <a:srgbClr val="000000">
                      <a:alpha val="43137"/>
                    </a:srgbClr>
                  </a:outerShdw>
                </a:effectLst>
              </a:rPr>
              <a:t>Locating and Downloading Datasets</a:t>
            </a:r>
          </a:p>
        </p:txBody>
      </p:sp>
      <p:sp>
        <p:nvSpPr>
          <p:cNvPr id="11" name="Text Box 4"/>
          <p:cNvSpPr txBox="1">
            <a:spLocks noChangeArrowheads="1"/>
          </p:cNvSpPr>
          <p:nvPr/>
        </p:nvSpPr>
        <p:spPr bwMode="auto">
          <a:xfrm>
            <a:off x="1911246" y="4642351"/>
            <a:ext cx="2895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500"/>
              </a:spcBef>
              <a:spcAft>
                <a:spcPts val="500"/>
              </a:spcAft>
              <a:buClr>
                <a:srgbClr val="CC6600"/>
              </a:buClr>
              <a:buSzPct val="150000"/>
            </a:pPr>
            <a:r>
              <a:rPr lang="fr-FR" sz="3600" dirty="0">
                <a:solidFill>
                  <a:srgbClr val="FFFF00"/>
                </a:solidFill>
                <a:effectLst>
                  <a:outerShdw blurRad="38100" dist="38100" dir="2700000" algn="tl">
                    <a:srgbClr val="000000"/>
                  </a:outerShdw>
                </a:effectLst>
                <a:latin typeface="Tahoma" pitchFamily="34" charset="0"/>
              </a:rPr>
              <a:t>Data</a:t>
            </a:r>
            <a:endParaRPr lang="fr-FR" sz="2800" dirty="0">
              <a:solidFill>
                <a:srgbClr val="CC6600"/>
              </a:solidFill>
              <a:effectLst>
                <a:outerShdw blurRad="38100" dist="38100" dir="2700000" algn="tl">
                  <a:srgbClr val="000000"/>
                </a:outerShdw>
              </a:effectLst>
              <a:latin typeface="Tahoma" pitchFamily="34" charset="0"/>
            </a:endParaRPr>
          </a:p>
        </p:txBody>
      </p:sp>
      <p:sp>
        <p:nvSpPr>
          <p:cNvPr id="12" name="AutoShape 6"/>
          <p:cNvSpPr>
            <a:spLocks noChangeArrowheads="1"/>
          </p:cNvSpPr>
          <p:nvPr/>
        </p:nvSpPr>
        <p:spPr bwMode="auto">
          <a:xfrm>
            <a:off x="4578246" y="4661401"/>
            <a:ext cx="2743200" cy="838200"/>
          </a:xfrm>
          <a:prstGeom prst="rightArrow">
            <a:avLst>
              <a:gd name="adj1" fmla="val 50000"/>
              <a:gd name="adj2" fmla="val 81818"/>
            </a:avLst>
          </a:prstGeom>
          <a:solidFill>
            <a:srgbClr val="7030A0"/>
          </a:solidFill>
          <a:ln w="19050">
            <a:solidFill>
              <a:schemeClr val="bg1"/>
            </a:solidFill>
            <a:miter lim="800000"/>
            <a:headEnd/>
            <a:tailEnd/>
          </a:ln>
          <a:effectLst>
            <a:outerShdw dist="45791" dir="2021404" algn="ctr" rotWithShape="0">
              <a:schemeClr val="bg2"/>
            </a:outerShdw>
          </a:effectLst>
        </p:spPr>
        <p:txBody>
          <a:bodyPr wrap="none" anchor="ctr"/>
          <a:lstStyle/>
          <a:p>
            <a:r>
              <a:rPr lang="fr-FR" b="1" dirty="0"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          </a:t>
            </a:r>
            <a:r>
              <a:rPr lang="fr-FR" b="1" dirty="0" err="1" smtClean="0">
                <a:ln w="10160">
                  <a:solidFill>
                    <a:schemeClr val="accent5"/>
                  </a:solidFill>
                  <a:prstDash val="solid"/>
                </a:ln>
                <a:solidFill>
                  <a:srgbClr val="FFFFFF"/>
                </a:solidFill>
                <a:effectLst>
                  <a:outerShdw blurRad="38100" dist="22860" dir="5400000" algn="tl" rotWithShape="0">
                    <a:srgbClr val="000000">
                      <a:alpha val="30000"/>
                    </a:srgbClr>
                  </a:outerShdw>
                </a:effectLst>
              </a:rPr>
              <a:t>Processing</a:t>
            </a:r>
            <a:endParaRPr lang="fr-FR" sz="2400" b="1" dirty="0">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Tree>
    <p:extLst>
      <p:ext uri="{BB962C8B-B14F-4D97-AF65-F5344CB8AC3E}">
        <p14:creationId xmlns:p14="http://schemas.microsoft.com/office/powerpoint/2010/main" val="8307185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07330"/>
                                        </p:tgtEl>
                                        <p:attrNameLst>
                                          <p:attrName>style.visibility</p:attrName>
                                        </p:attrNameLst>
                                      </p:cBhvr>
                                      <p:to>
                                        <p:strVal val="visible"/>
                                      </p:to>
                                    </p:set>
                                    <p:animEffect transition="in" filter="box(in)">
                                      <p:cBhvr>
                                        <p:cTn id="7" dur="500"/>
                                        <p:tgtEl>
                                          <p:spTgt spid="15073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07333"/>
                                        </p:tgtEl>
                                        <p:attrNameLst>
                                          <p:attrName>style.visibility</p:attrName>
                                        </p:attrNameLst>
                                      </p:cBhvr>
                                      <p:to>
                                        <p:strVal val="visible"/>
                                      </p:to>
                                    </p:set>
                                    <p:animEffect transition="in" filter="wipe(left)">
                                      <p:cBhvr>
                                        <p:cTn id="12" dur="500"/>
                                        <p:tgtEl>
                                          <p:spTgt spid="15073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0-#ppt_w/2"/>
                                          </p:val>
                                        </p:tav>
                                        <p:tav tm="100000">
                                          <p:val>
                                            <p:strVal val="#ppt_x"/>
                                          </p:val>
                                        </p:tav>
                                      </p:tavLst>
                                    </p:anim>
                                    <p:anim calcmode="lin" valueType="num">
                                      <p:cBhvr additive="base">
                                        <p:cTn id="23"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7330" grpId="0" autoUpdateAnimBg="0"/>
      <p:bldP spid="1507333" grpId="0" autoUpdateAnimBg="0"/>
      <p:bldP spid="11" grpId="0" autoUpdateAnimBg="0"/>
      <p:bldP spid="12"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4294967295"/>
          </p:nvPr>
        </p:nvSpPr>
        <p:spPr>
          <a:xfrm>
            <a:off x="8763000" y="6553200"/>
            <a:ext cx="1905000" cy="304800"/>
          </a:xfrm>
          <a:prstGeom prst="rect">
            <a:avLst/>
          </a:prstGeom>
        </p:spPr>
        <p:txBody>
          <a:bodyPr/>
          <a:lstStyle/>
          <a:p>
            <a:fld id="{FA269C9A-DB29-429B-BE85-FFB954938B16}" type="slidenum">
              <a:rPr lang="fr-FR"/>
              <a:pPr/>
              <a:t>8</a:t>
            </a:fld>
            <a:endParaRPr lang="fr-FR"/>
          </a:p>
        </p:txBody>
      </p:sp>
      <p:sp>
        <p:nvSpPr>
          <p:cNvPr id="1234946" name="Text Box 2"/>
          <p:cNvSpPr txBox="1">
            <a:spLocks noChangeArrowheads="1"/>
          </p:cNvSpPr>
          <p:nvPr/>
        </p:nvSpPr>
        <p:spPr bwMode="auto">
          <a:xfrm>
            <a:off x="2209800" y="2299221"/>
            <a:ext cx="80772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336675" indent="-1336675" algn="l">
              <a:defRPr sz="2400">
                <a:solidFill>
                  <a:schemeClr val="tx1"/>
                </a:solidFill>
                <a:latin typeface="Times New Roman" pitchFamily="18" charset="0"/>
              </a:defRPr>
            </a:lvl1pPr>
            <a:lvl2pPr marL="2003425" algn="l">
              <a:defRPr sz="2400">
                <a:solidFill>
                  <a:schemeClr val="tx1"/>
                </a:solidFill>
                <a:latin typeface="Times New Roman" pitchFamily="18" charset="0"/>
              </a:defRPr>
            </a:lvl2pPr>
            <a:lvl3pPr marL="2193925" algn="l">
              <a:defRPr sz="2400">
                <a:solidFill>
                  <a:schemeClr val="tx1"/>
                </a:solidFill>
                <a:latin typeface="Times New Roman" pitchFamily="18" charset="0"/>
              </a:defRPr>
            </a:lvl3pPr>
            <a:lvl4pPr marL="2384425" algn="l">
              <a:defRPr sz="2400">
                <a:solidFill>
                  <a:schemeClr val="tx1"/>
                </a:solidFill>
                <a:latin typeface="Times New Roman" pitchFamily="18" charset="0"/>
              </a:defRPr>
            </a:lvl4pPr>
            <a:lvl5pPr marL="2574925" algn="l">
              <a:defRPr sz="2400">
                <a:solidFill>
                  <a:schemeClr val="tx1"/>
                </a:solidFill>
                <a:latin typeface="Times New Roman" pitchFamily="18" charset="0"/>
              </a:defRPr>
            </a:lvl5pPr>
            <a:lvl6pPr marL="3032125" eaLnBrk="0" fontAlgn="base" hangingPunct="0">
              <a:spcBef>
                <a:spcPct val="0"/>
              </a:spcBef>
              <a:spcAft>
                <a:spcPct val="0"/>
              </a:spcAft>
              <a:defRPr sz="2400">
                <a:solidFill>
                  <a:schemeClr val="tx1"/>
                </a:solidFill>
                <a:latin typeface="Times New Roman" pitchFamily="18" charset="0"/>
              </a:defRPr>
            </a:lvl6pPr>
            <a:lvl7pPr marL="3489325" eaLnBrk="0" fontAlgn="base" hangingPunct="0">
              <a:spcBef>
                <a:spcPct val="0"/>
              </a:spcBef>
              <a:spcAft>
                <a:spcPct val="0"/>
              </a:spcAft>
              <a:defRPr sz="2400">
                <a:solidFill>
                  <a:schemeClr val="tx1"/>
                </a:solidFill>
                <a:latin typeface="Times New Roman" pitchFamily="18" charset="0"/>
              </a:defRPr>
            </a:lvl7pPr>
            <a:lvl8pPr marL="3946525" eaLnBrk="0" fontAlgn="base" hangingPunct="0">
              <a:spcBef>
                <a:spcPct val="0"/>
              </a:spcBef>
              <a:spcAft>
                <a:spcPct val="0"/>
              </a:spcAft>
              <a:defRPr sz="2400">
                <a:solidFill>
                  <a:schemeClr val="tx1"/>
                </a:solidFill>
                <a:latin typeface="Times New Roman" pitchFamily="18" charset="0"/>
              </a:defRPr>
            </a:lvl8pPr>
            <a:lvl9pPr marL="4403725" eaLnBrk="0" fontAlgn="base" hangingPunct="0">
              <a:spcBef>
                <a:spcPct val="0"/>
              </a:spcBef>
              <a:spcAft>
                <a:spcPct val="0"/>
              </a:spcAft>
              <a:defRPr sz="2400">
                <a:solidFill>
                  <a:schemeClr val="tx1"/>
                </a:solidFill>
                <a:latin typeface="Times New Roman" pitchFamily="18" charset="0"/>
              </a:defRPr>
            </a:lvl9pPr>
          </a:lstStyle>
          <a:p>
            <a:pPr>
              <a:buClr>
                <a:srgbClr val="FFFF00"/>
              </a:buClr>
            </a:pPr>
            <a:r>
              <a:rPr lang="fr-FR" sz="4800" i="1" dirty="0">
                <a:solidFill>
                  <a:srgbClr val="FFFF00"/>
                </a:solidFill>
                <a:effectLst>
                  <a:outerShdw blurRad="38100" dist="38100" dir="2700000" algn="tl">
                    <a:srgbClr val="000000"/>
                  </a:outerShdw>
                </a:effectLst>
                <a:latin typeface="Tahoma" pitchFamily="34" charset="0"/>
              </a:rPr>
              <a:t>Second </a:t>
            </a:r>
            <a:r>
              <a:rPr lang="fr-FR" sz="4800" i="1" dirty="0" err="1">
                <a:solidFill>
                  <a:srgbClr val="FFFF00"/>
                </a:solidFill>
                <a:effectLst>
                  <a:outerShdw blurRad="38100" dist="38100" dir="2700000" algn="tl">
                    <a:srgbClr val="000000"/>
                  </a:outerShdw>
                </a:effectLst>
                <a:latin typeface="Tahoma" pitchFamily="34" charset="0"/>
              </a:rPr>
              <a:t>viewpoint</a:t>
            </a:r>
            <a:r>
              <a:rPr lang="fr-FR" sz="4800" i="1" dirty="0">
                <a:solidFill>
                  <a:srgbClr val="FFFF00"/>
                </a:solidFill>
                <a:effectLst>
                  <a:outerShdw blurRad="38100" dist="38100" dir="2700000" algn="tl">
                    <a:srgbClr val="000000"/>
                  </a:outerShdw>
                </a:effectLst>
                <a:latin typeface="Tahoma" pitchFamily="34" charset="0"/>
              </a:rPr>
              <a:t> : </a:t>
            </a:r>
          </a:p>
          <a:p>
            <a:pPr>
              <a:buClr>
                <a:srgbClr val="FFFF00"/>
              </a:buClr>
            </a:pPr>
            <a:r>
              <a:rPr lang="fr-FR" sz="4800" i="1" u="sng" dirty="0">
                <a:solidFill>
                  <a:srgbClr val="FFFF00"/>
                </a:solidFill>
                <a:effectLst>
                  <a:outerShdw blurRad="38100" dist="38100" dir="2700000" algn="tl">
                    <a:srgbClr val="000000"/>
                  </a:outerShdw>
                </a:effectLst>
                <a:latin typeface="Tahoma" pitchFamily="34" charset="0"/>
              </a:rPr>
              <a:t>The </a:t>
            </a:r>
            <a:r>
              <a:rPr lang="fr-FR" sz="4800" i="1" u="sng" dirty="0" err="1">
                <a:solidFill>
                  <a:srgbClr val="FFFF00"/>
                </a:solidFill>
                <a:effectLst>
                  <a:outerShdw blurRad="38100" dist="38100" dir="2700000" algn="tl">
                    <a:srgbClr val="000000"/>
                  </a:outerShdw>
                </a:effectLst>
                <a:latin typeface="Tahoma" pitchFamily="34" charset="0"/>
              </a:rPr>
              <a:t>different</a:t>
            </a:r>
            <a:r>
              <a:rPr lang="fr-FR" sz="4800" i="1" u="sng" dirty="0">
                <a:solidFill>
                  <a:srgbClr val="FFFF00"/>
                </a:solidFill>
                <a:effectLst>
                  <a:outerShdw blurRad="38100" dist="38100" dir="2700000" algn="tl">
                    <a:srgbClr val="000000"/>
                  </a:outerShdw>
                </a:effectLst>
                <a:latin typeface="Tahoma" pitchFamily="34" charset="0"/>
              </a:rPr>
              <a:t> dimensions of </a:t>
            </a:r>
            <a:r>
              <a:rPr lang="fr-FR" sz="4800" i="1" dirty="0">
                <a:solidFill>
                  <a:srgbClr val="FFFF00"/>
                </a:solidFill>
                <a:effectLst>
                  <a:outerShdw blurRad="38100" dist="38100" dir="2700000" algn="tl">
                    <a:srgbClr val="000000"/>
                  </a:outerShdw>
                </a:effectLst>
                <a:latin typeface="Tahoma" pitchFamily="34" charset="0"/>
              </a:rPr>
              <a:t>«  </a:t>
            </a:r>
            <a:r>
              <a:rPr lang="fr-FR" sz="4800" i="1" u="sng" dirty="0" err="1">
                <a:solidFill>
                  <a:srgbClr val="FFFF00"/>
                </a:solidFill>
                <a:effectLst>
                  <a:outerShdw blurRad="38100" dist="38100" dir="2700000" algn="tl">
                    <a:srgbClr val="000000"/>
                  </a:outerShdw>
                </a:effectLst>
                <a:latin typeface="Tahoma" pitchFamily="34" charset="0"/>
              </a:rPr>
              <a:t>lnformation</a:t>
            </a:r>
            <a:r>
              <a:rPr lang="fr-FR" sz="2800" dirty="0">
                <a:solidFill>
                  <a:srgbClr val="FFFF00"/>
                </a:solidFill>
                <a:effectLst>
                  <a:outerShdw blurRad="38100" dist="38100" dir="2700000" algn="tl">
                    <a:srgbClr val="000000"/>
                  </a:outerShdw>
                </a:effectLst>
                <a:latin typeface="Tahoma" pitchFamily="34" charset="0"/>
              </a:rPr>
              <a:t>  </a:t>
            </a:r>
            <a:r>
              <a:rPr lang="fr-FR" sz="4800" i="1" dirty="0">
                <a:solidFill>
                  <a:srgbClr val="FFFF00"/>
                </a:solidFill>
                <a:effectLst>
                  <a:outerShdw blurRad="38100" dist="38100" dir="2700000" algn="tl">
                    <a:srgbClr val="000000"/>
                  </a:outerShdw>
                </a:effectLst>
                <a:latin typeface="Tahoma" pitchFamily="34" charset="0"/>
              </a:rPr>
              <a:t>»</a:t>
            </a:r>
          </a:p>
        </p:txBody>
      </p:sp>
      <p:sp>
        <p:nvSpPr>
          <p:cNvPr id="3" name="Footer Placeholder 2"/>
          <p:cNvSpPr>
            <a:spLocks noGrp="1"/>
          </p:cNvSpPr>
          <p:nvPr>
            <p:ph type="ftr" sz="quarter" idx="11"/>
          </p:nvPr>
        </p:nvSpPr>
        <p:spPr/>
        <p:txBody>
          <a:bodyPr/>
          <a:lstStyle/>
          <a:p>
            <a:pPr>
              <a:defRPr/>
            </a:pPr>
            <a:r>
              <a:rPr lang="en-US" smtClean="0"/>
              <a:t>Isabelle Bichindaritz, SUNY Oswego</a:t>
            </a:r>
            <a:endParaRPr lang="en-US" dirty="0"/>
          </a:p>
        </p:txBody>
      </p:sp>
      <p:sp>
        <p:nvSpPr>
          <p:cNvPr id="6" name="Rectangle 2"/>
          <p:cNvSpPr txBox="1">
            <a:spLocks noChangeArrowheads="1"/>
          </p:cNvSpPr>
          <p:nvPr/>
        </p:nvSpPr>
        <p:spPr>
          <a:xfrm>
            <a:off x="2040515" y="244835"/>
            <a:ext cx="8983800" cy="952499"/>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b="1" dirty="0" smtClean="0">
                <a:effectLst>
                  <a:outerShdw blurRad="38100" dist="38100" dir="2700000" algn="tl">
                    <a:srgbClr val="000000">
                      <a:alpha val="43137"/>
                    </a:srgbClr>
                  </a:outerShdw>
                </a:effectLst>
              </a:rPr>
              <a:t>Locating and Downloading Datasets</a:t>
            </a:r>
          </a:p>
        </p:txBody>
      </p:sp>
    </p:spTree>
    <p:extLst>
      <p:ext uri="{BB962C8B-B14F-4D97-AF65-F5344CB8AC3E}">
        <p14:creationId xmlns:p14="http://schemas.microsoft.com/office/powerpoint/2010/main" val="27629556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34946"/>
                                        </p:tgtEl>
                                        <p:attrNameLst>
                                          <p:attrName>style.visibility</p:attrName>
                                        </p:attrNameLst>
                                      </p:cBhvr>
                                      <p:to>
                                        <p:strVal val="visible"/>
                                      </p:to>
                                    </p:set>
                                    <p:animEffect transition="in" filter="wipe(left)">
                                      <p:cBhvr>
                                        <p:cTn id="7" dur="500"/>
                                        <p:tgtEl>
                                          <p:spTgt spid="12349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4946"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4294967295"/>
          </p:nvPr>
        </p:nvSpPr>
        <p:spPr>
          <a:xfrm>
            <a:off x="8763000" y="6553200"/>
            <a:ext cx="1905000" cy="304800"/>
          </a:xfrm>
          <a:prstGeom prst="rect">
            <a:avLst/>
          </a:prstGeom>
        </p:spPr>
        <p:txBody>
          <a:bodyPr/>
          <a:lstStyle/>
          <a:p>
            <a:fld id="{272C00E6-67EF-4FDD-8DBC-55A797ACEA68}" type="slidenum">
              <a:rPr lang="fr-FR"/>
              <a:pPr/>
              <a:t>9</a:t>
            </a:fld>
            <a:endParaRPr lang="fr-FR"/>
          </a:p>
        </p:txBody>
      </p:sp>
      <p:sp>
        <p:nvSpPr>
          <p:cNvPr id="1196036" name="Text Box 4"/>
          <p:cNvSpPr txBox="1">
            <a:spLocks noChangeArrowheads="1"/>
          </p:cNvSpPr>
          <p:nvPr/>
        </p:nvSpPr>
        <p:spPr bwMode="auto">
          <a:xfrm>
            <a:off x="5306518" y="2895600"/>
            <a:ext cx="5257800" cy="1082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500"/>
              </a:spcBef>
              <a:spcAft>
                <a:spcPts val="500"/>
              </a:spcAft>
              <a:buClr>
                <a:schemeClr val="tx1"/>
              </a:buClr>
            </a:pPr>
            <a:r>
              <a:rPr lang="fr-FR" sz="3200" dirty="0" err="1">
                <a:solidFill>
                  <a:srgbClr val="FFFF00"/>
                </a:solidFill>
                <a:effectLst>
                  <a:outerShdw blurRad="38100" dist="38100" dir="2700000" algn="tl">
                    <a:srgbClr val="000000"/>
                  </a:outerShdw>
                </a:effectLst>
                <a:latin typeface="Tahoma" pitchFamily="34" charset="0"/>
              </a:rPr>
              <a:t>Technical</a:t>
            </a:r>
            <a:r>
              <a:rPr lang="fr-FR" sz="3200" dirty="0">
                <a:solidFill>
                  <a:srgbClr val="FFFF00"/>
                </a:solidFill>
                <a:effectLst>
                  <a:outerShdw blurRad="38100" dist="38100" dir="2700000" algn="tl">
                    <a:srgbClr val="000000"/>
                  </a:outerShdw>
                </a:effectLst>
                <a:latin typeface="Tahoma" pitchFamily="34" charset="0"/>
              </a:rPr>
              <a:t> Dimension </a:t>
            </a:r>
          </a:p>
          <a:p>
            <a:pPr algn="ctr">
              <a:spcBef>
                <a:spcPts val="500"/>
              </a:spcBef>
              <a:spcAft>
                <a:spcPts val="500"/>
              </a:spcAft>
              <a:buClr>
                <a:schemeClr val="tx1"/>
              </a:buClr>
            </a:pPr>
            <a:r>
              <a:rPr lang="fr-FR" dirty="0">
                <a:solidFill>
                  <a:srgbClr val="FFFF00"/>
                </a:solidFill>
                <a:effectLst>
                  <a:outerShdw blurRad="38100" dist="38100" dir="2700000" algn="tl">
                    <a:srgbClr val="000000"/>
                  </a:outerShdw>
                </a:effectLst>
                <a:latin typeface="Tahoma" pitchFamily="34" charset="0"/>
              </a:rPr>
              <a:t>A </a:t>
            </a:r>
            <a:r>
              <a:rPr lang="fr-FR" dirty="0" err="1">
                <a:solidFill>
                  <a:srgbClr val="FFFF00"/>
                </a:solidFill>
                <a:effectLst>
                  <a:outerShdw blurRad="38100" dist="38100" dir="2700000" algn="tl">
                    <a:srgbClr val="000000"/>
                  </a:outerShdw>
                </a:effectLst>
                <a:latin typeface="Tahoma" pitchFamily="34" charset="0"/>
              </a:rPr>
              <a:t>stored</a:t>
            </a:r>
            <a:r>
              <a:rPr lang="fr-FR" dirty="0">
                <a:solidFill>
                  <a:srgbClr val="FFFF00"/>
                </a:solidFill>
                <a:effectLst>
                  <a:outerShdw blurRad="38100" dist="38100" dir="2700000" algn="tl">
                    <a:srgbClr val="000000"/>
                  </a:outerShdw>
                </a:effectLst>
                <a:latin typeface="Tahoma" pitchFamily="34" charset="0"/>
              </a:rPr>
              <a:t> or </a:t>
            </a:r>
            <a:r>
              <a:rPr lang="fr-FR" dirty="0" err="1">
                <a:solidFill>
                  <a:srgbClr val="FFFF00"/>
                </a:solidFill>
                <a:effectLst>
                  <a:outerShdw blurRad="38100" dist="38100" dir="2700000" algn="tl">
                    <a:srgbClr val="000000"/>
                  </a:outerShdw>
                </a:effectLst>
                <a:latin typeface="Tahoma" pitchFamily="34" charset="0"/>
              </a:rPr>
              <a:t>transmitted</a:t>
            </a:r>
            <a:r>
              <a:rPr lang="fr-FR" dirty="0">
                <a:solidFill>
                  <a:srgbClr val="FFFF00"/>
                </a:solidFill>
                <a:effectLst>
                  <a:outerShdw blurRad="38100" dist="38100" dir="2700000" algn="tl">
                    <a:srgbClr val="000000"/>
                  </a:outerShdw>
                </a:effectLst>
                <a:latin typeface="Tahoma" pitchFamily="34" charset="0"/>
              </a:rPr>
              <a:t> </a:t>
            </a:r>
            <a:r>
              <a:rPr lang="fr-FR" dirty="0" err="1">
                <a:solidFill>
                  <a:srgbClr val="FFFF00"/>
                </a:solidFill>
                <a:effectLst>
                  <a:outerShdw blurRad="38100" dist="38100" dir="2700000" algn="tl">
                    <a:srgbClr val="000000"/>
                  </a:outerShdw>
                </a:effectLst>
                <a:latin typeface="Tahoma" pitchFamily="34" charset="0"/>
              </a:rPr>
              <a:t>symbol</a:t>
            </a:r>
            <a:endParaRPr lang="fr-FR" dirty="0">
              <a:solidFill>
                <a:srgbClr val="FFFF00"/>
              </a:solidFill>
              <a:effectLst>
                <a:outerShdw blurRad="38100" dist="38100" dir="2700000" algn="tl">
                  <a:srgbClr val="000000"/>
                </a:outerShdw>
              </a:effectLst>
              <a:latin typeface="Tahoma" pitchFamily="34" charset="0"/>
            </a:endParaRPr>
          </a:p>
        </p:txBody>
      </p:sp>
      <p:sp>
        <p:nvSpPr>
          <p:cNvPr id="1196037" name="Text Box 5"/>
          <p:cNvSpPr txBox="1">
            <a:spLocks noChangeArrowheads="1"/>
          </p:cNvSpPr>
          <p:nvPr/>
        </p:nvSpPr>
        <p:spPr bwMode="auto">
          <a:xfrm>
            <a:off x="4343400" y="3074988"/>
            <a:ext cx="1016000" cy="1098550"/>
          </a:xfrm>
          <a:prstGeom prst="rect">
            <a:avLst/>
          </a:prstGeom>
          <a:noFill/>
          <a:ln>
            <a:noFill/>
          </a:ln>
          <a:effectLst>
            <a:outerShdw dist="56796" dir="1593903"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fr-FR" sz="6600"/>
              <a:t>=</a:t>
            </a:r>
            <a:endParaRPr lang="fr-FR" sz="6000">
              <a:solidFill>
                <a:srgbClr val="CC6600"/>
              </a:solidFill>
            </a:endParaRPr>
          </a:p>
        </p:txBody>
      </p:sp>
      <p:sp>
        <p:nvSpPr>
          <p:cNvPr id="1196038" name="Text Box 6"/>
          <p:cNvSpPr txBox="1">
            <a:spLocks noChangeArrowheads="1"/>
          </p:cNvSpPr>
          <p:nvPr/>
        </p:nvSpPr>
        <p:spPr bwMode="auto">
          <a:xfrm>
            <a:off x="5334000" y="4538664"/>
            <a:ext cx="3429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500"/>
              </a:spcBef>
              <a:spcAft>
                <a:spcPts val="500"/>
              </a:spcAft>
              <a:buClr>
                <a:schemeClr val="tx1"/>
              </a:buClr>
            </a:pPr>
            <a:r>
              <a:rPr lang="fr-FR" sz="3200" dirty="0">
                <a:solidFill>
                  <a:srgbClr val="FFFF00"/>
                </a:solidFill>
                <a:effectLst>
                  <a:outerShdw blurRad="38100" dist="38100" dir="2700000" algn="tl">
                    <a:srgbClr val="000000"/>
                  </a:outerShdw>
                </a:effectLst>
                <a:latin typeface="Tahoma" pitchFamily="34" charset="0"/>
              </a:rPr>
              <a:t>« The data"</a:t>
            </a:r>
            <a:endParaRPr lang="fr-FR" dirty="0">
              <a:effectLst>
                <a:outerShdw blurRad="38100" dist="38100" dir="2700000" algn="tl">
                  <a:srgbClr val="000000"/>
                </a:outerShdw>
              </a:effectLst>
              <a:latin typeface="Tahoma" pitchFamily="34" charset="0"/>
            </a:endParaRPr>
          </a:p>
        </p:txBody>
      </p:sp>
      <p:sp>
        <p:nvSpPr>
          <p:cNvPr id="1196040" name="Text Box 8"/>
          <p:cNvSpPr txBox="1">
            <a:spLocks noChangeArrowheads="1"/>
          </p:cNvSpPr>
          <p:nvPr/>
        </p:nvSpPr>
        <p:spPr bwMode="auto">
          <a:xfrm>
            <a:off x="432841" y="2895600"/>
            <a:ext cx="3429000" cy="131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500"/>
              </a:spcBef>
              <a:spcAft>
                <a:spcPts val="500"/>
              </a:spcAft>
              <a:buClr>
                <a:schemeClr val="tx1"/>
              </a:buClr>
            </a:pPr>
            <a:r>
              <a:rPr lang="fr-FR" sz="3600" dirty="0">
                <a:solidFill>
                  <a:srgbClr val="CC6600"/>
                </a:solidFill>
                <a:effectLst>
                  <a:outerShdw blurRad="38100" dist="38100" dir="2700000" algn="tl">
                    <a:srgbClr val="000000"/>
                  </a:outerShdw>
                </a:effectLst>
                <a:latin typeface="Tahoma" pitchFamily="34" charset="0"/>
              </a:rPr>
              <a:t>First</a:t>
            </a:r>
          </a:p>
          <a:p>
            <a:pPr algn="ctr">
              <a:spcBef>
                <a:spcPts val="500"/>
              </a:spcBef>
              <a:spcAft>
                <a:spcPts val="500"/>
              </a:spcAft>
              <a:buClr>
                <a:schemeClr val="tx1"/>
              </a:buClr>
            </a:pPr>
            <a:r>
              <a:rPr lang="fr-FR" sz="3600" dirty="0">
                <a:solidFill>
                  <a:srgbClr val="CC6600"/>
                </a:solidFill>
                <a:effectLst>
                  <a:outerShdw blurRad="38100" dist="38100" dir="2700000" algn="tl">
                    <a:srgbClr val="000000"/>
                  </a:outerShdw>
                </a:effectLst>
                <a:latin typeface="Tahoma" pitchFamily="34" charset="0"/>
              </a:rPr>
              <a:t>dimension</a:t>
            </a:r>
            <a:endParaRPr lang="fr-FR" sz="3600" dirty="0">
              <a:effectLst>
                <a:outerShdw blurRad="38100" dist="38100" dir="2700000" algn="tl">
                  <a:srgbClr val="000000"/>
                </a:outerShdw>
              </a:effectLst>
              <a:latin typeface="Tahoma" pitchFamily="34" charset="0"/>
            </a:endParaRPr>
          </a:p>
        </p:txBody>
      </p:sp>
      <p:sp>
        <p:nvSpPr>
          <p:cNvPr id="3" name="Footer Placeholder 2"/>
          <p:cNvSpPr>
            <a:spLocks noGrp="1"/>
          </p:cNvSpPr>
          <p:nvPr>
            <p:ph type="ftr" sz="quarter" idx="11"/>
          </p:nvPr>
        </p:nvSpPr>
        <p:spPr/>
        <p:txBody>
          <a:bodyPr/>
          <a:lstStyle/>
          <a:p>
            <a:pPr>
              <a:defRPr/>
            </a:pPr>
            <a:r>
              <a:rPr lang="en-US" smtClean="0"/>
              <a:t>Isabelle Bichindaritz, SUNY Oswego</a:t>
            </a:r>
            <a:endParaRPr lang="en-US" dirty="0"/>
          </a:p>
        </p:txBody>
      </p:sp>
      <p:sp>
        <p:nvSpPr>
          <p:cNvPr id="9" name="Rectangle 2"/>
          <p:cNvSpPr txBox="1">
            <a:spLocks noChangeArrowheads="1"/>
          </p:cNvSpPr>
          <p:nvPr/>
        </p:nvSpPr>
        <p:spPr>
          <a:xfrm>
            <a:off x="2040515" y="244835"/>
            <a:ext cx="8983800" cy="952499"/>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b="1" dirty="0" smtClean="0">
                <a:effectLst>
                  <a:outerShdw blurRad="38100" dist="38100" dir="2700000" algn="tl">
                    <a:srgbClr val="000000">
                      <a:alpha val="43137"/>
                    </a:srgbClr>
                  </a:outerShdw>
                </a:effectLst>
              </a:rPr>
              <a:t>Locating and Downloading Datasets</a:t>
            </a:r>
          </a:p>
        </p:txBody>
      </p:sp>
    </p:spTree>
    <p:extLst>
      <p:ext uri="{BB962C8B-B14F-4D97-AF65-F5344CB8AC3E}">
        <p14:creationId xmlns:p14="http://schemas.microsoft.com/office/powerpoint/2010/main" val="31509704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96040"/>
                                        </p:tgtEl>
                                        <p:attrNameLst>
                                          <p:attrName>style.visibility</p:attrName>
                                        </p:attrNameLst>
                                      </p:cBhvr>
                                      <p:to>
                                        <p:strVal val="visible"/>
                                      </p:to>
                                    </p:set>
                                    <p:animEffect transition="in" filter="wipe(left)">
                                      <p:cBhvr>
                                        <p:cTn id="7" dur="500"/>
                                        <p:tgtEl>
                                          <p:spTgt spid="1196040"/>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1196037"/>
                                        </p:tgtEl>
                                        <p:attrNameLst>
                                          <p:attrName>style.visibility</p:attrName>
                                        </p:attrNameLst>
                                      </p:cBhvr>
                                      <p:to>
                                        <p:strVal val="visible"/>
                                      </p:to>
                                    </p:set>
                                    <p:anim calcmode="lin" valueType="num">
                                      <p:cBhvr additive="base">
                                        <p:cTn id="11" dur="500"/>
                                        <p:tgtEl>
                                          <p:spTgt spid="1196037"/>
                                        </p:tgtEl>
                                        <p:attrNameLst>
                                          <p:attrName>ppt_x</p:attrName>
                                        </p:attrNameLst>
                                      </p:cBhvr>
                                      <p:tavLst>
                                        <p:tav tm="0">
                                          <p:val>
                                            <p:strVal val="#ppt_x-#ppt_w*1.125000"/>
                                          </p:val>
                                        </p:tav>
                                        <p:tav tm="100000">
                                          <p:val>
                                            <p:strVal val="#ppt_x"/>
                                          </p:val>
                                        </p:tav>
                                      </p:tavLst>
                                    </p:anim>
                                    <p:animEffect transition="in" filter="wipe(right)">
                                      <p:cBhvr>
                                        <p:cTn id="12" dur="500"/>
                                        <p:tgtEl>
                                          <p:spTgt spid="1196037"/>
                                        </p:tgtEl>
                                      </p:cBhvr>
                                    </p:animEffect>
                                  </p:childTnLst>
                                  <p:subTnLst>
                                    <p:animClr clrSpc="rgb" dir="cw">
                                      <p:cBhvr override="childStyle">
                                        <p:cTn dur="1" fill="hold" display="0" masterRel="nextClick" afterEffect="1"/>
                                        <p:tgtEl>
                                          <p:spTgt spid="1196037"/>
                                        </p:tgtEl>
                                        <p:attrNameLst>
                                          <p:attrName>ppt_c</p:attrName>
                                        </p:attrNameLst>
                                      </p:cBhvr>
                                      <p:to>
                                        <a:srgbClr val="CC6600"/>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96036"/>
                                        </p:tgtEl>
                                        <p:attrNameLst>
                                          <p:attrName>style.visibility</p:attrName>
                                        </p:attrNameLst>
                                      </p:cBhvr>
                                      <p:to>
                                        <p:strVal val="visible"/>
                                      </p:to>
                                    </p:set>
                                    <p:animEffect transition="in" filter="wipe(left)">
                                      <p:cBhvr>
                                        <p:cTn id="17" dur="500"/>
                                        <p:tgtEl>
                                          <p:spTgt spid="11960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96038"/>
                                        </p:tgtEl>
                                        <p:attrNameLst>
                                          <p:attrName>style.visibility</p:attrName>
                                        </p:attrNameLst>
                                      </p:cBhvr>
                                      <p:to>
                                        <p:strVal val="visible"/>
                                      </p:to>
                                    </p:set>
                                    <p:animEffect transition="in" filter="wipe(left)">
                                      <p:cBhvr>
                                        <p:cTn id="22" dur="500"/>
                                        <p:tgtEl>
                                          <p:spTgt spid="1196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6036" grpId="0" autoUpdateAnimBg="0"/>
      <p:bldP spid="1196037" grpId="0" autoUpdateAnimBg="0"/>
      <p:bldP spid="1196038" grpId="0" autoUpdateAnimBg="0"/>
      <p:bldP spid="1196040"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noChangeArrowheads="1"/>
          </p:cNvSpPr>
          <p:nvPr>
            <p:ph type="sldNum" sz="quarter" idx="4294967295"/>
          </p:nvPr>
        </p:nvSpPr>
        <p:spPr>
          <a:xfrm>
            <a:off x="8763000" y="6746385"/>
            <a:ext cx="1905000" cy="304800"/>
          </a:xfrm>
          <a:prstGeom prst="rect">
            <a:avLst/>
          </a:prstGeom>
        </p:spPr>
        <p:txBody>
          <a:bodyPr/>
          <a:lstStyle/>
          <a:p>
            <a:fld id="{0E158EEB-6178-459E-BE98-7221476069D7}" type="slidenum">
              <a:rPr lang="fr-FR"/>
              <a:pPr/>
              <a:t>10</a:t>
            </a:fld>
            <a:endParaRPr lang="fr-FR"/>
          </a:p>
        </p:txBody>
      </p:sp>
      <p:sp>
        <p:nvSpPr>
          <p:cNvPr id="1198084" name="Text Box 4"/>
          <p:cNvSpPr txBox="1">
            <a:spLocks noChangeArrowheads="1"/>
          </p:cNvSpPr>
          <p:nvPr/>
        </p:nvSpPr>
        <p:spPr bwMode="auto">
          <a:xfrm>
            <a:off x="1683895" y="1031385"/>
            <a:ext cx="2895600" cy="119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500"/>
              </a:spcBef>
              <a:spcAft>
                <a:spcPts val="500"/>
              </a:spcAft>
              <a:buClr>
                <a:schemeClr val="tx1"/>
              </a:buClr>
            </a:pPr>
            <a:r>
              <a:rPr lang="fr-FR" sz="3200" dirty="0">
                <a:solidFill>
                  <a:srgbClr val="CC6600"/>
                </a:solidFill>
                <a:effectLst>
                  <a:outerShdw blurRad="38100" dist="38100" dir="2700000" algn="tl">
                    <a:srgbClr val="000000"/>
                  </a:outerShdw>
                </a:effectLst>
                <a:latin typeface="Tahoma" pitchFamily="34" charset="0"/>
              </a:rPr>
              <a:t>Second</a:t>
            </a:r>
          </a:p>
          <a:p>
            <a:pPr algn="ctr">
              <a:spcBef>
                <a:spcPts val="500"/>
              </a:spcBef>
              <a:spcAft>
                <a:spcPts val="500"/>
              </a:spcAft>
              <a:buClr>
                <a:schemeClr val="tx1"/>
              </a:buClr>
            </a:pPr>
            <a:r>
              <a:rPr lang="fr-FR" sz="3200" dirty="0">
                <a:solidFill>
                  <a:srgbClr val="CC6600"/>
                </a:solidFill>
                <a:effectLst>
                  <a:outerShdw blurRad="38100" dist="38100" dir="2700000" algn="tl">
                    <a:srgbClr val="000000"/>
                  </a:outerShdw>
                </a:effectLst>
                <a:latin typeface="Tahoma" pitchFamily="34" charset="0"/>
              </a:rPr>
              <a:t>dimension</a:t>
            </a:r>
            <a:endParaRPr lang="fr-FR" dirty="0">
              <a:effectLst>
                <a:outerShdw blurRad="38100" dist="38100" dir="2700000" algn="tl">
                  <a:srgbClr val="000000"/>
                </a:outerShdw>
              </a:effectLst>
              <a:latin typeface="Tahoma" pitchFamily="34" charset="0"/>
            </a:endParaRPr>
          </a:p>
        </p:txBody>
      </p:sp>
      <p:sp>
        <p:nvSpPr>
          <p:cNvPr id="1198085" name="Text Box 5"/>
          <p:cNvSpPr txBox="1">
            <a:spLocks noChangeArrowheads="1"/>
          </p:cNvSpPr>
          <p:nvPr/>
        </p:nvSpPr>
        <p:spPr bwMode="auto">
          <a:xfrm>
            <a:off x="4343400" y="1107585"/>
            <a:ext cx="1016000" cy="1098550"/>
          </a:xfrm>
          <a:prstGeom prst="rect">
            <a:avLst/>
          </a:prstGeom>
          <a:noFill/>
          <a:ln>
            <a:noFill/>
          </a:ln>
          <a:effectLst>
            <a:outerShdw dist="56796" dir="1593903"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fr-FR" sz="6600"/>
              <a:t>=</a:t>
            </a:r>
            <a:endParaRPr lang="fr-FR" sz="6000">
              <a:solidFill>
                <a:srgbClr val="CC6600"/>
              </a:solidFill>
            </a:endParaRPr>
          </a:p>
        </p:txBody>
      </p:sp>
      <p:sp>
        <p:nvSpPr>
          <p:cNvPr id="1198086" name="Text Box 6"/>
          <p:cNvSpPr txBox="1">
            <a:spLocks noChangeArrowheads="1"/>
          </p:cNvSpPr>
          <p:nvPr/>
        </p:nvSpPr>
        <p:spPr bwMode="auto">
          <a:xfrm>
            <a:off x="5334000" y="802786"/>
            <a:ext cx="5257800" cy="2195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500"/>
              </a:spcBef>
              <a:spcAft>
                <a:spcPts val="500"/>
              </a:spcAft>
              <a:buClr>
                <a:schemeClr val="tx1"/>
              </a:buClr>
            </a:pPr>
            <a:r>
              <a:rPr lang="fr-FR" sz="3200" dirty="0" err="1">
                <a:solidFill>
                  <a:srgbClr val="FFFF00"/>
                </a:solidFill>
                <a:effectLst>
                  <a:outerShdw blurRad="38100" dist="38100" dir="2700000" algn="tl">
                    <a:srgbClr val="000000"/>
                  </a:outerShdw>
                </a:effectLst>
                <a:latin typeface="Tahoma" pitchFamily="34" charset="0"/>
              </a:rPr>
              <a:t>Semantic</a:t>
            </a:r>
            <a:r>
              <a:rPr lang="fr-FR" sz="3200" dirty="0">
                <a:solidFill>
                  <a:srgbClr val="FFFF00"/>
                </a:solidFill>
                <a:effectLst>
                  <a:outerShdw blurRad="38100" dist="38100" dir="2700000" algn="tl">
                    <a:srgbClr val="000000"/>
                  </a:outerShdw>
                </a:effectLst>
                <a:latin typeface="Tahoma" pitchFamily="34" charset="0"/>
              </a:rPr>
              <a:t> Dimension </a:t>
            </a:r>
          </a:p>
          <a:p>
            <a:pPr algn="ctr">
              <a:spcBef>
                <a:spcPts val="500"/>
              </a:spcBef>
              <a:spcAft>
                <a:spcPts val="500"/>
              </a:spcAft>
              <a:buClr>
                <a:schemeClr val="tx1"/>
              </a:buClr>
            </a:pPr>
            <a:r>
              <a:rPr lang="fr-FR" sz="3200" dirty="0">
                <a:solidFill>
                  <a:srgbClr val="FFFF00"/>
                </a:solidFill>
                <a:effectLst>
                  <a:outerShdw blurRad="38100" dist="38100" dir="2700000" algn="tl">
                    <a:srgbClr val="000000"/>
                  </a:outerShdw>
                </a:effectLst>
                <a:latin typeface="Tahoma" pitchFamily="34" charset="0"/>
              </a:rPr>
              <a:t>The </a:t>
            </a:r>
            <a:r>
              <a:rPr lang="fr-FR" sz="3200" dirty="0" err="1">
                <a:solidFill>
                  <a:srgbClr val="FFFF00"/>
                </a:solidFill>
                <a:effectLst>
                  <a:outerShdw blurRad="38100" dist="38100" dir="2700000" algn="tl">
                    <a:srgbClr val="000000"/>
                  </a:outerShdw>
                </a:effectLst>
                <a:latin typeface="Tahoma" pitchFamily="34" charset="0"/>
              </a:rPr>
              <a:t>meaning</a:t>
            </a:r>
            <a:r>
              <a:rPr lang="fr-FR" sz="3200" dirty="0">
                <a:solidFill>
                  <a:srgbClr val="FFFF00"/>
                </a:solidFill>
                <a:effectLst>
                  <a:outerShdw blurRad="38100" dist="38100" dir="2700000" algn="tl">
                    <a:srgbClr val="000000"/>
                  </a:outerShdw>
                </a:effectLst>
                <a:latin typeface="Tahoma" pitchFamily="34" charset="0"/>
              </a:rPr>
              <a:t>, the </a:t>
            </a:r>
            <a:r>
              <a:rPr lang="fr-FR" sz="3200" dirty="0" err="1">
                <a:solidFill>
                  <a:srgbClr val="FFFF00"/>
                </a:solidFill>
                <a:effectLst>
                  <a:outerShdw blurRad="38100" dist="38100" dir="2700000" algn="tl">
                    <a:srgbClr val="000000"/>
                  </a:outerShdw>
                </a:effectLst>
                <a:latin typeface="Tahoma" pitchFamily="34" charset="0"/>
              </a:rPr>
              <a:t>knowledge</a:t>
            </a:r>
            <a:r>
              <a:rPr lang="fr-FR" sz="3200" dirty="0">
                <a:solidFill>
                  <a:srgbClr val="FFFF00"/>
                </a:solidFill>
                <a:effectLst>
                  <a:outerShdw blurRad="38100" dist="38100" dir="2700000" algn="tl">
                    <a:srgbClr val="000000"/>
                  </a:outerShdw>
                </a:effectLst>
                <a:latin typeface="Tahoma" pitchFamily="34" charset="0"/>
              </a:rPr>
              <a:t> </a:t>
            </a:r>
            <a:r>
              <a:rPr lang="fr-FR" sz="3200" dirty="0" err="1">
                <a:solidFill>
                  <a:srgbClr val="FFFF00"/>
                </a:solidFill>
                <a:effectLst>
                  <a:outerShdw blurRad="38100" dist="38100" dir="2700000" algn="tl">
                    <a:srgbClr val="000000"/>
                  </a:outerShdw>
                </a:effectLst>
                <a:latin typeface="Tahoma" pitchFamily="34" charset="0"/>
              </a:rPr>
              <a:t>represented</a:t>
            </a:r>
            <a:endParaRPr lang="fr-FR" sz="3200" dirty="0">
              <a:solidFill>
                <a:srgbClr val="FFFF00"/>
              </a:solidFill>
              <a:effectLst>
                <a:outerShdw blurRad="38100" dist="38100" dir="2700000" algn="tl">
                  <a:srgbClr val="000000"/>
                </a:outerShdw>
              </a:effectLst>
              <a:latin typeface="Tahoma" pitchFamily="34" charset="0"/>
            </a:endParaRPr>
          </a:p>
          <a:p>
            <a:pPr algn="ctr">
              <a:spcBef>
                <a:spcPts val="500"/>
              </a:spcBef>
              <a:spcAft>
                <a:spcPts val="500"/>
              </a:spcAft>
              <a:buClr>
                <a:schemeClr val="tx1"/>
              </a:buClr>
            </a:pPr>
            <a:endParaRPr lang="fr-FR" dirty="0">
              <a:effectLst>
                <a:outerShdw blurRad="38100" dist="38100" dir="2700000" algn="tl">
                  <a:srgbClr val="000000"/>
                </a:outerShdw>
              </a:effectLst>
              <a:latin typeface="Tahoma" pitchFamily="34" charset="0"/>
            </a:endParaRPr>
          </a:p>
        </p:txBody>
      </p:sp>
      <p:sp>
        <p:nvSpPr>
          <p:cNvPr id="1198087" name="Text Box 7"/>
          <p:cNvSpPr txBox="1">
            <a:spLocks noChangeArrowheads="1"/>
          </p:cNvSpPr>
          <p:nvPr/>
        </p:nvSpPr>
        <p:spPr bwMode="auto">
          <a:xfrm>
            <a:off x="5638800" y="2345835"/>
            <a:ext cx="3962400" cy="12054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500"/>
              </a:spcBef>
              <a:spcAft>
                <a:spcPts val="500"/>
              </a:spcAft>
              <a:buClr>
                <a:schemeClr val="tx1"/>
              </a:buClr>
            </a:pPr>
            <a:endParaRPr lang="fr-FR" sz="3200" dirty="0">
              <a:solidFill>
                <a:srgbClr val="FFFF00"/>
              </a:solidFill>
              <a:effectLst>
                <a:outerShdw blurRad="38100" dist="38100" dir="2700000" algn="tl">
                  <a:srgbClr val="000000"/>
                </a:outerShdw>
              </a:effectLst>
              <a:latin typeface="Tahoma" pitchFamily="34" charset="0"/>
            </a:endParaRPr>
          </a:p>
          <a:p>
            <a:pPr algn="ctr">
              <a:spcBef>
                <a:spcPts val="500"/>
              </a:spcBef>
              <a:spcAft>
                <a:spcPts val="500"/>
              </a:spcAft>
              <a:buClr>
                <a:schemeClr val="tx1"/>
              </a:buClr>
            </a:pPr>
            <a:r>
              <a:rPr lang="fr-FR" sz="3200" dirty="0">
                <a:solidFill>
                  <a:srgbClr val="FFFF00"/>
                </a:solidFill>
                <a:effectLst>
                  <a:outerShdw blurRad="38100" dist="38100" dir="2700000" algn="tl">
                    <a:srgbClr val="000000"/>
                  </a:outerShdw>
                </a:effectLst>
                <a:latin typeface="Tahoma" pitchFamily="34" charset="0"/>
              </a:rPr>
              <a:t>« The Information »</a:t>
            </a:r>
            <a:endParaRPr lang="fr-FR" dirty="0">
              <a:effectLst>
                <a:outerShdw blurRad="38100" dist="38100" dir="2700000" algn="tl">
                  <a:srgbClr val="000000"/>
                </a:outerShdw>
              </a:effectLst>
              <a:latin typeface="Tahoma" pitchFamily="34" charset="0"/>
            </a:endParaRPr>
          </a:p>
        </p:txBody>
      </p:sp>
      <p:sp>
        <p:nvSpPr>
          <p:cNvPr id="1198088" name="Text Box 8"/>
          <p:cNvSpPr txBox="1">
            <a:spLocks noChangeArrowheads="1"/>
          </p:cNvSpPr>
          <p:nvPr/>
        </p:nvSpPr>
        <p:spPr bwMode="auto">
          <a:xfrm>
            <a:off x="2286000" y="3799986"/>
            <a:ext cx="8153400" cy="2375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90500"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just">
              <a:spcBef>
                <a:spcPts val="500"/>
              </a:spcBef>
              <a:spcAft>
                <a:spcPts val="500"/>
              </a:spcAft>
              <a:buClr>
                <a:schemeClr val="tx1"/>
              </a:buClr>
            </a:pPr>
            <a:r>
              <a:rPr lang="fr-FR" sz="2800" dirty="0">
                <a:effectLst>
                  <a:outerShdw blurRad="38100" dist="38100" dir="2700000" algn="tl">
                    <a:srgbClr val="000000"/>
                  </a:outerShdw>
                </a:effectLst>
                <a:latin typeface="Tahoma" pitchFamily="34" charset="0"/>
              </a:rPr>
              <a:t>B. </a:t>
            </a:r>
            <a:r>
              <a:rPr lang="fr-FR" sz="2800" dirty="0" err="1">
                <a:effectLst>
                  <a:outerShdw blurRad="38100" dist="38100" dir="2700000" algn="tl">
                    <a:srgbClr val="000000"/>
                  </a:outerShdw>
                </a:effectLst>
                <a:latin typeface="Tahoma" pitchFamily="34" charset="0"/>
              </a:rPr>
              <a:t>Lussato</a:t>
            </a:r>
            <a:r>
              <a:rPr lang="fr-FR" sz="2800" dirty="0">
                <a:effectLst>
                  <a:outerShdw blurRad="38100" dist="38100" dir="2700000" algn="tl">
                    <a:srgbClr val="000000"/>
                  </a:outerShdw>
                </a:effectLst>
                <a:latin typeface="Tahoma" pitchFamily="34" charset="0"/>
              </a:rPr>
              <a:t> in </a:t>
            </a:r>
            <a:r>
              <a:rPr lang="fr-FR" sz="2800" dirty="0">
                <a:solidFill>
                  <a:srgbClr val="FFFF00"/>
                </a:solidFill>
                <a:effectLst>
                  <a:outerShdw blurRad="38100" dist="38100" dir="2700000" algn="tl">
                    <a:srgbClr val="000000"/>
                  </a:outerShdw>
                </a:effectLst>
                <a:latin typeface="Tahoma" pitchFamily="34" charset="0"/>
              </a:rPr>
              <a:t>« </a:t>
            </a:r>
            <a:r>
              <a:rPr lang="fr-FR" sz="2800" dirty="0" err="1">
                <a:solidFill>
                  <a:srgbClr val="FFFF00"/>
                </a:solidFill>
                <a:effectLst>
                  <a:outerShdw blurRad="38100" dist="38100" dir="2700000" algn="tl">
                    <a:srgbClr val="000000"/>
                  </a:outerShdw>
                </a:effectLst>
                <a:latin typeface="Tahoma" pitchFamily="34" charset="0"/>
              </a:rPr>
              <a:t>Theories</a:t>
            </a:r>
            <a:r>
              <a:rPr lang="fr-FR" sz="2800" dirty="0">
                <a:solidFill>
                  <a:srgbClr val="FFFF00"/>
                </a:solidFill>
                <a:effectLst>
                  <a:outerShdw blurRad="38100" dist="38100" dir="2700000" algn="tl">
                    <a:srgbClr val="000000"/>
                  </a:outerShdw>
                </a:effectLst>
                <a:latin typeface="Tahoma" pitchFamily="34" charset="0"/>
              </a:rPr>
              <a:t> about information and the </a:t>
            </a:r>
            <a:r>
              <a:rPr lang="fr-FR" sz="2800" dirty="0" err="1">
                <a:solidFill>
                  <a:srgbClr val="FFFF00"/>
                </a:solidFill>
                <a:effectLst>
                  <a:outerShdw blurRad="38100" dist="38100" dir="2700000" algn="tl">
                    <a:srgbClr val="000000"/>
                  </a:outerShdw>
                </a:effectLst>
                <a:latin typeface="Tahoma" pitchFamily="34" charset="0"/>
              </a:rPr>
              <a:t>human</a:t>
            </a:r>
            <a:r>
              <a:rPr lang="fr-FR" sz="2800" dirty="0">
                <a:solidFill>
                  <a:srgbClr val="FFFF00"/>
                </a:solidFill>
                <a:effectLst>
                  <a:outerShdw blurRad="38100" dist="38100" dir="2700000" algn="tl">
                    <a:srgbClr val="000000"/>
                  </a:outerShdw>
                </a:effectLst>
                <a:latin typeface="Tahoma" pitchFamily="34" charset="0"/>
              </a:rPr>
              <a:t> </a:t>
            </a:r>
            <a:r>
              <a:rPr lang="fr-FR" sz="2800" dirty="0" err="1">
                <a:solidFill>
                  <a:srgbClr val="FFFF00"/>
                </a:solidFill>
                <a:effectLst>
                  <a:outerShdw blurRad="38100" dist="38100" dir="2700000" algn="tl">
                    <a:srgbClr val="000000"/>
                  </a:outerShdw>
                </a:effectLst>
                <a:latin typeface="Tahoma" pitchFamily="34" charset="0"/>
              </a:rPr>
              <a:t>brain</a:t>
            </a:r>
            <a:r>
              <a:rPr lang="fr-FR" sz="2800" dirty="0">
                <a:solidFill>
                  <a:srgbClr val="FFFF00"/>
                </a:solidFill>
                <a:effectLst>
                  <a:outerShdw blurRad="38100" dist="38100" dir="2700000" algn="tl">
                    <a:srgbClr val="000000"/>
                  </a:outerShdw>
                </a:effectLst>
                <a:latin typeface="Tahoma" pitchFamily="34" charset="0"/>
              </a:rPr>
              <a:t> processor « </a:t>
            </a:r>
            <a:endParaRPr lang="fr-FR" sz="2800" dirty="0">
              <a:effectLst>
                <a:outerShdw blurRad="38100" dist="38100" dir="2700000" algn="tl">
                  <a:srgbClr val="000000"/>
                </a:outerShdw>
              </a:effectLst>
              <a:latin typeface="Tahoma" pitchFamily="34" charset="0"/>
            </a:endParaRPr>
          </a:p>
          <a:p>
            <a:pPr algn="just">
              <a:spcBef>
                <a:spcPts val="500"/>
              </a:spcBef>
              <a:spcAft>
                <a:spcPts val="500"/>
              </a:spcAft>
              <a:buClr>
                <a:schemeClr val="tx1"/>
              </a:buClr>
            </a:pPr>
            <a:r>
              <a:rPr lang="fr-FR" sz="2800" dirty="0" smtClean="0">
                <a:effectLst>
                  <a:outerShdw blurRad="38100" dist="38100" dir="2700000" algn="tl">
                    <a:srgbClr val="000000"/>
                  </a:outerShdw>
                </a:effectLst>
                <a:latin typeface="Tahoma" pitchFamily="34" charset="0"/>
              </a:rPr>
              <a:t>« A </a:t>
            </a:r>
            <a:r>
              <a:rPr lang="fr-FR" sz="2800" dirty="0">
                <a:effectLst>
                  <a:outerShdw blurRad="38100" dist="38100" dir="2700000" algn="tl">
                    <a:srgbClr val="000000"/>
                  </a:outerShdw>
                </a:effectLst>
                <a:latin typeface="Tahoma" pitchFamily="34" charset="0"/>
              </a:rPr>
              <a:t>message </a:t>
            </a:r>
            <a:r>
              <a:rPr lang="fr-FR" sz="2800" dirty="0" err="1">
                <a:effectLst>
                  <a:outerShdw blurRad="38100" dist="38100" dir="2700000" algn="tl">
                    <a:srgbClr val="000000"/>
                  </a:outerShdw>
                </a:effectLst>
                <a:latin typeface="Tahoma" pitchFamily="34" charset="0"/>
              </a:rPr>
              <a:t>is</a:t>
            </a:r>
            <a:r>
              <a:rPr lang="fr-FR" sz="2800" dirty="0">
                <a:effectLst>
                  <a:outerShdw blurRad="38100" dist="38100" dir="2700000" algn="tl">
                    <a:srgbClr val="000000"/>
                  </a:outerShdw>
                </a:effectLst>
                <a:latin typeface="Tahoma" pitchFamily="34" charset="0"/>
              </a:rPr>
              <a:t> a set of data </a:t>
            </a:r>
            <a:r>
              <a:rPr lang="fr-FR" sz="2800" dirty="0" err="1">
                <a:effectLst>
                  <a:outerShdw blurRad="38100" dist="38100" dir="2700000" algn="tl">
                    <a:srgbClr val="000000"/>
                  </a:outerShdw>
                </a:effectLst>
                <a:latin typeface="Tahoma" pitchFamily="34" charset="0"/>
              </a:rPr>
              <a:t>which</a:t>
            </a:r>
            <a:r>
              <a:rPr lang="fr-FR" sz="2800" dirty="0">
                <a:effectLst>
                  <a:outerShdw blurRad="38100" dist="38100" dir="2700000" algn="tl">
                    <a:srgbClr val="000000"/>
                  </a:outerShdw>
                </a:effectLst>
                <a:latin typeface="Tahoma" pitchFamily="34" charset="0"/>
              </a:rPr>
              <a:t> </a:t>
            </a:r>
            <a:r>
              <a:rPr lang="fr-FR" sz="2800" dirty="0" err="1">
                <a:effectLst>
                  <a:outerShdw blurRad="38100" dist="38100" dir="2700000" algn="tl">
                    <a:srgbClr val="000000"/>
                  </a:outerShdw>
                </a:effectLst>
                <a:latin typeface="Tahoma" pitchFamily="34" charset="0"/>
              </a:rPr>
              <a:t>will</a:t>
            </a:r>
            <a:r>
              <a:rPr lang="fr-FR" sz="2800" dirty="0">
                <a:effectLst>
                  <a:outerShdw blurRad="38100" dist="38100" dir="2700000" algn="tl">
                    <a:srgbClr val="000000"/>
                  </a:outerShdw>
                </a:effectLst>
                <a:latin typeface="Tahoma" pitchFamily="34" charset="0"/>
              </a:rPr>
              <a:t> </a:t>
            </a:r>
            <a:r>
              <a:rPr lang="fr-FR" sz="2800" dirty="0" err="1">
                <a:effectLst>
                  <a:outerShdw blurRad="38100" dist="38100" dir="2700000" algn="tl">
                    <a:srgbClr val="000000"/>
                  </a:outerShdw>
                </a:effectLst>
                <a:latin typeface="Tahoma" pitchFamily="34" charset="0"/>
              </a:rPr>
              <a:t>only</a:t>
            </a:r>
            <a:r>
              <a:rPr lang="fr-FR" sz="2800" dirty="0">
                <a:effectLst>
                  <a:outerShdw blurRad="38100" dist="38100" dir="2700000" algn="tl">
                    <a:srgbClr val="000000"/>
                  </a:outerShdw>
                </a:effectLst>
                <a:latin typeface="Tahoma" pitchFamily="34" charset="0"/>
              </a:rPr>
              <a:t> </a:t>
            </a:r>
            <a:r>
              <a:rPr lang="fr-FR" sz="2800" dirty="0" err="1">
                <a:effectLst>
                  <a:outerShdw blurRad="38100" dist="38100" dir="2700000" algn="tl">
                    <a:srgbClr val="000000"/>
                  </a:outerShdw>
                </a:effectLst>
                <a:latin typeface="Tahoma" pitchFamily="34" charset="0"/>
              </a:rPr>
              <a:t>become</a:t>
            </a:r>
            <a:r>
              <a:rPr lang="fr-FR" sz="2800" dirty="0">
                <a:effectLst>
                  <a:outerShdw blurRad="38100" dist="38100" dir="2700000" algn="tl">
                    <a:srgbClr val="000000"/>
                  </a:outerShdw>
                </a:effectLst>
                <a:latin typeface="Tahoma" pitchFamily="34" charset="0"/>
              </a:rPr>
              <a:t> information </a:t>
            </a:r>
            <a:r>
              <a:rPr lang="fr-FR" sz="2800" u="sng" dirty="0" err="1">
                <a:solidFill>
                  <a:srgbClr val="FFFF00"/>
                </a:solidFill>
                <a:effectLst>
                  <a:outerShdw blurRad="38100" dist="38100" dir="2700000" algn="tl">
                    <a:srgbClr val="000000"/>
                  </a:outerShdw>
                </a:effectLst>
                <a:latin typeface="Tahoma" pitchFamily="34" charset="0"/>
              </a:rPr>
              <a:t>when</a:t>
            </a:r>
            <a:r>
              <a:rPr lang="fr-FR" sz="2800" u="sng" dirty="0">
                <a:solidFill>
                  <a:srgbClr val="FFFF00"/>
                </a:solidFill>
                <a:effectLst>
                  <a:outerShdw blurRad="38100" dist="38100" dir="2700000" algn="tl">
                    <a:srgbClr val="000000"/>
                  </a:outerShdw>
                </a:effectLst>
                <a:latin typeface="Tahoma" pitchFamily="34" charset="0"/>
              </a:rPr>
              <a:t> the message </a:t>
            </a:r>
            <a:r>
              <a:rPr lang="fr-FR" sz="2800" u="sng" dirty="0" err="1">
                <a:solidFill>
                  <a:srgbClr val="FFFF00"/>
                </a:solidFill>
                <a:effectLst>
                  <a:outerShdw blurRad="38100" dist="38100" dir="2700000" algn="tl">
                    <a:srgbClr val="000000"/>
                  </a:outerShdw>
                </a:effectLst>
                <a:latin typeface="Tahoma" pitchFamily="34" charset="0"/>
              </a:rPr>
              <a:t>is</a:t>
            </a:r>
            <a:r>
              <a:rPr lang="fr-FR" sz="2800" u="sng" dirty="0">
                <a:solidFill>
                  <a:srgbClr val="FFFF00"/>
                </a:solidFill>
                <a:effectLst>
                  <a:outerShdw blurRad="38100" dist="38100" dir="2700000" algn="tl">
                    <a:srgbClr val="000000"/>
                  </a:outerShdw>
                </a:effectLst>
                <a:latin typeface="Tahoma" pitchFamily="34" charset="0"/>
              </a:rPr>
              <a:t> </a:t>
            </a:r>
            <a:r>
              <a:rPr lang="fr-FR" sz="2800" u="sng" dirty="0" err="1">
                <a:solidFill>
                  <a:srgbClr val="FFFF00"/>
                </a:solidFill>
                <a:effectLst>
                  <a:outerShdw blurRad="38100" dist="38100" dir="2700000" algn="tl">
                    <a:srgbClr val="000000"/>
                  </a:outerShdw>
                </a:effectLst>
                <a:latin typeface="Tahoma" pitchFamily="34" charset="0"/>
              </a:rPr>
              <a:t>received</a:t>
            </a:r>
            <a:r>
              <a:rPr lang="fr-FR" sz="2800" u="sng" dirty="0">
                <a:solidFill>
                  <a:srgbClr val="FFFF00"/>
                </a:solidFill>
                <a:effectLst>
                  <a:outerShdw blurRad="38100" dist="38100" dir="2700000" algn="tl">
                    <a:srgbClr val="000000"/>
                  </a:outerShdw>
                </a:effectLst>
                <a:latin typeface="Tahoma" pitchFamily="34" charset="0"/>
              </a:rPr>
              <a:t> and </a:t>
            </a:r>
            <a:r>
              <a:rPr lang="fr-FR" sz="2800" u="sng" dirty="0" err="1" smtClean="0">
                <a:solidFill>
                  <a:srgbClr val="FFFF00"/>
                </a:solidFill>
                <a:effectLst>
                  <a:outerShdw blurRad="38100" dist="38100" dir="2700000" algn="tl">
                    <a:srgbClr val="000000"/>
                  </a:outerShdw>
                </a:effectLst>
                <a:latin typeface="Tahoma" pitchFamily="34" charset="0"/>
              </a:rPr>
              <a:t>understood</a:t>
            </a:r>
            <a:r>
              <a:rPr lang="fr-FR" sz="2800" dirty="0" smtClean="0">
                <a:effectLst>
                  <a:outerShdw blurRad="38100" dist="38100" dir="2700000" algn="tl">
                    <a:srgbClr val="000000"/>
                  </a:outerShdw>
                </a:effectLst>
                <a:latin typeface="Tahoma" pitchFamily="34" charset="0"/>
              </a:rPr>
              <a:t> »</a:t>
            </a:r>
            <a:endParaRPr lang="fr-FR" sz="2800" dirty="0">
              <a:solidFill>
                <a:srgbClr val="FFFF00"/>
              </a:solidFill>
              <a:effectLst>
                <a:outerShdw blurRad="38100" dist="38100" dir="2700000" algn="tl">
                  <a:srgbClr val="000000"/>
                </a:outerShdw>
              </a:effectLst>
              <a:latin typeface="Tahoma" pitchFamily="34" charset="0"/>
            </a:endParaRPr>
          </a:p>
        </p:txBody>
      </p:sp>
      <p:sp>
        <p:nvSpPr>
          <p:cNvPr id="3" name="Footer Placeholder 2"/>
          <p:cNvSpPr>
            <a:spLocks noGrp="1"/>
          </p:cNvSpPr>
          <p:nvPr>
            <p:ph type="ftr" sz="quarter" idx="11"/>
          </p:nvPr>
        </p:nvSpPr>
        <p:spPr>
          <a:xfrm>
            <a:off x="4038600" y="6549535"/>
            <a:ext cx="4114800" cy="365125"/>
          </a:xfrm>
        </p:spPr>
        <p:txBody>
          <a:bodyPr/>
          <a:lstStyle/>
          <a:p>
            <a:pPr>
              <a:defRPr/>
            </a:pPr>
            <a:r>
              <a:rPr lang="en-US" smtClean="0"/>
              <a:t>Isabelle Bichindaritz, SUNY Oswego</a:t>
            </a:r>
            <a:endParaRPr lang="en-US" dirty="0"/>
          </a:p>
        </p:txBody>
      </p:sp>
      <p:sp>
        <p:nvSpPr>
          <p:cNvPr id="10" name="Rectangle 2"/>
          <p:cNvSpPr txBox="1">
            <a:spLocks noChangeArrowheads="1"/>
          </p:cNvSpPr>
          <p:nvPr/>
        </p:nvSpPr>
        <p:spPr>
          <a:xfrm>
            <a:off x="2053394" y="15878"/>
            <a:ext cx="8983800" cy="952499"/>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b="1" dirty="0" smtClean="0">
                <a:effectLst>
                  <a:outerShdw blurRad="38100" dist="38100" dir="2700000" algn="tl">
                    <a:srgbClr val="000000">
                      <a:alpha val="43137"/>
                    </a:srgbClr>
                  </a:outerShdw>
                </a:effectLst>
              </a:rPr>
              <a:t>Locating and Downloading Datasets</a:t>
            </a:r>
          </a:p>
        </p:txBody>
      </p:sp>
    </p:spTree>
    <p:extLst>
      <p:ext uri="{BB962C8B-B14F-4D97-AF65-F5344CB8AC3E}">
        <p14:creationId xmlns:p14="http://schemas.microsoft.com/office/powerpoint/2010/main" val="40573429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98084"/>
                                        </p:tgtEl>
                                        <p:attrNameLst>
                                          <p:attrName>style.visibility</p:attrName>
                                        </p:attrNameLst>
                                      </p:cBhvr>
                                      <p:to>
                                        <p:strVal val="visible"/>
                                      </p:to>
                                    </p:set>
                                    <p:animEffect transition="in" filter="wipe(left)">
                                      <p:cBhvr>
                                        <p:cTn id="7" dur="500"/>
                                        <p:tgtEl>
                                          <p:spTgt spid="1198084"/>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1198085"/>
                                        </p:tgtEl>
                                        <p:attrNameLst>
                                          <p:attrName>style.visibility</p:attrName>
                                        </p:attrNameLst>
                                      </p:cBhvr>
                                      <p:to>
                                        <p:strVal val="visible"/>
                                      </p:to>
                                    </p:set>
                                    <p:anim calcmode="lin" valueType="num">
                                      <p:cBhvr additive="base">
                                        <p:cTn id="11" dur="500"/>
                                        <p:tgtEl>
                                          <p:spTgt spid="1198085"/>
                                        </p:tgtEl>
                                        <p:attrNameLst>
                                          <p:attrName>ppt_x</p:attrName>
                                        </p:attrNameLst>
                                      </p:cBhvr>
                                      <p:tavLst>
                                        <p:tav tm="0">
                                          <p:val>
                                            <p:strVal val="#ppt_x-#ppt_w*1.125000"/>
                                          </p:val>
                                        </p:tav>
                                        <p:tav tm="100000">
                                          <p:val>
                                            <p:strVal val="#ppt_x"/>
                                          </p:val>
                                        </p:tav>
                                      </p:tavLst>
                                    </p:anim>
                                    <p:animEffect transition="in" filter="wipe(right)">
                                      <p:cBhvr>
                                        <p:cTn id="12" dur="500"/>
                                        <p:tgtEl>
                                          <p:spTgt spid="1198085"/>
                                        </p:tgtEl>
                                      </p:cBhvr>
                                    </p:animEffect>
                                  </p:childTnLst>
                                  <p:subTnLst>
                                    <p:animClr clrSpc="rgb" dir="cw">
                                      <p:cBhvr override="childStyle">
                                        <p:cTn dur="1" fill="hold" display="0" masterRel="nextClick" afterEffect="1"/>
                                        <p:tgtEl>
                                          <p:spTgt spid="1198085"/>
                                        </p:tgtEl>
                                        <p:attrNameLst>
                                          <p:attrName>ppt_c</p:attrName>
                                        </p:attrNameLst>
                                      </p:cBhvr>
                                      <p:to>
                                        <a:srgbClr val="CC6600"/>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98086"/>
                                        </p:tgtEl>
                                        <p:attrNameLst>
                                          <p:attrName>style.visibility</p:attrName>
                                        </p:attrNameLst>
                                      </p:cBhvr>
                                      <p:to>
                                        <p:strVal val="visible"/>
                                      </p:to>
                                    </p:set>
                                    <p:animEffect transition="in" filter="wipe(left)">
                                      <p:cBhvr>
                                        <p:cTn id="17" dur="500"/>
                                        <p:tgtEl>
                                          <p:spTgt spid="11980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98087"/>
                                        </p:tgtEl>
                                        <p:attrNameLst>
                                          <p:attrName>style.visibility</p:attrName>
                                        </p:attrNameLst>
                                      </p:cBhvr>
                                      <p:to>
                                        <p:strVal val="visible"/>
                                      </p:to>
                                    </p:set>
                                    <p:animEffect transition="in" filter="wipe(left)">
                                      <p:cBhvr>
                                        <p:cTn id="22" dur="500"/>
                                        <p:tgtEl>
                                          <p:spTgt spid="11980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98088"/>
                                        </p:tgtEl>
                                        <p:attrNameLst>
                                          <p:attrName>style.visibility</p:attrName>
                                        </p:attrNameLst>
                                      </p:cBhvr>
                                      <p:to>
                                        <p:strVal val="visible"/>
                                      </p:to>
                                    </p:set>
                                    <p:animEffect transition="in" filter="wipe(left)">
                                      <p:cBhvr>
                                        <p:cTn id="27" dur="500"/>
                                        <p:tgtEl>
                                          <p:spTgt spid="11980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084" grpId="0" autoUpdateAnimBg="0"/>
      <p:bldP spid="1198085" grpId="0" autoUpdateAnimBg="0"/>
      <p:bldP spid="1198086" grpId="0" autoUpdateAnimBg="0"/>
      <p:bldP spid="1198087" grpId="0" autoUpdateAnimBg="0"/>
      <p:bldP spid="1198088"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4294967295"/>
          </p:nvPr>
        </p:nvSpPr>
        <p:spPr>
          <a:xfrm>
            <a:off x="8763000" y="6553200"/>
            <a:ext cx="1905000" cy="304800"/>
          </a:xfrm>
          <a:prstGeom prst="rect">
            <a:avLst/>
          </a:prstGeom>
        </p:spPr>
        <p:txBody>
          <a:bodyPr/>
          <a:lstStyle/>
          <a:p>
            <a:fld id="{7AE29AE4-ED6C-4B74-B839-BDD93834C3BD}" type="slidenum">
              <a:rPr lang="fr-FR"/>
              <a:pPr/>
              <a:t>11</a:t>
            </a:fld>
            <a:endParaRPr lang="fr-FR"/>
          </a:p>
        </p:txBody>
      </p:sp>
      <p:sp>
        <p:nvSpPr>
          <p:cNvPr id="1200132" name="Text Box 4"/>
          <p:cNvSpPr txBox="1">
            <a:spLocks noChangeArrowheads="1"/>
          </p:cNvSpPr>
          <p:nvPr/>
        </p:nvSpPr>
        <p:spPr bwMode="auto">
          <a:xfrm>
            <a:off x="5359400" y="3217863"/>
            <a:ext cx="5257800" cy="1451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500"/>
              </a:spcBef>
              <a:spcAft>
                <a:spcPts val="500"/>
              </a:spcAft>
              <a:buClr>
                <a:schemeClr val="tx1"/>
              </a:buClr>
            </a:pPr>
            <a:r>
              <a:rPr lang="fr-FR" sz="3200" dirty="0">
                <a:solidFill>
                  <a:srgbClr val="FFFF00"/>
                </a:solidFill>
                <a:effectLst>
                  <a:outerShdw blurRad="38100" dist="38100" dir="2700000" algn="tl">
                    <a:srgbClr val="000000"/>
                  </a:outerShdw>
                </a:effectLst>
                <a:latin typeface="Tahoma" pitchFamily="34" charset="0"/>
              </a:rPr>
              <a:t>The utility of information</a:t>
            </a:r>
            <a:endParaRPr lang="fr-FR" dirty="0">
              <a:solidFill>
                <a:srgbClr val="FFFF00"/>
              </a:solidFill>
              <a:effectLst>
                <a:outerShdw blurRad="38100" dist="38100" dir="2700000" algn="tl">
                  <a:srgbClr val="000000"/>
                </a:outerShdw>
              </a:effectLst>
              <a:latin typeface="Tahoma" pitchFamily="34" charset="0"/>
            </a:endParaRPr>
          </a:p>
          <a:p>
            <a:pPr algn="ctr">
              <a:spcBef>
                <a:spcPts val="500"/>
              </a:spcBef>
              <a:spcAft>
                <a:spcPts val="500"/>
              </a:spcAft>
              <a:buClr>
                <a:schemeClr val="tx1"/>
              </a:buClr>
            </a:pPr>
            <a:r>
              <a:rPr lang="fr-FR" dirty="0" err="1">
                <a:solidFill>
                  <a:srgbClr val="FFFF00"/>
                </a:solidFill>
                <a:effectLst>
                  <a:outerShdw blurRad="38100" dist="38100" dir="2700000" algn="tl">
                    <a:srgbClr val="000000"/>
                  </a:outerShdw>
                </a:effectLst>
                <a:latin typeface="Tahoma" pitchFamily="34" charset="0"/>
              </a:rPr>
              <a:t>Does</a:t>
            </a:r>
            <a:r>
              <a:rPr lang="fr-FR" dirty="0">
                <a:solidFill>
                  <a:srgbClr val="FFFF00"/>
                </a:solidFill>
                <a:effectLst>
                  <a:outerShdw blurRad="38100" dist="38100" dir="2700000" algn="tl">
                    <a:srgbClr val="000000"/>
                  </a:outerShdw>
                </a:effectLst>
                <a:latin typeface="Tahoma" pitchFamily="34" charset="0"/>
              </a:rPr>
              <a:t> information </a:t>
            </a:r>
            <a:r>
              <a:rPr lang="fr-FR" dirty="0" err="1">
                <a:solidFill>
                  <a:srgbClr val="FFFF00"/>
                </a:solidFill>
                <a:effectLst>
                  <a:outerShdw blurRad="38100" dist="38100" dir="2700000" algn="tl">
                    <a:srgbClr val="000000"/>
                  </a:outerShdw>
                </a:effectLst>
                <a:latin typeface="Tahoma" pitchFamily="34" charset="0"/>
              </a:rPr>
              <a:t>transform</a:t>
            </a:r>
            <a:r>
              <a:rPr lang="fr-FR" dirty="0">
                <a:solidFill>
                  <a:srgbClr val="FFFF00"/>
                </a:solidFill>
                <a:effectLst>
                  <a:outerShdw blurRad="38100" dist="38100" dir="2700000" algn="tl">
                    <a:srgbClr val="000000"/>
                  </a:outerShdw>
                </a:effectLst>
                <a:latin typeface="Tahoma" pitchFamily="34" charset="0"/>
              </a:rPr>
              <a:t> the </a:t>
            </a:r>
            <a:r>
              <a:rPr lang="fr-FR" dirty="0" err="1">
                <a:solidFill>
                  <a:srgbClr val="FFFF00"/>
                </a:solidFill>
                <a:effectLst>
                  <a:outerShdw blurRad="38100" dist="38100" dir="2700000" algn="tl">
                    <a:srgbClr val="000000"/>
                  </a:outerShdw>
                </a:effectLst>
                <a:latin typeface="Tahoma" pitchFamily="34" charset="0"/>
              </a:rPr>
              <a:t>representation</a:t>
            </a:r>
            <a:r>
              <a:rPr lang="fr-FR" dirty="0">
                <a:solidFill>
                  <a:srgbClr val="FFFF00"/>
                </a:solidFill>
                <a:effectLst>
                  <a:outerShdw blurRad="38100" dist="38100" dir="2700000" algn="tl">
                    <a:srgbClr val="000000"/>
                  </a:outerShdw>
                </a:effectLst>
                <a:latin typeface="Tahoma" pitchFamily="34" charset="0"/>
              </a:rPr>
              <a:t> of </a:t>
            </a:r>
            <a:r>
              <a:rPr lang="fr-FR" dirty="0" err="1">
                <a:solidFill>
                  <a:srgbClr val="FFFF00"/>
                </a:solidFill>
                <a:effectLst>
                  <a:outerShdw blurRad="38100" dist="38100" dir="2700000" algn="tl">
                    <a:srgbClr val="000000"/>
                  </a:outerShdw>
                </a:effectLst>
                <a:latin typeface="Tahoma" pitchFamily="34" charset="0"/>
              </a:rPr>
              <a:t>knowledge</a:t>
            </a:r>
            <a:r>
              <a:rPr lang="fr-FR" dirty="0">
                <a:solidFill>
                  <a:srgbClr val="FFFF00"/>
                </a:solidFill>
                <a:effectLst>
                  <a:outerShdw blurRad="38100" dist="38100" dir="2700000" algn="tl">
                    <a:srgbClr val="000000"/>
                  </a:outerShdw>
                </a:effectLst>
                <a:latin typeface="Tahoma" pitchFamily="34" charset="0"/>
              </a:rPr>
              <a:t> ? </a:t>
            </a:r>
            <a:endParaRPr lang="fr-FR" dirty="0">
              <a:latin typeface="Tahoma" pitchFamily="34" charset="0"/>
            </a:endParaRPr>
          </a:p>
        </p:txBody>
      </p:sp>
      <p:sp>
        <p:nvSpPr>
          <p:cNvPr id="1200133" name="Text Box 5"/>
          <p:cNvSpPr txBox="1">
            <a:spLocks noChangeArrowheads="1"/>
          </p:cNvSpPr>
          <p:nvPr/>
        </p:nvSpPr>
        <p:spPr bwMode="auto">
          <a:xfrm>
            <a:off x="4343400" y="3436938"/>
            <a:ext cx="1016000" cy="1098550"/>
          </a:xfrm>
          <a:prstGeom prst="rect">
            <a:avLst/>
          </a:prstGeom>
          <a:noFill/>
          <a:ln>
            <a:noFill/>
          </a:ln>
          <a:effectLst>
            <a:outerShdw dist="56796" dir="1593903"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fr-FR" sz="6600"/>
              <a:t>=</a:t>
            </a:r>
            <a:endParaRPr lang="fr-FR" sz="6000">
              <a:solidFill>
                <a:srgbClr val="CC6600"/>
              </a:solidFill>
            </a:endParaRPr>
          </a:p>
        </p:txBody>
      </p:sp>
      <p:sp>
        <p:nvSpPr>
          <p:cNvPr id="1200135" name="Text Box 7"/>
          <p:cNvSpPr txBox="1">
            <a:spLocks noChangeArrowheads="1"/>
          </p:cNvSpPr>
          <p:nvPr/>
        </p:nvSpPr>
        <p:spPr bwMode="auto">
          <a:xfrm>
            <a:off x="732019" y="3217863"/>
            <a:ext cx="3429000" cy="131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500"/>
              </a:spcBef>
              <a:spcAft>
                <a:spcPts val="500"/>
              </a:spcAft>
              <a:buClr>
                <a:schemeClr val="tx1"/>
              </a:buClr>
            </a:pPr>
            <a:r>
              <a:rPr lang="fr-FR" sz="3600" dirty="0" err="1">
                <a:solidFill>
                  <a:srgbClr val="CC6600"/>
                </a:solidFill>
                <a:effectLst>
                  <a:outerShdw blurRad="38100" dist="38100" dir="2700000" algn="tl">
                    <a:srgbClr val="000000"/>
                  </a:outerShdw>
                </a:effectLst>
                <a:latin typeface="Tahoma" pitchFamily="34" charset="0"/>
              </a:rPr>
              <a:t>Third</a:t>
            </a:r>
            <a:endParaRPr lang="fr-FR" sz="3600" dirty="0">
              <a:solidFill>
                <a:srgbClr val="CC6600"/>
              </a:solidFill>
              <a:effectLst>
                <a:outerShdw blurRad="38100" dist="38100" dir="2700000" algn="tl">
                  <a:srgbClr val="000000"/>
                </a:outerShdw>
              </a:effectLst>
              <a:latin typeface="Tahoma" pitchFamily="34" charset="0"/>
            </a:endParaRPr>
          </a:p>
          <a:p>
            <a:pPr algn="ctr">
              <a:spcBef>
                <a:spcPts val="500"/>
              </a:spcBef>
              <a:spcAft>
                <a:spcPts val="500"/>
              </a:spcAft>
              <a:buClr>
                <a:schemeClr val="tx1"/>
              </a:buClr>
            </a:pPr>
            <a:r>
              <a:rPr lang="fr-FR" sz="3600" dirty="0">
                <a:solidFill>
                  <a:srgbClr val="CC6600"/>
                </a:solidFill>
                <a:effectLst>
                  <a:outerShdw blurRad="38100" dist="38100" dir="2700000" algn="tl">
                    <a:srgbClr val="000000"/>
                  </a:outerShdw>
                </a:effectLst>
                <a:latin typeface="Tahoma" pitchFamily="34" charset="0"/>
              </a:rPr>
              <a:t>dimension</a:t>
            </a:r>
            <a:endParaRPr lang="fr-FR" sz="3600" dirty="0">
              <a:effectLst>
                <a:outerShdw blurRad="38100" dist="38100" dir="2700000" algn="tl">
                  <a:srgbClr val="000000"/>
                </a:outerShdw>
              </a:effectLst>
              <a:latin typeface="Tahoma" pitchFamily="34" charset="0"/>
            </a:endParaRPr>
          </a:p>
        </p:txBody>
      </p:sp>
      <p:sp>
        <p:nvSpPr>
          <p:cNvPr id="3" name="Footer Placeholder 2"/>
          <p:cNvSpPr>
            <a:spLocks noGrp="1"/>
          </p:cNvSpPr>
          <p:nvPr>
            <p:ph type="ftr" sz="quarter" idx="11"/>
          </p:nvPr>
        </p:nvSpPr>
        <p:spPr/>
        <p:txBody>
          <a:bodyPr/>
          <a:lstStyle/>
          <a:p>
            <a:pPr>
              <a:defRPr/>
            </a:pPr>
            <a:r>
              <a:rPr lang="en-US" smtClean="0"/>
              <a:t>Isabelle Bichindaritz, SUNY Oswego</a:t>
            </a:r>
            <a:endParaRPr lang="en-US" dirty="0"/>
          </a:p>
        </p:txBody>
      </p:sp>
      <p:sp>
        <p:nvSpPr>
          <p:cNvPr id="8" name="Rectangle 2"/>
          <p:cNvSpPr txBox="1">
            <a:spLocks noChangeArrowheads="1"/>
          </p:cNvSpPr>
          <p:nvPr/>
        </p:nvSpPr>
        <p:spPr>
          <a:xfrm>
            <a:off x="2053394" y="15878"/>
            <a:ext cx="8983800" cy="952499"/>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b="1" dirty="0" smtClean="0">
                <a:effectLst>
                  <a:outerShdw blurRad="38100" dist="38100" dir="2700000" algn="tl">
                    <a:srgbClr val="000000">
                      <a:alpha val="43137"/>
                    </a:srgbClr>
                  </a:outerShdw>
                </a:effectLst>
              </a:rPr>
              <a:t>Locating and Downloading Datasets</a:t>
            </a:r>
          </a:p>
        </p:txBody>
      </p:sp>
    </p:spTree>
    <p:extLst>
      <p:ext uri="{BB962C8B-B14F-4D97-AF65-F5344CB8AC3E}">
        <p14:creationId xmlns:p14="http://schemas.microsoft.com/office/powerpoint/2010/main" val="15466345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00135"/>
                                        </p:tgtEl>
                                        <p:attrNameLst>
                                          <p:attrName>style.visibility</p:attrName>
                                        </p:attrNameLst>
                                      </p:cBhvr>
                                      <p:to>
                                        <p:strVal val="visible"/>
                                      </p:to>
                                    </p:set>
                                    <p:animEffect transition="in" filter="wipe(left)">
                                      <p:cBhvr>
                                        <p:cTn id="7" dur="500"/>
                                        <p:tgtEl>
                                          <p:spTgt spid="1200135"/>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1200133"/>
                                        </p:tgtEl>
                                        <p:attrNameLst>
                                          <p:attrName>style.visibility</p:attrName>
                                        </p:attrNameLst>
                                      </p:cBhvr>
                                      <p:to>
                                        <p:strVal val="visible"/>
                                      </p:to>
                                    </p:set>
                                    <p:anim calcmode="lin" valueType="num">
                                      <p:cBhvr additive="base">
                                        <p:cTn id="11" dur="500"/>
                                        <p:tgtEl>
                                          <p:spTgt spid="1200133"/>
                                        </p:tgtEl>
                                        <p:attrNameLst>
                                          <p:attrName>ppt_x</p:attrName>
                                        </p:attrNameLst>
                                      </p:cBhvr>
                                      <p:tavLst>
                                        <p:tav tm="0">
                                          <p:val>
                                            <p:strVal val="#ppt_x-#ppt_w*1.125000"/>
                                          </p:val>
                                        </p:tav>
                                        <p:tav tm="100000">
                                          <p:val>
                                            <p:strVal val="#ppt_x"/>
                                          </p:val>
                                        </p:tav>
                                      </p:tavLst>
                                    </p:anim>
                                    <p:animEffect transition="in" filter="wipe(right)">
                                      <p:cBhvr>
                                        <p:cTn id="12" dur="500"/>
                                        <p:tgtEl>
                                          <p:spTgt spid="1200133"/>
                                        </p:tgtEl>
                                      </p:cBhvr>
                                    </p:animEffect>
                                  </p:childTnLst>
                                  <p:subTnLst>
                                    <p:animClr clrSpc="rgb" dir="cw">
                                      <p:cBhvr override="childStyle">
                                        <p:cTn dur="1" fill="hold" display="0" masterRel="nextClick" afterEffect="1"/>
                                        <p:tgtEl>
                                          <p:spTgt spid="1200133"/>
                                        </p:tgtEl>
                                        <p:attrNameLst>
                                          <p:attrName>ppt_c</p:attrName>
                                        </p:attrNameLst>
                                      </p:cBhvr>
                                      <p:to>
                                        <a:srgbClr val="CC6600"/>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00132"/>
                                        </p:tgtEl>
                                        <p:attrNameLst>
                                          <p:attrName>style.visibility</p:attrName>
                                        </p:attrNameLst>
                                      </p:cBhvr>
                                      <p:to>
                                        <p:strVal val="visible"/>
                                      </p:to>
                                    </p:set>
                                    <p:animEffect transition="in" filter="wipe(left)">
                                      <p:cBhvr>
                                        <p:cTn id="17" dur="500"/>
                                        <p:tgtEl>
                                          <p:spTgt spid="1200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0132" grpId="0" autoUpdateAnimBg="0"/>
      <p:bldP spid="1200133" grpId="0" autoUpdateAnimBg="0"/>
      <p:bldP spid="1200135"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7"/>
          <p:cNvSpPr>
            <a:spLocks noGrp="1" noChangeArrowheads="1"/>
          </p:cNvSpPr>
          <p:nvPr>
            <p:ph type="sldNum" sz="quarter" idx="4294967295"/>
          </p:nvPr>
        </p:nvSpPr>
        <p:spPr>
          <a:xfrm>
            <a:off x="8763000" y="6553200"/>
            <a:ext cx="1905000" cy="304800"/>
          </a:xfrm>
          <a:prstGeom prst="rect">
            <a:avLst/>
          </a:prstGeom>
        </p:spPr>
        <p:txBody>
          <a:bodyPr/>
          <a:lstStyle/>
          <a:p>
            <a:fld id="{5989A9EB-4F84-4264-B8F8-816BAB430A31}" type="slidenum">
              <a:rPr lang="fr-FR"/>
              <a:pPr/>
              <a:t>12</a:t>
            </a:fld>
            <a:endParaRPr lang="fr-FR"/>
          </a:p>
        </p:txBody>
      </p:sp>
      <p:sp>
        <p:nvSpPr>
          <p:cNvPr id="1202180" name="Text Box 4"/>
          <p:cNvSpPr txBox="1">
            <a:spLocks noChangeArrowheads="1"/>
          </p:cNvSpPr>
          <p:nvPr/>
        </p:nvSpPr>
        <p:spPr bwMode="auto">
          <a:xfrm>
            <a:off x="4210571" y="2228775"/>
            <a:ext cx="2209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500"/>
              </a:spcBef>
              <a:spcAft>
                <a:spcPts val="500"/>
              </a:spcAft>
              <a:buClr>
                <a:schemeClr val="tx1"/>
              </a:buClr>
            </a:pPr>
            <a:r>
              <a:rPr lang="fr-FR" sz="3200" dirty="0" err="1">
                <a:solidFill>
                  <a:srgbClr val="FFFF00"/>
                </a:solidFill>
                <a:effectLst>
                  <a:outerShdw blurRad="38100" dist="38100" dir="2700000" algn="tl">
                    <a:srgbClr val="000000"/>
                  </a:outerShdw>
                </a:effectLst>
                <a:latin typeface="Tahoma" pitchFamily="34" charset="0"/>
              </a:rPr>
              <a:t>Datum</a:t>
            </a:r>
            <a:endParaRPr lang="fr-FR" dirty="0">
              <a:latin typeface="Tahoma" pitchFamily="34" charset="0"/>
            </a:endParaRPr>
          </a:p>
        </p:txBody>
      </p:sp>
      <p:sp>
        <p:nvSpPr>
          <p:cNvPr id="1202181" name="Text Box 5"/>
          <p:cNvSpPr txBox="1">
            <a:spLocks noChangeArrowheads="1"/>
          </p:cNvSpPr>
          <p:nvPr/>
        </p:nvSpPr>
        <p:spPr bwMode="auto">
          <a:xfrm>
            <a:off x="3485749" y="1998587"/>
            <a:ext cx="1016000" cy="1098550"/>
          </a:xfrm>
          <a:prstGeom prst="rect">
            <a:avLst/>
          </a:prstGeom>
          <a:noFill/>
          <a:ln>
            <a:noFill/>
          </a:ln>
          <a:effectLst>
            <a:outerShdw dist="56796" dir="1593903"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fr-FR" sz="6600" dirty="0"/>
              <a:t>=</a:t>
            </a:r>
            <a:endParaRPr lang="fr-FR" sz="6000" dirty="0">
              <a:solidFill>
                <a:srgbClr val="CC6600"/>
              </a:solidFill>
            </a:endParaRPr>
          </a:p>
        </p:txBody>
      </p:sp>
      <p:sp>
        <p:nvSpPr>
          <p:cNvPr id="1202182" name="Text Box 6"/>
          <p:cNvSpPr txBox="1">
            <a:spLocks noChangeArrowheads="1"/>
          </p:cNvSpPr>
          <p:nvPr/>
        </p:nvSpPr>
        <p:spPr bwMode="auto">
          <a:xfrm>
            <a:off x="588364" y="2216738"/>
            <a:ext cx="3124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500"/>
              </a:spcBef>
              <a:spcAft>
                <a:spcPts val="500"/>
              </a:spcAft>
              <a:buClr>
                <a:schemeClr val="tx1"/>
              </a:buClr>
            </a:pPr>
            <a:r>
              <a:rPr lang="fr-FR" sz="3200" dirty="0">
                <a:solidFill>
                  <a:srgbClr val="FFFF00"/>
                </a:solidFill>
                <a:effectLst>
                  <a:outerShdw blurRad="38100" dist="38100" dir="2700000" algn="tl">
                    <a:srgbClr val="000000"/>
                  </a:outerShdw>
                </a:effectLst>
                <a:latin typeface="Tahoma" pitchFamily="34" charset="0"/>
              </a:rPr>
              <a:t>Information</a:t>
            </a:r>
            <a:endParaRPr lang="fr-FR" dirty="0">
              <a:effectLst>
                <a:outerShdw blurRad="38100" dist="38100" dir="2700000" algn="tl">
                  <a:srgbClr val="000000"/>
                </a:outerShdw>
              </a:effectLst>
              <a:latin typeface="Tahoma" pitchFamily="34" charset="0"/>
            </a:endParaRPr>
          </a:p>
        </p:txBody>
      </p:sp>
      <p:sp>
        <p:nvSpPr>
          <p:cNvPr id="1202183" name="Text Box 7"/>
          <p:cNvSpPr txBox="1">
            <a:spLocks noChangeArrowheads="1"/>
          </p:cNvSpPr>
          <p:nvPr/>
        </p:nvSpPr>
        <p:spPr bwMode="auto">
          <a:xfrm>
            <a:off x="7737304" y="2245068"/>
            <a:ext cx="380637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500"/>
              </a:spcBef>
              <a:spcAft>
                <a:spcPts val="500"/>
              </a:spcAft>
              <a:buClr>
                <a:schemeClr val="tx1"/>
              </a:buClr>
            </a:pPr>
            <a:r>
              <a:rPr lang="fr-FR" sz="2800" dirty="0" err="1">
                <a:solidFill>
                  <a:srgbClr val="FFFF00"/>
                </a:solidFill>
                <a:effectLst>
                  <a:outerShdw blurRad="38100" dist="38100" dir="2700000" algn="tl">
                    <a:srgbClr val="000000"/>
                  </a:outerShdw>
                </a:effectLst>
                <a:latin typeface="Tahoma" pitchFamily="34" charset="0"/>
              </a:rPr>
              <a:t>Semantic</a:t>
            </a:r>
            <a:r>
              <a:rPr lang="fr-FR" sz="2800" dirty="0">
                <a:solidFill>
                  <a:srgbClr val="FFFF00"/>
                </a:solidFill>
                <a:effectLst>
                  <a:outerShdw blurRad="38100" dist="38100" dir="2700000" algn="tl">
                    <a:srgbClr val="000000"/>
                  </a:outerShdw>
                </a:effectLst>
                <a:latin typeface="Tahoma" pitchFamily="34" charset="0"/>
              </a:rPr>
              <a:t> dimension</a:t>
            </a:r>
            <a:endParaRPr lang="fr-FR" sz="2800" dirty="0">
              <a:latin typeface="Tahoma" pitchFamily="34" charset="0"/>
            </a:endParaRPr>
          </a:p>
        </p:txBody>
      </p:sp>
      <p:sp>
        <p:nvSpPr>
          <p:cNvPr id="1202184" name="Text Box 8"/>
          <p:cNvSpPr txBox="1">
            <a:spLocks noChangeArrowheads="1"/>
          </p:cNvSpPr>
          <p:nvPr/>
        </p:nvSpPr>
        <p:spPr bwMode="auto">
          <a:xfrm>
            <a:off x="6504482" y="1957182"/>
            <a:ext cx="1016000" cy="1098550"/>
          </a:xfrm>
          <a:prstGeom prst="rect">
            <a:avLst/>
          </a:prstGeom>
          <a:noFill/>
          <a:ln>
            <a:noFill/>
          </a:ln>
          <a:effectLst>
            <a:outerShdw dist="56796" dir="1593903"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a:r>
              <a:rPr lang="fr-FR" sz="6600" dirty="0"/>
              <a:t>+</a:t>
            </a:r>
            <a:endParaRPr lang="fr-FR" sz="6000" dirty="0">
              <a:solidFill>
                <a:srgbClr val="CC6600"/>
              </a:solidFill>
            </a:endParaRPr>
          </a:p>
        </p:txBody>
      </p:sp>
      <p:sp>
        <p:nvSpPr>
          <p:cNvPr id="1202185" name="Text Box 9"/>
          <p:cNvSpPr txBox="1">
            <a:spLocks noChangeArrowheads="1"/>
          </p:cNvSpPr>
          <p:nvPr/>
        </p:nvSpPr>
        <p:spPr bwMode="auto">
          <a:xfrm>
            <a:off x="6553200" y="3625851"/>
            <a:ext cx="3810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500"/>
              </a:spcBef>
              <a:spcAft>
                <a:spcPts val="500"/>
              </a:spcAft>
              <a:buClr>
                <a:schemeClr val="tx1"/>
              </a:buClr>
            </a:pPr>
            <a:r>
              <a:rPr lang="fr-FR" dirty="0">
                <a:solidFill>
                  <a:srgbClr val="FFFF00"/>
                </a:solidFill>
                <a:effectLst>
                  <a:outerShdw blurRad="38100" dist="38100" dir="2700000" algn="tl">
                    <a:srgbClr val="000000"/>
                  </a:outerShdw>
                </a:effectLst>
                <a:latin typeface="Tahoma" pitchFamily="34" charset="0"/>
              </a:rPr>
              <a:t>A change in the </a:t>
            </a:r>
            <a:r>
              <a:rPr lang="fr-FR" dirty="0" err="1">
                <a:solidFill>
                  <a:srgbClr val="FFFF00"/>
                </a:solidFill>
                <a:effectLst>
                  <a:outerShdw blurRad="38100" dist="38100" dir="2700000" algn="tl">
                    <a:srgbClr val="000000"/>
                  </a:outerShdw>
                </a:effectLst>
                <a:latin typeface="Tahoma" pitchFamily="34" charset="0"/>
              </a:rPr>
              <a:t>representation</a:t>
            </a:r>
            <a:r>
              <a:rPr lang="fr-FR" dirty="0">
                <a:solidFill>
                  <a:srgbClr val="FFFF00"/>
                </a:solidFill>
                <a:effectLst>
                  <a:outerShdw blurRad="38100" dist="38100" dir="2700000" algn="tl">
                    <a:srgbClr val="000000"/>
                  </a:outerShdw>
                </a:effectLst>
                <a:latin typeface="Tahoma" pitchFamily="34" charset="0"/>
              </a:rPr>
              <a:t> of </a:t>
            </a:r>
            <a:r>
              <a:rPr lang="fr-FR" dirty="0" err="1">
                <a:solidFill>
                  <a:srgbClr val="FFFF00"/>
                </a:solidFill>
                <a:effectLst>
                  <a:outerShdw blurRad="38100" dist="38100" dir="2700000" algn="tl">
                    <a:srgbClr val="000000"/>
                  </a:outerShdw>
                </a:effectLst>
                <a:latin typeface="Tahoma" pitchFamily="34" charset="0"/>
              </a:rPr>
              <a:t>knowledge</a:t>
            </a:r>
            <a:endParaRPr lang="fr-FR" dirty="0">
              <a:latin typeface="Tahoma" pitchFamily="34" charset="0"/>
            </a:endParaRPr>
          </a:p>
        </p:txBody>
      </p:sp>
      <p:sp>
        <p:nvSpPr>
          <p:cNvPr id="1202186" name="Text Box 10"/>
          <p:cNvSpPr txBox="1">
            <a:spLocks noChangeArrowheads="1"/>
          </p:cNvSpPr>
          <p:nvPr/>
        </p:nvSpPr>
        <p:spPr bwMode="auto">
          <a:xfrm>
            <a:off x="4724400" y="3352800"/>
            <a:ext cx="1981200" cy="1098550"/>
          </a:xfrm>
          <a:prstGeom prst="rect">
            <a:avLst/>
          </a:prstGeom>
          <a:noFill/>
          <a:ln>
            <a:noFill/>
          </a:ln>
          <a:effectLst>
            <a:outerShdw dist="56796" dir="1593903"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fr-FR" sz="6600"/>
              <a:t>=&gt;</a:t>
            </a:r>
            <a:endParaRPr lang="fr-FR" sz="6000">
              <a:solidFill>
                <a:srgbClr val="CC6600"/>
              </a:solidFill>
            </a:endParaRPr>
          </a:p>
        </p:txBody>
      </p:sp>
      <p:sp>
        <p:nvSpPr>
          <p:cNvPr id="1202187" name="Text Box 11"/>
          <p:cNvSpPr txBox="1">
            <a:spLocks noChangeArrowheads="1"/>
          </p:cNvSpPr>
          <p:nvPr/>
        </p:nvSpPr>
        <p:spPr bwMode="auto">
          <a:xfrm>
            <a:off x="3352800" y="5029200"/>
            <a:ext cx="3352800" cy="1098550"/>
          </a:xfrm>
          <a:prstGeom prst="rect">
            <a:avLst/>
          </a:prstGeom>
          <a:noFill/>
          <a:ln>
            <a:noFill/>
          </a:ln>
          <a:effectLst>
            <a:outerShdw dist="56796" dir="1593903"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fr-FR" sz="6600" dirty="0"/>
              <a:t>&amp; /or</a:t>
            </a:r>
            <a:endParaRPr lang="fr-FR" sz="6000" dirty="0">
              <a:solidFill>
                <a:srgbClr val="CC6600"/>
              </a:solidFill>
            </a:endParaRPr>
          </a:p>
        </p:txBody>
      </p:sp>
      <p:sp>
        <p:nvSpPr>
          <p:cNvPr id="1202188" name="Text Box 12"/>
          <p:cNvSpPr txBox="1">
            <a:spLocks noChangeArrowheads="1"/>
          </p:cNvSpPr>
          <p:nvPr/>
        </p:nvSpPr>
        <p:spPr bwMode="auto">
          <a:xfrm>
            <a:off x="6477000" y="5257801"/>
            <a:ext cx="38100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500"/>
              </a:spcBef>
              <a:spcAft>
                <a:spcPts val="500"/>
              </a:spcAft>
              <a:buClr>
                <a:schemeClr val="tx1"/>
              </a:buClr>
            </a:pPr>
            <a:r>
              <a:rPr lang="fr-FR" dirty="0" err="1">
                <a:solidFill>
                  <a:srgbClr val="FFFF00"/>
                </a:solidFill>
                <a:effectLst>
                  <a:outerShdw blurRad="38100" dist="38100" dir="2700000" algn="tl">
                    <a:srgbClr val="000000"/>
                  </a:outerShdw>
                </a:effectLst>
                <a:latin typeface="Tahoma" pitchFamily="34" charset="0"/>
              </a:rPr>
              <a:t>Which</a:t>
            </a:r>
            <a:r>
              <a:rPr lang="fr-FR" dirty="0">
                <a:solidFill>
                  <a:srgbClr val="FFFF00"/>
                </a:solidFill>
                <a:effectLst>
                  <a:outerShdw blurRad="38100" dist="38100" dir="2700000" algn="tl">
                    <a:srgbClr val="000000"/>
                  </a:outerShdw>
                </a:effectLst>
                <a:latin typeface="Tahoma" pitchFamily="34" charset="0"/>
              </a:rPr>
              <a:t> modifies the state of </a:t>
            </a:r>
            <a:r>
              <a:rPr lang="fr-FR" dirty="0" err="1">
                <a:solidFill>
                  <a:srgbClr val="FFFF00"/>
                </a:solidFill>
                <a:effectLst>
                  <a:outerShdw blurRad="38100" dist="38100" dir="2700000" algn="tl">
                    <a:srgbClr val="000000"/>
                  </a:outerShdw>
                </a:effectLst>
                <a:latin typeface="Tahoma" pitchFamily="34" charset="0"/>
              </a:rPr>
              <a:t>certainty</a:t>
            </a:r>
            <a:r>
              <a:rPr lang="fr-FR" dirty="0">
                <a:solidFill>
                  <a:srgbClr val="FFFF00"/>
                </a:solidFill>
                <a:effectLst>
                  <a:outerShdw blurRad="38100" dist="38100" dir="2700000" algn="tl">
                    <a:srgbClr val="000000"/>
                  </a:outerShdw>
                </a:effectLst>
                <a:latin typeface="Tahoma" pitchFamily="34" charset="0"/>
              </a:rPr>
              <a:t> about a system</a:t>
            </a:r>
          </a:p>
        </p:txBody>
      </p:sp>
      <p:sp>
        <p:nvSpPr>
          <p:cNvPr id="3" name="Footer Placeholder 2"/>
          <p:cNvSpPr>
            <a:spLocks noGrp="1"/>
          </p:cNvSpPr>
          <p:nvPr>
            <p:ph type="ftr" sz="quarter" idx="11"/>
          </p:nvPr>
        </p:nvSpPr>
        <p:spPr/>
        <p:txBody>
          <a:bodyPr/>
          <a:lstStyle/>
          <a:p>
            <a:pPr>
              <a:defRPr/>
            </a:pPr>
            <a:r>
              <a:rPr lang="en-US" smtClean="0"/>
              <a:t>Isabelle Bichindaritz, SUNY Oswego</a:t>
            </a:r>
            <a:endParaRPr lang="en-US" dirty="0"/>
          </a:p>
        </p:txBody>
      </p:sp>
      <p:sp>
        <p:nvSpPr>
          <p:cNvPr id="15" name="Rectangle 2"/>
          <p:cNvSpPr txBox="1">
            <a:spLocks noChangeArrowheads="1"/>
          </p:cNvSpPr>
          <p:nvPr/>
        </p:nvSpPr>
        <p:spPr>
          <a:xfrm>
            <a:off x="2053394" y="15878"/>
            <a:ext cx="8983800" cy="952499"/>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b="1" dirty="0" smtClean="0">
                <a:effectLst>
                  <a:outerShdw blurRad="38100" dist="38100" dir="2700000" algn="tl">
                    <a:srgbClr val="000000">
                      <a:alpha val="43137"/>
                    </a:srgbClr>
                  </a:outerShdw>
                </a:effectLst>
              </a:rPr>
              <a:t>Locating and Downloading Datasets</a:t>
            </a:r>
          </a:p>
        </p:txBody>
      </p:sp>
    </p:spTree>
    <p:extLst>
      <p:ext uri="{BB962C8B-B14F-4D97-AF65-F5344CB8AC3E}">
        <p14:creationId xmlns:p14="http://schemas.microsoft.com/office/powerpoint/2010/main" val="11615465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02182"/>
                                        </p:tgtEl>
                                        <p:attrNameLst>
                                          <p:attrName>style.visibility</p:attrName>
                                        </p:attrNameLst>
                                      </p:cBhvr>
                                      <p:to>
                                        <p:strVal val="visible"/>
                                      </p:to>
                                    </p:set>
                                    <p:animEffect transition="in" filter="wipe(left)">
                                      <p:cBhvr>
                                        <p:cTn id="7" dur="500"/>
                                        <p:tgtEl>
                                          <p:spTgt spid="1202182"/>
                                        </p:tgtEl>
                                      </p:cBhvr>
                                    </p:animEffect>
                                  </p:childTnLst>
                                </p:cTn>
                              </p:par>
                            </p:childTnLst>
                          </p:cTn>
                        </p:par>
                        <p:par>
                          <p:cTn id="8" fill="hold" nodeType="afterGroup">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1202181"/>
                                        </p:tgtEl>
                                        <p:attrNameLst>
                                          <p:attrName>style.visibility</p:attrName>
                                        </p:attrNameLst>
                                      </p:cBhvr>
                                      <p:to>
                                        <p:strVal val="visible"/>
                                      </p:to>
                                    </p:set>
                                    <p:anim calcmode="lin" valueType="num">
                                      <p:cBhvr additive="base">
                                        <p:cTn id="11" dur="500"/>
                                        <p:tgtEl>
                                          <p:spTgt spid="1202181"/>
                                        </p:tgtEl>
                                        <p:attrNameLst>
                                          <p:attrName>ppt_x</p:attrName>
                                        </p:attrNameLst>
                                      </p:cBhvr>
                                      <p:tavLst>
                                        <p:tav tm="0">
                                          <p:val>
                                            <p:strVal val="#ppt_x-#ppt_w*1.125000"/>
                                          </p:val>
                                        </p:tav>
                                        <p:tav tm="100000">
                                          <p:val>
                                            <p:strVal val="#ppt_x"/>
                                          </p:val>
                                        </p:tav>
                                      </p:tavLst>
                                    </p:anim>
                                    <p:animEffect transition="in" filter="wipe(right)">
                                      <p:cBhvr>
                                        <p:cTn id="12" dur="500"/>
                                        <p:tgtEl>
                                          <p:spTgt spid="1202181"/>
                                        </p:tgtEl>
                                      </p:cBhvr>
                                    </p:animEffect>
                                  </p:childTnLst>
                                  <p:subTnLst>
                                    <p:animClr clrSpc="rgb" dir="cw">
                                      <p:cBhvr override="childStyle">
                                        <p:cTn dur="1" fill="hold" display="0" masterRel="nextClick" afterEffect="1"/>
                                        <p:tgtEl>
                                          <p:spTgt spid="1202181"/>
                                        </p:tgtEl>
                                        <p:attrNameLst>
                                          <p:attrName>ppt_c</p:attrName>
                                        </p:attrNameLst>
                                      </p:cBhvr>
                                      <p:to>
                                        <a:srgbClr val="CC6600"/>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02180"/>
                                        </p:tgtEl>
                                        <p:attrNameLst>
                                          <p:attrName>style.visibility</p:attrName>
                                        </p:attrNameLst>
                                      </p:cBhvr>
                                      <p:to>
                                        <p:strVal val="visible"/>
                                      </p:to>
                                    </p:set>
                                    <p:animEffect transition="in" filter="wipe(left)">
                                      <p:cBhvr>
                                        <p:cTn id="17" dur="500"/>
                                        <p:tgtEl>
                                          <p:spTgt spid="1202180"/>
                                        </p:tgtEl>
                                      </p:cBhvr>
                                    </p:animEffect>
                                  </p:childTnLst>
                                </p:cTn>
                              </p:par>
                            </p:childTnLst>
                          </p:cTn>
                        </p:par>
                        <p:par>
                          <p:cTn id="18" fill="hold" nodeType="afterGroup">
                            <p:stCondLst>
                              <p:cond delay="500"/>
                            </p:stCondLst>
                            <p:childTnLst>
                              <p:par>
                                <p:cTn id="19" presetID="12" presetClass="entr" presetSubtype="8" fill="hold" grpId="0" nodeType="afterEffect">
                                  <p:stCondLst>
                                    <p:cond delay="0"/>
                                  </p:stCondLst>
                                  <p:childTnLst>
                                    <p:set>
                                      <p:cBhvr>
                                        <p:cTn id="20" dur="1" fill="hold">
                                          <p:stCondLst>
                                            <p:cond delay="0"/>
                                          </p:stCondLst>
                                        </p:cTn>
                                        <p:tgtEl>
                                          <p:spTgt spid="1202184"/>
                                        </p:tgtEl>
                                        <p:attrNameLst>
                                          <p:attrName>style.visibility</p:attrName>
                                        </p:attrNameLst>
                                      </p:cBhvr>
                                      <p:to>
                                        <p:strVal val="visible"/>
                                      </p:to>
                                    </p:set>
                                    <p:anim calcmode="lin" valueType="num">
                                      <p:cBhvr additive="base">
                                        <p:cTn id="21" dur="500"/>
                                        <p:tgtEl>
                                          <p:spTgt spid="1202184"/>
                                        </p:tgtEl>
                                        <p:attrNameLst>
                                          <p:attrName>ppt_x</p:attrName>
                                        </p:attrNameLst>
                                      </p:cBhvr>
                                      <p:tavLst>
                                        <p:tav tm="0">
                                          <p:val>
                                            <p:strVal val="#ppt_x-#ppt_w*1.125000"/>
                                          </p:val>
                                        </p:tav>
                                        <p:tav tm="100000">
                                          <p:val>
                                            <p:strVal val="#ppt_x"/>
                                          </p:val>
                                        </p:tav>
                                      </p:tavLst>
                                    </p:anim>
                                    <p:animEffect transition="in" filter="wipe(right)">
                                      <p:cBhvr>
                                        <p:cTn id="22" dur="500"/>
                                        <p:tgtEl>
                                          <p:spTgt spid="1202184"/>
                                        </p:tgtEl>
                                      </p:cBhvr>
                                    </p:animEffect>
                                  </p:childTnLst>
                                  <p:subTnLst>
                                    <p:animClr clrSpc="rgb" dir="cw">
                                      <p:cBhvr override="childStyle">
                                        <p:cTn dur="1" fill="hold" display="0" masterRel="nextClick" afterEffect="1"/>
                                        <p:tgtEl>
                                          <p:spTgt spid="1202184"/>
                                        </p:tgtEl>
                                        <p:attrNameLst>
                                          <p:attrName>ppt_c</p:attrName>
                                        </p:attrNameLst>
                                      </p:cBhvr>
                                      <p:to>
                                        <a:srgbClr val="CC6600"/>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02183"/>
                                        </p:tgtEl>
                                        <p:attrNameLst>
                                          <p:attrName>style.visibility</p:attrName>
                                        </p:attrNameLst>
                                      </p:cBhvr>
                                      <p:to>
                                        <p:strVal val="visible"/>
                                      </p:to>
                                    </p:set>
                                    <p:animEffect transition="in" filter="wipe(left)">
                                      <p:cBhvr>
                                        <p:cTn id="27" dur="500"/>
                                        <p:tgtEl>
                                          <p:spTgt spid="1202183"/>
                                        </p:tgtEl>
                                      </p:cBhvr>
                                    </p:animEffect>
                                  </p:childTnLst>
                                </p:cTn>
                              </p:par>
                            </p:childTnLst>
                          </p:cTn>
                        </p:par>
                        <p:par>
                          <p:cTn id="28" fill="hold" nodeType="afterGroup">
                            <p:stCondLst>
                              <p:cond delay="500"/>
                            </p:stCondLst>
                            <p:childTnLst>
                              <p:par>
                                <p:cTn id="29" presetID="12" presetClass="entr" presetSubtype="8" fill="hold" grpId="0" nodeType="afterEffect">
                                  <p:stCondLst>
                                    <p:cond delay="0"/>
                                  </p:stCondLst>
                                  <p:childTnLst>
                                    <p:set>
                                      <p:cBhvr>
                                        <p:cTn id="30" dur="1" fill="hold">
                                          <p:stCondLst>
                                            <p:cond delay="0"/>
                                          </p:stCondLst>
                                        </p:cTn>
                                        <p:tgtEl>
                                          <p:spTgt spid="1202186"/>
                                        </p:tgtEl>
                                        <p:attrNameLst>
                                          <p:attrName>style.visibility</p:attrName>
                                        </p:attrNameLst>
                                      </p:cBhvr>
                                      <p:to>
                                        <p:strVal val="visible"/>
                                      </p:to>
                                    </p:set>
                                    <p:anim calcmode="lin" valueType="num">
                                      <p:cBhvr additive="base">
                                        <p:cTn id="31" dur="500"/>
                                        <p:tgtEl>
                                          <p:spTgt spid="1202186"/>
                                        </p:tgtEl>
                                        <p:attrNameLst>
                                          <p:attrName>ppt_x</p:attrName>
                                        </p:attrNameLst>
                                      </p:cBhvr>
                                      <p:tavLst>
                                        <p:tav tm="0">
                                          <p:val>
                                            <p:strVal val="#ppt_x-#ppt_w*1.125000"/>
                                          </p:val>
                                        </p:tav>
                                        <p:tav tm="100000">
                                          <p:val>
                                            <p:strVal val="#ppt_x"/>
                                          </p:val>
                                        </p:tav>
                                      </p:tavLst>
                                    </p:anim>
                                    <p:animEffect transition="in" filter="wipe(right)">
                                      <p:cBhvr>
                                        <p:cTn id="32" dur="500"/>
                                        <p:tgtEl>
                                          <p:spTgt spid="1202186"/>
                                        </p:tgtEl>
                                      </p:cBhvr>
                                    </p:animEffect>
                                  </p:childTnLst>
                                  <p:subTnLst>
                                    <p:animClr clrSpc="rgb" dir="cw">
                                      <p:cBhvr override="childStyle">
                                        <p:cTn dur="1" fill="hold" display="0" masterRel="nextClick" afterEffect="1"/>
                                        <p:tgtEl>
                                          <p:spTgt spid="1202186"/>
                                        </p:tgtEl>
                                        <p:attrNameLst>
                                          <p:attrName>ppt_c</p:attrName>
                                        </p:attrNameLst>
                                      </p:cBhvr>
                                      <p:to>
                                        <a:srgbClr val="CC6600"/>
                                      </p:to>
                                    </p:animClr>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02185"/>
                                        </p:tgtEl>
                                        <p:attrNameLst>
                                          <p:attrName>style.visibility</p:attrName>
                                        </p:attrNameLst>
                                      </p:cBhvr>
                                      <p:to>
                                        <p:strVal val="visible"/>
                                      </p:to>
                                    </p:set>
                                    <p:animEffect transition="in" filter="wipe(left)">
                                      <p:cBhvr>
                                        <p:cTn id="37" dur="500"/>
                                        <p:tgtEl>
                                          <p:spTgt spid="1202185"/>
                                        </p:tgtEl>
                                      </p:cBhvr>
                                    </p:animEffect>
                                  </p:childTnLst>
                                </p:cTn>
                              </p:par>
                            </p:childTnLst>
                          </p:cTn>
                        </p:par>
                        <p:par>
                          <p:cTn id="38" fill="hold" nodeType="afterGroup">
                            <p:stCondLst>
                              <p:cond delay="500"/>
                            </p:stCondLst>
                            <p:childTnLst>
                              <p:par>
                                <p:cTn id="39" presetID="12" presetClass="entr" presetSubtype="8" fill="hold" grpId="0" nodeType="afterEffect">
                                  <p:stCondLst>
                                    <p:cond delay="0"/>
                                  </p:stCondLst>
                                  <p:childTnLst>
                                    <p:set>
                                      <p:cBhvr>
                                        <p:cTn id="40" dur="1" fill="hold">
                                          <p:stCondLst>
                                            <p:cond delay="0"/>
                                          </p:stCondLst>
                                        </p:cTn>
                                        <p:tgtEl>
                                          <p:spTgt spid="1202187"/>
                                        </p:tgtEl>
                                        <p:attrNameLst>
                                          <p:attrName>style.visibility</p:attrName>
                                        </p:attrNameLst>
                                      </p:cBhvr>
                                      <p:to>
                                        <p:strVal val="visible"/>
                                      </p:to>
                                    </p:set>
                                    <p:anim calcmode="lin" valueType="num">
                                      <p:cBhvr additive="base">
                                        <p:cTn id="41" dur="500"/>
                                        <p:tgtEl>
                                          <p:spTgt spid="1202187"/>
                                        </p:tgtEl>
                                        <p:attrNameLst>
                                          <p:attrName>ppt_x</p:attrName>
                                        </p:attrNameLst>
                                      </p:cBhvr>
                                      <p:tavLst>
                                        <p:tav tm="0">
                                          <p:val>
                                            <p:strVal val="#ppt_x-#ppt_w*1.125000"/>
                                          </p:val>
                                        </p:tav>
                                        <p:tav tm="100000">
                                          <p:val>
                                            <p:strVal val="#ppt_x"/>
                                          </p:val>
                                        </p:tav>
                                      </p:tavLst>
                                    </p:anim>
                                    <p:animEffect transition="in" filter="wipe(right)">
                                      <p:cBhvr>
                                        <p:cTn id="42" dur="500"/>
                                        <p:tgtEl>
                                          <p:spTgt spid="1202187"/>
                                        </p:tgtEl>
                                      </p:cBhvr>
                                    </p:animEffect>
                                  </p:childTnLst>
                                  <p:subTnLst>
                                    <p:animClr clrSpc="rgb" dir="cw">
                                      <p:cBhvr override="childStyle">
                                        <p:cTn dur="1" fill="hold" display="0" masterRel="nextClick" afterEffect="1"/>
                                        <p:tgtEl>
                                          <p:spTgt spid="1202187"/>
                                        </p:tgtEl>
                                        <p:attrNameLst>
                                          <p:attrName>ppt_c</p:attrName>
                                        </p:attrNameLst>
                                      </p:cBhvr>
                                      <p:to>
                                        <a:srgbClr val="CC6600"/>
                                      </p:to>
                                    </p:animClr>
                                  </p:sub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02188"/>
                                        </p:tgtEl>
                                        <p:attrNameLst>
                                          <p:attrName>style.visibility</p:attrName>
                                        </p:attrNameLst>
                                      </p:cBhvr>
                                      <p:to>
                                        <p:strVal val="visible"/>
                                      </p:to>
                                    </p:set>
                                    <p:animEffect transition="in" filter="wipe(left)">
                                      <p:cBhvr>
                                        <p:cTn id="47" dur="500"/>
                                        <p:tgtEl>
                                          <p:spTgt spid="1202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2180" grpId="0" autoUpdateAnimBg="0"/>
      <p:bldP spid="1202181" grpId="0" autoUpdateAnimBg="0"/>
      <p:bldP spid="1202182" grpId="0" autoUpdateAnimBg="0"/>
      <p:bldP spid="1202183" grpId="0" autoUpdateAnimBg="0"/>
      <p:bldP spid="1202184" grpId="0" autoUpdateAnimBg="0"/>
      <p:bldP spid="1202185" grpId="0" autoUpdateAnimBg="0"/>
      <p:bldP spid="1202186" grpId="0" autoUpdateAnimBg="0"/>
      <p:bldP spid="1202187" grpId="0" autoUpdateAnimBg="0"/>
      <p:bldP spid="1202188"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4294967295"/>
          </p:nvPr>
        </p:nvSpPr>
        <p:spPr>
          <a:xfrm>
            <a:off x="8763000" y="6553200"/>
            <a:ext cx="1905000" cy="304800"/>
          </a:xfrm>
          <a:prstGeom prst="rect">
            <a:avLst/>
          </a:prstGeom>
        </p:spPr>
        <p:txBody>
          <a:bodyPr/>
          <a:lstStyle/>
          <a:p>
            <a:fld id="{EF0C2D10-CA09-453C-9E6E-E44F5CF33122}" type="slidenum">
              <a:rPr lang="fr-FR"/>
              <a:pPr/>
              <a:t>13</a:t>
            </a:fld>
            <a:endParaRPr lang="fr-FR"/>
          </a:p>
        </p:txBody>
      </p:sp>
      <p:sp>
        <p:nvSpPr>
          <p:cNvPr id="1204228" name="Text Box 4"/>
          <p:cNvSpPr txBox="1">
            <a:spLocks noChangeArrowheads="1"/>
          </p:cNvSpPr>
          <p:nvPr/>
        </p:nvSpPr>
        <p:spPr bwMode="auto">
          <a:xfrm>
            <a:off x="6070600" y="2605088"/>
            <a:ext cx="1016000" cy="1098550"/>
          </a:xfrm>
          <a:prstGeom prst="rect">
            <a:avLst/>
          </a:prstGeom>
          <a:noFill/>
          <a:ln>
            <a:noFill/>
          </a:ln>
          <a:effectLst>
            <a:outerShdw dist="56796" dir="1593903"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fr-FR" sz="6600"/>
              <a:t>=</a:t>
            </a:r>
            <a:endParaRPr lang="fr-FR" sz="6000">
              <a:solidFill>
                <a:srgbClr val="CC6600"/>
              </a:solidFill>
            </a:endParaRPr>
          </a:p>
        </p:txBody>
      </p:sp>
      <p:sp>
        <p:nvSpPr>
          <p:cNvPr id="1204229" name="Text Box 5"/>
          <p:cNvSpPr txBox="1">
            <a:spLocks noChangeArrowheads="1"/>
          </p:cNvSpPr>
          <p:nvPr/>
        </p:nvSpPr>
        <p:spPr bwMode="auto">
          <a:xfrm>
            <a:off x="2403423" y="1493460"/>
            <a:ext cx="7010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500"/>
              </a:spcBef>
              <a:spcAft>
                <a:spcPts val="500"/>
              </a:spcAft>
              <a:buClr>
                <a:schemeClr val="tx1"/>
              </a:buClr>
            </a:pPr>
            <a:r>
              <a:rPr lang="fr-FR" sz="3200" dirty="0" err="1">
                <a:solidFill>
                  <a:srgbClr val="FFFF00"/>
                </a:solidFill>
                <a:effectLst>
                  <a:outerShdw blurRad="38100" dist="38100" dir="2700000" algn="tl">
                    <a:srgbClr val="000000"/>
                  </a:outerShdw>
                </a:effectLst>
                <a:latin typeface="Tahoma" pitchFamily="34" charset="0"/>
              </a:rPr>
              <a:t>Photocopy</a:t>
            </a:r>
            <a:r>
              <a:rPr lang="fr-FR" sz="3200" dirty="0">
                <a:solidFill>
                  <a:srgbClr val="FFFF00"/>
                </a:solidFill>
                <a:effectLst>
                  <a:outerShdw blurRad="38100" dist="38100" dir="2700000" algn="tl">
                    <a:srgbClr val="000000"/>
                  </a:outerShdw>
                </a:effectLst>
                <a:latin typeface="Tahoma" pitchFamily="34" charset="0"/>
              </a:rPr>
              <a:t> of the </a:t>
            </a:r>
            <a:r>
              <a:rPr lang="fr-FR" sz="3200" dirty="0" err="1">
                <a:solidFill>
                  <a:srgbClr val="FFFF00"/>
                </a:solidFill>
                <a:effectLst>
                  <a:outerShdw blurRad="38100" dist="38100" dir="2700000" algn="tl">
                    <a:srgbClr val="000000"/>
                  </a:outerShdw>
                </a:effectLst>
                <a:latin typeface="Tahoma" pitchFamily="34" charset="0"/>
              </a:rPr>
              <a:t>price</a:t>
            </a:r>
            <a:r>
              <a:rPr lang="fr-FR" sz="3200" dirty="0">
                <a:solidFill>
                  <a:srgbClr val="FFFF00"/>
                </a:solidFill>
                <a:effectLst>
                  <a:outerShdw blurRad="38100" dist="38100" dir="2700000" algn="tl">
                    <a:srgbClr val="000000"/>
                  </a:outerShdw>
                </a:effectLst>
                <a:latin typeface="Tahoma" pitchFamily="34" charset="0"/>
              </a:rPr>
              <a:t> of an article</a:t>
            </a:r>
            <a:endParaRPr lang="fr-FR" dirty="0">
              <a:effectLst>
                <a:outerShdw blurRad="38100" dist="38100" dir="2700000" algn="tl">
                  <a:srgbClr val="000000"/>
                </a:outerShdw>
              </a:effectLst>
              <a:latin typeface="Tahoma" pitchFamily="34" charset="0"/>
            </a:endParaRPr>
          </a:p>
        </p:txBody>
      </p:sp>
      <p:sp>
        <p:nvSpPr>
          <p:cNvPr id="1204230" name="Text Box 6"/>
          <p:cNvSpPr txBox="1">
            <a:spLocks noChangeArrowheads="1"/>
          </p:cNvSpPr>
          <p:nvPr/>
        </p:nvSpPr>
        <p:spPr bwMode="auto">
          <a:xfrm>
            <a:off x="1752600" y="2674938"/>
            <a:ext cx="4267200" cy="119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90500"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500"/>
              </a:spcBef>
              <a:spcAft>
                <a:spcPts val="500"/>
              </a:spcAft>
              <a:buClr>
                <a:schemeClr val="tx1"/>
              </a:buClr>
            </a:pPr>
            <a:r>
              <a:rPr lang="fr-FR" sz="3200" dirty="0">
                <a:effectLst>
                  <a:outerShdw blurRad="38100" dist="38100" dir="2700000" algn="tl">
                    <a:srgbClr val="000000"/>
                  </a:outerShdw>
                </a:effectLst>
                <a:latin typeface="Tahoma" pitchFamily="34" charset="0"/>
              </a:rPr>
              <a:t>Is the </a:t>
            </a:r>
            <a:r>
              <a:rPr lang="fr-FR" sz="3200" dirty="0" err="1">
                <a:effectLst>
                  <a:outerShdw blurRad="38100" dist="38100" dir="2700000" algn="tl">
                    <a:srgbClr val="000000"/>
                  </a:outerShdw>
                </a:effectLst>
                <a:latin typeface="Tahoma" pitchFamily="34" charset="0"/>
              </a:rPr>
              <a:t>photocopy</a:t>
            </a:r>
            <a:endParaRPr lang="fr-FR" sz="3200" dirty="0">
              <a:effectLst>
                <a:outerShdw blurRad="38100" dist="38100" dir="2700000" algn="tl">
                  <a:srgbClr val="000000"/>
                </a:outerShdw>
              </a:effectLst>
              <a:latin typeface="Tahoma" pitchFamily="34" charset="0"/>
            </a:endParaRPr>
          </a:p>
          <a:p>
            <a:pPr algn="ctr">
              <a:spcBef>
                <a:spcPts val="500"/>
              </a:spcBef>
              <a:spcAft>
                <a:spcPts val="500"/>
              </a:spcAft>
              <a:buClr>
                <a:schemeClr val="tx1"/>
              </a:buClr>
            </a:pPr>
            <a:r>
              <a:rPr lang="fr-FR" sz="3200" dirty="0">
                <a:effectLst>
                  <a:outerShdw blurRad="38100" dist="38100" dir="2700000" algn="tl">
                    <a:srgbClr val="000000"/>
                  </a:outerShdw>
                </a:effectLst>
                <a:latin typeface="Tahoma" pitchFamily="34" charset="0"/>
              </a:rPr>
              <a:t> </a:t>
            </a:r>
            <a:r>
              <a:rPr lang="fr-FR" sz="3200" dirty="0" err="1">
                <a:effectLst>
                  <a:outerShdw blurRad="38100" dist="38100" dir="2700000" algn="tl">
                    <a:srgbClr val="000000"/>
                  </a:outerShdw>
                </a:effectLst>
                <a:latin typeface="Tahoma" pitchFamily="34" charset="0"/>
              </a:rPr>
              <a:t>readable</a:t>
            </a:r>
            <a:r>
              <a:rPr lang="fr-FR" sz="3200" dirty="0">
                <a:effectLst>
                  <a:outerShdw blurRad="38100" dist="38100" dir="2700000" algn="tl">
                    <a:srgbClr val="000000"/>
                  </a:outerShdw>
                </a:effectLst>
                <a:latin typeface="Tahoma" pitchFamily="34" charset="0"/>
              </a:rPr>
              <a:t> ?</a:t>
            </a:r>
            <a:endParaRPr lang="fr-FR" sz="2800" dirty="0">
              <a:solidFill>
                <a:srgbClr val="FFFF00"/>
              </a:solidFill>
              <a:effectLst>
                <a:outerShdw blurRad="38100" dist="38100" dir="2700000" algn="tl">
                  <a:srgbClr val="000000"/>
                </a:outerShdw>
              </a:effectLst>
              <a:latin typeface="Tahoma" pitchFamily="34" charset="0"/>
            </a:endParaRPr>
          </a:p>
        </p:txBody>
      </p:sp>
      <p:sp>
        <p:nvSpPr>
          <p:cNvPr id="1204231" name="Text Box 7"/>
          <p:cNvSpPr txBox="1">
            <a:spLocks noChangeArrowheads="1"/>
          </p:cNvSpPr>
          <p:nvPr/>
        </p:nvSpPr>
        <p:spPr bwMode="auto">
          <a:xfrm>
            <a:off x="6705600" y="2484438"/>
            <a:ext cx="37338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90500"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r>
              <a:rPr lang="fr-FR" sz="3200" dirty="0" err="1">
                <a:solidFill>
                  <a:srgbClr val="CC6600"/>
                </a:solidFill>
                <a:effectLst>
                  <a:outerShdw blurRad="38100" dist="38100" dir="2700000" algn="tl">
                    <a:srgbClr val="000000"/>
                  </a:outerShdw>
                </a:effectLst>
                <a:latin typeface="Tahoma" pitchFamily="34" charset="0"/>
              </a:rPr>
              <a:t>Technical</a:t>
            </a:r>
            <a:r>
              <a:rPr lang="fr-FR" sz="3200" dirty="0">
                <a:solidFill>
                  <a:srgbClr val="CC6600"/>
                </a:solidFill>
                <a:effectLst>
                  <a:outerShdw blurRad="38100" dist="38100" dir="2700000" algn="tl">
                    <a:srgbClr val="000000"/>
                  </a:outerShdw>
                </a:effectLst>
                <a:latin typeface="Tahoma" pitchFamily="34" charset="0"/>
              </a:rPr>
              <a:t> Dimension – </a:t>
            </a:r>
          </a:p>
          <a:p>
            <a:pPr algn="ctr"/>
            <a:r>
              <a:rPr lang="fr-FR" sz="3200" dirty="0">
                <a:solidFill>
                  <a:srgbClr val="CC6600"/>
                </a:solidFill>
                <a:effectLst>
                  <a:outerShdw blurRad="38100" dist="38100" dir="2700000" algn="tl">
                    <a:srgbClr val="000000"/>
                  </a:outerShdw>
                </a:effectLst>
                <a:latin typeface="Tahoma" pitchFamily="34" charset="0"/>
              </a:rPr>
              <a:t>Data</a:t>
            </a:r>
            <a:endParaRPr lang="fr-FR" sz="3200" dirty="0">
              <a:solidFill>
                <a:srgbClr val="FFFF00"/>
              </a:solidFill>
              <a:effectLst>
                <a:outerShdw blurRad="38100" dist="38100" dir="2700000" algn="tl">
                  <a:srgbClr val="000000"/>
                </a:outerShdw>
              </a:effectLst>
              <a:latin typeface="Tahoma" pitchFamily="34" charset="0"/>
            </a:endParaRPr>
          </a:p>
        </p:txBody>
      </p:sp>
      <p:sp>
        <p:nvSpPr>
          <p:cNvPr id="1204232" name="Text Box 8"/>
          <p:cNvSpPr txBox="1">
            <a:spLocks noChangeArrowheads="1"/>
          </p:cNvSpPr>
          <p:nvPr/>
        </p:nvSpPr>
        <p:spPr bwMode="auto">
          <a:xfrm>
            <a:off x="6070600" y="4633913"/>
            <a:ext cx="1016000" cy="1098550"/>
          </a:xfrm>
          <a:prstGeom prst="rect">
            <a:avLst/>
          </a:prstGeom>
          <a:noFill/>
          <a:ln>
            <a:noFill/>
          </a:ln>
          <a:effectLst>
            <a:outerShdw dist="56796" dir="1593903"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fr-FR" sz="6600"/>
              <a:t>=</a:t>
            </a:r>
            <a:endParaRPr lang="fr-FR" sz="6000">
              <a:solidFill>
                <a:srgbClr val="CC6600"/>
              </a:solidFill>
            </a:endParaRPr>
          </a:p>
        </p:txBody>
      </p:sp>
      <p:sp>
        <p:nvSpPr>
          <p:cNvPr id="1204233" name="Text Box 9"/>
          <p:cNvSpPr txBox="1">
            <a:spLocks noChangeArrowheads="1"/>
          </p:cNvSpPr>
          <p:nvPr/>
        </p:nvSpPr>
        <p:spPr bwMode="auto">
          <a:xfrm>
            <a:off x="1498600" y="4219417"/>
            <a:ext cx="4572000"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90500"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600"/>
              </a:spcBef>
              <a:spcAft>
                <a:spcPts val="600"/>
              </a:spcAft>
            </a:pPr>
            <a:r>
              <a:rPr lang="fr-FR" sz="3200" dirty="0">
                <a:effectLst>
                  <a:outerShdw blurRad="38100" dist="38100" dir="2700000" algn="tl">
                    <a:srgbClr val="000000"/>
                  </a:outerShdw>
                </a:effectLst>
                <a:latin typeface="Tahoma" pitchFamily="34" charset="0"/>
              </a:rPr>
              <a:t>Do the </a:t>
            </a:r>
            <a:r>
              <a:rPr lang="fr-FR" sz="3200" dirty="0" err="1">
                <a:effectLst>
                  <a:outerShdw blurRad="38100" dist="38100" dir="2700000" algn="tl">
                    <a:srgbClr val="000000"/>
                  </a:outerShdw>
                </a:effectLst>
                <a:latin typeface="Tahoma" pitchFamily="34" charset="0"/>
              </a:rPr>
              <a:t>symbols</a:t>
            </a:r>
            <a:r>
              <a:rPr lang="fr-FR" sz="3200" dirty="0">
                <a:effectLst>
                  <a:outerShdw blurRad="38100" dist="38100" dir="2700000" algn="tl">
                    <a:srgbClr val="000000"/>
                  </a:outerShdw>
                </a:effectLst>
                <a:latin typeface="Tahoma" pitchFamily="34" charset="0"/>
              </a:rPr>
              <a:t> </a:t>
            </a:r>
            <a:r>
              <a:rPr lang="fr-FR" sz="3200" dirty="0" err="1">
                <a:effectLst>
                  <a:outerShdw blurRad="38100" dist="38100" dir="2700000" algn="tl">
                    <a:srgbClr val="000000"/>
                  </a:outerShdw>
                </a:effectLst>
                <a:latin typeface="Tahoma" pitchFamily="34" charset="0"/>
              </a:rPr>
              <a:t>present</a:t>
            </a:r>
            <a:r>
              <a:rPr lang="fr-FR" sz="3200" dirty="0">
                <a:effectLst>
                  <a:outerShdw blurRad="38100" dist="38100" dir="2700000" algn="tl">
                    <a:srgbClr val="000000"/>
                  </a:outerShdw>
                </a:effectLst>
                <a:latin typeface="Tahoma" pitchFamily="34" charset="0"/>
              </a:rPr>
              <a:t> on the </a:t>
            </a:r>
            <a:r>
              <a:rPr lang="fr-FR" sz="3200" dirty="0" err="1">
                <a:effectLst>
                  <a:outerShdw blurRad="38100" dist="38100" dir="2700000" algn="tl">
                    <a:srgbClr val="000000"/>
                  </a:outerShdw>
                </a:effectLst>
                <a:latin typeface="Tahoma" pitchFamily="34" charset="0"/>
              </a:rPr>
              <a:t>photocopy</a:t>
            </a:r>
            <a:r>
              <a:rPr lang="fr-FR" sz="3200" dirty="0">
                <a:effectLst>
                  <a:outerShdw blurRad="38100" dist="38100" dir="2700000" algn="tl">
                    <a:srgbClr val="000000"/>
                  </a:outerShdw>
                </a:effectLst>
                <a:latin typeface="Tahoma" pitchFamily="34" charset="0"/>
              </a:rPr>
              <a:t> have a </a:t>
            </a:r>
            <a:r>
              <a:rPr lang="fr-FR" sz="3200" dirty="0" err="1">
                <a:effectLst>
                  <a:outerShdw blurRad="38100" dist="38100" dir="2700000" algn="tl">
                    <a:srgbClr val="000000"/>
                  </a:outerShdw>
                </a:effectLst>
                <a:latin typeface="Tahoma" pitchFamily="34" charset="0"/>
              </a:rPr>
              <a:t>meaning</a:t>
            </a:r>
            <a:r>
              <a:rPr lang="fr-FR" sz="3200" dirty="0">
                <a:effectLst>
                  <a:outerShdw blurRad="38100" dist="38100" dir="2700000" algn="tl">
                    <a:srgbClr val="000000"/>
                  </a:outerShdw>
                </a:effectLst>
                <a:latin typeface="Tahoma" pitchFamily="34" charset="0"/>
              </a:rPr>
              <a:t> ? </a:t>
            </a:r>
            <a:endParaRPr lang="fr-FR" sz="2800" dirty="0">
              <a:effectLst>
                <a:outerShdw blurRad="38100" dist="38100" dir="2700000" algn="tl">
                  <a:srgbClr val="000000"/>
                </a:outerShdw>
              </a:effectLst>
              <a:latin typeface="Tahoma" pitchFamily="34" charset="0"/>
            </a:endParaRPr>
          </a:p>
        </p:txBody>
      </p:sp>
      <p:sp>
        <p:nvSpPr>
          <p:cNvPr id="1204234" name="Text Box 10"/>
          <p:cNvSpPr txBox="1">
            <a:spLocks noChangeArrowheads="1"/>
          </p:cNvSpPr>
          <p:nvPr/>
        </p:nvSpPr>
        <p:spPr bwMode="auto">
          <a:xfrm>
            <a:off x="6705600" y="4465638"/>
            <a:ext cx="39624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90500"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r>
              <a:rPr lang="fr-FR" sz="3200" dirty="0" err="1">
                <a:solidFill>
                  <a:srgbClr val="CC6600"/>
                </a:solidFill>
                <a:effectLst>
                  <a:outerShdw blurRad="38100" dist="38100" dir="2700000" algn="tl">
                    <a:srgbClr val="000000"/>
                  </a:outerShdw>
                </a:effectLst>
                <a:latin typeface="Tahoma" pitchFamily="34" charset="0"/>
              </a:rPr>
              <a:t>Semantic</a:t>
            </a:r>
            <a:r>
              <a:rPr lang="fr-FR" sz="3200" dirty="0">
                <a:solidFill>
                  <a:srgbClr val="CC6600"/>
                </a:solidFill>
                <a:effectLst>
                  <a:outerShdw blurRad="38100" dist="38100" dir="2700000" algn="tl">
                    <a:srgbClr val="000000"/>
                  </a:outerShdw>
                </a:effectLst>
                <a:latin typeface="Tahoma" pitchFamily="34" charset="0"/>
              </a:rPr>
              <a:t> Dimension – Information</a:t>
            </a:r>
            <a:endParaRPr lang="fr-FR" sz="2800" dirty="0">
              <a:solidFill>
                <a:srgbClr val="FFFF00"/>
              </a:solidFill>
              <a:effectLst>
                <a:outerShdw blurRad="38100" dist="38100" dir="2700000" algn="tl">
                  <a:srgbClr val="000000"/>
                </a:outerShdw>
              </a:effectLst>
              <a:latin typeface="Tahoma" pitchFamily="34" charset="0"/>
            </a:endParaRPr>
          </a:p>
        </p:txBody>
      </p:sp>
      <p:sp>
        <p:nvSpPr>
          <p:cNvPr id="3" name="Footer Placeholder 2"/>
          <p:cNvSpPr>
            <a:spLocks noGrp="1"/>
          </p:cNvSpPr>
          <p:nvPr>
            <p:ph type="ftr" sz="quarter" idx="11"/>
          </p:nvPr>
        </p:nvSpPr>
        <p:spPr/>
        <p:txBody>
          <a:bodyPr/>
          <a:lstStyle/>
          <a:p>
            <a:pPr>
              <a:defRPr/>
            </a:pPr>
            <a:r>
              <a:rPr lang="en-US" smtClean="0"/>
              <a:t>Isabelle Bichindaritz, SUNY Oswego</a:t>
            </a:r>
            <a:endParaRPr lang="en-US" dirty="0"/>
          </a:p>
        </p:txBody>
      </p:sp>
      <p:sp>
        <p:nvSpPr>
          <p:cNvPr id="13" name="Rectangle 2"/>
          <p:cNvSpPr txBox="1">
            <a:spLocks noChangeArrowheads="1"/>
          </p:cNvSpPr>
          <p:nvPr/>
        </p:nvSpPr>
        <p:spPr>
          <a:xfrm>
            <a:off x="2053394" y="15878"/>
            <a:ext cx="8983800" cy="952499"/>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b="1" dirty="0" smtClean="0">
                <a:effectLst>
                  <a:outerShdw blurRad="38100" dist="38100" dir="2700000" algn="tl">
                    <a:srgbClr val="000000">
                      <a:alpha val="43137"/>
                    </a:srgbClr>
                  </a:outerShdw>
                </a:effectLst>
              </a:rPr>
              <a:t>Locating and Downloading Datasets</a:t>
            </a:r>
          </a:p>
        </p:txBody>
      </p:sp>
    </p:spTree>
    <p:extLst>
      <p:ext uri="{BB962C8B-B14F-4D97-AF65-F5344CB8AC3E}">
        <p14:creationId xmlns:p14="http://schemas.microsoft.com/office/powerpoint/2010/main" val="33079412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04229"/>
                                        </p:tgtEl>
                                        <p:attrNameLst>
                                          <p:attrName>style.visibility</p:attrName>
                                        </p:attrNameLst>
                                      </p:cBhvr>
                                      <p:to>
                                        <p:strVal val="visible"/>
                                      </p:to>
                                    </p:set>
                                    <p:animEffect transition="in" filter="wipe(left)">
                                      <p:cBhvr>
                                        <p:cTn id="7" dur="500"/>
                                        <p:tgtEl>
                                          <p:spTgt spid="12042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04230"/>
                                        </p:tgtEl>
                                        <p:attrNameLst>
                                          <p:attrName>style.visibility</p:attrName>
                                        </p:attrNameLst>
                                      </p:cBhvr>
                                      <p:to>
                                        <p:strVal val="visible"/>
                                      </p:to>
                                    </p:set>
                                    <p:animEffect transition="in" filter="wipe(left)">
                                      <p:cBhvr>
                                        <p:cTn id="12" dur="500"/>
                                        <p:tgtEl>
                                          <p:spTgt spid="1204230"/>
                                        </p:tgtEl>
                                      </p:cBhvr>
                                    </p:animEffect>
                                  </p:childTnLst>
                                </p:cTn>
                              </p:par>
                            </p:childTnLst>
                          </p:cTn>
                        </p:par>
                        <p:par>
                          <p:cTn id="13" fill="hold" nodeType="afterGroup">
                            <p:stCondLst>
                              <p:cond delay="500"/>
                            </p:stCondLst>
                            <p:childTnLst>
                              <p:par>
                                <p:cTn id="14" presetID="12" presetClass="entr" presetSubtype="8" fill="hold" grpId="0" nodeType="afterEffect">
                                  <p:stCondLst>
                                    <p:cond delay="0"/>
                                  </p:stCondLst>
                                  <p:childTnLst>
                                    <p:set>
                                      <p:cBhvr>
                                        <p:cTn id="15" dur="1" fill="hold">
                                          <p:stCondLst>
                                            <p:cond delay="0"/>
                                          </p:stCondLst>
                                        </p:cTn>
                                        <p:tgtEl>
                                          <p:spTgt spid="1204228"/>
                                        </p:tgtEl>
                                        <p:attrNameLst>
                                          <p:attrName>style.visibility</p:attrName>
                                        </p:attrNameLst>
                                      </p:cBhvr>
                                      <p:to>
                                        <p:strVal val="visible"/>
                                      </p:to>
                                    </p:set>
                                    <p:anim calcmode="lin" valueType="num">
                                      <p:cBhvr additive="base">
                                        <p:cTn id="16" dur="500"/>
                                        <p:tgtEl>
                                          <p:spTgt spid="1204228"/>
                                        </p:tgtEl>
                                        <p:attrNameLst>
                                          <p:attrName>ppt_x</p:attrName>
                                        </p:attrNameLst>
                                      </p:cBhvr>
                                      <p:tavLst>
                                        <p:tav tm="0">
                                          <p:val>
                                            <p:strVal val="#ppt_x-#ppt_w*1.125000"/>
                                          </p:val>
                                        </p:tav>
                                        <p:tav tm="100000">
                                          <p:val>
                                            <p:strVal val="#ppt_x"/>
                                          </p:val>
                                        </p:tav>
                                      </p:tavLst>
                                    </p:anim>
                                    <p:animEffect transition="in" filter="wipe(right)">
                                      <p:cBhvr>
                                        <p:cTn id="17" dur="500"/>
                                        <p:tgtEl>
                                          <p:spTgt spid="1204228"/>
                                        </p:tgtEl>
                                      </p:cBhvr>
                                    </p:animEffect>
                                  </p:childTnLst>
                                  <p:subTnLst>
                                    <p:animClr clrSpc="rgb" dir="cw">
                                      <p:cBhvr override="childStyle">
                                        <p:cTn dur="1" fill="hold" display="0" masterRel="nextClick" afterEffect="1"/>
                                        <p:tgtEl>
                                          <p:spTgt spid="1204228"/>
                                        </p:tgtEl>
                                        <p:attrNameLst>
                                          <p:attrName>ppt_c</p:attrName>
                                        </p:attrNameLst>
                                      </p:cBhvr>
                                      <p:to>
                                        <a:srgbClr val="CC6600"/>
                                      </p:to>
                                    </p:animClr>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04231"/>
                                        </p:tgtEl>
                                        <p:attrNameLst>
                                          <p:attrName>style.visibility</p:attrName>
                                        </p:attrNameLst>
                                      </p:cBhvr>
                                      <p:to>
                                        <p:strVal val="visible"/>
                                      </p:to>
                                    </p:set>
                                    <p:animEffect transition="in" filter="wipe(left)">
                                      <p:cBhvr>
                                        <p:cTn id="22" dur="500"/>
                                        <p:tgtEl>
                                          <p:spTgt spid="120423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04233"/>
                                        </p:tgtEl>
                                        <p:attrNameLst>
                                          <p:attrName>style.visibility</p:attrName>
                                        </p:attrNameLst>
                                      </p:cBhvr>
                                      <p:to>
                                        <p:strVal val="visible"/>
                                      </p:to>
                                    </p:set>
                                    <p:animEffect transition="in" filter="wipe(left)">
                                      <p:cBhvr>
                                        <p:cTn id="27" dur="500"/>
                                        <p:tgtEl>
                                          <p:spTgt spid="1204233"/>
                                        </p:tgtEl>
                                      </p:cBhvr>
                                    </p:animEffect>
                                  </p:childTnLst>
                                </p:cTn>
                              </p:par>
                            </p:childTnLst>
                          </p:cTn>
                        </p:par>
                        <p:par>
                          <p:cTn id="28" fill="hold" nodeType="afterGroup">
                            <p:stCondLst>
                              <p:cond delay="500"/>
                            </p:stCondLst>
                            <p:childTnLst>
                              <p:par>
                                <p:cTn id="29" presetID="12" presetClass="entr" presetSubtype="8" fill="hold" grpId="0" nodeType="afterEffect">
                                  <p:stCondLst>
                                    <p:cond delay="0"/>
                                  </p:stCondLst>
                                  <p:childTnLst>
                                    <p:set>
                                      <p:cBhvr>
                                        <p:cTn id="30" dur="1" fill="hold">
                                          <p:stCondLst>
                                            <p:cond delay="0"/>
                                          </p:stCondLst>
                                        </p:cTn>
                                        <p:tgtEl>
                                          <p:spTgt spid="1204232"/>
                                        </p:tgtEl>
                                        <p:attrNameLst>
                                          <p:attrName>style.visibility</p:attrName>
                                        </p:attrNameLst>
                                      </p:cBhvr>
                                      <p:to>
                                        <p:strVal val="visible"/>
                                      </p:to>
                                    </p:set>
                                    <p:anim calcmode="lin" valueType="num">
                                      <p:cBhvr additive="base">
                                        <p:cTn id="31" dur="500"/>
                                        <p:tgtEl>
                                          <p:spTgt spid="1204232"/>
                                        </p:tgtEl>
                                        <p:attrNameLst>
                                          <p:attrName>ppt_x</p:attrName>
                                        </p:attrNameLst>
                                      </p:cBhvr>
                                      <p:tavLst>
                                        <p:tav tm="0">
                                          <p:val>
                                            <p:strVal val="#ppt_x-#ppt_w*1.125000"/>
                                          </p:val>
                                        </p:tav>
                                        <p:tav tm="100000">
                                          <p:val>
                                            <p:strVal val="#ppt_x"/>
                                          </p:val>
                                        </p:tav>
                                      </p:tavLst>
                                    </p:anim>
                                    <p:animEffect transition="in" filter="wipe(right)">
                                      <p:cBhvr>
                                        <p:cTn id="32" dur="500"/>
                                        <p:tgtEl>
                                          <p:spTgt spid="1204232"/>
                                        </p:tgtEl>
                                      </p:cBhvr>
                                    </p:animEffect>
                                  </p:childTnLst>
                                  <p:subTnLst>
                                    <p:animClr clrSpc="rgb" dir="cw">
                                      <p:cBhvr override="childStyle">
                                        <p:cTn dur="1" fill="hold" display="0" masterRel="nextClick" afterEffect="1"/>
                                        <p:tgtEl>
                                          <p:spTgt spid="1204232"/>
                                        </p:tgtEl>
                                        <p:attrNameLst>
                                          <p:attrName>ppt_c</p:attrName>
                                        </p:attrNameLst>
                                      </p:cBhvr>
                                      <p:to>
                                        <a:srgbClr val="CC6600"/>
                                      </p:to>
                                    </p:animClr>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04234"/>
                                        </p:tgtEl>
                                        <p:attrNameLst>
                                          <p:attrName>style.visibility</p:attrName>
                                        </p:attrNameLst>
                                      </p:cBhvr>
                                      <p:to>
                                        <p:strVal val="visible"/>
                                      </p:to>
                                    </p:set>
                                    <p:animEffect transition="in" filter="wipe(left)">
                                      <p:cBhvr>
                                        <p:cTn id="37" dur="500"/>
                                        <p:tgtEl>
                                          <p:spTgt spid="1204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4228" grpId="0" autoUpdateAnimBg="0"/>
      <p:bldP spid="1204229" grpId="0" autoUpdateAnimBg="0"/>
      <p:bldP spid="1204230" grpId="0" autoUpdateAnimBg="0"/>
      <p:bldP spid="1204231" grpId="0" autoUpdateAnimBg="0"/>
      <p:bldP spid="1204232" grpId="0" autoUpdateAnimBg="0"/>
      <p:bldP spid="1204233" grpId="0" autoUpdateAnimBg="0"/>
      <p:bldP spid="1204234"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4294967295"/>
          </p:nvPr>
        </p:nvSpPr>
        <p:spPr>
          <a:xfrm>
            <a:off x="8763000" y="6553200"/>
            <a:ext cx="1905000" cy="304800"/>
          </a:xfrm>
          <a:prstGeom prst="rect">
            <a:avLst/>
          </a:prstGeom>
        </p:spPr>
        <p:txBody>
          <a:bodyPr/>
          <a:lstStyle/>
          <a:p>
            <a:fld id="{71CED470-C883-44AB-AAF1-E93F1C9163C7}" type="slidenum">
              <a:rPr lang="fr-FR"/>
              <a:pPr/>
              <a:t>14</a:t>
            </a:fld>
            <a:endParaRPr lang="fr-FR"/>
          </a:p>
        </p:txBody>
      </p:sp>
      <p:sp>
        <p:nvSpPr>
          <p:cNvPr id="1206277" name="Text Box 5"/>
          <p:cNvSpPr txBox="1">
            <a:spLocks noChangeArrowheads="1"/>
          </p:cNvSpPr>
          <p:nvPr/>
        </p:nvSpPr>
        <p:spPr bwMode="auto">
          <a:xfrm>
            <a:off x="7086600" y="4676776"/>
            <a:ext cx="1016000" cy="1006475"/>
          </a:xfrm>
          <a:prstGeom prst="rect">
            <a:avLst/>
          </a:prstGeom>
          <a:noFill/>
          <a:ln>
            <a:noFill/>
          </a:ln>
          <a:effectLst>
            <a:outerShdw dist="56796" dir="1593903"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fr-FR" sz="6000"/>
              <a:t>=</a:t>
            </a:r>
            <a:endParaRPr lang="fr-FR" sz="6000">
              <a:solidFill>
                <a:srgbClr val="CC6600"/>
              </a:solidFill>
            </a:endParaRPr>
          </a:p>
        </p:txBody>
      </p:sp>
      <p:sp>
        <p:nvSpPr>
          <p:cNvPr id="1206278" name="Text Box 6"/>
          <p:cNvSpPr txBox="1">
            <a:spLocks noChangeArrowheads="1"/>
          </p:cNvSpPr>
          <p:nvPr/>
        </p:nvSpPr>
        <p:spPr bwMode="auto">
          <a:xfrm>
            <a:off x="1676400" y="4371975"/>
            <a:ext cx="55626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90500"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600"/>
              </a:spcBef>
              <a:spcAft>
                <a:spcPts val="600"/>
              </a:spcAft>
            </a:pPr>
            <a:r>
              <a:rPr lang="fr-FR" sz="2800" dirty="0">
                <a:effectLst>
                  <a:outerShdw blurRad="38100" dist="38100" dir="2700000" algn="tl">
                    <a:srgbClr val="000000"/>
                  </a:outerShdw>
                </a:effectLst>
                <a:latin typeface="Tahoma" pitchFamily="34" charset="0"/>
              </a:rPr>
              <a:t>For </a:t>
            </a:r>
            <a:r>
              <a:rPr lang="fr-FR" sz="2800" dirty="0" err="1">
                <a:effectLst>
                  <a:outerShdw blurRad="38100" dist="38100" dir="2700000" algn="tl">
                    <a:srgbClr val="000000"/>
                  </a:outerShdw>
                </a:effectLst>
                <a:latin typeface="Tahoma" pitchFamily="34" charset="0"/>
              </a:rPr>
              <a:t>who</a:t>
            </a:r>
            <a:r>
              <a:rPr lang="fr-FR" sz="2800" dirty="0">
                <a:effectLst>
                  <a:outerShdw blurRad="38100" dist="38100" dir="2700000" algn="tl">
                    <a:srgbClr val="000000"/>
                  </a:outerShdw>
                </a:effectLst>
                <a:latin typeface="Tahoma" pitchFamily="34" charset="0"/>
              </a:rPr>
              <a:t> </a:t>
            </a:r>
            <a:r>
              <a:rPr lang="fr-FR" sz="2800" u="sng" dirty="0" err="1">
                <a:solidFill>
                  <a:srgbClr val="FFFF00"/>
                </a:solidFill>
                <a:effectLst>
                  <a:outerShdw blurRad="38100" dist="38100" dir="2700000" algn="tl">
                    <a:srgbClr val="000000"/>
                  </a:outerShdw>
                </a:effectLst>
                <a:latin typeface="Tahoma" pitchFamily="34" charset="0"/>
              </a:rPr>
              <a:t>does</a:t>
            </a:r>
            <a:r>
              <a:rPr lang="fr-FR" sz="2800" u="sng" dirty="0">
                <a:solidFill>
                  <a:srgbClr val="FFFF00"/>
                </a:solidFill>
                <a:effectLst>
                  <a:outerShdw blurRad="38100" dist="38100" dir="2700000" algn="tl">
                    <a:srgbClr val="000000"/>
                  </a:outerShdw>
                </a:effectLst>
                <a:latin typeface="Tahoma" pitchFamily="34" charset="0"/>
              </a:rPr>
              <a:t> not know</a:t>
            </a:r>
            <a:r>
              <a:rPr lang="fr-FR" sz="2800" dirty="0">
                <a:effectLst>
                  <a:outerShdw blurRad="38100" dist="38100" dir="2700000" algn="tl">
                    <a:srgbClr val="000000"/>
                  </a:outerShdw>
                </a:effectLst>
                <a:latin typeface="Tahoma" pitchFamily="34" charset="0"/>
              </a:rPr>
              <a:t> the </a:t>
            </a:r>
            <a:r>
              <a:rPr lang="fr-FR" sz="2800" dirty="0" err="1">
                <a:effectLst>
                  <a:outerShdw blurRad="38100" dist="38100" dir="2700000" algn="tl">
                    <a:srgbClr val="000000"/>
                  </a:outerShdw>
                </a:effectLst>
                <a:latin typeface="Tahoma" pitchFamily="34" charset="0"/>
              </a:rPr>
              <a:t>price</a:t>
            </a:r>
            <a:r>
              <a:rPr lang="fr-FR" sz="2800" dirty="0">
                <a:effectLst>
                  <a:outerShdw blurRad="38100" dist="38100" dir="2700000" algn="tl">
                    <a:srgbClr val="000000"/>
                  </a:outerShdw>
                </a:effectLst>
                <a:latin typeface="Tahoma" pitchFamily="34" charset="0"/>
              </a:rPr>
              <a:t> of an article, </a:t>
            </a:r>
            <a:r>
              <a:rPr lang="fr-FR" sz="2800" dirty="0" err="1">
                <a:effectLst>
                  <a:outerShdw blurRad="38100" dist="38100" dir="2700000" algn="tl">
                    <a:srgbClr val="000000"/>
                  </a:outerShdw>
                </a:effectLst>
                <a:latin typeface="Tahoma" pitchFamily="34" charset="0"/>
              </a:rPr>
              <a:t>these</a:t>
            </a:r>
            <a:r>
              <a:rPr lang="fr-FR" sz="2800" dirty="0">
                <a:effectLst>
                  <a:outerShdw blurRad="38100" dist="38100" dir="2700000" algn="tl">
                    <a:srgbClr val="000000"/>
                  </a:outerShdw>
                </a:effectLst>
                <a:latin typeface="Tahoma" pitchFamily="34" charset="0"/>
              </a:rPr>
              <a:t> </a:t>
            </a:r>
            <a:r>
              <a:rPr lang="fr-FR" sz="2800" dirty="0" err="1">
                <a:effectLst>
                  <a:outerShdw blurRad="38100" dist="38100" dir="2700000" algn="tl">
                    <a:srgbClr val="000000"/>
                  </a:outerShdw>
                </a:effectLst>
                <a:latin typeface="Tahoma" pitchFamily="34" charset="0"/>
              </a:rPr>
              <a:t>symbols</a:t>
            </a:r>
            <a:r>
              <a:rPr lang="fr-FR" sz="2800" dirty="0">
                <a:effectLst>
                  <a:outerShdw blurRad="38100" dist="38100" dir="2700000" algn="tl">
                    <a:srgbClr val="000000"/>
                  </a:outerShdw>
                </a:effectLst>
                <a:latin typeface="Tahoma" pitchFamily="34" charset="0"/>
              </a:rPr>
              <a:t> </a:t>
            </a:r>
            <a:r>
              <a:rPr lang="fr-FR" sz="2800" u="sng" dirty="0">
                <a:solidFill>
                  <a:srgbClr val="FFFF00"/>
                </a:solidFill>
                <a:effectLst>
                  <a:outerShdw blurRad="38100" dist="38100" dir="2700000" algn="tl">
                    <a:srgbClr val="000000"/>
                  </a:outerShdw>
                </a:effectLst>
                <a:latin typeface="Tahoma" pitchFamily="34" charset="0"/>
              </a:rPr>
              <a:t>do </a:t>
            </a:r>
            <a:r>
              <a:rPr lang="fr-FR" sz="2800" u="sng" dirty="0" err="1">
                <a:solidFill>
                  <a:srgbClr val="FFFF00"/>
                </a:solidFill>
                <a:effectLst>
                  <a:outerShdw blurRad="38100" dist="38100" dir="2700000" algn="tl">
                    <a:srgbClr val="000000"/>
                  </a:outerShdw>
                </a:effectLst>
                <a:latin typeface="Tahoma" pitchFamily="34" charset="0"/>
              </a:rPr>
              <a:t>modify</a:t>
            </a:r>
            <a:r>
              <a:rPr lang="fr-FR" sz="2800" u="sng" dirty="0">
                <a:solidFill>
                  <a:srgbClr val="FFFF00"/>
                </a:solidFill>
                <a:effectLst>
                  <a:outerShdw blurRad="38100" dist="38100" dir="2700000" algn="tl">
                    <a:srgbClr val="000000"/>
                  </a:outerShdw>
                </a:effectLst>
                <a:latin typeface="Tahoma" pitchFamily="34" charset="0"/>
              </a:rPr>
              <a:t> the state of </a:t>
            </a:r>
            <a:r>
              <a:rPr lang="fr-FR" sz="2800" u="sng" dirty="0" err="1">
                <a:solidFill>
                  <a:srgbClr val="FFFF00"/>
                </a:solidFill>
                <a:effectLst>
                  <a:outerShdw blurRad="38100" dist="38100" dir="2700000" algn="tl">
                    <a:srgbClr val="000000"/>
                  </a:outerShdw>
                </a:effectLst>
                <a:latin typeface="Tahoma" pitchFamily="34" charset="0"/>
              </a:rPr>
              <a:t>certainty</a:t>
            </a:r>
            <a:r>
              <a:rPr lang="fr-FR" sz="2800" dirty="0">
                <a:effectLst>
                  <a:outerShdw blurRad="38100" dist="38100" dir="2700000" algn="tl">
                    <a:srgbClr val="000000"/>
                  </a:outerShdw>
                </a:effectLst>
                <a:latin typeface="Tahoma" pitchFamily="34" charset="0"/>
              </a:rPr>
              <a:t> about the system</a:t>
            </a:r>
            <a:endParaRPr lang="fr-FR" dirty="0">
              <a:effectLst>
                <a:outerShdw blurRad="38100" dist="38100" dir="2700000" algn="tl">
                  <a:srgbClr val="000000"/>
                </a:outerShdw>
              </a:effectLst>
              <a:latin typeface="Tahoma" pitchFamily="34" charset="0"/>
            </a:endParaRPr>
          </a:p>
        </p:txBody>
      </p:sp>
      <p:sp>
        <p:nvSpPr>
          <p:cNvPr id="1206279" name="Text Box 7"/>
          <p:cNvSpPr txBox="1">
            <a:spLocks noChangeArrowheads="1"/>
          </p:cNvSpPr>
          <p:nvPr/>
        </p:nvSpPr>
        <p:spPr bwMode="auto">
          <a:xfrm>
            <a:off x="7848600" y="4522789"/>
            <a:ext cx="28194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90500"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r>
              <a:rPr lang="fr-FR" sz="2800" dirty="0" err="1">
                <a:solidFill>
                  <a:srgbClr val="CC6600"/>
                </a:solidFill>
                <a:effectLst>
                  <a:outerShdw blurRad="38100" dist="38100" dir="2700000" algn="tl">
                    <a:srgbClr val="000000"/>
                  </a:outerShdw>
                </a:effectLst>
                <a:latin typeface="Tahoma" pitchFamily="34" charset="0"/>
              </a:rPr>
              <a:t>These</a:t>
            </a:r>
            <a:r>
              <a:rPr lang="fr-FR" sz="2800" dirty="0">
                <a:solidFill>
                  <a:srgbClr val="CC6600"/>
                </a:solidFill>
                <a:effectLst>
                  <a:outerShdw blurRad="38100" dist="38100" dir="2700000" algn="tl">
                    <a:srgbClr val="000000"/>
                  </a:outerShdw>
                </a:effectLst>
                <a:latin typeface="Tahoma" pitchFamily="34" charset="0"/>
              </a:rPr>
              <a:t> </a:t>
            </a:r>
            <a:r>
              <a:rPr lang="fr-FR" sz="2800" dirty="0" err="1">
                <a:solidFill>
                  <a:srgbClr val="CC6600"/>
                </a:solidFill>
                <a:effectLst>
                  <a:outerShdw blurRad="38100" dist="38100" dir="2700000" algn="tl">
                    <a:srgbClr val="000000"/>
                  </a:outerShdw>
                </a:effectLst>
                <a:latin typeface="Tahoma" pitchFamily="34" charset="0"/>
              </a:rPr>
              <a:t>symbols</a:t>
            </a:r>
            <a:r>
              <a:rPr lang="fr-FR" sz="2800" dirty="0">
                <a:solidFill>
                  <a:srgbClr val="CC6600"/>
                </a:solidFill>
                <a:effectLst>
                  <a:outerShdw blurRad="38100" dist="38100" dir="2700000" algn="tl">
                    <a:srgbClr val="000000"/>
                  </a:outerShdw>
                </a:effectLst>
                <a:latin typeface="Tahoma" pitchFamily="34" charset="0"/>
              </a:rPr>
              <a:t> are </a:t>
            </a:r>
            <a:r>
              <a:rPr lang="fr-FR" sz="2800" u="sng" dirty="0">
                <a:solidFill>
                  <a:srgbClr val="CC6600"/>
                </a:solidFill>
                <a:effectLst>
                  <a:outerShdw blurRad="38100" dist="38100" dir="2700000" algn="tl">
                    <a:srgbClr val="000000"/>
                  </a:outerShdw>
                </a:effectLst>
                <a:latin typeface="Tahoma" pitchFamily="34" charset="0"/>
              </a:rPr>
              <a:t>information</a:t>
            </a:r>
            <a:endParaRPr lang="fr-FR" sz="2800" dirty="0">
              <a:solidFill>
                <a:srgbClr val="CC6600"/>
              </a:solidFill>
              <a:effectLst>
                <a:outerShdw blurRad="38100" dist="38100" dir="2700000" algn="tl">
                  <a:srgbClr val="000000"/>
                </a:outerShdw>
              </a:effectLst>
              <a:latin typeface="Tahoma" pitchFamily="34" charset="0"/>
            </a:endParaRPr>
          </a:p>
        </p:txBody>
      </p:sp>
      <p:sp>
        <p:nvSpPr>
          <p:cNvPr id="1206280" name="Text Box 8"/>
          <p:cNvSpPr txBox="1">
            <a:spLocks noChangeArrowheads="1"/>
          </p:cNvSpPr>
          <p:nvPr/>
        </p:nvSpPr>
        <p:spPr bwMode="auto">
          <a:xfrm>
            <a:off x="1676400" y="1981200"/>
            <a:ext cx="55626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90500"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600"/>
              </a:spcBef>
              <a:spcAft>
                <a:spcPts val="600"/>
              </a:spcAft>
            </a:pPr>
            <a:r>
              <a:rPr lang="fr-FR" sz="2800" dirty="0">
                <a:effectLst>
                  <a:outerShdw blurRad="38100" dist="38100" dir="2700000" algn="tl">
                    <a:srgbClr val="000000"/>
                  </a:outerShdw>
                </a:effectLst>
                <a:latin typeface="Tahoma" pitchFamily="34" charset="0"/>
              </a:rPr>
              <a:t>For </a:t>
            </a:r>
            <a:r>
              <a:rPr lang="fr-FR" sz="2800" dirty="0" err="1">
                <a:effectLst>
                  <a:outerShdw blurRad="38100" dist="38100" dir="2700000" algn="tl">
                    <a:srgbClr val="000000"/>
                  </a:outerShdw>
                </a:effectLst>
                <a:latin typeface="Tahoma" pitchFamily="34" charset="0"/>
              </a:rPr>
              <a:t>who</a:t>
            </a:r>
            <a:r>
              <a:rPr lang="fr-FR" sz="2800" dirty="0">
                <a:effectLst>
                  <a:outerShdw blurRad="38100" dist="38100" dir="2700000" algn="tl">
                    <a:srgbClr val="000000"/>
                  </a:outerShdw>
                </a:effectLst>
                <a:latin typeface="Tahoma" pitchFamily="34" charset="0"/>
              </a:rPr>
              <a:t> </a:t>
            </a:r>
            <a:r>
              <a:rPr lang="fr-FR" sz="2800" dirty="0" err="1">
                <a:solidFill>
                  <a:schemeClr val="tx2"/>
                </a:solidFill>
                <a:effectLst>
                  <a:outerShdw blurRad="38100" dist="38100" dir="2700000" algn="tl">
                    <a:srgbClr val="000000"/>
                  </a:outerShdw>
                </a:effectLst>
                <a:latin typeface="Tahoma" pitchFamily="34" charset="0"/>
              </a:rPr>
              <a:t>knows</a:t>
            </a:r>
            <a:r>
              <a:rPr lang="fr-FR" sz="2800" dirty="0">
                <a:effectLst>
                  <a:outerShdw blurRad="38100" dist="38100" dir="2700000" algn="tl">
                    <a:srgbClr val="000000"/>
                  </a:outerShdw>
                </a:effectLst>
                <a:latin typeface="Tahoma" pitchFamily="34" charset="0"/>
              </a:rPr>
              <a:t> the </a:t>
            </a:r>
            <a:r>
              <a:rPr lang="fr-FR" sz="2800" dirty="0" err="1">
                <a:effectLst>
                  <a:outerShdw blurRad="38100" dist="38100" dir="2700000" algn="tl">
                    <a:srgbClr val="000000"/>
                  </a:outerShdw>
                </a:effectLst>
                <a:latin typeface="Tahoma" pitchFamily="34" charset="0"/>
              </a:rPr>
              <a:t>price</a:t>
            </a:r>
            <a:r>
              <a:rPr lang="fr-FR" sz="2800" dirty="0">
                <a:effectLst>
                  <a:outerShdw blurRad="38100" dist="38100" dir="2700000" algn="tl">
                    <a:srgbClr val="000000"/>
                  </a:outerShdw>
                </a:effectLst>
                <a:latin typeface="Tahoma" pitchFamily="34" charset="0"/>
              </a:rPr>
              <a:t> of </a:t>
            </a:r>
            <a:r>
              <a:rPr lang="fr-FR" sz="2800" dirty="0" err="1">
                <a:effectLst>
                  <a:outerShdw blurRad="38100" dist="38100" dir="2700000" algn="tl">
                    <a:srgbClr val="000000"/>
                  </a:outerShdw>
                </a:effectLst>
                <a:latin typeface="Tahoma" pitchFamily="34" charset="0"/>
              </a:rPr>
              <a:t>this</a:t>
            </a:r>
            <a:r>
              <a:rPr lang="fr-FR" sz="2800" dirty="0">
                <a:effectLst>
                  <a:outerShdw blurRad="38100" dist="38100" dir="2700000" algn="tl">
                    <a:srgbClr val="000000"/>
                  </a:outerShdw>
                </a:effectLst>
                <a:latin typeface="Tahoma" pitchFamily="34" charset="0"/>
              </a:rPr>
              <a:t> article, </a:t>
            </a:r>
            <a:r>
              <a:rPr lang="fr-FR" sz="2800" dirty="0" err="1">
                <a:effectLst>
                  <a:outerShdw blurRad="38100" dist="38100" dir="2700000" algn="tl">
                    <a:srgbClr val="000000"/>
                  </a:outerShdw>
                </a:effectLst>
                <a:latin typeface="Tahoma" pitchFamily="34" charset="0"/>
              </a:rPr>
              <a:t>these</a:t>
            </a:r>
            <a:r>
              <a:rPr lang="fr-FR" sz="2800" dirty="0">
                <a:effectLst>
                  <a:outerShdw blurRad="38100" dist="38100" dir="2700000" algn="tl">
                    <a:srgbClr val="000000"/>
                  </a:outerShdw>
                </a:effectLst>
                <a:latin typeface="Tahoma" pitchFamily="34" charset="0"/>
              </a:rPr>
              <a:t> </a:t>
            </a:r>
            <a:r>
              <a:rPr lang="fr-FR" sz="2800" dirty="0" err="1">
                <a:effectLst>
                  <a:outerShdw blurRad="38100" dist="38100" dir="2700000" algn="tl">
                    <a:srgbClr val="000000"/>
                  </a:outerShdw>
                </a:effectLst>
                <a:latin typeface="Tahoma" pitchFamily="34" charset="0"/>
              </a:rPr>
              <a:t>symbols</a:t>
            </a:r>
            <a:r>
              <a:rPr lang="fr-FR" sz="2800" dirty="0">
                <a:effectLst>
                  <a:outerShdw blurRad="38100" dist="38100" dir="2700000" algn="tl">
                    <a:srgbClr val="000000"/>
                  </a:outerShdw>
                </a:effectLst>
                <a:latin typeface="Tahoma" pitchFamily="34" charset="0"/>
              </a:rPr>
              <a:t> do </a:t>
            </a:r>
            <a:r>
              <a:rPr lang="fr-FR" sz="2800" u="sng" dirty="0">
                <a:solidFill>
                  <a:srgbClr val="FFFF00"/>
                </a:solidFill>
                <a:effectLst>
                  <a:outerShdw blurRad="38100" dist="38100" dir="2700000" algn="tl">
                    <a:srgbClr val="000000"/>
                  </a:outerShdw>
                </a:effectLst>
                <a:latin typeface="Tahoma" pitchFamily="34" charset="0"/>
              </a:rPr>
              <a:t>not </a:t>
            </a:r>
            <a:r>
              <a:rPr lang="fr-FR" sz="2800" u="sng" dirty="0" err="1">
                <a:solidFill>
                  <a:srgbClr val="FFFF00"/>
                </a:solidFill>
                <a:effectLst>
                  <a:outerShdw blurRad="38100" dist="38100" dir="2700000" algn="tl">
                    <a:srgbClr val="000000"/>
                  </a:outerShdw>
                </a:effectLst>
                <a:latin typeface="Tahoma" pitchFamily="34" charset="0"/>
              </a:rPr>
              <a:t>modify</a:t>
            </a:r>
            <a:r>
              <a:rPr lang="fr-FR" sz="2800" u="sng" dirty="0">
                <a:solidFill>
                  <a:srgbClr val="FFFF00"/>
                </a:solidFill>
                <a:effectLst>
                  <a:outerShdw blurRad="38100" dist="38100" dir="2700000" algn="tl">
                    <a:srgbClr val="000000"/>
                  </a:outerShdw>
                </a:effectLst>
                <a:latin typeface="Tahoma" pitchFamily="34" charset="0"/>
              </a:rPr>
              <a:t> the state of </a:t>
            </a:r>
            <a:r>
              <a:rPr lang="fr-FR" sz="2800" u="sng" dirty="0" err="1">
                <a:solidFill>
                  <a:srgbClr val="FFFF00"/>
                </a:solidFill>
                <a:effectLst>
                  <a:outerShdw blurRad="38100" dist="38100" dir="2700000" algn="tl">
                    <a:srgbClr val="000000"/>
                  </a:outerShdw>
                </a:effectLst>
                <a:latin typeface="Tahoma" pitchFamily="34" charset="0"/>
              </a:rPr>
              <a:t>certainty</a:t>
            </a:r>
            <a:r>
              <a:rPr lang="fr-FR" sz="2800" u="sng" dirty="0">
                <a:solidFill>
                  <a:srgbClr val="FFFF00"/>
                </a:solidFill>
                <a:effectLst>
                  <a:outerShdw blurRad="38100" dist="38100" dir="2700000" algn="tl">
                    <a:srgbClr val="000000"/>
                  </a:outerShdw>
                </a:effectLst>
                <a:latin typeface="Tahoma" pitchFamily="34" charset="0"/>
              </a:rPr>
              <a:t> </a:t>
            </a:r>
            <a:r>
              <a:rPr lang="fr-FR" sz="2800" dirty="0">
                <a:effectLst>
                  <a:outerShdw blurRad="38100" dist="38100" dir="2700000" algn="tl">
                    <a:srgbClr val="000000"/>
                  </a:outerShdw>
                </a:effectLst>
                <a:latin typeface="Tahoma" pitchFamily="34" charset="0"/>
              </a:rPr>
              <a:t>about the system</a:t>
            </a:r>
            <a:r>
              <a:rPr lang="fr-FR" dirty="0">
                <a:effectLst>
                  <a:outerShdw blurRad="38100" dist="38100" dir="2700000" algn="tl">
                    <a:srgbClr val="000000"/>
                  </a:outerShdw>
                </a:effectLst>
                <a:latin typeface="Tahoma" pitchFamily="34" charset="0"/>
              </a:rPr>
              <a:t> </a:t>
            </a:r>
          </a:p>
        </p:txBody>
      </p:sp>
      <p:sp>
        <p:nvSpPr>
          <p:cNvPr id="1206281" name="Text Box 9"/>
          <p:cNvSpPr txBox="1">
            <a:spLocks noChangeArrowheads="1"/>
          </p:cNvSpPr>
          <p:nvPr/>
        </p:nvSpPr>
        <p:spPr bwMode="auto">
          <a:xfrm>
            <a:off x="7086600" y="2317751"/>
            <a:ext cx="1016000" cy="1006475"/>
          </a:xfrm>
          <a:prstGeom prst="rect">
            <a:avLst/>
          </a:prstGeom>
          <a:noFill/>
          <a:ln>
            <a:noFill/>
          </a:ln>
          <a:effectLst>
            <a:outerShdw dist="56796" dir="1593903"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r>
              <a:rPr lang="fr-FR" sz="6000"/>
              <a:t>=</a:t>
            </a:r>
            <a:endParaRPr lang="fr-FR" sz="6000">
              <a:solidFill>
                <a:srgbClr val="CC6600"/>
              </a:solidFill>
            </a:endParaRPr>
          </a:p>
        </p:txBody>
      </p:sp>
      <p:sp>
        <p:nvSpPr>
          <p:cNvPr id="1206282" name="Text Box 10"/>
          <p:cNvSpPr txBox="1">
            <a:spLocks noChangeArrowheads="1"/>
          </p:cNvSpPr>
          <p:nvPr/>
        </p:nvSpPr>
        <p:spPr bwMode="auto">
          <a:xfrm>
            <a:off x="7848600" y="2181226"/>
            <a:ext cx="28194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90500"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r>
              <a:rPr lang="fr-FR" sz="2800" dirty="0">
                <a:solidFill>
                  <a:srgbClr val="CC6600"/>
                </a:solidFill>
                <a:effectLst>
                  <a:outerShdw blurRad="38100" dist="38100" dir="2700000" algn="tl">
                    <a:srgbClr val="000000"/>
                  </a:outerShdw>
                </a:effectLst>
                <a:latin typeface="Tahoma" pitchFamily="34" charset="0"/>
              </a:rPr>
              <a:t>The </a:t>
            </a:r>
            <a:r>
              <a:rPr lang="fr-FR" sz="2800" dirty="0" err="1">
                <a:solidFill>
                  <a:srgbClr val="CC6600"/>
                </a:solidFill>
                <a:effectLst>
                  <a:outerShdw blurRad="38100" dist="38100" dir="2700000" algn="tl">
                    <a:srgbClr val="000000"/>
                  </a:outerShdw>
                </a:effectLst>
                <a:latin typeface="Tahoma" pitchFamily="34" charset="0"/>
              </a:rPr>
              <a:t>symbols</a:t>
            </a:r>
            <a:r>
              <a:rPr lang="fr-FR" sz="2800" dirty="0">
                <a:solidFill>
                  <a:srgbClr val="CC6600"/>
                </a:solidFill>
                <a:effectLst>
                  <a:outerShdw blurRad="38100" dist="38100" dir="2700000" algn="tl">
                    <a:srgbClr val="000000"/>
                  </a:outerShdw>
                </a:effectLst>
                <a:latin typeface="Tahoma" pitchFamily="34" charset="0"/>
              </a:rPr>
              <a:t> are not information</a:t>
            </a:r>
          </a:p>
        </p:txBody>
      </p:sp>
      <p:sp>
        <p:nvSpPr>
          <p:cNvPr id="1206283" name="Text Box 11"/>
          <p:cNvSpPr txBox="1">
            <a:spLocks noChangeArrowheads="1"/>
          </p:cNvSpPr>
          <p:nvPr/>
        </p:nvSpPr>
        <p:spPr bwMode="auto">
          <a:xfrm>
            <a:off x="5791200" y="1097182"/>
            <a:ext cx="4876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500"/>
              </a:spcBef>
              <a:spcAft>
                <a:spcPts val="500"/>
              </a:spcAft>
              <a:buClr>
                <a:schemeClr val="tx1"/>
              </a:buClr>
            </a:pPr>
            <a:r>
              <a:rPr lang="fr-FR" sz="3200" dirty="0">
                <a:solidFill>
                  <a:srgbClr val="CC6600"/>
                </a:solidFill>
                <a:effectLst>
                  <a:outerShdw blurRad="38100" dist="38100" dir="2700000" algn="tl">
                    <a:srgbClr val="000000"/>
                  </a:outerShdw>
                </a:effectLst>
                <a:latin typeface="Tahoma" pitchFamily="34" charset="0"/>
              </a:rPr>
              <a:t>Utility of the information</a:t>
            </a:r>
            <a:endParaRPr lang="fr-FR" sz="3200" dirty="0">
              <a:solidFill>
                <a:srgbClr val="FFFF00"/>
              </a:solidFill>
              <a:effectLst>
                <a:outerShdw blurRad="38100" dist="38100" dir="2700000" algn="tl">
                  <a:srgbClr val="000000"/>
                </a:outerShdw>
              </a:effectLst>
              <a:latin typeface="Tahoma" pitchFamily="34" charset="0"/>
            </a:endParaRPr>
          </a:p>
        </p:txBody>
      </p:sp>
      <p:sp>
        <p:nvSpPr>
          <p:cNvPr id="1206285" name="Text Box 13"/>
          <p:cNvSpPr txBox="1">
            <a:spLocks noChangeArrowheads="1"/>
          </p:cNvSpPr>
          <p:nvPr/>
        </p:nvSpPr>
        <p:spPr bwMode="auto">
          <a:xfrm>
            <a:off x="1676400" y="1187451"/>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sz="2400">
                <a:solidFill>
                  <a:schemeClr val="tx1"/>
                </a:solidFill>
                <a:latin typeface="Times New Roman" pitchFamily="18" charset="0"/>
              </a:defRPr>
            </a:lvl1pPr>
            <a:lvl2pPr marL="762000" algn="l">
              <a:defRPr sz="2400">
                <a:solidFill>
                  <a:schemeClr val="tx1"/>
                </a:solidFill>
                <a:latin typeface="Times New Roman" pitchFamily="18" charset="0"/>
              </a:defRPr>
            </a:lvl2pPr>
            <a:lvl3pPr marL="952500" algn="l">
              <a:defRPr sz="2400">
                <a:solidFill>
                  <a:schemeClr val="tx1"/>
                </a:solidFill>
                <a:latin typeface="Times New Roman" pitchFamily="18" charset="0"/>
              </a:defRPr>
            </a:lvl3pPr>
            <a:lvl4pPr algn="l">
              <a:defRPr sz="2400">
                <a:solidFill>
                  <a:schemeClr val="tx1"/>
                </a:solidFill>
                <a:latin typeface="Times New Roman" pitchFamily="18" charset="0"/>
              </a:defRPr>
            </a:lvl4pPr>
            <a:lvl5pPr algn="l">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ts val="500"/>
              </a:spcBef>
              <a:spcAft>
                <a:spcPts val="500"/>
              </a:spcAft>
              <a:buClr>
                <a:schemeClr val="tx1"/>
              </a:buClr>
            </a:pPr>
            <a:r>
              <a:rPr lang="fr-FR" dirty="0" err="1">
                <a:solidFill>
                  <a:srgbClr val="CC6600"/>
                </a:solidFill>
                <a:effectLst>
                  <a:outerShdw blurRad="38100" dist="38100" dir="2700000" algn="tl">
                    <a:srgbClr val="000000"/>
                  </a:outerShdw>
                </a:effectLst>
                <a:latin typeface="Tahoma" pitchFamily="34" charset="0"/>
              </a:rPr>
              <a:t>Third</a:t>
            </a:r>
            <a:r>
              <a:rPr lang="fr-FR" dirty="0">
                <a:solidFill>
                  <a:srgbClr val="CC6600"/>
                </a:solidFill>
                <a:effectLst>
                  <a:outerShdw blurRad="38100" dist="38100" dir="2700000" algn="tl">
                    <a:srgbClr val="000000"/>
                  </a:outerShdw>
                </a:effectLst>
                <a:latin typeface="Tahoma" pitchFamily="34" charset="0"/>
              </a:rPr>
              <a:t> dimension :</a:t>
            </a:r>
            <a:endParaRPr lang="fr-FR" dirty="0">
              <a:effectLst>
                <a:outerShdw blurRad="38100" dist="38100" dir="2700000" algn="tl">
                  <a:srgbClr val="000000"/>
                </a:outerShdw>
              </a:effectLst>
              <a:latin typeface="Tahoma" pitchFamily="34" charset="0"/>
            </a:endParaRPr>
          </a:p>
        </p:txBody>
      </p:sp>
      <p:sp>
        <p:nvSpPr>
          <p:cNvPr id="3" name="Footer Placeholder 2"/>
          <p:cNvSpPr>
            <a:spLocks noGrp="1"/>
          </p:cNvSpPr>
          <p:nvPr>
            <p:ph type="ftr" sz="quarter" idx="11"/>
          </p:nvPr>
        </p:nvSpPr>
        <p:spPr/>
        <p:txBody>
          <a:bodyPr/>
          <a:lstStyle/>
          <a:p>
            <a:pPr>
              <a:defRPr/>
            </a:pPr>
            <a:r>
              <a:rPr lang="en-US" smtClean="0"/>
              <a:t>Isabelle Bichindaritz, SUNY Oswego</a:t>
            </a:r>
            <a:endParaRPr lang="en-US" dirty="0"/>
          </a:p>
        </p:txBody>
      </p:sp>
      <p:sp>
        <p:nvSpPr>
          <p:cNvPr id="13" name="Rectangle 2"/>
          <p:cNvSpPr txBox="1">
            <a:spLocks noChangeArrowheads="1"/>
          </p:cNvSpPr>
          <p:nvPr/>
        </p:nvSpPr>
        <p:spPr>
          <a:xfrm>
            <a:off x="2053394" y="15878"/>
            <a:ext cx="8983800" cy="952499"/>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b="1" dirty="0" smtClean="0">
                <a:effectLst>
                  <a:outerShdw blurRad="38100" dist="38100" dir="2700000" algn="tl">
                    <a:srgbClr val="000000">
                      <a:alpha val="43137"/>
                    </a:srgbClr>
                  </a:outerShdw>
                </a:effectLst>
              </a:rPr>
              <a:t>Locating and Downloading Datasets</a:t>
            </a:r>
          </a:p>
        </p:txBody>
      </p:sp>
    </p:spTree>
    <p:extLst>
      <p:ext uri="{BB962C8B-B14F-4D97-AF65-F5344CB8AC3E}">
        <p14:creationId xmlns:p14="http://schemas.microsoft.com/office/powerpoint/2010/main" val="34587466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06285"/>
                                        </p:tgtEl>
                                        <p:attrNameLst>
                                          <p:attrName>style.visibility</p:attrName>
                                        </p:attrNameLst>
                                      </p:cBhvr>
                                      <p:to>
                                        <p:strVal val="visible"/>
                                      </p:to>
                                    </p:set>
                                    <p:animEffect transition="in" filter="wipe(left)">
                                      <p:cBhvr>
                                        <p:cTn id="7" dur="500"/>
                                        <p:tgtEl>
                                          <p:spTgt spid="12062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06283"/>
                                        </p:tgtEl>
                                        <p:attrNameLst>
                                          <p:attrName>style.visibility</p:attrName>
                                        </p:attrNameLst>
                                      </p:cBhvr>
                                      <p:to>
                                        <p:strVal val="visible"/>
                                      </p:to>
                                    </p:set>
                                    <p:animEffect transition="in" filter="wipe(left)">
                                      <p:cBhvr>
                                        <p:cTn id="12" dur="500"/>
                                        <p:tgtEl>
                                          <p:spTgt spid="12062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06280"/>
                                        </p:tgtEl>
                                        <p:attrNameLst>
                                          <p:attrName>style.visibility</p:attrName>
                                        </p:attrNameLst>
                                      </p:cBhvr>
                                      <p:to>
                                        <p:strVal val="visible"/>
                                      </p:to>
                                    </p:set>
                                    <p:animEffect transition="in" filter="wipe(left)">
                                      <p:cBhvr>
                                        <p:cTn id="17" dur="500"/>
                                        <p:tgtEl>
                                          <p:spTgt spid="1206280"/>
                                        </p:tgtEl>
                                      </p:cBhvr>
                                    </p:animEffect>
                                  </p:childTnLst>
                                </p:cTn>
                              </p:par>
                            </p:childTnLst>
                          </p:cTn>
                        </p:par>
                        <p:par>
                          <p:cTn id="18" fill="hold" nodeType="afterGroup">
                            <p:stCondLst>
                              <p:cond delay="500"/>
                            </p:stCondLst>
                            <p:childTnLst>
                              <p:par>
                                <p:cTn id="19" presetID="12" presetClass="entr" presetSubtype="8" fill="hold" grpId="0" nodeType="afterEffect">
                                  <p:stCondLst>
                                    <p:cond delay="0"/>
                                  </p:stCondLst>
                                  <p:childTnLst>
                                    <p:set>
                                      <p:cBhvr>
                                        <p:cTn id="20" dur="1" fill="hold">
                                          <p:stCondLst>
                                            <p:cond delay="0"/>
                                          </p:stCondLst>
                                        </p:cTn>
                                        <p:tgtEl>
                                          <p:spTgt spid="1206281"/>
                                        </p:tgtEl>
                                        <p:attrNameLst>
                                          <p:attrName>style.visibility</p:attrName>
                                        </p:attrNameLst>
                                      </p:cBhvr>
                                      <p:to>
                                        <p:strVal val="visible"/>
                                      </p:to>
                                    </p:set>
                                    <p:anim calcmode="lin" valueType="num">
                                      <p:cBhvr additive="base">
                                        <p:cTn id="21" dur="500"/>
                                        <p:tgtEl>
                                          <p:spTgt spid="1206281"/>
                                        </p:tgtEl>
                                        <p:attrNameLst>
                                          <p:attrName>ppt_x</p:attrName>
                                        </p:attrNameLst>
                                      </p:cBhvr>
                                      <p:tavLst>
                                        <p:tav tm="0">
                                          <p:val>
                                            <p:strVal val="#ppt_x-#ppt_w*1.125000"/>
                                          </p:val>
                                        </p:tav>
                                        <p:tav tm="100000">
                                          <p:val>
                                            <p:strVal val="#ppt_x"/>
                                          </p:val>
                                        </p:tav>
                                      </p:tavLst>
                                    </p:anim>
                                    <p:animEffect transition="in" filter="wipe(right)">
                                      <p:cBhvr>
                                        <p:cTn id="22" dur="500"/>
                                        <p:tgtEl>
                                          <p:spTgt spid="1206281"/>
                                        </p:tgtEl>
                                      </p:cBhvr>
                                    </p:animEffect>
                                  </p:childTnLst>
                                  <p:subTnLst>
                                    <p:animClr clrSpc="rgb" dir="cw">
                                      <p:cBhvr override="childStyle">
                                        <p:cTn dur="1" fill="hold" display="0" masterRel="nextClick" afterEffect="1"/>
                                        <p:tgtEl>
                                          <p:spTgt spid="1206281"/>
                                        </p:tgtEl>
                                        <p:attrNameLst>
                                          <p:attrName>ppt_c</p:attrName>
                                        </p:attrNameLst>
                                      </p:cBhvr>
                                      <p:to>
                                        <a:srgbClr val="CC6600"/>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06282"/>
                                        </p:tgtEl>
                                        <p:attrNameLst>
                                          <p:attrName>style.visibility</p:attrName>
                                        </p:attrNameLst>
                                      </p:cBhvr>
                                      <p:to>
                                        <p:strVal val="visible"/>
                                      </p:to>
                                    </p:set>
                                    <p:animEffect transition="in" filter="wipe(left)">
                                      <p:cBhvr>
                                        <p:cTn id="27" dur="500"/>
                                        <p:tgtEl>
                                          <p:spTgt spid="120628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06278"/>
                                        </p:tgtEl>
                                        <p:attrNameLst>
                                          <p:attrName>style.visibility</p:attrName>
                                        </p:attrNameLst>
                                      </p:cBhvr>
                                      <p:to>
                                        <p:strVal val="visible"/>
                                      </p:to>
                                    </p:set>
                                    <p:animEffect transition="in" filter="wipe(left)">
                                      <p:cBhvr>
                                        <p:cTn id="32" dur="500"/>
                                        <p:tgtEl>
                                          <p:spTgt spid="1206278"/>
                                        </p:tgtEl>
                                      </p:cBhvr>
                                    </p:animEffect>
                                  </p:childTnLst>
                                </p:cTn>
                              </p:par>
                            </p:childTnLst>
                          </p:cTn>
                        </p:par>
                        <p:par>
                          <p:cTn id="33" fill="hold" nodeType="afterGroup">
                            <p:stCondLst>
                              <p:cond delay="500"/>
                            </p:stCondLst>
                            <p:childTnLst>
                              <p:par>
                                <p:cTn id="34" presetID="12" presetClass="entr" presetSubtype="8" fill="hold" grpId="0" nodeType="afterEffect">
                                  <p:stCondLst>
                                    <p:cond delay="0"/>
                                  </p:stCondLst>
                                  <p:childTnLst>
                                    <p:set>
                                      <p:cBhvr>
                                        <p:cTn id="35" dur="1" fill="hold">
                                          <p:stCondLst>
                                            <p:cond delay="0"/>
                                          </p:stCondLst>
                                        </p:cTn>
                                        <p:tgtEl>
                                          <p:spTgt spid="1206277"/>
                                        </p:tgtEl>
                                        <p:attrNameLst>
                                          <p:attrName>style.visibility</p:attrName>
                                        </p:attrNameLst>
                                      </p:cBhvr>
                                      <p:to>
                                        <p:strVal val="visible"/>
                                      </p:to>
                                    </p:set>
                                    <p:anim calcmode="lin" valueType="num">
                                      <p:cBhvr additive="base">
                                        <p:cTn id="36" dur="500"/>
                                        <p:tgtEl>
                                          <p:spTgt spid="1206277"/>
                                        </p:tgtEl>
                                        <p:attrNameLst>
                                          <p:attrName>ppt_x</p:attrName>
                                        </p:attrNameLst>
                                      </p:cBhvr>
                                      <p:tavLst>
                                        <p:tav tm="0">
                                          <p:val>
                                            <p:strVal val="#ppt_x-#ppt_w*1.125000"/>
                                          </p:val>
                                        </p:tav>
                                        <p:tav tm="100000">
                                          <p:val>
                                            <p:strVal val="#ppt_x"/>
                                          </p:val>
                                        </p:tav>
                                      </p:tavLst>
                                    </p:anim>
                                    <p:animEffect transition="in" filter="wipe(right)">
                                      <p:cBhvr>
                                        <p:cTn id="37" dur="500"/>
                                        <p:tgtEl>
                                          <p:spTgt spid="1206277"/>
                                        </p:tgtEl>
                                      </p:cBhvr>
                                    </p:animEffect>
                                  </p:childTnLst>
                                  <p:subTnLst>
                                    <p:animClr clrSpc="rgb" dir="cw">
                                      <p:cBhvr override="childStyle">
                                        <p:cTn dur="1" fill="hold" display="0" masterRel="nextClick" afterEffect="1"/>
                                        <p:tgtEl>
                                          <p:spTgt spid="1206277"/>
                                        </p:tgtEl>
                                        <p:attrNameLst>
                                          <p:attrName>ppt_c</p:attrName>
                                        </p:attrNameLst>
                                      </p:cBhvr>
                                      <p:to>
                                        <a:srgbClr val="CC6600"/>
                                      </p:to>
                                    </p:animClr>
                                  </p:sub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06279"/>
                                        </p:tgtEl>
                                        <p:attrNameLst>
                                          <p:attrName>style.visibility</p:attrName>
                                        </p:attrNameLst>
                                      </p:cBhvr>
                                      <p:to>
                                        <p:strVal val="visible"/>
                                      </p:to>
                                    </p:set>
                                    <p:animEffect transition="in" filter="wipe(left)">
                                      <p:cBhvr>
                                        <p:cTn id="42" dur="500"/>
                                        <p:tgtEl>
                                          <p:spTgt spid="1206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6277" grpId="0" autoUpdateAnimBg="0"/>
      <p:bldP spid="1206278" grpId="0" autoUpdateAnimBg="0"/>
      <p:bldP spid="1206279" grpId="0" autoUpdateAnimBg="0"/>
      <p:bldP spid="1206280" grpId="0" autoUpdateAnimBg="0"/>
      <p:bldP spid="1206281" grpId="0" autoUpdateAnimBg="0"/>
      <p:bldP spid="1206282" grpId="0" autoUpdateAnimBg="0"/>
      <p:bldP spid="1206283" grpId="0" autoUpdateAnimBg="0"/>
      <p:bldP spid="1206285"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15</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70000" lnSpcReduction="2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altLang="en-US" sz="2400" dirty="0" smtClean="0"/>
              <a:t>Locating and downloading datasets</a:t>
            </a:r>
          </a:p>
          <a:p>
            <a:pPr lvl="1"/>
            <a:r>
              <a:rPr lang="en-US" altLang="en-US" b="1" dirty="0" smtClean="0">
                <a:solidFill>
                  <a:srgbClr val="FFFF00"/>
                </a:solidFill>
              </a:rPr>
              <a:t>Datasets and files</a:t>
            </a:r>
          </a:p>
          <a:p>
            <a:pPr lvl="1"/>
            <a:r>
              <a:rPr lang="en-US" altLang="en-US" dirty="0" smtClean="0"/>
              <a:t>Data sources</a:t>
            </a:r>
            <a:endParaRPr lang="en-US" altLang="en-US" dirty="0"/>
          </a:p>
          <a:p>
            <a:r>
              <a:rPr lang="en-US" altLang="en-US" sz="2400" dirty="0" smtClean="0"/>
              <a:t>Data preprocessing</a:t>
            </a:r>
            <a:endParaRPr lang="en-US" altLang="en-US" sz="2400" dirty="0"/>
          </a:p>
          <a:p>
            <a:pPr lvl="1"/>
            <a:r>
              <a:rPr lang="en-US" altLang="en-US" dirty="0" smtClean="0"/>
              <a:t>Importance of data preprocessing</a:t>
            </a:r>
            <a:endParaRPr lang="en-US" altLang="en-US" dirty="0"/>
          </a:p>
          <a:p>
            <a:pPr lvl="1"/>
            <a:r>
              <a:rPr lang="en-US" altLang="en-US" dirty="0" smtClean="0"/>
              <a:t>Data preprocessing tasks</a:t>
            </a:r>
            <a:endParaRPr lang="en-US" altLang="en-US" dirty="0"/>
          </a:p>
          <a:p>
            <a:r>
              <a:rPr lang="en-US" altLang="en-US" sz="2400" dirty="0" smtClean="0"/>
              <a:t>Missing values</a:t>
            </a:r>
          </a:p>
          <a:p>
            <a:pPr lvl="1"/>
            <a:r>
              <a:rPr lang="en-US" altLang="en-US" dirty="0" smtClean="0"/>
              <a:t>Replacing missing values</a:t>
            </a:r>
          </a:p>
          <a:p>
            <a:r>
              <a:rPr lang="en-US" altLang="en-US" sz="2400" dirty="0" smtClean="0"/>
              <a:t>Normalizing and discretizing data</a:t>
            </a:r>
          </a:p>
          <a:p>
            <a:pPr lvl="1"/>
            <a:r>
              <a:rPr lang="en-US" altLang="en-US" dirty="0" smtClean="0"/>
              <a:t>Data normalization</a:t>
            </a:r>
          </a:p>
          <a:p>
            <a:pPr lvl="1"/>
            <a:r>
              <a:rPr lang="en-US" altLang="en-US" dirty="0" smtClean="0"/>
              <a:t>Discretization</a:t>
            </a:r>
          </a:p>
          <a:p>
            <a:r>
              <a:rPr lang="en-US" altLang="en-US" sz="2400" dirty="0" smtClean="0"/>
              <a:t>Data reduction</a:t>
            </a:r>
          </a:p>
          <a:p>
            <a:pPr lvl="1"/>
            <a:r>
              <a:rPr lang="en-US" altLang="en-US" dirty="0"/>
              <a:t>Feature selection</a:t>
            </a:r>
          </a:p>
          <a:p>
            <a:pPr lvl="1"/>
            <a:r>
              <a:rPr lang="en-US" altLang="en-US" dirty="0" smtClean="0"/>
              <a:t>Data sampling</a:t>
            </a:r>
          </a:p>
          <a:p>
            <a:r>
              <a:rPr lang="en-US" altLang="en-US" sz="2400" dirty="0"/>
              <a:t>Introduction to R language</a:t>
            </a:r>
          </a:p>
          <a:p>
            <a:pPr lvl="1"/>
            <a:r>
              <a:rPr lang="en-US" altLang="en-US" dirty="0"/>
              <a:t>Principles of R</a:t>
            </a:r>
          </a:p>
          <a:p>
            <a:pPr lvl="1"/>
            <a:r>
              <a:rPr lang="en-US" altLang="en-US" dirty="0"/>
              <a:t>Working with </a:t>
            </a:r>
            <a:r>
              <a:rPr lang="en-US" altLang="en-US" dirty="0" smtClean="0"/>
              <a:t>R</a:t>
            </a:r>
          </a:p>
          <a:p>
            <a:pPr lvl="1"/>
            <a:r>
              <a:rPr lang="en-US" altLang="en-US" dirty="0"/>
              <a:t>Data preprocessing with </a:t>
            </a:r>
            <a:r>
              <a:rPr lang="en-US" altLang="en-US" dirty="0" smtClean="0"/>
              <a:t>R</a:t>
            </a:r>
            <a:endParaRPr lang="en-US" altLang="en-US" dirty="0"/>
          </a:p>
          <a:p>
            <a:pPr lvl="1"/>
            <a:endParaRPr lang="en-US" altLang="en-US" dirty="0"/>
          </a:p>
        </p:txBody>
      </p:sp>
    </p:spTree>
    <p:extLst>
      <p:ext uri="{BB962C8B-B14F-4D97-AF65-F5344CB8AC3E}">
        <p14:creationId xmlns:p14="http://schemas.microsoft.com/office/powerpoint/2010/main" val="3873167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4294967295"/>
          </p:nvPr>
        </p:nvSpPr>
        <p:spPr>
          <a:xfrm>
            <a:off x="8763000" y="6553200"/>
            <a:ext cx="1905000" cy="304800"/>
          </a:xfrm>
          <a:prstGeom prst="rect">
            <a:avLst/>
          </a:prstGeom>
        </p:spPr>
        <p:txBody>
          <a:bodyPr/>
          <a:lstStyle/>
          <a:p>
            <a:fld id="{EEEBBA43-8255-4311-8DC1-912EBDAB11E0}" type="slidenum">
              <a:rPr lang="fr-FR"/>
              <a:pPr/>
              <a:t>16</a:t>
            </a:fld>
            <a:endParaRPr lang="fr-FR"/>
          </a:p>
        </p:txBody>
      </p:sp>
      <p:sp>
        <p:nvSpPr>
          <p:cNvPr id="1275906" name="Rectangle 2"/>
          <p:cNvSpPr>
            <a:spLocks noChangeArrowheads="1"/>
          </p:cNvSpPr>
          <p:nvPr/>
        </p:nvSpPr>
        <p:spPr bwMode="auto">
          <a:xfrm>
            <a:off x="3429000" y="1479550"/>
            <a:ext cx="6934200" cy="4876800"/>
          </a:xfrm>
          <a:prstGeom prst="rect">
            <a:avLst/>
          </a:prstGeom>
          <a:noFill/>
          <a:ln>
            <a:noFill/>
          </a:ln>
          <a:effectLst>
            <a:outerShdw dist="45791" dir="2021404" algn="ctr" rotWithShape="0">
              <a:srgbClr val="CC66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p>
            <a:r>
              <a:rPr lang="fr-FR" sz="6000" dirty="0" err="1" smtClean="0">
                <a:solidFill>
                  <a:srgbClr val="FFFF00"/>
                </a:solidFill>
                <a:effectLst>
                  <a:outerShdw blurRad="38100" dist="38100" dir="2700000" algn="tl">
                    <a:srgbClr val="000000"/>
                  </a:outerShdw>
                </a:effectLst>
              </a:rPr>
              <a:t>Tranforming</a:t>
            </a:r>
            <a:r>
              <a:rPr lang="fr-FR" sz="6000" dirty="0" smtClean="0">
                <a:solidFill>
                  <a:srgbClr val="FFFF00"/>
                </a:solidFill>
                <a:effectLst>
                  <a:outerShdw blurRad="38100" dist="38100" dir="2700000" algn="tl">
                    <a:srgbClr val="000000"/>
                  </a:outerShdw>
                </a:effectLst>
              </a:rPr>
              <a:t> </a:t>
            </a:r>
            <a:r>
              <a:rPr lang="fr-FR" sz="6000" dirty="0">
                <a:solidFill>
                  <a:srgbClr val="FFFF00"/>
                </a:solidFill>
                <a:effectLst>
                  <a:outerShdw blurRad="38100" dist="38100" dir="2700000" algn="tl">
                    <a:srgbClr val="000000"/>
                  </a:outerShdw>
                </a:effectLst>
              </a:rPr>
              <a:t>Data </a:t>
            </a:r>
            <a:r>
              <a:rPr lang="fr-FR" sz="6000" dirty="0" err="1">
                <a:solidFill>
                  <a:srgbClr val="FFFF00"/>
                </a:solidFill>
                <a:effectLst>
                  <a:outerShdw blurRad="38100" dist="38100" dir="2700000" algn="tl">
                    <a:srgbClr val="000000"/>
                  </a:outerShdw>
                </a:effectLst>
              </a:rPr>
              <a:t>into</a:t>
            </a:r>
            <a:r>
              <a:rPr lang="fr-FR" sz="6000" dirty="0">
                <a:solidFill>
                  <a:srgbClr val="FFFF00"/>
                </a:solidFill>
                <a:effectLst>
                  <a:outerShdw blurRad="38100" dist="38100" dir="2700000" algn="tl">
                    <a:srgbClr val="000000"/>
                  </a:outerShdw>
                </a:effectLst>
              </a:rPr>
              <a:t> </a:t>
            </a:r>
            <a:r>
              <a:rPr lang="fr-FR" sz="6000" dirty="0" smtClean="0">
                <a:solidFill>
                  <a:srgbClr val="FFFF00"/>
                </a:solidFill>
                <a:effectLst>
                  <a:outerShdw blurRad="38100" dist="38100" dir="2700000" algn="tl">
                    <a:srgbClr val="000000"/>
                  </a:outerShdw>
                </a:effectLst>
              </a:rPr>
              <a:t>Information </a:t>
            </a:r>
            <a:r>
              <a:rPr lang="fr-FR" sz="6000" dirty="0">
                <a:solidFill>
                  <a:srgbClr val="FFFF00"/>
                </a:solidFill>
                <a:effectLst>
                  <a:outerShdw blurRad="38100" dist="38100" dir="2700000" algn="tl">
                    <a:srgbClr val="000000"/>
                  </a:outerShdw>
                </a:effectLst>
              </a:rPr>
              <a:t/>
            </a:r>
            <a:br>
              <a:rPr lang="fr-FR" sz="6000" dirty="0">
                <a:solidFill>
                  <a:srgbClr val="FFFF00"/>
                </a:solidFill>
                <a:effectLst>
                  <a:outerShdw blurRad="38100" dist="38100" dir="2700000" algn="tl">
                    <a:srgbClr val="000000"/>
                  </a:outerShdw>
                </a:effectLst>
              </a:rPr>
            </a:br>
            <a:r>
              <a:rPr lang="fr-FR" sz="8000" i="1" dirty="0" smtClean="0">
                <a:solidFill>
                  <a:srgbClr val="FFFF00"/>
                </a:solidFill>
                <a:effectLst>
                  <a:outerShdw blurRad="38100" dist="38100" dir="2700000" algn="tl">
                    <a:srgbClr val="000000"/>
                  </a:outerShdw>
                </a:effectLst>
              </a:rPr>
              <a:t>Variables, </a:t>
            </a:r>
            <a:r>
              <a:rPr lang="fr-FR" sz="8000" i="1" dirty="0" err="1" smtClean="0">
                <a:solidFill>
                  <a:srgbClr val="FFFF00"/>
                </a:solidFill>
                <a:effectLst>
                  <a:outerShdw blurRad="38100" dist="38100" dir="2700000" algn="tl">
                    <a:srgbClr val="000000"/>
                  </a:outerShdw>
                </a:effectLst>
              </a:rPr>
              <a:t>Datasets</a:t>
            </a:r>
            <a:r>
              <a:rPr lang="fr-FR" sz="8000" i="1" dirty="0" smtClean="0">
                <a:solidFill>
                  <a:srgbClr val="FFFF00"/>
                </a:solidFill>
                <a:effectLst>
                  <a:outerShdw blurRad="38100" dist="38100" dir="2700000" algn="tl">
                    <a:srgbClr val="000000"/>
                  </a:outerShdw>
                </a:effectLst>
              </a:rPr>
              <a:t>, and </a:t>
            </a:r>
            <a:r>
              <a:rPr lang="fr-FR" sz="8000" i="1" dirty="0" err="1" smtClean="0">
                <a:solidFill>
                  <a:srgbClr val="FFFF00"/>
                </a:solidFill>
                <a:effectLst>
                  <a:outerShdw blurRad="38100" dist="38100" dir="2700000" algn="tl">
                    <a:srgbClr val="000000"/>
                  </a:outerShdw>
                </a:effectLst>
              </a:rPr>
              <a:t>Databases</a:t>
            </a:r>
            <a:endParaRPr lang="fr-FR" sz="8000" i="1" dirty="0">
              <a:solidFill>
                <a:srgbClr val="FFFF00"/>
              </a:solidFill>
              <a:effectLst>
                <a:outerShdw blurRad="38100" dist="38100" dir="2700000" algn="tl">
                  <a:srgbClr val="000000"/>
                </a:outerShdw>
              </a:effectLst>
            </a:endParaRPr>
          </a:p>
        </p:txBody>
      </p:sp>
      <p:sp>
        <p:nvSpPr>
          <p:cNvPr id="1275907" name="AutoShape 3"/>
          <p:cNvSpPr>
            <a:spLocks noChangeArrowheads="1"/>
          </p:cNvSpPr>
          <p:nvPr/>
        </p:nvSpPr>
        <p:spPr bwMode="auto">
          <a:xfrm>
            <a:off x="1834167" y="2606675"/>
            <a:ext cx="1066800" cy="1905000"/>
          </a:xfrm>
          <a:prstGeom prst="downArrow">
            <a:avLst>
              <a:gd name="adj1" fmla="val 50000"/>
              <a:gd name="adj2" fmla="val 44643"/>
            </a:avLst>
          </a:prstGeom>
          <a:solidFill>
            <a:srgbClr val="0000FF">
              <a:alpha val="50000"/>
            </a:srgbClr>
          </a:solidFill>
          <a:ln w="12700">
            <a:miter lim="800000"/>
            <a:headEnd/>
            <a:tailEnd/>
          </a:ln>
          <a:effectLst/>
          <a:scene3d>
            <a:camera prst="legacyObliqueTopRight"/>
            <a:lightRig rig="legacyFlat3" dir="b"/>
          </a:scene3d>
          <a:sp3d extrusionH="430200" prstMaterial="legacyMatte">
            <a:bevelT w="13500" h="13500" prst="angle"/>
            <a:bevelB w="13500" h="13500" prst="angle"/>
            <a:extrusionClr>
              <a:srgbClr val="0000FF"/>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p>
        </p:txBody>
      </p:sp>
      <p:sp>
        <p:nvSpPr>
          <p:cNvPr id="3" name="Footer Placeholder 2"/>
          <p:cNvSpPr>
            <a:spLocks noGrp="1"/>
          </p:cNvSpPr>
          <p:nvPr>
            <p:ph type="ftr" sz="quarter" idx="11"/>
          </p:nvPr>
        </p:nvSpPr>
        <p:spPr/>
        <p:txBody>
          <a:bodyPr/>
          <a:lstStyle/>
          <a:p>
            <a:pPr>
              <a:defRPr/>
            </a:pPr>
            <a:r>
              <a:rPr lang="en-US" smtClean="0"/>
              <a:t>Isabelle Bichindaritz, SUNY Oswego</a:t>
            </a:r>
            <a:endParaRPr lang="en-US" dirty="0"/>
          </a:p>
        </p:txBody>
      </p:sp>
      <p:sp>
        <p:nvSpPr>
          <p:cNvPr id="7" name="Rectangle 2"/>
          <p:cNvSpPr txBox="1">
            <a:spLocks noChangeArrowheads="1"/>
          </p:cNvSpPr>
          <p:nvPr/>
        </p:nvSpPr>
        <p:spPr>
          <a:xfrm>
            <a:off x="2209800" y="-47623"/>
            <a:ext cx="8983800" cy="952499"/>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en-US" b="1" dirty="0" smtClean="0">
                <a:effectLst>
                  <a:outerShdw blurRad="38100" dist="38100" dir="2700000" algn="tl">
                    <a:srgbClr val="000000">
                      <a:alpha val="43137"/>
                    </a:srgbClr>
                  </a:outerShdw>
                </a:effectLst>
              </a:rPr>
              <a:t>Datasets and Files</a:t>
            </a:r>
          </a:p>
        </p:txBody>
      </p:sp>
    </p:spTree>
    <p:extLst>
      <p:ext uri="{BB962C8B-B14F-4D97-AF65-F5344CB8AC3E}">
        <p14:creationId xmlns:p14="http://schemas.microsoft.com/office/powerpoint/2010/main" val="40854583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1275906"/>
                                        </p:tgtEl>
                                        <p:attrNameLst>
                                          <p:attrName>style.visibility</p:attrName>
                                        </p:attrNameLst>
                                      </p:cBhvr>
                                      <p:to>
                                        <p:strVal val="visible"/>
                                      </p:to>
                                    </p:set>
                                    <p:animEffect transition="in" filter="box(in)">
                                      <p:cBhvr>
                                        <p:cTn id="7" dur="500"/>
                                        <p:tgtEl>
                                          <p:spTgt spid="1275906"/>
                                        </p:tgtEl>
                                      </p:cBhvr>
                                    </p:animEffect>
                                  </p:childTnLst>
                                </p:cTn>
                              </p:par>
                            </p:childTnLst>
                          </p:cTn>
                        </p:par>
                        <p:par>
                          <p:cTn id="8" fill="hold" nodeType="afterGroup">
                            <p:stCondLst>
                              <p:cond delay="500"/>
                            </p:stCondLst>
                            <p:childTnLst>
                              <p:par>
                                <p:cTn id="9" presetID="2" presetClass="entr" presetSubtype="1" fill="hold" grpId="0" nodeType="afterEffect">
                                  <p:stCondLst>
                                    <p:cond delay="0"/>
                                  </p:stCondLst>
                                  <p:childTnLst>
                                    <p:set>
                                      <p:cBhvr>
                                        <p:cTn id="10" dur="1" fill="hold">
                                          <p:stCondLst>
                                            <p:cond delay="0"/>
                                          </p:stCondLst>
                                        </p:cTn>
                                        <p:tgtEl>
                                          <p:spTgt spid="1275907"/>
                                        </p:tgtEl>
                                        <p:attrNameLst>
                                          <p:attrName>style.visibility</p:attrName>
                                        </p:attrNameLst>
                                      </p:cBhvr>
                                      <p:to>
                                        <p:strVal val="visible"/>
                                      </p:to>
                                    </p:set>
                                    <p:anim calcmode="lin" valueType="num">
                                      <p:cBhvr additive="base">
                                        <p:cTn id="11" dur="500" fill="hold"/>
                                        <p:tgtEl>
                                          <p:spTgt spid="1275907"/>
                                        </p:tgtEl>
                                        <p:attrNameLst>
                                          <p:attrName>ppt_x</p:attrName>
                                        </p:attrNameLst>
                                      </p:cBhvr>
                                      <p:tavLst>
                                        <p:tav tm="0">
                                          <p:val>
                                            <p:strVal val="#ppt_x"/>
                                          </p:val>
                                        </p:tav>
                                        <p:tav tm="100000">
                                          <p:val>
                                            <p:strVal val="#ppt_x"/>
                                          </p:val>
                                        </p:tav>
                                      </p:tavLst>
                                    </p:anim>
                                    <p:anim calcmode="lin" valueType="num">
                                      <p:cBhvr additive="base">
                                        <p:cTn id="12" dur="500" fill="hold"/>
                                        <p:tgtEl>
                                          <p:spTgt spid="127590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5906" grpId="0" autoUpdateAnimBg="0"/>
      <p:bldP spid="127590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17</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a:effectLst>
                  <a:outerShdw blurRad="38100" dist="38100" dir="2700000" algn="tl">
                    <a:srgbClr val="000000">
                      <a:alpha val="43137"/>
                    </a:srgbClr>
                  </a:outerShdw>
                </a:effectLst>
              </a:rPr>
              <a:t>Datasets and Files</a:t>
            </a:r>
          </a:p>
        </p:txBody>
      </p:sp>
      <p:sp>
        <p:nvSpPr>
          <p:cNvPr id="8198" name="Rectangle 3"/>
          <p:cNvSpPr>
            <a:spLocks noGrp="1" noChangeArrowheads="1"/>
          </p:cNvSpPr>
          <p:nvPr>
            <p:ph type="body" idx="1"/>
          </p:nvPr>
        </p:nvSpPr>
        <p:spPr>
          <a:xfrm>
            <a:off x="1752600" y="1524000"/>
            <a:ext cx="8686800" cy="4476750"/>
          </a:xfrm>
        </p:spPr>
        <p:txBody>
          <a:bodyPr>
            <a:normAutofit/>
          </a:bodyPr>
          <a:lstStyle/>
          <a:p>
            <a:r>
              <a:rPr lang="en-US" altLang="en-US" dirty="0" smtClean="0"/>
              <a:t>Data are collected in datasets that can be stored in</a:t>
            </a:r>
          </a:p>
          <a:p>
            <a:pPr marL="0" indent="0">
              <a:buNone/>
            </a:pPr>
            <a:endParaRPr lang="en-US" altLang="en-US" dirty="0" smtClean="0"/>
          </a:p>
          <a:p>
            <a:pPr lvl="1"/>
            <a:r>
              <a:rPr lang="en-US" altLang="en-US" dirty="0" smtClean="0"/>
              <a:t>Variables – containers used by programming languages to </a:t>
            </a:r>
            <a:br>
              <a:rPr lang="en-US" altLang="en-US" dirty="0" smtClean="0"/>
            </a:br>
            <a:r>
              <a:rPr lang="en-US" altLang="en-US" dirty="0" smtClean="0"/>
              <a:t>store data (Ex: a cell in an Excel spreadsheet).</a:t>
            </a:r>
            <a:br>
              <a:rPr lang="en-US" altLang="en-US" dirty="0" smtClean="0"/>
            </a:br>
            <a:r>
              <a:rPr lang="en-US" altLang="en-US" dirty="0" smtClean="0"/>
              <a:t>Not persistent – turning off the computer loses the data.</a:t>
            </a:r>
          </a:p>
          <a:p>
            <a:pPr lvl="1"/>
            <a:r>
              <a:rPr lang="en-US" altLang="en-US" dirty="0" smtClean="0"/>
              <a:t>Files - sets of data meant to store them on digital media (Ex: an Exce</a:t>
            </a:r>
            <a:r>
              <a:rPr lang="en-US" altLang="en-US" dirty="0"/>
              <a:t>l</a:t>
            </a:r>
            <a:r>
              <a:rPr lang="en-US" altLang="en-US" dirty="0" smtClean="0"/>
              <a:t> spreadsheet).</a:t>
            </a:r>
            <a:br>
              <a:rPr lang="en-US" altLang="en-US" dirty="0" smtClean="0"/>
            </a:br>
            <a:r>
              <a:rPr lang="en-US" altLang="en-US" dirty="0" smtClean="0"/>
              <a:t>Persistent – are preserved when the computer is turned off.</a:t>
            </a:r>
          </a:p>
          <a:p>
            <a:pPr lvl="1"/>
            <a:r>
              <a:rPr lang="en-US" altLang="en-US" dirty="0" smtClean="0"/>
              <a:t>Databases – shared  collection of logically related data (and a description of these data) recorded or stored on digital media designed to meet the information needs of an organization.</a:t>
            </a:r>
            <a:br>
              <a:rPr lang="en-US" altLang="en-US" dirty="0" smtClean="0"/>
            </a:br>
            <a:r>
              <a:rPr lang="en-US" altLang="en-US" dirty="0" smtClean="0"/>
              <a:t>Persistent.</a:t>
            </a:r>
          </a:p>
          <a:p>
            <a:pPr lvl="1"/>
            <a:endParaRPr lang="en-US" altLang="en-US" dirty="0"/>
          </a:p>
          <a:p>
            <a:pPr lvl="1"/>
            <a:endParaRPr lang="en-US" altLang="en-US" dirty="0" smtClean="0"/>
          </a:p>
        </p:txBody>
      </p:sp>
    </p:spTree>
    <p:extLst>
      <p:ext uri="{BB962C8B-B14F-4D97-AF65-F5344CB8AC3E}">
        <p14:creationId xmlns:p14="http://schemas.microsoft.com/office/powerpoint/2010/main" val="3761389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18</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a:effectLst>
                  <a:outerShdw blurRad="38100" dist="38100" dir="2700000" algn="tl">
                    <a:srgbClr val="000000">
                      <a:alpha val="43137"/>
                    </a:srgbClr>
                  </a:outerShdw>
                </a:effectLst>
              </a:rPr>
              <a:t>Datasets and Files</a:t>
            </a:r>
            <a:endParaRPr lang="en-US" altLang="en-US" b="1" dirty="0" smtClean="0">
              <a:effectLst>
                <a:outerShdw blurRad="38100" dist="38100" dir="2700000" algn="tl">
                  <a:srgbClr val="000000">
                    <a:alpha val="43137"/>
                  </a:srgbClr>
                </a:outerShdw>
              </a:effectLst>
            </a:endParaRPr>
          </a:p>
        </p:txBody>
      </p:sp>
      <p:sp>
        <p:nvSpPr>
          <p:cNvPr id="8198" name="Rectangle 3"/>
          <p:cNvSpPr>
            <a:spLocks noGrp="1" noChangeArrowheads="1"/>
          </p:cNvSpPr>
          <p:nvPr>
            <p:ph type="body" idx="1"/>
          </p:nvPr>
        </p:nvSpPr>
        <p:spPr>
          <a:xfrm>
            <a:off x="1752600" y="1524000"/>
            <a:ext cx="8686800" cy="4114800"/>
          </a:xfrm>
        </p:spPr>
        <p:txBody>
          <a:bodyPr>
            <a:normAutofit/>
          </a:bodyPr>
          <a:lstStyle/>
          <a:p>
            <a:r>
              <a:rPr lang="en-US" altLang="en-US" dirty="0" smtClean="0"/>
              <a:t>Data are stored in files, organized in variables.</a:t>
            </a:r>
          </a:p>
        </p:txBody>
      </p:sp>
      <p:pic>
        <p:nvPicPr>
          <p:cNvPr id="7" name="Picture 3" descr="D:\Database System 3e_tiff\Ch01-tif\DS3-Figure 01-05.tif"/>
          <p:cNvPicPr>
            <a:picLocks noChangeAspect="1" noChangeArrowheads="1"/>
          </p:cNvPicPr>
          <p:nvPr/>
        </p:nvPicPr>
        <p:blipFill>
          <a:blip r:embed="rId2" cstate="print"/>
          <a:srcRect/>
          <a:stretch>
            <a:fillRect/>
          </a:stretch>
        </p:blipFill>
        <p:spPr bwMode="auto">
          <a:xfrm>
            <a:off x="2125690" y="2292350"/>
            <a:ext cx="7239000" cy="4429125"/>
          </a:xfrm>
          <a:prstGeom prst="rect">
            <a:avLst/>
          </a:prstGeom>
          <a:noFill/>
        </p:spPr>
      </p:pic>
      <p:sp>
        <p:nvSpPr>
          <p:cNvPr id="8" name="Rectangle 3"/>
          <p:cNvSpPr txBox="1">
            <a:spLocks noChangeArrowheads="1"/>
          </p:cNvSpPr>
          <p:nvPr/>
        </p:nvSpPr>
        <p:spPr>
          <a:xfrm>
            <a:off x="8702184" y="3020119"/>
            <a:ext cx="3321049" cy="72811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a:lstStyle>
          <a:p>
            <a:pPr marL="0" indent="0">
              <a:buNone/>
            </a:pPr>
            <a:r>
              <a:rPr lang="en-US" altLang="en-US" dirty="0"/>
              <a:t>f</a:t>
            </a:r>
            <a:r>
              <a:rPr lang="en-US" altLang="en-US" dirty="0" smtClean="0"/>
              <a:t>rom Connolly and </a:t>
            </a:r>
            <a:r>
              <a:rPr lang="en-US" altLang="en-US" dirty="0" err="1" smtClean="0"/>
              <a:t>Begg</a:t>
            </a:r>
            <a:r>
              <a:rPr lang="en-US" altLang="en-US" dirty="0" smtClean="0"/>
              <a:t> (2014)</a:t>
            </a:r>
          </a:p>
        </p:txBody>
      </p:sp>
    </p:spTree>
    <p:extLst>
      <p:ext uri="{BB962C8B-B14F-4D97-AF65-F5344CB8AC3E}">
        <p14:creationId xmlns:p14="http://schemas.microsoft.com/office/powerpoint/2010/main" val="568232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7"/>
          <p:cNvGraphicFramePr>
            <a:graphicFrameLocks noChangeAspect="1"/>
          </p:cNvGraphicFramePr>
          <p:nvPr>
            <p:extLst>
              <p:ext uri="{D42A27DB-BD31-4B8C-83A1-F6EECF244321}">
                <p14:modId xmlns:p14="http://schemas.microsoft.com/office/powerpoint/2010/main" val="2636584073"/>
              </p:ext>
            </p:extLst>
          </p:nvPr>
        </p:nvGraphicFramePr>
        <p:xfrm>
          <a:off x="3848100" y="1997075"/>
          <a:ext cx="8343900" cy="4724400"/>
        </p:xfrm>
        <a:graphic>
          <a:graphicData uri="http://schemas.openxmlformats.org/presentationml/2006/ole">
            <mc:AlternateContent xmlns:mc="http://schemas.openxmlformats.org/markup-compatibility/2006">
              <mc:Choice xmlns:v="urn:schemas-microsoft-com:vml" Requires="v">
                <p:oleObj spid="_x0000_s1105" name="Worksheet" r:id="rId3" imgW="3019559" imgH="2028821" progId="Excel.Sheet.8">
                  <p:embed/>
                </p:oleObj>
              </mc:Choice>
              <mc:Fallback>
                <p:oleObj name="Worksheet" r:id="rId3" imgW="3019559" imgH="2028821" progId="Excel.Sheet.8">
                  <p:embed/>
                  <p:pic>
                    <p:nvPicPr>
                      <p:cNvPr id="0" name=""/>
                      <p:cNvPicPr>
                        <a:picLocks noChangeAspect="1" noChangeArrowheads="1"/>
                      </p:cNvPicPr>
                      <p:nvPr/>
                    </p:nvPicPr>
                    <p:blipFill>
                      <a:blip r:embed="rId4"/>
                      <a:srcRect/>
                      <a:stretch>
                        <a:fillRect/>
                      </a:stretch>
                    </p:blipFill>
                    <p:spPr bwMode="auto">
                      <a:xfrm>
                        <a:off x="3848100" y="1997075"/>
                        <a:ext cx="8343900" cy="4724400"/>
                      </a:xfrm>
                      <a:prstGeom prst="rect">
                        <a:avLst/>
                      </a:prstGeom>
                      <a:noFill/>
                      <a:ln>
                        <a:noFill/>
                      </a:ln>
                      <a:effectLst/>
                      <a:extLst/>
                    </p:spPr>
                  </p:pic>
                </p:oleObj>
              </mc:Fallback>
            </mc:AlternateContent>
          </a:graphicData>
        </a:graphic>
      </p:graphicFrame>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19</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a:effectLst>
                  <a:outerShdw blurRad="38100" dist="38100" dir="2700000" algn="tl">
                    <a:srgbClr val="000000">
                      <a:alpha val="43137"/>
                    </a:srgbClr>
                  </a:outerShdw>
                </a:effectLst>
              </a:rPr>
              <a:t>Datasets and Files</a:t>
            </a:r>
            <a:endParaRPr lang="en-US" altLang="en-US" b="1" dirty="0" smtClean="0">
              <a:effectLst>
                <a:outerShdw blurRad="38100" dist="38100" dir="2700000" algn="tl">
                  <a:srgbClr val="000000">
                    <a:alpha val="43137"/>
                  </a:srgbClr>
                </a:outerShdw>
              </a:effectLst>
            </a:endParaRPr>
          </a:p>
        </p:txBody>
      </p:sp>
      <p:sp>
        <p:nvSpPr>
          <p:cNvPr id="8198" name="Rectangle 3"/>
          <p:cNvSpPr>
            <a:spLocks noGrp="1" noChangeArrowheads="1"/>
          </p:cNvSpPr>
          <p:nvPr>
            <p:ph type="body" idx="1"/>
          </p:nvPr>
        </p:nvSpPr>
        <p:spPr>
          <a:xfrm>
            <a:off x="1752600" y="1524000"/>
            <a:ext cx="8686800" cy="4114800"/>
          </a:xfrm>
        </p:spPr>
        <p:txBody>
          <a:bodyPr>
            <a:normAutofit/>
          </a:bodyPr>
          <a:lstStyle/>
          <a:p>
            <a:r>
              <a:rPr lang="en-US" altLang="en-US" dirty="0" smtClean="0"/>
              <a:t>Data in a file is generally organized like in a spreadsheet.</a:t>
            </a:r>
          </a:p>
        </p:txBody>
      </p:sp>
      <p:sp>
        <p:nvSpPr>
          <p:cNvPr id="6" name="Text Box 5"/>
          <p:cNvSpPr txBox="1">
            <a:spLocks noChangeArrowheads="1"/>
          </p:cNvSpPr>
          <p:nvPr/>
        </p:nvSpPr>
        <p:spPr bwMode="auto">
          <a:xfrm>
            <a:off x="326015" y="4086224"/>
            <a:ext cx="3429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92075" indent="-92075" algn="l">
              <a:tabLst>
                <a:tab pos="1520825" algn="r"/>
                <a:tab pos="2566988" algn="r"/>
              </a:tabLst>
              <a:defRPr sz="2400">
                <a:solidFill>
                  <a:schemeClr val="tx1"/>
                </a:solidFill>
                <a:latin typeface="Times New Roman" pitchFamily="18" charset="0"/>
              </a:defRPr>
            </a:lvl1pPr>
            <a:lvl2pPr marL="952500" algn="l">
              <a:tabLst>
                <a:tab pos="1520825" algn="r"/>
                <a:tab pos="2566988" algn="r"/>
              </a:tabLst>
              <a:defRPr sz="2400">
                <a:solidFill>
                  <a:schemeClr val="tx1"/>
                </a:solidFill>
                <a:latin typeface="Times New Roman" pitchFamily="18" charset="0"/>
              </a:defRPr>
            </a:lvl2pPr>
            <a:lvl3pPr marL="1143000" algn="l">
              <a:tabLst>
                <a:tab pos="1520825" algn="r"/>
                <a:tab pos="2566988" algn="r"/>
              </a:tabLst>
              <a:defRPr sz="2400">
                <a:solidFill>
                  <a:schemeClr val="tx1"/>
                </a:solidFill>
                <a:latin typeface="Times New Roman" pitchFamily="18" charset="0"/>
              </a:defRPr>
            </a:lvl3pPr>
            <a:lvl4pPr algn="l">
              <a:tabLst>
                <a:tab pos="1520825" algn="r"/>
                <a:tab pos="2566988" algn="r"/>
              </a:tabLst>
              <a:defRPr sz="2400">
                <a:solidFill>
                  <a:schemeClr val="tx1"/>
                </a:solidFill>
                <a:latin typeface="Times New Roman" pitchFamily="18" charset="0"/>
              </a:defRPr>
            </a:lvl4pPr>
            <a:lvl5pPr algn="l">
              <a:tabLst>
                <a:tab pos="1520825" algn="r"/>
                <a:tab pos="2566988" algn="r"/>
              </a:tabLst>
              <a:defRPr sz="2400">
                <a:solidFill>
                  <a:schemeClr val="tx1"/>
                </a:solidFill>
                <a:latin typeface="Times New Roman" pitchFamily="18" charset="0"/>
              </a:defRPr>
            </a:lvl5pPr>
            <a:lvl6pPr eaLnBrk="0" fontAlgn="base" hangingPunct="0">
              <a:spcBef>
                <a:spcPct val="0"/>
              </a:spcBef>
              <a:spcAft>
                <a:spcPct val="0"/>
              </a:spcAft>
              <a:tabLst>
                <a:tab pos="1520825" algn="r"/>
                <a:tab pos="2566988" algn="r"/>
              </a:tabLst>
              <a:defRPr sz="2400">
                <a:solidFill>
                  <a:schemeClr val="tx1"/>
                </a:solidFill>
                <a:latin typeface="Times New Roman" pitchFamily="18" charset="0"/>
              </a:defRPr>
            </a:lvl6pPr>
            <a:lvl7pPr eaLnBrk="0" fontAlgn="base" hangingPunct="0">
              <a:spcBef>
                <a:spcPct val="0"/>
              </a:spcBef>
              <a:spcAft>
                <a:spcPct val="0"/>
              </a:spcAft>
              <a:tabLst>
                <a:tab pos="1520825" algn="r"/>
                <a:tab pos="2566988" algn="r"/>
              </a:tabLst>
              <a:defRPr sz="2400">
                <a:solidFill>
                  <a:schemeClr val="tx1"/>
                </a:solidFill>
                <a:latin typeface="Times New Roman" pitchFamily="18" charset="0"/>
              </a:defRPr>
            </a:lvl7pPr>
            <a:lvl8pPr eaLnBrk="0" fontAlgn="base" hangingPunct="0">
              <a:spcBef>
                <a:spcPct val="0"/>
              </a:spcBef>
              <a:spcAft>
                <a:spcPct val="0"/>
              </a:spcAft>
              <a:tabLst>
                <a:tab pos="1520825" algn="r"/>
                <a:tab pos="2566988" algn="r"/>
              </a:tabLst>
              <a:defRPr sz="2400">
                <a:solidFill>
                  <a:schemeClr val="tx1"/>
                </a:solidFill>
                <a:latin typeface="Times New Roman" pitchFamily="18" charset="0"/>
              </a:defRPr>
            </a:lvl8pPr>
            <a:lvl9pPr eaLnBrk="0" fontAlgn="base" hangingPunct="0">
              <a:spcBef>
                <a:spcPct val="0"/>
              </a:spcBef>
              <a:spcAft>
                <a:spcPct val="0"/>
              </a:spcAft>
              <a:tabLst>
                <a:tab pos="1520825" algn="r"/>
                <a:tab pos="2566988" algn="r"/>
              </a:tabLst>
              <a:defRPr sz="2400">
                <a:solidFill>
                  <a:schemeClr val="tx1"/>
                </a:solidFill>
                <a:latin typeface="Times New Roman" pitchFamily="18" charset="0"/>
              </a:defRPr>
            </a:lvl9pPr>
          </a:lstStyle>
          <a:p>
            <a:pPr>
              <a:spcBef>
                <a:spcPts val="500"/>
              </a:spcBef>
              <a:spcAft>
                <a:spcPts val="500"/>
              </a:spcAft>
              <a:buClr>
                <a:srgbClr val="CC6600"/>
              </a:buClr>
              <a:buFont typeface="Arrows2" pitchFamily="34" charset="2"/>
              <a:buNone/>
            </a:pPr>
            <a:r>
              <a:rPr kumimoji="0" lang="fr-FR" dirty="0" smtClean="0">
                <a:solidFill>
                  <a:srgbClr val="FFFF00"/>
                </a:solidFill>
                <a:effectLst>
                  <a:outerShdw blurRad="38100" dist="38100" dir="2700000" algn="tl">
                    <a:srgbClr val="000000"/>
                  </a:outerShdw>
                </a:effectLst>
                <a:latin typeface="Verdana" pitchFamily="34" charset="0"/>
                <a:cs typeface="Times New Roman" pitchFamily="18" charset="0"/>
              </a:rPr>
              <a:t>Client </a:t>
            </a:r>
            <a:r>
              <a:rPr lang="fr-FR" dirty="0" smtClean="0">
                <a:solidFill>
                  <a:srgbClr val="FFFF00"/>
                </a:solidFill>
                <a:effectLst>
                  <a:outerShdw blurRad="38100" dist="38100" dir="2700000" algn="tl">
                    <a:srgbClr val="000000"/>
                  </a:outerShdw>
                </a:effectLst>
                <a:latin typeface="Verdana" pitchFamily="34" charset="0"/>
                <a:cs typeface="Times New Roman" pitchFamily="18" charset="0"/>
              </a:rPr>
              <a:t>No</a:t>
            </a:r>
            <a:r>
              <a:rPr kumimoji="0" lang="fr-FR" dirty="0" smtClean="0">
                <a:solidFill>
                  <a:srgbClr val="FFFF00"/>
                </a:solidFill>
                <a:effectLst>
                  <a:outerShdw blurRad="38100" dist="38100" dir="2700000" algn="tl">
                    <a:srgbClr val="000000"/>
                  </a:outerShdw>
                </a:effectLst>
                <a:latin typeface="Verdana" pitchFamily="34" charset="0"/>
                <a:cs typeface="Times New Roman" pitchFamily="18" charset="0"/>
              </a:rPr>
              <a:t> = Unique identifier </a:t>
            </a:r>
            <a:endParaRPr kumimoji="0" lang="fr-FR" dirty="0">
              <a:solidFill>
                <a:schemeClr val="tx2"/>
              </a:solidFill>
              <a:effectLst>
                <a:outerShdw blurRad="38100" dist="38100" dir="2700000" algn="tl">
                  <a:srgbClr val="000000"/>
                </a:outerShdw>
              </a:effectLst>
              <a:latin typeface="Verdana" pitchFamily="34" charset="0"/>
              <a:cs typeface="Times New Roman" pitchFamily="18" charset="0"/>
            </a:endParaRPr>
          </a:p>
        </p:txBody>
      </p:sp>
      <p:sp>
        <p:nvSpPr>
          <p:cNvPr id="8" name="Text Box 8"/>
          <p:cNvSpPr txBox="1">
            <a:spLocks noChangeArrowheads="1"/>
          </p:cNvSpPr>
          <p:nvPr/>
        </p:nvSpPr>
        <p:spPr bwMode="auto">
          <a:xfrm>
            <a:off x="554615" y="2095500"/>
            <a:ext cx="29718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fr-FR" sz="3200" dirty="0" smtClean="0">
                <a:solidFill>
                  <a:srgbClr val="FFFF00"/>
                </a:solidFill>
                <a:effectLst>
                  <a:outerShdw blurRad="38100" dist="38100" dir="2700000" algn="tl">
                    <a:srgbClr val="000000"/>
                  </a:outerShdw>
                </a:effectLst>
                <a:latin typeface="Verdana" pitchFamily="34" charset="0"/>
                <a:cs typeface="Times New Roman" pitchFamily="18" charset="0"/>
              </a:rPr>
              <a:t>FILE « CLIENT" </a:t>
            </a:r>
            <a:endParaRPr kumimoji="0" lang="fr-FR" sz="2800" dirty="0">
              <a:solidFill>
                <a:srgbClr val="FFFF00"/>
              </a:solidFill>
              <a:effectLst>
                <a:outerShdw blurRad="38100" dist="38100" dir="2700000" algn="tl">
                  <a:srgbClr val="000000"/>
                </a:outerShdw>
              </a:effectLst>
              <a:latin typeface="Verdana" pitchFamily="34" charset="0"/>
              <a:cs typeface="Times New Roman" pitchFamily="18" charset="0"/>
            </a:endParaRPr>
          </a:p>
        </p:txBody>
      </p:sp>
    </p:spTree>
    <p:extLst>
      <p:ext uri="{BB962C8B-B14F-4D97-AF65-F5344CB8AC3E}">
        <p14:creationId xmlns:p14="http://schemas.microsoft.com/office/powerpoint/2010/main" val="2681218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0-#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down)">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8"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20</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a:effectLst>
                  <a:outerShdw blurRad="38100" dist="38100" dir="2700000" algn="tl">
                    <a:srgbClr val="000000">
                      <a:alpha val="43137"/>
                    </a:srgbClr>
                  </a:outerShdw>
                </a:effectLst>
              </a:rPr>
              <a:t>Datasets and Files</a:t>
            </a:r>
            <a:endParaRPr lang="en-US" altLang="en-US" b="1" dirty="0" smtClean="0">
              <a:effectLst>
                <a:outerShdw blurRad="38100" dist="38100" dir="2700000" algn="tl">
                  <a:srgbClr val="000000">
                    <a:alpha val="43137"/>
                  </a:srgbClr>
                </a:outerShdw>
              </a:effectLst>
            </a:endParaRPr>
          </a:p>
        </p:txBody>
      </p:sp>
      <p:sp>
        <p:nvSpPr>
          <p:cNvPr id="8198" name="Rectangle 3"/>
          <p:cNvSpPr>
            <a:spLocks noGrp="1" noChangeArrowheads="1"/>
          </p:cNvSpPr>
          <p:nvPr>
            <p:ph type="body" idx="1"/>
          </p:nvPr>
        </p:nvSpPr>
        <p:spPr>
          <a:xfrm>
            <a:off x="1752600" y="1524000"/>
            <a:ext cx="8686800" cy="4114800"/>
          </a:xfrm>
        </p:spPr>
        <p:txBody>
          <a:bodyPr>
            <a:normAutofit/>
          </a:bodyPr>
          <a:lstStyle/>
          <a:p>
            <a:r>
              <a:rPr lang="en-US" altLang="en-US" dirty="0" smtClean="0"/>
              <a:t>Data in a file is generally organized in columns and rows.</a:t>
            </a:r>
          </a:p>
          <a:p>
            <a:pPr marL="0" indent="0">
              <a:buNone/>
            </a:pPr>
            <a:endParaRPr lang="en-US" altLang="en-US" dirty="0" smtClean="0"/>
          </a:p>
          <a:p>
            <a:pPr lvl="1"/>
            <a:r>
              <a:rPr lang="en-US" altLang="en-US" dirty="0" smtClean="0"/>
              <a:t>A column corresponds to a variable – also called attribute, feature, field, or simply column.</a:t>
            </a:r>
          </a:p>
          <a:p>
            <a:pPr lvl="1"/>
            <a:r>
              <a:rPr lang="en-US" altLang="en-US" dirty="0" smtClean="0"/>
              <a:t>A column has a name.</a:t>
            </a:r>
          </a:p>
          <a:p>
            <a:pPr lvl="1"/>
            <a:r>
              <a:rPr lang="en-US" altLang="en-US" dirty="0" smtClean="0"/>
              <a:t>A row stores the set of values for each variable for a particular sample or instance.</a:t>
            </a:r>
          </a:p>
          <a:p>
            <a:pPr lvl="1"/>
            <a:r>
              <a:rPr lang="en-US" altLang="en-US" dirty="0" smtClean="0"/>
              <a:t>A sample corresponds to an individual, person, patient, object, or other entity.</a:t>
            </a:r>
            <a:endParaRPr lang="en-US" altLang="en-US" dirty="0"/>
          </a:p>
          <a:p>
            <a:pPr lvl="1"/>
            <a:r>
              <a:rPr lang="en-US" altLang="en-US" dirty="0" smtClean="0"/>
              <a:t>See example on previous slide.</a:t>
            </a:r>
          </a:p>
        </p:txBody>
      </p:sp>
    </p:spTree>
    <p:extLst>
      <p:ext uri="{BB962C8B-B14F-4D97-AF65-F5344CB8AC3E}">
        <p14:creationId xmlns:p14="http://schemas.microsoft.com/office/powerpoint/2010/main" val="23654966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21</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a:effectLst>
                  <a:outerShdw blurRad="38100" dist="38100" dir="2700000" algn="tl">
                    <a:srgbClr val="000000">
                      <a:alpha val="43137"/>
                    </a:srgbClr>
                  </a:outerShdw>
                </a:effectLst>
              </a:rPr>
              <a:t>Datasets and Files</a:t>
            </a:r>
            <a:endParaRPr lang="en-US" altLang="en-US" b="1" dirty="0" smtClean="0">
              <a:effectLst>
                <a:outerShdw blurRad="38100" dist="38100" dir="2700000" algn="tl">
                  <a:srgbClr val="000000">
                    <a:alpha val="43137"/>
                  </a:srgbClr>
                </a:outerShdw>
              </a:effectLst>
            </a:endParaRPr>
          </a:p>
        </p:txBody>
      </p:sp>
      <p:sp>
        <p:nvSpPr>
          <p:cNvPr id="8198" name="Rectangle 3"/>
          <p:cNvSpPr>
            <a:spLocks noGrp="1" noChangeArrowheads="1"/>
          </p:cNvSpPr>
          <p:nvPr>
            <p:ph type="body" idx="1"/>
          </p:nvPr>
        </p:nvSpPr>
        <p:spPr>
          <a:xfrm>
            <a:off x="1752600" y="1524000"/>
            <a:ext cx="8686800" cy="4114800"/>
          </a:xfrm>
        </p:spPr>
        <p:txBody>
          <a:bodyPr>
            <a:normAutofit/>
          </a:bodyPr>
          <a:lstStyle/>
          <a:p>
            <a:r>
              <a:rPr lang="en-US" altLang="en-US" dirty="0" smtClean="0"/>
              <a:t>Files can have many formats.</a:t>
            </a:r>
          </a:p>
          <a:p>
            <a:r>
              <a:rPr lang="en-US" altLang="en-US" dirty="0" smtClean="0"/>
              <a:t>One of the most useful formats is a text delimited file:</a:t>
            </a:r>
          </a:p>
          <a:p>
            <a:pPr lvl="1"/>
            <a:r>
              <a:rPr lang="en-US" altLang="en-US" dirty="0" smtClean="0"/>
              <a:t>It can be imported in Excel or database management software.</a:t>
            </a:r>
          </a:p>
          <a:p>
            <a:pPr lvl="1"/>
            <a:r>
              <a:rPr lang="en-US" altLang="en-US" dirty="0" smtClean="0"/>
              <a:t>The suffix can be .txt or .csv.</a:t>
            </a:r>
          </a:p>
          <a:p>
            <a:pPr lvl="1"/>
            <a:r>
              <a:rPr lang="en-US" altLang="en-US" dirty="0" smtClean="0"/>
              <a:t>Each variable is separated by a character called a delimiter, such as a comma, a tab, a semi-colon etc.</a:t>
            </a:r>
          </a:p>
          <a:p>
            <a:pPr lvl="1"/>
            <a:r>
              <a:rPr lang="en-US" altLang="en-US" dirty="0" smtClean="0"/>
              <a:t>The first row may or may not contain the list of variables in the file, separated by the delimiter.</a:t>
            </a:r>
          </a:p>
          <a:p>
            <a:pPr lvl="1"/>
            <a:r>
              <a:rPr lang="en-US" altLang="en-US" dirty="0" smtClean="0"/>
              <a:t> Each additional row contains the values associated with the corresponding variable for a particular sample.</a:t>
            </a:r>
          </a:p>
        </p:txBody>
      </p:sp>
    </p:spTree>
    <p:extLst>
      <p:ext uri="{BB962C8B-B14F-4D97-AF65-F5344CB8AC3E}">
        <p14:creationId xmlns:p14="http://schemas.microsoft.com/office/powerpoint/2010/main" val="21315101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22</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a:effectLst>
                  <a:outerShdw blurRad="38100" dist="38100" dir="2700000" algn="tl">
                    <a:srgbClr val="000000">
                      <a:alpha val="43137"/>
                    </a:srgbClr>
                  </a:outerShdw>
                </a:effectLst>
              </a:rPr>
              <a:t>Datasets and Files</a:t>
            </a:r>
            <a:endParaRPr lang="en-US" altLang="en-US" b="1" dirty="0" smtClean="0">
              <a:effectLst>
                <a:outerShdw blurRad="38100" dist="38100" dir="2700000" algn="tl">
                  <a:srgbClr val="000000">
                    <a:alpha val="43137"/>
                  </a:srgbClr>
                </a:outerShdw>
              </a:effectLst>
            </a:endParaRPr>
          </a:p>
        </p:txBody>
      </p:sp>
      <p:sp>
        <p:nvSpPr>
          <p:cNvPr id="8198" name="Rectangle 3"/>
          <p:cNvSpPr>
            <a:spLocks noGrp="1" noChangeArrowheads="1"/>
          </p:cNvSpPr>
          <p:nvPr>
            <p:ph type="body" idx="1"/>
          </p:nvPr>
        </p:nvSpPr>
        <p:spPr>
          <a:xfrm>
            <a:off x="1752600" y="1524000"/>
            <a:ext cx="8686800" cy="815788"/>
          </a:xfrm>
        </p:spPr>
        <p:txBody>
          <a:bodyPr>
            <a:normAutofit/>
          </a:bodyPr>
          <a:lstStyle/>
          <a:p>
            <a:r>
              <a:rPr lang="en-US" altLang="en-US" dirty="0"/>
              <a:t>c</a:t>
            </a:r>
            <a:r>
              <a:rPr lang="en-US" altLang="en-US" dirty="0" smtClean="0"/>
              <a:t>lient.csv file example (with delimiter “, “)</a:t>
            </a:r>
            <a:endParaRPr lang="en-US" altLang="en-US" dirty="0"/>
          </a:p>
          <a:p>
            <a:endParaRPr lang="en-US" altLang="en-US" dirty="0" smtClean="0"/>
          </a:p>
          <a:p>
            <a:endParaRPr lang="en-US" altLang="en-US" dirty="0" smtClean="0"/>
          </a:p>
          <a:p>
            <a:endParaRPr lang="en-US" altLang="en-US" dirty="0" smtClean="0"/>
          </a:p>
        </p:txBody>
      </p:sp>
      <p:sp>
        <p:nvSpPr>
          <p:cNvPr id="3" name="TextBox 2"/>
          <p:cNvSpPr txBox="1"/>
          <p:nvPr/>
        </p:nvSpPr>
        <p:spPr>
          <a:xfrm>
            <a:off x="2932618" y="2643498"/>
            <a:ext cx="5988194" cy="2677656"/>
          </a:xfrm>
          <a:prstGeom prst="rect">
            <a:avLst/>
          </a:prstGeom>
          <a:solidFill>
            <a:schemeClr val="bg2"/>
          </a:solidFill>
        </p:spPr>
        <p:txBody>
          <a:bodyPr wrap="square" rtlCol="0">
            <a:spAutoFit/>
          </a:bodyPr>
          <a:lstStyle/>
          <a:p>
            <a:r>
              <a:rPr lang="en-US" sz="2800" dirty="0" err="1"/>
              <a:t>clientNo</a:t>
            </a:r>
            <a:r>
              <a:rPr lang="en-US" sz="2800" dirty="0"/>
              <a:t>, </a:t>
            </a:r>
            <a:r>
              <a:rPr lang="en-US" sz="2800" dirty="0" err="1"/>
              <a:t>fName</a:t>
            </a:r>
            <a:r>
              <a:rPr lang="en-US" sz="2800" dirty="0"/>
              <a:t>, </a:t>
            </a:r>
            <a:r>
              <a:rPr lang="en-US" sz="2800" dirty="0" err="1"/>
              <a:t>lName</a:t>
            </a:r>
            <a:r>
              <a:rPr lang="en-US" sz="2800" dirty="0"/>
              <a:t>, address, </a:t>
            </a:r>
            <a:r>
              <a:rPr lang="en-US" sz="2800" dirty="0" err="1"/>
              <a:t>telNo</a:t>
            </a:r>
            <a:endParaRPr lang="en-US" sz="2800" dirty="0"/>
          </a:p>
          <a:p>
            <a:r>
              <a:rPr lang="en-US" sz="2800" dirty="0"/>
              <a:t>1, Lisa, Smith, mountain, 1439</a:t>
            </a:r>
          </a:p>
          <a:p>
            <a:r>
              <a:rPr lang="en-US" sz="2800" dirty="0"/>
              <a:t>2, John, Mack, city, 5634</a:t>
            </a:r>
          </a:p>
          <a:p>
            <a:r>
              <a:rPr lang="en-US" sz="2800" dirty="0"/>
              <a:t>3, Mary, Lewis, river, 9045</a:t>
            </a:r>
          </a:p>
          <a:p>
            <a:r>
              <a:rPr lang="en-US" sz="2800" dirty="0"/>
              <a:t>4, Mark, Trump, plain, 2710</a:t>
            </a:r>
          </a:p>
          <a:p>
            <a:r>
              <a:rPr lang="en-US" sz="2800" dirty="0"/>
              <a:t>5, Leslie, Clinton, village, 3592</a:t>
            </a:r>
          </a:p>
        </p:txBody>
      </p:sp>
    </p:spTree>
    <p:extLst>
      <p:ext uri="{BB962C8B-B14F-4D97-AF65-F5344CB8AC3E}">
        <p14:creationId xmlns:p14="http://schemas.microsoft.com/office/powerpoint/2010/main" val="316575357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23</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70000" lnSpcReduction="2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altLang="en-US" sz="2400" dirty="0" smtClean="0"/>
              <a:t>Locating and downloading datasets</a:t>
            </a:r>
          </a:p>
          <a:p>
            <a:pPr lvl="1"/>
            <a:r>
              <a:rPr lang="en-US" altLang="en-US" dirty="0" smtClean="0"/>
              <a:t>Datasets and files</a:t>
            </a:r>
          </a:p>
          <a:p>
            <a:pPr lvl="1"/>
            <a:r>
              <a:rPr lang="en-US" altLang="en-US" b="1" dirty="0" smtClean="0">
                <a:solidFill>
                  <a:srgbClr val="FFFF00"/>
                </a:solidFill>
              </a:rPr>
              <a:t>Data sources</a:t>
            </a:r>
            <a:endParaRPr lang="en-US" altLang="en-US" b="1" dirty="0">
              <a:solidFill>
                <a:srgbClr val="FFFF00"/>
              </a:solidFill>
            </a:endParaRPr>
          </a:p>
          <a:p>
            <a:r>
              <a:rPr lang="en-US" altLang="en-US" sz="2400" dirty="0" smtClean="0"/>
              <a:t>Data preprocessing</a:t>
            </a:r>
            <a:endParaRPr lang="en-US" altLang="en-US" sz="2400" dirty="0"/>
          </a:p>
          <a:p>
            <a:pPr lvl="1"/>
            <a:r>
              <a:rPr lang="en-US" altLang="en-US" dirty="0" smtClean="0"/>
              <a:t>Importance of data preprocessing</a:t>
            </a:r>
            <a:endParaRPr lang="en-US" altLang="en-US" dirty="0"/>
          </a:p>
          <a:p>
            <a:pPr lvl="1"/>
            <a:r>
              <a:rPr lang="en-US" altLang="en-US" dirty="0" smtClean="0"/>
              <a:t>Data preprocessing tasks</a:t>
            </a:r>
            <a:endParaRPr lang="en-US" altLang="en-US" dirty="0"/>
          </a:p>
          <a:p>
            <a:r>
              <a:rPr lang="en-US" altLang="en-US" sz="2400" dirty="0" smtClean="0"/>
              <a:t>Missing values</a:t>
            </a:r>
          </a:p>
          <a:p>
            <a:pPr lvl="1"/>
            <a:r>
              <a:rPr lang="en-US" altLang="en-US" dirty="0" smtClean="0"/>
              <a:t>Replacing missing values</a:t>
            </a:r>
          </a:p>
          <a:p>
            <a:r>
              <a:rPr lang="en-US" altLang="en-US" sz="2400" dirty="0" smtClean="0"/>
              <a:t>Normalizing and discretizing data</a:t>
            </a:r>
          </a:p>
          <a:p>
            <a:pPr lvl="1"/>
            <a:r>
              <a:rPr lang="en-US" altLang="en-US" dirty="0" smtClean="0"/>
              <a:t>Data normalization</a:t>
            </a:r>
          </a:p>
          <a:p>
            <a:pPr lvl="1"/>
            <a:r>
              <a:rPr lang="en-US" altLang="en-US" dirty="0" smtClean="0"/>
              <a:t>Discretization</a:t>
            </a:r>
          </a:p>
          <a:p>
            <a:r>
              <a:rPr lang="en-US" altLang="en-US" sz="2400" dirty="0" smtClean="0"/>
              <a:t>Data reduction</a:t>
            </a:r>
          </a:p>
          <a:p>
            <a:pPr lvl="1"/>
            <a:r>
              <a:rPr lang="en-US" altLang="en-US" dirty="0"/>
              <a:t>Feature selection</a:t>
            </a:r>
          </a:p>
          <a:p>
            <a:pPr lvl="1"/>
            <a:r>
              <a:rPr lang="en-US" altLang="en-US" dirty="0" smtClean="0"/>
              <a:t>Data sampling</a:t>
            </a:r>
          </a:p>
          <a:p>
            <a:r>
              <a:rPr lang="en-US" altLang="en-US" sz="2400" dirty="0"/>
              <a:t>Introduction to R language</a:t>
            </a:r>
          </a:p>
          <a:p>
            <a:pPr lvl="1"/>
            <a:r>
              <a:rPr lang="en-US" altLang="en-US" dirty="0"/>
              <a:t>Principles of R</a:t>
            </a:r>
          </a:p>
          <a:p>
            <a:pPr lvl="1"/>
            <a:r>
              <a:rPr lang="en-US" altLang="en-US" dirty="0"/>
              <a:t>Working with </a:t>
            </a:r>
            <a:r>
              <a:rPr lang="en-US" altLang="en-US" dirty="0" smtClean="0"/>
              <a:t>R</a:t>
            </a:r>
          </a:p>
          <a:p>
            <a:pPr lvl="1"/>
            <a:r>
              <a:rPr lang="en-US" altLang="en-US" dirty="0"/>
              <a:t>Data preprocessing with </a:t>
            </a:r>
            <a:r>
              <a:rPr lang="en-US" altLang="en-US" dirty="0" smtClean="0"/>
              <a:t>R</a:t>
            </a:r>
            <a:endParaRPr lang="en-US" altLang="en-US" dirty="0"/>
          </a:p>
          <a:p>
            <a:pPr lvl="1"/>
            <a:endParaRPr lang="en-US" altLang="en-US" dirty="0"/>
          </a:p>
        </p:txBody>
      </p:sp>
    </p:spTree>
    <p:extLst>
      <p:ext uri="{BB962C8B-B14F-4D97-AF65-F5344CB8AC3E}">
        <p14:creationId xmlns:p14="http://schemas.microsoft.com/office/powerpoint/2010/main" val="1630906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24</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Sources</a:t>
            </a:r>
          </a:p>
        </p:txBody>
      </p:sp>
      <p:sp>
        <p:nvSpPr>
          <p:cNvPr id="8198" name="Rectangle 3"/>
          <p:cNvSpPr>
            <a:spLocks noGrp="1" noChangeArrowheads="1"/>
          </p:cNvSpPr>
          <p:nvPr>
            <p:ph type="body" idx="1"/>
          </p:nvPr>
        </p:nvSpPr>
        <p:spPr>
          <a:xfrm>
            <a:off x="1752600" y="1523999"/>
            <a:ext cx="8686800" cy="4656083"/>
          </a:xfrm>
        </p:spPr>
        <p:txBody>
          <a:bodyPr>
            <a:normAutofit fontScale="92500" lnSpcReduction="10000"/>
          </a:bodyPr>
          <a:lstStyle/>
          <a:p>
            <a:r>
              <a:rPr lang="en-US" altLang="en-US" dirty="0" smtClean="0"/>
              <a:t>Where do we find biomedical Big Data sources ?</a:t>
            </a:r>
          </a:p>
          <a:p>
            <a:pPr lvl="1"/>
            <a:r>
              <a:rPr lang="en-US" altLang="en-US" dirty="0" smtClean="0"/>
              <a:t>Data in existing repositories (proprietary):</a:t>
            </a:r>
          </a:p>
          <a:p>
            <a:pPr lvl="2"/>
            <a:r>
              <a:rPr lang="en-US" altLang="en-US" dirty="0" smtClean="0"/>
              <a:t>Electronic Medical Records (EMRs).</a:t>
            </a:r>
          </a:p>
          <a:p>
            <a:pPr lvl="2"/>
            <a:r>
              <a:rPr lang="en-US" altLang="en-US" dirty="0" smtClean="0"/>
              <a:t>Clinical studies.</a:t>
            </a:r>
          </a:p>
          <a:p>
            <a:pPr lvl="2"/>
            <a:endParaRPr lang="en-US" altLang="en-US" dirty="0" smtClean="0"/>
          </a:p>
          <a:p>
            <a:pPr lvl="1"/>
            <a:r>
              <a:rPr lang="en-US" altLang="en-US" dirty="0" smtClean="0"/>
              <a:t>Open data sources (public).</a:t>
            </a:r>
          </a:p>
          <a:p>
            <a:pPr lvl="2"/>
            <a:r>
              <a:rPr lang="en-US" altLang="en-US" dirty="0" smtClean="0"/>
              <a:t>List in resources</a:t>
            </a:r>
          </a:p>
          <a:p>
            <a:pPr lvl="2"/>
            <a:r>
              <a:rPr lang="en-US" b="1" u="sng" dirty="0">
                <a:hlinkClick r:id="rId2"/>
              </a:rPr>
              <a:t>The Cancer Genome Atlas (TCGA)</a:t>
            </a:r>
            <a:endParaRPr lang="en-US" sz="600" dirty="0"/>
          </a:p>
          <a:p>
            <a:pPr lvl="2"/>
            <a:r>
              <a:rPr lang="en-US" b="1" u="sng" dirty="0">
                <a:hlinkClick r:id="rId3"/>
              </a:rPr>
              <a:t>Alzheimer’s Disease Neuroimaging Initiative (ADNI)</a:t>
            </a:r>
            <a:endParaRPr lang="en-US" sz="600" dirty="0"/>
          </a:p>
          <a:p>
            <a:pPr lvl="2"/>
            <a:r>
              <a:rPr lang="en-US" b="1" u="sng" dirty="0">
                <a:hlinkClick r:id="rId4"/>
              </a:rPr>
              <a:t>Health and Retirement Study (HRS)</a:t>
            </a:r>
            <a:endParaRPr lang="en-US" sz="600" dirty="0"/>
          </a:p>
          <a:p>
            <a:pPr lvl="2"/>
            <a:r>
              <a:rPr lang="en-US" b="1" u="sng" dirty="0">
                <a:hlinkClick r:id="rId5"/>
              </a:rPr>
              <a:t>UK Biobank</a:t>
            </a:r>
            <a:endParaRPr lang="en-US" sz="600" dirty="0"/>
          </a:p>
          <a:p>
            <a:pPr lvl="2"/>
            <a:r>
              <a:rPr lang="en-US" b="1" u="sng" dirty="0">
                <a:hlinkClick r:id="rId6"/>
              </a:rPr>
              <a:t>Millennium Cohort Study</a:t>
            </a:r>
            <a:endParaRPr lang="en-US" sz="600" dirty="0"/>
          </a:p>
          <a:p>
            <a:pPr lvl="2"/>
            <a:r>
              <a:rPr lang="en-US" b="1" u="sng" dirty="0">
                <a:hlinkClick r:id="rId7"/>
              </a:rPr>
              <a:t>CALIBER (EHR and admin data)</a:t>
            </a:r>
            <a:endParaRPr lang="en-US" sz="600" dirty="0"/>
          </a:p>
          <a:p>
            <a:pPr lvl="2"/>
            <a:r>
              <a:rPr lang="en-US" b="1" u="sng" dirty="0">
                <a:hlinkClick r:id="rId8"/>
              </a:rPr>
              <a:t>UCI Machine Learning </a:t>
            </a:r>
            <a:r>
              <a:rPr lang="en-US" b="1" u="sng" dirty="0" smtClean="0">
                <a:hlinkClick r:id="rId8"/>
              </a:rPr>
              <a:t>Repository</a:t>
            </a:r>
            <a:r>
              <a:rPr lang="en-US" b="1" u="sng" dirty="0" smtClean="0"/>
              <a:t> </a:t>
            </a:r>
          </a:p>
          <a:p>
            <a:pPr lvl="2"/>
            <a:r>
              <a:rPr lang="en-US" sz="600" b="1" u="sng" dirty="0" smtClean="0"/>
              <a:t>…</a:t>
            </a:r>
            <a:endParaRPr lang="en-US" sz="600" dirty="0"/>
          </a:p>
          <a:p>
            <a:pPr lvl="2"/>
            <a:endParaRPr lang="en-US" altLang="en-US" dirty="0" smtClean="0"/>
          </a:p>
        </p:txBody>
      </p:sp>
    </p:spTree>
    <p:extLst>
      <p:ext uri="{BB962C8B-B14F-4D97-AF65-F5344CB8AC3E}">
        <p14:creationId xmlns:p14="http://schemas.microsoft.com/office/powerpoint/2010/main" val="40054919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25</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Sources</a:t>
            </a:r>
          </a:p>
        </p:txBody>
      </p:sp>
      <p:sp>
        <p:nvSpPr>
          <p:cNvPr id="8198" name="Rectangle 3"/>
          <p:cNvSpPr>
            <a:spLocks noGrp="1" noChangeArrowheads="1"/>
          </p:cNvSpPr>
          <p:nvPr>
            <p:ph type="body" idx="1"/>
          </p:nvPr>
        </p:nvSpPr>
        <p:spPr>
          <a:xfrm>
            <a:off x="1752600" y="1524000"/>
            <a:ext cx="8686800" cy="4114800"/>
          </a:xfrm>
        </p:spPr>
        <p:txBody>
          <a:bodyPr>
            <a:normAutofit fontScale="92500" lnSpcReduction="10000"/>
          </a:bodyPr>
          <a:lstStyle/>
          <a:p>
            <a:r>
              <a:rPr lang="en-US" altLang="en-US" dirty="0" smtClean="0"/>
              <a:t>Heterogeneous types of Big Data to analyze separately or together:</a:t>
            </a:r>
          </a:p>
          <a:p>
            <a:pPr lvl="1"/>
            <a:r>
              <a:rPr lang="en-US" altLang="en-US" dirty="0" smtClean="0"/>
              <a:t>Numeric, nominal.</a:t>
            </a:r>
          </a:p>
          <a:p>
            <a:pPr lvl="1"/>
            <a:r>
              <a:rPr lang="en-US" altLang="en-US" dirty="0" smtClean="0"/>
              <a:t>Text.</a:t>
            </a:r>
          </a:p>
          <a:p>
            <a:pPr lvl="1"/>
            <a:r>
              <a:rPr lang="en-US" altLang="en-US" dirty="0" smtClean="0"/>
              <a:t>Image.</a:t>
            </a:r>
          </a:p>
          <a:p>
            <a:pPr lvl="1"/>
            <a:r>
              <a:rPr lang="en-US" altLang="en-US" dirty="0" smtClean="0"/>
              <a:t>Video.</a:t>
            </a:r>
          </a:p>
          <a:p>
            <a:pPr lvl="1"/>
            <a:r>
              <a:rPr lang="en-US" altLang="en-US" dirty="0" smtClean="0"/>
              <a:t>Sound.</a:t>
            </a:r>
          </a:p>
          <a:p>
            <a:pPr lvl="1"/>
            <a:r>
              <a:rPr lang="en-US" altLang="en-US" dirty="0" smtClean="0"/>
              <a:t>Social media.</a:t>
            </a:r>
          </a:p>
          <a:p>
            <a:pPr lvl="1"/>
            <a:r>
              <a:rPr lang="en-US" altLang="en-US" dirty="0" smtClean="0"/>
              <a:t>Web.</a:t>
            </a:r>
          </a:p>
          <a:p>
            <a:pPr lvl="1"/>
            <a:r>
              <a:rPr lang="en-US" altLang="en-US" dirty="0" smtClean="0"/>
              <a:t>Time series.</a:t>
            </a:r>
          </a:p>
          <a:p>
            <a:pPr lvl="1"/>
            <a:r>
              <a:rPr lang="en-US" altLang="en-US" dirty="0" smtClean="0"/>
              <a:t>Signal.</a:t>
            </a:r>
          </a:p>
          <a:p>
            <a:pPr lvl="1"/>
            <a:r>
              <a:rPr lang="en-US" altLang="en-US" dirty="0" smtClean="0"/>
              <a:t>…</a:t>
            </a:r>
          </a:p>
        </p:txBody>
      </p:sp>
    </p:spTree>
    <p:extLst>
      <p:ext uri="{BB962C8B-B14F-4D97-AF65-F5344CB8AC3E}">
        <p14:creationId xmlns:p14="http://schemas.microsoft.com/office/powerpoint/2010/main" val="22354841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26</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Sources</a:t>
            </a:r>
          </a:p>
        </p:txBody>
      </p:sp>
      <p:sp>
        <p:nvSpPr>
          <p:cNvPr id="8198" name="Rectangle 3"/>
          <p:cNvSpPr>
            <a:spLocks noGrp="1" noChangeArrowheads="1"/>
          </p:cNvSpPr>
          <p:nvPr>
            <p:ph type="body" idx="1"/>
          </p:nvPr>
        </p:nvSpPr>
        <p:spPr>
          <a:xfrm>
            <a:off x="1752600" y="1524000"/>
            <a:ext cx="8686800" cy="4461164"/>
          </a:xfrm>
        </p:spPr>
        <p:txBody>
          <a:bodyPr>
            <a:normAutofit/>
          </a:bodyPr>
          <a:lstStyle/>
          <a:p>
            <a:r>
              <a:rPr lang="en-US" altLang="en-US" dirty="0" smtClean="0"/>
              <a:t>Gene expression data.</a:t>
            </a:r>
          </a:p>
          <a:p>
            <a:pPr lvl="1"/>
            <a:endParaRPr lang="en-US" altLang="en-US" dirty="0" smtClean="0"/>
          </a:p>
          <a:p>
            <a:pPr lvl="1"/>
            <a:endParaRPr lang="en-US" altLang="en-US" dirty="0" smtClean="0">
              <a:hlinkClick r:id="rId2"/>
            </a:endParaRPr>
          </a:p>
          <a:p>
            <a:pPr lvl="1"/>
            <a:endParaRPr lang="en-US" altLang="en-US" dirty="0">
              <a:hlinkClick r:id="rId2"/>
            </a:endParaRPr>
          </a:p>
          <a:p>
            <a:pPr lvl="1"/>
            <a:endParaRPr lang="en-US" altLang="en-US" dirty="0" smtClean="0">
              <a:hlinkClick r:id="rId2"/>
            </a:endParaRPr>
          </a:p>
          <a:p>
            <a:pPr lvl="1"/>
            <a:endParaRPr lang="en-US" altLang="en-US" dirty="0">
              <a:hlinkClick r:id="rId2"/>
            </a:endParaRPr>
          </a:p>
          <a:p>
            <a:pPr lvl="1"/>
            <a:endParaRPr lang="en-US" altLang="en-US" dirty="0" smtClean="0">
              <a:hlinkClick r:id="rId2"/>
            </a:endParaRPr>
          </a:p>
          <a:p>
            <a:pPr lvl="1"/>
            <a:endParaRPr lang="en-US" altLang="en-US" dirty="0">
              <a:hlinkClick r:id="rId2"/>
            </a:endParaRPr>
          </a:p>
          <a:p>
            <a:pPr lvl="1"/>
            <a:endParaRPr lang="en-US" altLang="en-US" dirty="0" smtClean="0">
              <a:hlinkClick r:id="rId2"/>
            </a:endParaRPr>
          </a:p>
          <a:p>
            <a:pPr marL="457200" lvl="1" indent="0" algn="ctr">
              <a:buNone/>
            </a:pPr>
            <a:endParaRPr lang="en-US" altLang="en-US" dirty="0" smtClean="0">
              <a:hlinkClick r:id="rId2"/>
            </a:endParaRPr>
          </a:p>
          <a:p>
            <a:pPr marL="457200" lvl="1" indent="0" algn="ctr">
              <a:buNone/>
            </a:pPr>
            <a:r>
              <a:rPr lang="en-US" altLang="en-US" dirty="0" smtClean="0">
                <a:hlinkClick r:id="rId2"/>
              </a:rPr>
              <a:t>http</a:t>
            </a:r>
            <a:r>
              <a:rPr lang="en-US" altLang="en-US" dirty="0">
                <a:hlinkClick r:id="rId2"/>
              </a:rPr>
              <a:t>://learn.genetics.utah.edu/content/labs/microarray</a:t>
            </a:r>
            <a:r>
              <a:rPr lang="en-US" altLang="en-US" dirty="0" smtClean="0">
                <a:hlinkClick r:id="rId2"/>
              </a:rPr>
              <a:t>/</a:t>
            </a:r>
            <a:r>
              <a:rPr lang="en-US" altLang="en-US" dirty="0" smtClean="0"/>
              <a:t> </a:t>
            </a:r>
          </a:p>
          <a:p>
            <a:pPr lvl="1"/>
            <a:endParaRPr lang="en-US" altLang="en-US" dirty="0"/>
          </a:p>
          <a:p>
            <a:pPr lvl="1"/>
            <a:endParaRPr lang="en-US" altLang="en-US" dirty="0" smtClean="0"/>
          </a:p>
          <a:p>
            <a:endParaRPr lang="en-US" altLang="en-US" dirty="0" smtClean="0"/>
          </a:p>
        </p:txBody>
      </p:sp>
      <p:pic>
        <p:nvPicPr>
          <p:cNvPr id="2" name="Picture 1"/>
          <p:cNvPicPr>
            <a:picLocks noChangeAspect="1"/>
          </p:cNvPicPr>
          <p:nvPr/>
        </p:nvPicPr>
        <p:blipFill>
          <a:blip r:embed="rId3"/>
          <a:stretch>
            <a:fillRect/>
          </a:stretch>
        </p:blipFill>
        <p:spPr>
          <a:xfrm>
            <a:off x="3786187" y="1983367"/>
            <a:ext cx="4619625" cy="3514725"/>
          </a:xfrm>
          <a:prstGeom prst="rect">
            <a:avLst/>
          </a:prstGeom>
        </p:spPr>
      </p:pic>
    </p:spTree>
    <p:extLst>
      <p:ext uri="{BB962C8B-B14F-4D97-AF65-F5344CB8AC3E}">
        <p14:creationId xmlns:p14="http://schemas.microsoft.com/office/powerpoint/2010/main" val="1958324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27</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Sources</a:t>
            </a:r>
          </a:p>
        </p:txBody>
      </p:sp>
      <p:sp>
        <p:nvSpPr>
          <p:cNvPr id="8198" name="Rectangle 3"/>
          <p:cNvSpPr>
            <a:spLocks noGrp="1" noChangeArrowheads="1"/>
          </p:cNvSpPr>
          <p:nvPr>
            <p:ph type="body" idx="1"/>
          </p:nvPr>
        </p:nvSpPr>
        <p:spPr>
          <a:xfrm>
            <a:off x="917110" y="1762636"/>
            <a:ext cx="8686800" cy="4114800"/>
          </a:xfrm>
        </p:spPr>
        <p:txBody>
          <a:bodyPr>
            <a:normAutofit lnSpcReduction="10000"/>
          </a:bodyPr>
          <a:lstStyle/>
          <a:p>
            <a:r>
              <a:rPr lang="en-US" altLang="en-US" dirty="0" smtClean="0"/>
              <a:t>TCGA data</a:t>
            </a:r>
          </a:p>
          <a:p>
            <a:pPr marL="0" indent="0">
              <a:buNone/>
            </a:pPr>
            <a:endParaRPr lang="en-US" altLang="en-US" dirty="0" smtClean="0"/>
          </a:p>
          <a:p>
            <a:pPr lvl="1"/>
            <a:r>
              <a:rPr lang="en-US" altLang="en-US" dirty="0" smtClean="0"/>
              <a:t>The cancer Genome Atlas (TCGA) provides </a:t>
            </a:r>
            <a:br>
              <a:rPr lang="en-US" altLang="en-US" dirty="0" smtClean="0"/>
            </a:br>
            <a:r>
              <a:rPr lang="en-US" altLang="en-US" dirty="0" smtClean="0"/>
              <a:t>multi-dimensional data about 33 types of cancers. </a:t>
            </a:r>
          </a:p>
          <a:p>
            <a:pPr lvl="1"/>
            <a:r>
              <a:rPr lang="en-US" altLang="en-US" dirty="0" smtClean="0"/>
              <a:t>It provides 2.5 petabytes of data from over 11,000 </a:t>
            </a:r>
            <a:br>
              <a:rPr lang="en-US" altLang="en-US" dirty="0" smtClean="0"/>
            </a:br>
            <a:r>
              <a:rPr lang="en-US" altLang="en-US" dirty="0" smtClean="0"/>
              <a:t>patients including both tumor tissue and matched </a:t>
            </a:r>
            <a:br>
              <a:rPr lang="en-US" altLang="en-US" dirty="0" smtClean="0"/>
            </a:br>
            <a:r>
              <a:rPr lang="en-US" altLang="en-US" dirty="0" smtClean="0"/>
              <a:t>normal tissue.</a:t>
            </a:r>
          </a:p>
          <a:p>
            <a:pPr lvl="1"/>
            <a:r>
              <a:rPr lang="en-US" altLang="en-US" dirty="0" smtClean="0"/>
              <a:t>For each type of cancer, several datasets are </a:t>
            </a:r>
            <a:br>
              <a:rPr lang="en-US" altLang="en-US" dirty="0" smtClean="0"/>
            </a:br>
            <a:r>
              <a:rPr lang="en-US" altLang="en-US" dirty="0" smtClean="0"/>
              <a:t>available with 7 different types of data – many </a:t>
            </a:r>
            <a:br>
              <a:rPr lang="en-US" altLang="en-US" dirty="0" smtClean="0"/>
            </a:br>
            <a:r>
              <a:rPr lang="en-US" altLang="en-US" dirty="0" smtClean="0"/>
              <a:t>being public, others requiring authorization to </a:t>
            </a:r>
            <a:br>
              <a:rPr lang="en-US" altLang="en-US" dirty="0" smtClean="0"/>
            </a:br>
            <a:r>
              <a:rPr lang="en-US" altLang="en-US" dirty="0" smtClean="0"/>
              <a:t>be accessed. </a:t>
            </a:r>
            <a:endParaRPr lang="en-US" altLang="en-US" dirty="0"/>
          </a:p>
          <a:p>
            <a:pPr marL="0" indent="0">
              <a:buNone/>
            </a:pPr>
            <a:endParaRPr lang="en-US" altLang="en-US" dirty="0" smtClean="0"/>
          </a:p>
        </p:txBody>
      </p:sp>
      <p:pic>
        <p:nvPicPr>
          <p:cNvPr id="2" name="Picture 1"/>
          <p:cNvPicPr>
            <a:picLocks noChangeAspect="1"/>
          </p:cNvPicPr>
          <p:nvPr/>
        </p:nvPicPr>
        <p:blipFill>
          <a:blip r:embed="rId2"/>
          <a:stretch>
            <a:fillRect/>
          </a:stretch>
        </p:blipFill>
        <p:spPr>
          <a:xfrm>
            <a:off x="7934198" y="1954881"/>
            <a:ext cx="4228098" cy="3443640"/>
          </a:xfrm>
          <a:prstGeom prst="rect">
            <a:avLst/>
          </a:prstGeom>
        </p:spPr>
      </p:pic>
    </p:spTree>
    <p:extLst>
      <p:ext uri="{BB962C8B-B14F-4D97-AF65-F5344CB8AC3E}">
        <p14:creationId xmlns:p14="http://schemas.microsoft.com/office/powerpoint/2010/main" val="35321837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28</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Sources</a:t>
            </a:r>
          </a:p>
        </p:txBody>
      </p:sp>
      <p:sp>
        <p:nvSpPr>
          <p:cNvPr id="8198" name="Rectangle 3"/>
          <p:cNvSpPr>
            <a:spLocks noGrp="1" noChangeArrowheads="1"/>
          </p:cNvSpPr>
          <p:nvPr>
            <p:ph type="body" idx="1"/>
          </p:nvPr>
        </p:nvSpPr>
        <p:spPr>
          <a:xfrm>
            <a:off x="1583315" y="1639068"/>
            <a:ext cx="8686800" cy="4114800"/>
          </a:xfrm>
        </p:spPr>
        <p:txBody>
          <a:bodyPr>
            <a:normAutofit/>
          </a:bodyPr>
          <a:lstStyle/>
          <a:p>
            <a:r>
              <a:rPr lang="en-US" altLang="en-US" dirty="0" smtClean="0"/>
              <a:t>Broad Institute</a:t>
            </a:r>
          </a:p>
          <a:p>
            <a:pPr marL="0" indent="0">
              <a:buNone/>
            </a:pPr>
            <a:endParaRPr lang="en-US" altLang="en-US" dirty="0" smtClean="0"/>
          </a:p>
          <a:p>
            <a:pPr lvl="1"/>
            <a:r>
              <a:rPr lang="en-US" altLang="en-US" dirty="0" smtClean="0"/>
              <a:t>TCGA provides data at the patient level. Each patient in a separate file.</a:t>
            </a:r>
          </a:p>
          <a:p>
            <a:pPr marL="457200" lvl="1" indent="0">
              <a:buNone/>
            </a:pPr>
            <a:endParaRPr lang="en-US" altLang="en-US" dirty="0" smtClean="0"/>
          </a:p>
          <a:p>
            <a:pPr lvl="1"/>
            <a:r>
              <a:rPr lang="en-US" altLang="en-US" dirty="0" smtClean="0"/>
              <a:t>The Broad Institute from Harvard, a famous bioinformatics research center, provides merged datasets from TCGA data in </a:t>
            </a:r>
            <a:r>
              <a:rPr lang="en-US" altLang="en-US" dirty="0"/>
              <a:t>its </a:t>
            </a:r>
            <a:r>
              <a:rPr lang="en-US" altLang="en-US" dirty="0" smtClean="0"/>
              <a:t>Firehose Web-site  </a:t>
            </a:r>
            <a:r>
              <a:rPr lang="en-US" altLang="en-US" dirty="0"/>
              <a:t>(</a:t>
            </a:r>
            <a:r>
              <a:rPr lang="en-US" altLang="en-US" dirty="0">
                <a:hlinkClick r:id="rId2"/>
              </a:rPr>
              <a:t>http://gdac.broadinstitute.org</a:t>
            </a:r>
            <a:r>
              <a:rPr lang="en-US" altLang="en-US" dirty="0" smtClean="0">
                <a:hlinkClick r:id="rId2"/>
              </a:rPr>
              <a:t>/</a:t>
            </a:r>
            <a:r>
              <a:rPr lang="en-US" altLang="en-US" dirty="0" smtClean="0"/>
              <a:t>). </a:t>
            </a:r>
          </a:p>
          <a:p>
            <a:pPr marL="457200" lvl="1" indent="0">
              <a:buNone/>
            </a:pPr>
            <a:endParaRPr lang="en-US" altLang="en-US" dirty="0" smtClean="0"/>
          </a:p>
          <a:p>
            <a:pPr lvl="1"/>
            <a:endParaRPr lang="en-US" altLang="en-US" dirty="0"/>
          </a:p>
          <a:p>
            <a:pPr marL="0" indent="0">
              <a:buNone/>
            </a:pPr>
            <a:endParaRPr lang="en-US" altLang="en-US" dirty="0" smtClean="0"/>
          </a:p>
        </p:txBody>
      </p:sp>
    </p:spTree>
    <p:extLst>
      <p:ext uri="{BB962C8B-B14F-4D97-AF65-F5344CB8AC3E}">
        <p14:creationId xmlns:p14="http://schemas.microsoft.com/office/powerpoint/2010/main" val="17093215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29</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Sources</a:t>
            </a:r>
          </a:p>
        </p:txBody>
      </p:sp>
      <p:pic>
        <p:nvPicPr>
          <p:cNvPr id="3" name="Picture 2"/>
          <p:cNvPicPr>
            <a:picLocks noChangeAspect="1"/>
          </p:cNvPicPr>
          <p:nvPr/>
        </p:nvPicPr>
        <p:blipFill>
          <a:blip r:embed="rId2"/>
          <a:stretch>
            <a:fillRect/>
          </a:stretch>
        </p:blipFill>
        <p:spPr>
          <a:xfrm>
            <a:off x="1781175" y="1619250"/>
            <a:ext cx="8629650" cy="4495800"/>
          </a:xfrm>
          <a:prstGeom prst="rect">
            <a:avLst/>
          </a:prstGeom>
        </p:spPr>
      </p:pic>
    </p:spTree>
    <p:extLst>
      <p:ext uri="{BB962C8B-B14F-4D97-AF65-F5344CB8AC3E}">
        <p14:creationId xmlns:p14="http://schemas.microsoft.com/office/powerpoint/2010/main" val="30907777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30</a:t>
            </a:fld>
            <a:endParaRPr lang="en-US" altLang="en-US" sz="1400" dirty="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Sources</a:t>
            </a:r>
          </a:p>
        </p:txBody>
      </p:sp>
      <p:sp>
        <p:nvSpPr>
          <p:cNvPr id="8198" name="Rectangle 3"/>
          <p:cNvSpPr>
            <a:spLocks noGrp="1" noChangeArrowheads="1"/>
          </p:cNvSpPr>
          <p:nvPr>
            <p:ph type="body" idx="1"/>
          </p:nvPr>
        </p:nvSpPr>
        <p:spPr>
          <a:xfrm>
            <a:off x="1752600" y="1524000"/>
            <a:ext cx="8686800" cy="4114800"/>
          </a:xfrm>
        </p:spPr>
        <p:txBody>
          <a:bodyPr>
            <a:normAutofit fontScale="92500"/>
          </a:bodyPr>
          <a:lstStyle/>
          <a:p>
            <a:pPr>
              <a:lnSpc>
                <a:spcPct val="130000"/>
              </a:lnSpc>
            </a:pPr>
            <a:r>
              <a:rPr lang="en-US" altLang="en-US" dirty="0" smtClean="0"/>
              <a:t>Microarray </a:t>
            </a:r>
            <a:endParaRPr lang="en-US" altLang="en-US" dirty="0"/>
          </a:p>
          <a:p>
            <a:pPr lvl="1">
              <a:lnSpc>
                <a:spcPct val="130000"/>
              </a:lnSpc>
            </a:pPr>
            <a:r>
              <a:rPr lang="en-US" altLang="en-US" dirty="0"/>
              <a:t>A microarray contains a set of measurements of gene expressions (mRNA – other types of RNA are said to be non coding).</a:t>
            </a:r>
          </a:p>
          <a:p>
            <a:pPr lvl="1">
              <a:lnSpc>
                <a:spcPct val="130000"/>
              </a:lnSpc>
            </a:pPr>
            <a:r>
              <a:rPr lang="en-US" altLang="en-US" dirty="0"/>
              <a:t>Nucleus contains between 2,000 and 60,000 protein-coding genes, only a subset being expressed at a certain point in time in the form of mRNA.</a:t>
            </a:r>
          </a:p>
          <a:p>
            <a:pPr lvl="1">
              <a:lnSpc>
                <a:spcPct val="130000"/>
              </a:lnSpc>
            </a:pPr>
            <a:r>
              <a:rPr lang="en-US" altLang="en-US" dirty="0"/>
              <a:t>A microarray is a solid support on which DNA of known sequence is deposited in a regular </a:t>
            </a:r>
            <a:r>
              <a:rPr lang="en-US" altLang="en-US" dirty="0" smtClean="0"/>
              <a:t>grid-like </a:t>
            </a:r>
            <a:r>
              <a:rPr lang="en-US" altLang="en-US" dirty="0"/>
              <a:t>manner (cDNA).</a:t>
            </a:r>
          </a:p>
          <a:p>
            <a:endParaRPr lang="en-US" altLang="en-US" dirty="0" smtClean="0"/>
          </a:p>
        </p:txBody>
      </p:sp>
    </p:spTree>
    <p:extLst>
      <p:ext uri="{BB962C8B-B14F-4D97-AF65-F5344CB8AC3E}">
        <p14:creationId xmlns:p14="http://schemas.microsoft.com/office/powerpoint/2010/main" val="24156590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31</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Sources</a:t>
            </a:r>
          </a:p>
        </p:txBody>
      </p:sp>
      <p:sp>
        <p:nvSpPr>
          <p:cNvPr id="7" name="Content Placeholder 6"/>
          <p:cNvSpPr>
            <a:spLocks noGrp="1"/>
          </p:cNvSpPr>
          <p:nvPr>
            <p:ph idx="1"/>
          </p:nvPr>
        </p:nvSpPr>
        <p:spPr>
          <a:xfrm>
            <a:off x="1891884" y="5181313"/>
            <a:ext cx="7772400" cy="1143000"/>
          </a:xfrm>
        </p:spPr>
        <p:txBody>
          <a:bodyPr/>
          <a:lstStyle/>
          <a:p>
            <a:pPr>
              <a:buFontTx/>
              <a:buNone/>
            </a:pPr>
            <a:r>
              <a:rPr lang="en-US" altLang="en-US" dirty="0" smtClean="0"/>
              <a:t>40,000 probe microarray example</a:t>
            </a:r>
          </a:p>
          <a:p>
            <a:pPr>
              <a:buFontTx/>
              <a:buNone/>
            </a:pPr>
            <a:r>
              <a:rPr lang="en-US" altLang="en-US" dirty="0" smtClean="0"/>
              <a:t>(from Wikipedia)</a:t>
            </a:r>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8184" y="1336675"/>
            <a:ext cx="60198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9344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32</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Sources</a:t>
            </a:r>
          </a:p>
        </p:txBody>
      </p:sp>
      <p:sp>
        <p:nvSpPr>
          <p:cNvPr id="8198" name="Rectangle 3"/>
          <p:cNvSpPr>
            <a:spLocks noGrp="1" noChangeArrowheads="1"/>
          </p:cNvSpPr>
          <p:nvPr>
            <p:ph type="body" idx="1"/>
          </p:nvPr>
        </p:nvSpPr>
        <p:spPr>
          <a:xfrm>
            <a:off x="3307080" y="1550126"/>
            <a:ext cx="8686800" cy="4114800"/>
          </a:xfrm>
        </p:spPr>
        <p:txBody>
          <a:bodyPr>
            <a:normAutofit/>
          </a:bodyPr>
          <a:lstStyle/>
          <a:p>
            <a:pPr>
              <a:lnSpc>
                <a:spcPct val="130000"/>
              </a:lnSpc>
            </a:pPr>
            <a:r>
              <a:rPr lang="en-US" altLang="en-US" dirty="0" smtClean="0"/>
              <a:t>Microarray </a:t>
            </a:r>
          </a:p>
          <a:p>
            <a:pPr marL="0" indent="0">
              <a:lnSpc>
                <a:spcPct val="130000"/>
              </a:lnSpc>
              <a:buNone/>
            </a:pPr>
            <a:endParaRPr lang="en-US" altLang="en-US" dirty="0"/>
          </a:p>
          <a:p>
            <a:pPr lvl="1">
              <a:lnSpc>
                <a:spcPct val="130000"/>
              </a:lnSpc>
            </a:pPr>
            <a:r>
              <a:rPr lang="en-US" altLang="en-US" dirty="0"/>
              <a:t>Following, RNA (mostly mRNA labeled with fluorescence) extracted from interesting biological sources of interest is hybridized to the array.</a:t>
            </a:r>
          </a:p>
          <a:p>
            <a:pPr lvl="1">
              <a:lnSpc>
                <a:spcPct val="130000"/>
              </a:lnSpc>
            </a:pPr>
            <a:r>
              <a:rPr lang="en-US" altLang="en-US" dirty="0"/>
              <a:t>Image analysis and data analysis are used to determine the quantity of RNA associated to each cell in the microarray.</a:t>
            </a:r>
          </a:p>
          <a:p>
            <a:endParaRPr lang="en-US" altLang="en-US" dirty="0" smtClean="0"/>
          </a:p>
        </p:txBody>
      </p:sp>
      <p:pic>
        <p:nvPicPr>
          <p:cNvPr id="2" name="Picture 1"/>
          <p:cNvPicPr>
            <a:picLocks noChangeAspect="1"/>
          </p:cNvPicPr>
          <p:nvPr/>
        </p:nvPicPr>
        <p:blipFill>
          <a:blip r:embed="rId2"/>
          <a:stretch>
            <a:fillRect/>
          </a:stretch>
        </p:blipFill>
        <p:spPr>
          <a:xfrm>
            <a:off x="254998" y="2560320"/>
            <a:ext cx="3332449" cy="2751909"/>
          </a:xfrm>
          <a:prstGeom prst="rect">
            <a:avLst/>
          </a:prstGeom>
        </p:spPr>
      </p:pic>
    </p:spTree>
    <p:extLst>
      <p:ext uri="{BB962C8B-B14F-4D97-AF65-F5344CB8AC3E}">
        <p14:creationId xmlns:p14="http://schemas.microsoft.com/office/powerpoint/2010/main" val="18461895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33</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Sources</a:t>
            </a:r>
          </a:p>
        </p:txBody>
      </p:sp>
      <p:sp>
        <p:nvSpPr>
          <p:cNvPr id="8198" name="Rectangle 3"/>
          <p:cNvSpPr>
            <a:spLocks noGrp="1" noChangeArrowheads="1"/>
          </p:cNvSpPr>
          <p:nvPr>
            <p:ph type="body" idx="1"/>
          </p:nvPr>
        </p:nvSpPr>
        <p:spPr>
          <a:xfrm>
            <a:off x="2849880" y="1524000"/>
            <a:ext cx="8686800" cy="4114800"/>
          </a:xfrm>
        </p:spPr>
        <p:txBody>
          <a:bodyPr>
            <a:normAutofit/>
          </a:bodyPr>
          <a:lstStyle/>
          <a:p>
            <a:pPr>
              <a:lnSpc>
                <a:spcPct val="130000"/>
              </a:lnSpc>
            </a:pPr>
            <a:r>
              <a:rPr lang="en-US" altLang="en-US" dirty="0" smtClean="0"/>
              <a:t>Microarray </a:t>
            </a:r>
          </a:p>
          <a:p>
            <a:pPr marL="0" indent="0">
              <a:lnSpc>
                <a:spcPct val="130000"/>
              </a:lnSpc>
              <a:buNone/>
            </a:pPr>
            <a:endParaRPr lang="en-US" altLang="en-US" dirty="0"/>
          </a:p>
          <a:p>
            <a:pPr lvl="1">
              <a:lnSpc>
                <a:spcPct val="130000"/>
              </a:lnSpc>
            </a:pPr>
            <a:r>
              <a:rPr lang="en-US" altLang="en-US" dirty="0"/>
              <a:t>Interpretation follows the identification of mRNA levels, however there is a weak correlation between mRNA and protein levels.</a:t>
            </a:r>
          </a:p>
          <a:p>
            <a:pPr lvl="1">
              <a:lnSpc>
                <a:spcPct val="130000"/>
              </a:lnSpc>
            </a:pPr>
            <a:r>
              <a:rPr lang="en-US" altLang="en-US" dirty="0"/>
              <a:t>Data consist in a list of attributes corresponding to genes and their values corresponding to expression level.</a:t>
            </a:r>
          </a:p>
          <a:p>
            <a:endParaRPr lang="en-US" altLang="en-US" dirty="0" smtClean="0"/>
          </a:p>
        </p:txBody>
      </p:sp>
      <p:pic>
        <p:nvPicPr>
          <p:cNvPr id="2" name="Picture 1"/>
          <p:cNvPicPr>
            <a:picLocks noChangeAspect="1"/>
          </p:cNvPicPr>
          <p:nvPr/>
        </p:nvPicPr>
        <p:blipFill>
          <a:blip r:embed="rId2"/>
          <a:stretch>
            <a:fillRect/>
          </a:stretch>
        </p:blipFill>
        <p:spPr>
          <a:xfrm>
            <a:off x="457461" y="2503485"/>
            <a:ext cx="2011420" cy="2155830"/>
          </a:xfrm>
          <a:prstGeom prst="rect">
            <a:avLst/>
          </a:prstGeom>
        </p:spPr>
      </p:pic>
    </p:spTree>
    <p:extLst>
      <p:ext uri="{BB962C8B-B14F-4D97-AF65-F5344CB8AC3E}">
        <p14:creationId xmlns:p14="http://schemas.microsoft.com/office/powerpoint/2010/main" val="21124041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34</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Sources</a:t>
            </a:r>
          </a:p>
        </p:txBody>
      </p:sp>
      <p:sp>
        <p:nvSpPr>
          <p:cNvPr id="8198" name="Rectangle 3"/>
          <p:cNvSpPr>
            <a:spLocks noGrp="1" noChangeArrowheads="1"/>
          </p:cNvSpPr>
          <p:nvPr>
            <p:ph type="body" idx="1"/>
          </p:nvPr>
        </p:nvSpPr>
        <p:spPr>
          <a:xfrm>
            <a:off x="1752600" y="1524000"/>
            <a:ext cx="8686800" cy="4114800"/>
          </a:xfrm>
        </p:spPr>
        <p:txBody>
          <a:bodyPr>
            <a:normAutofit lnSpcReduction="10000"/>
          </a:bodyPr>
          <a:lstStyle/>
          <a:p>
            <a:pPr>
              <a:lnSpc>
                <a:spcPct val="130000"/>
              </a:lnSpc>
            </a:pPr>
            <a:r>
              <a:rPr lang="en-US" altLang="en-US" dirty="0" smtClean="0"/>
              <a:t>RNA </a:t>
            </a:r>
            <a:r>
              <a:rPr lang="en-US" altLang="en-US" dirty="0" err="1" smtClean="0"/>
              <a:t>seq</a:t>
            </a:r>
            <a:endParaRPr lang="en-US" altLang="en-US" dirty="0"/>
          </a:p>
          <a:p>
            <a:pPr lvl="1">
              <a:lnSpc>
                <a:spcPct val="130000"/>
              </a:lnSpc>
            </a:pPr>
            <a:r>
              <a:rPr lang="en-US" altLang="en-US" dirty="0" smtClean="0"/>
              <a:t>A more advanced method for quantifying gene expressions.</a:t>
            </a:r>
          </a:p>
          <a:p>
            <a:pPr lvl="1">
              <a:lnSpc>
                <a:spcPct val="130000"/>
              </a:lnSpc>
            </a:pPr>
            <a:r>
              <a:rPr lang="en-US" altLang="en-US" dirty="0" smtClean="0"/>
              <a:t>Part of Next Generation Sequencing (NGS) methods – microarray being the first generation.</a:t>
            </a:r>
          </a:p>
          <a:p>
            <a:pPr lvl="1">
              <a:lnSpc>
                <a:spcPct val="130000"/>
              </a:lnSpc>
            </a:pPr>
            <a:r>
              <a:rPr lang="en-US" altLang="en-US" dirty="0" smtClean="0"/>
              <a:t>Methods based on synthesis chemistry of individual nucleotides performed in massively parallel form.</a:t>
            </a:r>
          </a:p>
          <a:p>
            <a:pPr lvl="1">
              <a:lnSpc>
                <a:spcPct val="130000"/>
              </a:lnSpc>
            </a:pPr>
            <a:r>
              <a:rPr lang="en-US" altLang="en-US" dirty="0" smtClean="0"/>
              <a:t>Generates vast amounts of data.</a:t>
            </a:r>
          </a:p>
          <a:p>
            <a:pPr lvl="1">
              <a:lnSpc>
                <a:spcPct val="130000"/>
              </a:lnSpc>
            </a:pPr>
            <a:r>
              <a:rPr lang="en-US" altLang="en-US" dirty="0" smtClean="0"/>
              <a:t>Affords for much higher sensitivity than previous methods.</a:t>
            </a:r>
            <a:endParaRPr lang="en-US" altLang="en-US" dirty="0"/>
          </a:p>
          <a:p>
            <a:endParaRPr lang="en-US" altLang="en-US" dirty="0" smtClean="0"/>
          </a:p>
        </p:txBody>
      </p:sp>
    </p:spTree>
    <p:extLst>
      <p:ext uri="{BB962C8B-B14F-4D97-AF65-F5344CB8AC3E}">
        <p14:creationId xmlns:p14="http://schemas.microsoft.com/office/powerpoint/2010/main" val="29019893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35</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Sources</a:t>
            </a:r>
          </a:p>
        </p:txBody>
      </p:sp>
      <p:sp>
        <p:nvSpPr>
          <p:cNvPr id="9" name="Rectangle 3"/>
          <p:cNvSpPr txBox="1">
            <a:spLocks noChangeArrowheads="1"/>
          </p:cNvSpPr>
          <p:nvPr/>
        </p:nvSpPr>
        <p:spPr>
          <a:xfrm>
            <a:off x="1089587" y="4413511"/>
            <a:ext cx="5006413" cy="7281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a:lstStyle>
          <a:p>
            <a:pPr marL="0" indent="0">
              <a:buNone/>
            </a:pPr>
            <a:r>
              <a:rPr lang="en-US" altLang="en-US" dirty="0"/>
              <a:t>f</a:t>
            </a:r>
            <a:r>
              <a:rPr lang="en-US" altLang="en-US" dirty="0" smtClean="0"/>
              <a:t>rom </a:t>
            </a:r>
            <a:r>
              <a:rPr lang="en-US" altLang="en-US" dirty="0" err="1" smtClean="0"/>
              <a:t>Korpelainen</a:t>
            </a:r>
            <a:r>
              <a:rPr lang="en-US" altLang="en-US" dirty="0" smtClean="0"/>
              <a:t> et al. (2015)</a:t>
            </a:r>
          </a:p>
        </p:txBody>
      </p:sp>
      <p:pic>
        <p:nvPicPr>
          <p:cNvPr id="3" name="Picture 2"/>
          <p:cNvPicPr>
            <a:picLocks noChangeAspect="1"/>
          </p:cNvPicPr>
          <p:nvPr/>
        </p:nvPicPr>
        <p:blipFill>
          <a:blip r:embed="rId2"/>
          <a:stretch>
            <a:fillRect/>
          </a:stretch>
        </p:blipFill>
        <p:spPr>
          <a:xfrm>
            <a:off x="6096000" y="415925"/>
            <a:ext cx="5514975" cy="5724525"/>
          </a:xfrm>
          <a:prstGeom prst="rect">
            <a:avLst/>
          </a:prstGeom>
        </p:spPr>
      </p:pic>
    </p:spTree>
    <p:extLst>
      <p:ext uri="{BB962C8B-B14F-4D97-AF65-F5344CB8AC3E}">
        <p14:creationId xmlns:p14="http://schemas.microsoft.com/office/powerpoint/2010/main" val="2873364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36</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70000" lnSpcReduction="2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altLang="en-US" sz="2400" dirty="0" smtClean="0"/>
              <a:t>Locating and downloading datasets</a:t>
            </a:r>
          </a:p>
          <a:p>
            <a:pPr lvl="1"/>
            <a:r>
              <a:rPr lang="en-US" altLang="en-US" dirty="0" smtClean="0"/>
              <a:t>Datasets and files</a:t>
            </a:r>
          </a:p>
          <a:p>
            <a:pPr lvl="1"/>
            <a:r>
              <a:rPr lang="en-US" altLang="en-US" dirty="0" smtClean="0"/>
              <a:t>Data sources</a:t>
            </a:r>
            <a:endParaRPr lang="en-US" altLang="en-US" dirty="0"/>
          </a:p>
          <a:p>
            <a:r>
              <a:rPr lang="en-US" altLang="en-US" sz="2400" b="1" dirty="0" smtClean="0">
                <a:solidFill>
                  <a:srgbClr val="FFFF00"/>
                </a:solidFill>
              </a:rPr>
              <a:t>Data preprocessing</a:t>
            </a:r>
            <a:endParaRPr lang="en-US" altLang="en-US" sz="2400" b="1" dirty="0">
              <a:solidFill>
                <a:srgbClr val="FFFF00"/>
              </a:solidFill>
            </a:endParaRPr>
          </a:p>
          <a:p>
            <a:pPr lvl="1"/>
            <a:r>
              <a:rPr lang="en-US" altLang="en-US" dirty="0" smtClean="0"/>
              <a:t>Importance of data preprocessing</a:t>
            </a:r>
            <a:endParaRPr lang="en-US" altLang="en-US" dirty="0"/>
          </a:p>
          <a:p>
            <a:pPr lvl="1"/>
            <a:r>
              <a:rPr lang="en-US" altLang="en-US" dirty="0" smtClean="0"/>
              <a:t>Data preprocessing tasks</a:t>
            </a:r>
            <a:endParaRPr lang="en-US" altLang="en-US" dirty="0"/>
          </a:p>
          <a:p>
            <a:r>
              <a:rPr lang="en-US" altLang="en-US" sz="2400" dirty="0" smtClean="0"/>
              <a:t>Missing values</a:t>
            </a:r>
          </a:p>
          <a:p>
            <a:pPr lvl="1"/>
            <a:r>
              <a:rPr lang="en-US" altLang="en-US" dirty="0" smtClean="0"/>
              <a:t>Replacing missing values</a:t>
            </a:r>
          </a:p>
          <a:p>
            <a:r>
              <a:rPr lang="en-US" altLang="en-US" sz="2400" dirty="0" smtClean="0"/>
              <a:t>Normalizing and discretizing data</a:t>
            </a:r>
          </a:p>
          <a:p>
            <a:pPr lvl="1"/>
            <a:r>
              <a:rPr lang="en-US" altLang="en-US" dirty="0" smtClean="0"/>
              <a:t>Data normalization</a:t>
            </a:r>
          </a:p>
          <a:p>
            <a:pPr lvl="1"/>
            <a:r>
              <a:rPr lang="en-US" altLang="en-US" dirty="0" smtClean="0"/>
              <a:t>Discretization</a:t>
            </a:r>
          </a:p>
          <a:p>
            <a:r>
              <a:rPr lang="en-US" altLang="en-US" sz="2400" dirty="0" smtClean="0"/>
              <a:t>Data reduction</a:t>
            </a:r>
          </a:p>
          <a:p>
            <a:pPr lvl="1"/>
            <a:r>
              <a:rPr lang="en-US" altLang="en-US" dirty="0"/>
              <a:t>Feature selection</a:t>
            </a:r>
          </a:p>
          <a:p>
            <a:pPr lvl="1"/>
            <a:r>
              <a:rPr lang="en-US" altLang="en-US" dirty="0" smtClean="0"/>
              <a:t>Data sampling</a:t>
            </a:r>
          </a:p>
          <a:p>
            <a:r>
              <a:rPr lang="en-US" altLang="en-US" sz="2400" dirty="0"/>
              <a:t>Introduction to R language</a:t>
            </a:r>
          </a:p>
          <a:p>
            <a:pPr lvl="1"/>
            <a:r>
              <a:rPr lang="en-US" altLang="en-US" dirty="0"/>
              <a:t>Principles of R</a:t>
            </a:r>
          </a:p>
          <a:p>
            <a:pPr lvl="1"/>
            <a:r>
              <a:rPr lang="en-US" altLang="en-US" dirty="0"/>
              <a:t>Working with </a:t>
            </a:r>
            <a:r>
              <a:rPr lang="en-US" altLang="en-US" dirty="0" smtClean="0"/>
              <a:t>R</a:t>
            </a:r>
          </a:p>
          <a:p>
            <a:pPr lvl="1"/>
            <a:r>
              <a:rPr lang="en-US" altLang="en-US" dirty="0"/>
              <a:t>Data preprocessing with </a:t>
            </a:r>
            <a:r>
              <a:rPr lang="en-US" altLang="en-US" dirty="0" smtClean="0"/>
              <a:t>R</a:t>
            </a:r>
            <a:endParaRPr lang="en-US" altLang="en-US" dirty="0"/>
          </a:p>
          <a:p>
            <a:pPr lvl="1"/>
            <a:endParaRPr lang="en-US" altLang="en-US" dirty="0"/>
          </a:p>
        </p:txBody>
      </p:sp>
    </p:spTree>
    <p:extLst>
      <p:ext uri="{BB962C8B-B14F-4D97-AF65-F5344CB8AC3E}">
        <p14:creationId xmlns:p14="http://schemas.microsoft.com/office/powerpoint/2010/main" val="34417898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37</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Preprocessing</a:t>
            </a:r>
          </a:p>
        </p:txBody>
      </p:sp>
      <p:sp>
        <p:nvSpPr>
          <p:cNvPr id="8198" name="Rectangle 3"/>
          <p:cNvSpPr>
            <a:spLocks noGrp="1" noChangeArrowheads="1"/>
          </p:cNvSpPr>
          <p:nvPr>
            <p:ph type="body" idx="1"/>
          </p:nvPr>
        </p:nvSpPr>
        <p:spPr>
          <a:xfrm>
            <a:off x="1752600" y="1524000"/>
            <a:ext cx="8686800" cy="4114800"/>
          </a:xfrm>
        </p:spPr>
        <p:txBody>
          <a:bodyPr>
            <a:normAutofit lnSpcReduction="10000"/>
          </a:bodyPr>
          <a:lstStyle/>
          <a:p>
            <a:r>
              <a:rPr lang="en-US" altLang="en-US" dirty="0" smtClean="0"/>
              <a:t>Before preprocessing data, data analysts first want to understand their data, using statistical techniques and visualization. </a:t>
            </a:r>
          </a:p>
          <a:p>
            <a:r>
              <a:rPr lang="en-US" altLang="en-US" dirty="0" smtClean="0"/>
              <a:t>They want to first get a sense of the data quality and major characteristics such as central tendency (mean, median, standard deviation, mode etc. – see definitions under Resources for this module), distribution (histogram, scatter plots, etc.).</a:t>
            </a:r>
          </a:p>
          <a:p>
            <a:r>
              <a:rPr lang="en-US" altLang="en-US" dirty="0" smtClean="0"/>
              <a:t>Data preprocessing represents the first step in actual data analytics and aims at making sure that data is ready to be analyzed.</a:t>
            </a:r>
          </a:p>
        </p:txBody>
      </p:sp>
    </p:spTree>
    <p:extLst>
      <p:ext uri="{BB962C8B-B14F-4D97-AF65-F5344CB8AC3E}">
        <p14:creationId xmlns:p14="http://schemas.microsoft.com/office/powerpoint/2010/main" val="27369583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38</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70000" lnSpcReduction="2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altLang="en-US" sz="2400" dirty="0" smtClean="0"/>
              <a:t>Locating and downloading datasets</a:t>
            </a:r>
          </a:p>
          <a:p>
            <a:pPr lvl="1"/>
            <a:r>
              <a:rPr lang="en-US" altLang="en-US" dirty="0" smtClean="0"/>
              <a:t>Datasets and files</a:t>
            </a:r>
          </a:p>
          <a:p>
            <a:pPr lvl="1"/>
            <a:r>
              <a:rPr lang="en-US" altLang="en-US" dirty="0" smtClean="0"/>
              <a:t>Data sources</a:t>
            </a:r>
            <a:endParaRPr lang="en-US" altLang="en-US" dirty="0"/>
          </a:p>
          <a:p>
            <a:r>
              <a:rPr lang="en-US" altLang="en-US" sz="2400" dirty="0" smtClean="0"/>
              <a:t>Data preprocessing</a:t>
            </a:r>
            <a:endParaRPr lang="en-US" altLang="en-US" sz="2400" dirty="0"/>
          </a:p>
          <a:p>
            <a:pPr lvl="1"/>
            <a:r>
              <a:rPr lang="en-US" altLang="en-US" b="1" dirty="0" smtClean="0">
                <a:solidFill>
                  <a:srgbClr val="FFFF00"/>
                </a:solidFill>
              </a:rPr>
              <a:t>Importance of data preprocessing</a:t>
            </a:r>
            <a:endParaRPr lang="en-US" altLang="en-US" b="1" dirty="0">
              <a:solidFill>
                <a:srgbClr val="FFFF00"/>
              </a:solidFill>
            </a:endParaRPr>
          </a:p>
          <a:p>
            <a:pPr lvl="1"/>
            <a:r>
              <a:rPr lang="en-US" altLang="en-US" dirty="0" smtClean="0"/>
              <a:t>Data preprocessing tasks</a:t>
            </a:r>
            <a:endParaRPr lang="en-US" altLang="en-US" dirty="0"/>
          </a:p>
          <a:p>
            <a:r>
              <a:rPr lang="en-US" altLang="en-US" sz="2400" dirty="0" smtClean="0"/>
              <a:t>Missing values</a:t>
            </a:r>
          </a:p>
          <a:p>
            <a:pPr lvl="1"/>
            <a:r>
              <a:rPr lang="en-US" altLang="en-US" dirty="0" smtClean="0"/>
              <a:t>Replacing missing values</a:t>
            </a:r>
          </a:p>
          <a:p>
            <a:r>
              <a:rPr lang="en-US" altLang="en-US" sz="2400" dirty="0" smtClean="0"/>
              <a:t>Normalizing and discretizing data</a:t>
            </a:r>
          </a:p>
          <a:p>
            <a:pPr lvl="1"/>
            <a:r>
              <a:rPr lang="en-US" altLang="en-US" dirty="0" smtClean="0"/>
              <a:t>Data normalization</a:t>
            </a:r>
          </a:p>
          <a:p>
            <a:pPr lvl="1"/>
            <a:r>
              <a:rPr lang="en-US" altLang="en-US" dirty="0" smtClean="0"/>
              <a:t>Discretization</a:t>
            </a:r>
          </a:p>
          <a:p>
            <a:r>
              <a:rPr lang="en-US" altLang="en-US" sz="2400" dirty="0" smtClean="0"/>
              <a:t>Data reduction</a:t>
            </a:r>
          </a:p>
          <a:p>
            <a:pPr lvl="1"/>
            <a:r>
              <a:rPr lang="en-US" altLang="en-US" dirty="0"/>
              <a:t>Feature selection</a:t>
            </a:r>
          </a:p>
          <a:p>
            <a:pPr lvl="1"/>
            <a:r>
              <a:rPr lang="en-US" altLang="en-US" dirty="0" smtClean="0"/>
              <a:t>Data sampling</a:t>
            </a:r>
          </a:p>
          <a:p>
            <a:r>
              <a:rPr lang="en-US" altLang="en-US" sz="2400" dirty="0"/>
              <a:t>Introduction to R language</a:t>
            </a:r>
          </a:p>
          <a:p>
            <a:pPr lvl="1"/>
            <a:r>
              <a:rPr lang="en-US" altLang="en-US" dirty="0"/>
              <a:t>Principles of R</a:t>
            </a:r>
          </a:p>
          <a:p>
            <a:pPr lvl="1"/>
            <a:r>
              <a:rPr lang="en-US" altLang="en-US" dirty="0"/>
              <a:t>Working with </a:t>
            </a:r>
            <a:r>
              <a:rPr lang="en-US" altLang="en-US" dirty="0" smtClean="0"/>
              <a:t>R</a:t>
            </a:r>
          </a:p>
          <a:p>
            <a:pPr lvl="1"/>
            <a:r>
              <a:rPr lang="en-US" altLang="en-US" dirty="0"/>
              <a:t>Data preprocessing with </a:t>
            </a:r>
            <a:r>
              <a:rPr lang="en-US" altLang="en-US" dirty="0" smtClean="0"/>
              <a:t>R</a:t>
            </a:r>
            <a:endParaRPr lang="en-US" altLang="en-US" dirty="0"/>
          </a:p>
          <a:p>
            <a:pPr lvl="1"/>
            <a:endParaRPr lang="en-US" altLang="en-US" dirty="0"/>
          </a:p>
        </p:txBody>
      </p:sp>
    </p:spTree>
    <p:extLst>
      <p:ext uri="{BB962C8B-B14F-4D97-AF65-F5344CB8AC3E}">
        <p14:creationId xmlns:p14="http://schemas.microsoft.com/office/powerpoint/2010/main" val="24984371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39</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Importance of Data Preprocessing</a:t>
            </a:r>
          </a:p>
        </p:txBody>
      </p:sp>
      <p:sp>
        <p:nvSpPr>
          <p:cNvPr id="8198" name="Rectangle 3"/>
          <p:cNvSpPr>
            <a:spLocks noGrp="1" noChangeArrowheads="1"/>
          </p:cNvSpPr>
          <p:nvPr>
            <p:ph type="body" idx="1"/>
          </p:nvPr>
        </p:nvSpPr>
        <p:spPr>
          <a:xfrm>
            <a:off x="1752600" y="1809750"/>
            <a:ext cx="8686800" cy="4114800"/>
          </a:xfrm>
        </p:spPr>
        <p:txBody>
          <a:bodyPr>
            <a:normAutofit/>
          </a:bodyPr>
          <a:lstStyle/>
          <a:p>
            <a:r>
              <a:rPr lang="en-US" altLang="en-US" dirty="0" smtClean="0"/>
              <a:t>Data as found in public datasets and other types of datasets is imperfect, ‘dirty’. </a:t>
            </a:r>
          </a:p>
          <a:p>
            <a:endParaRPr lang="en-US" altLang="en-US" dirty="0" smtClean="0"/>
          </a:p>
          <a:p>
            <a:r>
              <a:rPr lang="en-US" altLang="en-US" dirty="0" smtClean="0"/>
              <a:t>Data quality is essential to get good analytics results - Garbage In, Garbage Out (GIGO).</a:t>
            </a:r>
          </a:p>
          <a:p>
            <a:endParaRPr lang="en-US" altLang="en-US" dirty="0" smtClean="0"/>
          </a:p>
          <a:p>
            <a:r>
              <a:rPr lang="en-US" altLang="en-US" dirty="0" smtClean="0"/>
              <a:t>The format of data often requires to make changes – for example the analytical method used may required nominal data, while your data is numeric.</a:t>
            </a:r>
          </a:p>
        </p:txBody>
      </p:sp>
    </p:spTree>
    <p:extLst>
      <p:ext uri="{BB962C8B-B14F-4D97-AF65-F5344CB8AC3E}">
        <p14:creationId xmlns:p14="http://schemas.microsoft.com/office/powerpoint/2010/main" val="41952250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40</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Importance of Data Preprocessing</a:t>
            </a:r>
          </a:p>
        </p:txBody>
      </p:sp>
      <p:sp>
        <p:nvSpPr>
          <p:cNvPr id="8198" name="Rectangle 3"/>
          <p:cNvSpPr>
            <a:spLocks noGrp="1" noChangeArrowheads="1"/>
          </p:cNvSpPr>
          <p:nvPr>
            <p:ph type="body" idx="1"/>
          </p:nvPr>
        </p:nvSpPr>
        <p:spPr>
          <a:xfrm>
            <a:off x="1752600" y="1524000"/>
            <a:ext cx="8686800" cy="4114800"/>
          </a:xfrm>
        </p:spPr>
        <p:txBody>
          <a:bodyPr>
            <a:normAutofit/>
          </a:bodyPr>
          <a:lstStyle/>
          <a:p>
            <a:r>
              <a:rPr lang="en-US" altLang="en-US" dirty="0" smtClean="0"/>
              <a:t>Types of data characteristics to fix:</a:t>
            </a:r>
          </a:p>
          <a:p>
            <a:endParaRPr lang="en-US" altLang="en-US" dirty="0"/>
          </a:p>
          <a:p>
            <a:pPr lvl="1"/>
            <a:r>
              <a:rPr lang="en-US" altLang="en-US" dirty="0" smtClean="0"/>
              <a:t>Missing values</a:t>
            </a:r>
          </a:p>
          <a:p>
            <a:pPr lvl="1"/>
            <a:endParaRPr lang="en-US" altLang="en-US" dirty="0"/>
          </a:p>
          <a:p>
            <a:pPr lvl="1"/>
            <a:r>
              <a:rPr lang="en-US" altLang="en-US" dirty="0" smtClean="0"/>
              <a:t>Noisy data</a:t>
            </a:r>
          </a:p>
          <a:p>
            <a:pPr lvl="1"/>
            <a:endParaRPr lang="en-US" altLang="en-US" dirty="0"/>
          </a:p>
          <a:p>
            <a:pPr lvl="1"/>
            <a:r>
              <a:rPr lang="en-US" altLang="en-US" dirty="0" smtClean="0"/>
              <a:t>Incorrect data type</a:t>
            </a:r>
          </a:p>
          <a:p>
            <a:pPr lvl="1"/>
            <a:endParaRPr lang="en-US" altLang="en-US" dirty="0"/>
          </a:p>
          <a:p>
            <a:pPr lvl="1"/>
            <a:r>
              <a:rPr lang="en-US" altLang="en-US" dirty="0" smtClean="0"/>
              <a:t>Incomplete data</a:t>
            </a:r>
          </a:p>
          <a:p>
            <a:pPr lvl="1"/>
            <a:endParaRPr lang="en-US" altLang="en-US" dirty="0" smtClean="0"/>
          </a:p>
        </p:txBody>
      </p:sp>
    </p:spTree>
    <p:extLst>
      <p:ext uri="{BB962C8B-B14F-4D97-AF65-F5344CB8AC3E}">
        <p14:creationId xmlns:p14="http://schemas.microsoft.com/office/powerpoint/2010/main" val="10069516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41</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Importance of Data Preprocessing</a:t>
            </a:r>
          </a:p>
        </p:txBody>
      </p:sp>
      <p:sp>
        <p:nvSpPr>
          <p:cNvPr id="8198" name="Rectangle 3"/>
          <p:cNvSpPr>
            <a:spLocks noGrp="1" noChangeArrowheads="1"/>
          </p:cNvSpPr>
          <p:nvPr>
            <p:ph type="body" idx="1"/>
          </p:nvPr>
        </p:nvSpPr>
        <p:spPr>
          <a:xfrm>
            <a:off x="1752600" y="1524000"/>
            <a:ext cx="8686800" cy="4114800"/>
          </a:xfrm>
        </p:spPr>
        <p:txBody>
          <a:bodyPr>
            <a:normAutofit/>
          </a:bodyPr>
          <a:lstStyle/>
          <a:p>
            <a:r>
              <a:rPr lang="en-US" altLang="en-US" dirty="0" smtClean="0"/>
              <a:t>The goal is to improve the quality of data to ensure that the measurements provided are as </a:t>
            </a:r>
            <a:br>
              <a:rPr lang="en-US" altLang="en-US" dirty="0" smtClean="0"/>
            </a:br>
            <a:endParaRPr lang="en-US" altLang="en-US" dirty="0" smtClean="0"/>
          </a:p>
          <a:p>
            <a:pPr lvl="1"/>
            <a:r>
              <a:rPr lang="en-US" altLang="en-US" dirty="0" smtClean="0"/>
              <a:t>Accurate</a:t>
            </a:r>
          </a:p>
          <a:p>
            <a:pPr lvl="1"/>
            <a:r>
              <a:rPr lang="en-US" altLang="en-US" dirty="0" smtClean="0"/>
              <a:t>Precise</a:t>
            </a:r>
            <a:endParaRPr lang="en-US" altLang="en-US" dirty="0"/>
          </a:p>
          <a:p>
            <a:pPr lvl="1"/>
            <a:r>
              <a:rPr lang="en-US" altLang="en-US" dirty="0" smtClean="0"/>
              <a:t>Complete</a:t>
            </a:r>
          </a:p>
          <a:p>
            <a:pPr lvl="1"/>
            <a:r>
              <a:rPr lang="en-US" altLang="en-US" dirty="0" smtClean="0"/>
              <a:t>Interpretable</a:t>
            </a:r>
          </a:p>
          <a:p>
            <a:pPr lvl="1"/>
            <a:r>
              <a:rPr lang="en-US" altLang="en-US" dirty="0" smtClean="0"/>
              <a:t>Correct</a:t>
            </a:r>
          </a:p>
          <a:p>
            <a:pPr lvl="1"/>
            <a:endParaRPr lang="en-US" altLang="en-US" dirty="0"/>
          </a:p>
          <a:p>
            <a:pPr marL="457200" lvl="1" indent="0">
              <a:buNone/>
            </a:pPr>
            <a:r>
              <a:rPr lang="en-US" altLang="en-US" dirty="0"/>
              <a:t>a</a:t>
            </a:r>
            <a:r>
              <a:rPr lang="en-US" altLang="en-US" dirty="0" smtClean="0"/>
              <a:t>s possible.</a:t>
            </a:r>
          </a:p>
        </p:txBody>
      </p:sp>
    </p:spTree>
    <p:extLst>
      <p:ext uri="{BB962C8B-B14F-4D97-AF65-F5344CB8AC3E}">
        <p14:creationId xmlns:p14="http://schemas.microsoft.com/office/powerpoint/2010/main" val="12359634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42</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70000" lnSpcReduction="2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altLang="en-US" sz="2400" dirty="0" smtClean="0"/>
              <a:t>Locating and downloading datasets</a:t>
            </a:r>
          </a:p>
          <a:p>
            <a:pPr lvl="1"/>
            <a:r>
              <a:rPr lang="en-US" altLang="en-US" dirty="0" smtClean="0"/>
              <a:t>Datasets and files</a:t>
            </a:r>
          </a:p>
          <a:p>
            <a:pPr lvl="1"/>
            <a:r>
              <a:rPr lang="en-US" altLang="en-US" dirty="0" smtClean="0"/>
              <a:t>Data sources</a:t>
            </a:r>
            <a:endParaRPr lang="en-US" altLang="en-US" dirty="0"/>
          </a:p>
          <a:p>
            <a:r>
              <a:rPr lang="en-US" altLang="en-US" sz="2400" dirty="0" smtClean="0"/>
              <a:t>Data preprocessing</a:t>
            </a:r>
            <a:endParaRPr lang="en-US" altLang="en-US" sz="2400" dirty="0"/>
          </a:p>
          <a:p>
            <a:pPr lvl="1"/>
            <a:r>
              <a:rPr lang="en-US" altLang="en-US" dirty="0" smtClean="0"/>
              <a:t>Importance of data preprocessing</a:t>
            </a:r>
            <a:endParaRPr lang="en-US" altLang="en-US" dirty="0"/>
          </a:p>
          <a:p>
            <a:pPr lvl="1"/>
            <a:r>
              <a:rPr lang="en-US" altLang="en-US" b="1" dirty="0" smtClean="0">
                <a:solidFill>
                  <a:srgbClr val="FFFF00"/>
                </a:solidFill>
              </a:rPr>
              <a:t>Data preprocessing tasks</a:t>
            </a:r>
            <a:endParaRPr lang="en-US" altLang="en-US" b="1" dirty="0">
              <a:solidFill>
                <a:srgbClr val="FFFF00"/>
              </a:solidFill>
            </a:endParaRPr>
          </a:p>
          <a:p>
            <a:r>
              <a:rPr lang="en-US" altLang="en-US" sz="2400" dirty="0" smtClean="0"/>
              <a:t>Missing values</a:t>
            </a:r>
          </a:p>
          <a:p>
            <a:pPr lvl="1"/>
            <a:r>
              <a:rPr lang="en-US" altLang="en-US" dirty="0" smtClean="0"/>
              <a:t>Replacing missing values</a:t>
            </a:r>
          </a:p>
          <a:p>
            <a:r>
              <a:rPr lang="en-US" altLang="en-US" sz="2400" dirty="0" smtClean="0"/>
              <a:t>Normalizing and discretizing data</a:t>
            </a:r>
          </a:p>
          <a:p>
            <a:pPr lvl="1"/>
            <a:r>
              <a:rPr lang="en-US" altLang="en-US" dirty="0" smtClean="0"/>
              <a:t>Data normalization</a:t>
            </a:r>
          </a:p>
          <a:p>
            <a:pPr lvl="1"/>
            <a:r>
              <a:rPr lang="en-US" altLang="en-US" dirty="0" smtClean="0"/>
              <a:t>Discretization</a:t>
            </a:r>
          </a:p>
          <a:p>
            <a:r>
              <a:rPr lang="en-US" altLang="en-US" sz="2400" dirty="0" smtClean="0"/>
              <a:t>Data reduction</a:t>
            </a:r>
          </a:p>
          <a:p>
            <a:pPr lvl="1"/>
            <a:r>
              <a:rPr lang="en-US" altLang="en-US" dirty="0"/>
              <a:t>Feature selection</a:t>
            </a:r>
          </a:p>
          <a:p>
            <a:pPr lvl="1"/>
            <a:r>
              <a:rPr lang="en-US" altLang="en-US" dirty="0" smtClean="0"/>
              <a:t>Data sampling</a:t>
            </a:r>
          </a:p>
          <a:p>
            <a:r>
              <a:rPr lang="en-US" altLang="en-US" sz="2400" dirty="0"/>
              <a:t>Introduction to R language</a:t>
            </a:r>
          </a:p>
          <a:p>
            <a:pPr lvl="1"/>
            <a:r>
              <a:rPr lang="en-US" altLang="en-US" dirty="0"/>
              <a:t>Principles of R</a:t>
            </a:r>
          </a:p>
          <a:p>
            <a:pPr lvl="1"/>
            <a:r>
              <a:rPr lang="en-US" altLang="en-US" dirty="0"/>
              <a:t>Working with </a:t>
            </a:r>
            <a:r>
              <a:rPr lang="en-US" altLang="en-US" dirty="0" smtClean="0"/>
              <a:t>R</a:t>
            </a:r>
          </a:p>
          <a:p>
            <a:pPr lvl="1"/>
            <a:r>
              <a:rPr lang="en-US" altLang="en-US" dirty="0"/>
              <a:t>Data preprocessing with </a:t>
            </a:r>
            <a:r>
              <a:rPr lang="en-US" altLang="en-US" dirty="0" smtClean="0"/>
              <a:t>R</a:t>
            </a:r>
            <a:endParaRPr lang="en-US" altLang="en-US" dirty="0"/>
          </a:p>
          <a:p>
            <a:pPr lvl="1"/>
            <a:endParaRPr lang="en-US" altLang="en-US" dirty="0"/>
          </a:p>
        </p:txBody>
      </p:sp>
    </p:spTree>
    <p:extLst>
      <p:ext uri="{BB962C8B-B14F-4D97-AF65-F5344CB8AC3E}">
        <p14:creationId xmlns:p14="http://schemas.microsoft.com/office/powerpoint/2010/main" val="18346108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43</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Preprocessing Tasks</a:t>
            </a:r>
          </a:p>
        </p:txBody>
      </p:sp>
      <p:sp>
        <p:nvSpPr>
          <p:cNvPr id="8198" name="Rectangle 3"/>
          <p:cNvSpPr>
            <a:spLocks noGrp="1" noChangeArrowheads="1"/>
          </p:cNvSpPr>
          <p:nvPr>
            <p:ph type="body" idx="1"/>
          </p:nvPr>
        </p:nvSpPr>
        <p:spPr>
          <a:xfrm>
            <a:off x="1752600" y="1561070"/>
            <a:ext cx="8686800" cy="4114800"/>
          </a:xfrm>
        </p:spPr>
        <p:txBody>
          <a:bodyPr>
            <a:normAutofit fontScale="92500" lnSpcReduction="20000"/>
          </a:bodyPr>
          <a:lstStyle/>
          <a:p>
            <a:r>
              <a:rPr lang="en-US" altLang="en-US" dirty="0" smtClean="0"/>
              <a:t>Data preprocessing involves several tasks</a:t>
            </a:r>
          </a:p>
          <a:p>
            <a:endParaRPr lang="en-US" altLang="en-US" dirty="0"/>
          </a:p>
          <a:p>
            <a:pPr lvl="1"/>
            <a:r>
              <a:rPr lang="en-US" altLang="en-US" dirty="0" smtClean="0"/>
              <a:t>Data cleaning</a:t>
            </a:r>
          </a:p>
          <a:p>
            <a:pPr lvl="2"/>
            <a:r>
              <a:rPr lang="en-US" altLang="en-US" dirty="0" smtClean="0"/>
              <a:t>Dealing with missing values</a:t>
            </a:r>
          </a:p>
          <a:p>
            <a:pPr lvl="2"/>
            <a:r>
              <a:rPr lang="en-US" altLang="en-US" dirty="0" smtClean="0"/>
              <a:t>Dealing with erroneous data and outliers</a:t>
            </a:r>
          </a:p>
          <a:p>
            <a:pPr lvl="2"/>
            <a:endParaRPr lang="en-US" altLang="en-US" dirty="0"/>
          </a:p>
          <a:p>
            <a:pPr lvl="1"/>
            <a:r>
              <a:rPr lang="en-US" altLang="en-US" dirty="0" smtClean="0"/>
              <a:t>Data transformation</a:t>
            </a:r>
          </a:p>
          <a:p>
            <a:pPr lvl="2"/>
            <a:r>
              <a:rPr lang="en-US" altLang="en-US" dirty="0" smtClean="0"/>
              <a:t>Changing data types (discretization)</a:t>
            </a:r>
          </a:p>
          <a:p>
            <a:pPr lvl="2"/>
            <a:r>
              <a:rPr lang="en-US" altLang="en-US" dirty="0" smtClean="0"/>
              <a:t>Changing range of data values (normalization)</a:t>
            </a:r>
          </a:p>
          <a:p>
            <a:pPr lvl="2"/>
            <a:r>
              <a:rPr lang="en-US" altLang="en-US" dirty="0" smtClean="0"/>
              <a:t>Adding variables</a:t>
            </a:r>
          </a:p>
          <a:p>
            <a:pPr lvl="2"/>
            <a:endParaRPr lang="en-US" altLang="en-US" dirty="0"/>
          </a:p>
          <a:p>
            <a:pPr lvl="1"/>
            <a:r>
              <a:rPr lang="en-US" altLang="en-US" dirty="0" smtClean="0"/>
              <a:t>Data reduction</a:t>
            </a:r>
          </a:p>
          <a:p>
            <a:pPr lvl="2"/>
            <a:r>
              <a:rPr lang="en-US" altLang="en-US" dirty="0" smtClean="0"/>
              <a:t>Feature selection</a:t>
            </a:r>
          </a:p>
          <a:p>
            <a:pPr lvl="2"/>
            <a:r>
              <a:rPr lang="en-US" altLang="en-US" dirty="0" smtClean="0"/>
              <a:t>Sampling</a:t>
            </a:r>
          </a:p>
          <a:p>
            <a:pPr lvl="2"/>
            <a:endParaRPr lang="en-US" altLang="en-US" dirty="0" smtClean="0"/>
          </a:p>
        </p:txBody>
      </p:sp>
    </p:spTree>
    <p:extLst>
      <p:ext uri="{BB962C8B-B14F-4D97-AF65-F5344CB8AC3E}">
        <p14:creationId xmlns:p14="http://schemas.microsoft.com/office/powerpoint/2010/main" val="33606234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44</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Preprocessing Tasks</a:t>
            </a:r>
          </a:p>
        </p:txBody>
      </p:sp>
      <p:pic>
        <p:nvPicPr>
          <p:cNvPr id="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3815" y="1235675"/>
            <a:ext cx="8305800" cy="484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p:cNvSpPr txBox="1">
            <a:spLocks noChangeArrowheads="1"/>
          </p:cNvSpPr>
          <p:nvPr/>
        </p:nvSpPr>
        <p:spPr>
          <a:xfrm>
            <a:off x="8702184" y="3020119"/>
            <a:ext cx="3321049" cy="72811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a:lstStyle>
          <a:p>
            <a:pPr marL="0" indent="0">
              <a:buNone/>
            </a:pPr>
            <a:r>
              <a:rPr lang="en-US" altLang="en-US" dirty="0"/>
              <a:t>f</a:t>
            </a:r>
            <a:r>
              <a:rPr lang="en-US" altLang="en-US" dirty="0" smtClean="0"/>
              <a:t>rom Han and </a:t>
            </a:r>
            <a:r>
              <a:rPr lang="en-US" altLang="en-US" dirty="0" err="1" smtClean="0"/>
              <a:t>Kamber</a:t>
            </a:r>
            <a:r>
              <a:rPr lang="en-US" altLang="en-US" dirty="0" smtClean="0"/>
              <a:t> (2014)</a:t>
            </a:r>
          </a:p>
        </p:txBody>
      </p:sp>
    </p:spTree>
    <p:extLst>
      <p:ext uri="{BB962C8B-B14F-4D97-AF65-F5344CB8AC3E}">
        <p14:creationId xmlns:p14="http://schemas.microsoft.com/office/powerpoint/2010/main" val="6162907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45</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70000" lnSpcReduction="2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altLang="en-US" sz="2400" dirty="0" smtClean="0"/>
              <a:t>Locating and downloading datasets</a:t>
            </a:r>
          </a:p>
          <a:p>
            <a:pPr lvl="1"/>
            <a:r>
              <a:rPr lang="en-US" altLang="en-US" dirty="0" smtClean="0"/>
              <a:t>Datasets and files</a:t>
            </a:r>
          </a:p>
          <a:p>
            <a:pPr lvl="1"/>
            <a:r>
              <a:rPr lang="en-US" altLang="en-US" dirty="0" smtClean="0"/>
              <a:t>Data sources</a:t>
            </a:r>
            <a:endParaRPr lang="en-US" altLang="en-US" dirty="0"/>
          </a:p>
          <a:p>
            <a:r>
              <a:rPr lang="en-US" altLang="en-US" sz="2400" dirty="0" smtClean="0"/>
              <a:t>Data preprocessing</a:t>
            </a:r>
            <a:endParaRPr lang="en-US" altLang="en-US" sz="2400" dirty="0"/>
          </a:p>
          <a:p>
            <a:pPr lvl="1"/>
            <a:r>
              <a:rPr lang="en-US" altLang="en-US" dirty="0" smtClean="0"/>
              <a:t>Importance of data preprocessing</a:t>
            </a:r>
            <a:endParaRPr lang="en-US" altLang="en-US" dirty="0"/>
          </a:p>
          <a:p>
            <a:pPr lvl="1"/>
            <a:r>
              <a:rPr lang="en-US" altLang="en-US" dirty="0" smtClean="0"/>
              <a:t>Data preprocessing tasks</a:t>
            </a:r>
            <a:endParaRPr lang="en-US" altLang="en-US" dirty="0"/>
          </a:p>
          <a:p>
            <a:r>
              <a:rPr lang="en-US" altLang="en-US" sz="2400" b="1" dirty="0" smtClean="0">
                <a:solidFill>
                  <a:srgbClr val="FFFF00"/>
                </a:solidFill>
              </a:rPr>
              <a:t>Missing values</a:t>
            </a:r>
          </a:p>
          <a:p>
            <a:pPr lvl="1"/>
            <a:r>
              <a:rPr lang="en-US" altLang="en-US" dirty="0" smtClean="0"/>
              <a:t>Replacing missing values</a:t>
            </a:r>
          </a:p>
          <a:p>
            <a:r>
              <a:rPr lang="en-US" altLang="en-US" sz="2400" dirty="0" smtClean="0"/>
              <a:t>Normalizing and discretizing data</a:t>
            </a:r>
          </a:p>
          <a:p>
            <a:pPr lvl="1"/>
            <a:r>
              <a:rPr lang="en-US" altLang="en-US" dirty="0" smtClean="0"/>
              <a:t>Data normalization</a:t>
            </a:r>
          </a:p>
          <a:p>
            <a:pPr lvl="1"/>
            <a:r>
              <a:rPr lang="en-US" altLang="en-US" dirty="0" smtClean="0"/>
              <a:t>Discretization</a:t>
            </a:r>
          </a:p>
          <a:p>
            <a:r>
              <a:rPr lang="en-US" altLang="en-US" sz="2400" dirty="0" smtClean="0"/>
              <a:t>Data reduction</a:t>
            </a:r>
          </a:p>
          <a:p>
            <a:pPr lvl="1"/>
            <a:r>
              <a:rPr lang="en-US" altLang="en-US" dirty="0"/>
              <a:t>Feature selection</a:t>
            </a:r>
          </a:p>
          <a:p>
            <a:pPr lvl="1"/>
            <a:r>
              <a:rPr lang="en-US" altLang="en-US" dirty="0" smtClean="0"/>
              <a:t>Data sampling</a:t>
            </a:r>
          </a:p>
          <a:p>
            <a:r>
              <a:rPr lang="en-US" altLang="en-US" sz="2400" dirty="0"/>
              <a:t>Introduction to R language</a:t>
            </a:r>
          </a:p>
          <a:p>
            <a:pPr lvl="1"/>
            <a:r>
              <a:rPr lang="en-US" altLang="en-US" dirty="0"/>
              <a:t>Principles of R</a:t>
            </a:r>
          </a:p>
          <a:p>
            <a:pPr lvl="1"/>
            <a:r>
              <a:rPr lang="en-US" altLang="en-US" dirty="0"/>
              <a:t>Working with </a:t>
            </a:r>
            <a:r>
              <a:rPr lang="en-US" altLang="en-US" dirty="0" smtClean="0"/>
              <a:t>R</a:t>
            </a:r>
          </a:p>
          <a:p>
            <a:pPr lvl="1"/>
            <a:r>
              <a:rPr lang="en-US" altLang="en-US" dirty="0"/>
              <a:t>Data preprocessing with </a:t>
            </a:r>
            <a:r>
              <a:rPr lang="en-US" altLang="en-US" dirty="0" smtClean="0"/>
              <a:t>R</a:t>
            </a:r>
            <a:endParaRPr lang="en-US" altLang="en-US" dirty="0"/>
          </a:p>
          <a:p>
            <a:pPr lvl="1"/>
            <a:endParaRPr lang="en-US" altLang="en-US" dirty="0"/>
          </a:p>
        </p:txBody>
      </p:sp>
    </p:spTree>
    <p:extLst>
      <p:ext uri="{BB962C8B-B14F-4D97-AF65-F5344CB8AC3E}">
        <p14:creationId xmlns:p14="http://schemas.microsoft.com/office/powerpoint/2010/main" val="12404836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46</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Missing Values</a:t>
            </a:r>
          </a:p>
        </p:txBody>
      </p:sp>
      <p:sp>
        <p:nvSpPr>
          <p:cNvPr id="8198" name="Rectangle 3"/>
          <p:cNvSpPr>
            <a:spLocks noGrp="1" noChangeArrowheads="1"/>
          </p:cNvSpPr>
          <p:nvPr>
            <p:ph type="body" idx="1"/>
          </p:nvPr>
        </p:nvSpPr>
        <p:spPr>
          <a:xfrm>
            <a:off x="1752600" y="1524000"/>
            <a:ext cx="8686800" cy="4114800"/>
          </a:xfrm>
        </p:spPr>
        <p:txBody>
          <a:bodyPr>
            <a:normAutofit/>
          </a:bodyPr>
          <a:lstStyle/>
          <a:p>
            <a:r>
              <a:rPr lang="en-US" altLang="en-US" dirty="0" smtClean="0"/>
              <a:t>Missing values can appear in your dataset as </a:t>
            </a:r>
          </a:p>
          <a:p>
            <a:endParaRPr lang="en-US" altLang="en-US" dirty="0" smtClean="0"/>
          </a:p>
          <a:p>
            <a:pPr lvl="1"/>
            <a:r>
              <a:rPr lang="en-US" altLang="en-US" dirty="0" smtClean="0"/>
              <a:t>A blank</a:t>
            </a:r>
          </a:p>
          <a:p>
            <a:pPr lvl="1"/>
            <a:r>
              <a:rPr lang="en-US" altLang="en-US" dirty="0" smtClean="0"/>
              <a:t>A ‘.’</a:t>
            </a:r>
          </a:p>
          <a:p>
            <a:pPr lvl="1"/>
            <a:r>
              <a:rPr lang="en-US" altLang="en-US" dirty="0" smtClean="0"/>
              <a:t>A ‘n/a’</a:t>
            </a:r>
          </a:p>
          <a:p>
            <a:pPr lvl="1"/>
            <a:r>
              <a:rPr lang="en-US" altLang="en-US" dirty="0" smtClean="0"/>
              <a:t>A ‘?’</a:t>
            </a:r>
          </a:p>
          <a:p>
            <a:pPr lvl="1"/>
            <a:endParaRPr lang="en-US" altLang="en-US" dirty="0"/>
          </a:p>
          <a:p>
            <a:r>
              <a:rPr lang="en-US" altLang="en-US" dirty="0" smtClean="0"/>
              <a:t>There are several strategies to deal with them, for example applying some kind of filter.</a:t>
            </a:r>
          </a:p>
        </p:txBody>
      </p:sp>
    </p:spTree>
    <p:extLst>
      <p:ext uri="{BB962C8B-B14F-4D97-AF65-F5344CB8AC3E}">
        <p14:creationId xmlns:p14="http://schemas.microsoft.com/office/powerpoint/2010/main" val="21177154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47</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70000" lnSpcReduction="2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altLang="en-US" sz="2400" dirty="0" smtClean="0"/>
              <a:t>Locating and downloading datasets</a:t>
            </a:r>
          </a:p>
          <a:p>
            <a:pPr lvl="1"/>
            <a:r>
              <a:rPr lang="en-US" altLang="en-US" dirty="0" smtClean="0"/>
              <a:t>Datasets and files</a:t>
            </a:r>
          </a:p>
          <a:p>
            <a:pPr lvl="1"/>
            <a:r>
              <a:rPr lang="en-US" altLang="en-US" dirty="0" smtClean="0"/>
              <a:t>Data sources</a:t>
            </a:r>
            <a:endParaRPr lang="en-US" altLang="en-US" dirty="0"/>
          </a:p>
          <a:p>
            <a:r>
              <a:rPr lang="en-US" altLang="en-US" sz="2400" dirty="0" smtClean="0"/>
              <a:t>Data preprocessing</a:t>
            </a:r>
            <a:endParaRPr lang="en-US" altLang="en-US" sz="2400" dirty="0"/>
          </a:p>
          <a:p>
            <a:pPr lvl="1"/>
            <a:r>
              <a:rPr lang="en-US" altLang="en-US" dirty="0" smtClean="0"/>
              <a:t>Importance of data preprocessing</a:t>
            </a:r>
            <a:endParaRPr lang="en-US" altLang="en-US" dirty="0"/>
          </a:p>
          <a:p>
            <a:pPr lvl="1"/>
            <a:r>
              <a:rPr lang="en-US" altLang="en-US" dirty="0" smtClean="0"/>
              <a:t>Data preprocessing tasks</a:t>
            </a:r>
            <a:endParaRPr lang="en-US" altLang="en-US" dirty="0"/>
          </a:p>
          <a:p>
            <a:r>
              <a:rPr lang="en-US" altLang="en-US" sz="2400" dirty="0" smtClean="0"/>
              <a:t>Missing values</a:t>
            </a:r>
          </a:p>
          <a:p>
            <a:pPr lvl="1"/>
            <a:r>
              <a:rPr lang="en-US" altLang="en-US" b="1" dirty="0" smtClean="0">
                <a:solidFill>
                  <a:srgbClr val="FFFF00"/>
                </a:solidFill>
              </a:rPr>
              <a:t>Replacing missing values</a:t>
            </a:r>
          </a:p>
          <a:p>
            <a:r>
              <a:rPr lang="en-US" altLang="en-US" sz="2400" dirty="0" smtClean="0"/>
              <a:t>Normalizing and discretizing data</a:t>
            </a:r>
          </a:p>
          <a:p>
            <a:pPr lvl="1"/>
            <a:r>
              <a:rPr lang="en-US" altLang="en-US" dirty="0" smtClean="0"/>
              <a:t>Data normalization</a:t>
            </a:r>
          </a:p>
          <a:p>
            <a:pPr lvl="1"/>
            <a:r>
              <a:rPr lang="en-US" altLang="en-US" dirty="0" smtClean="0"/>
              <a:t>Discretization</a:t>
            </a:r>
          </a:p>
          <a:p>
            <a:r>
              <a:rPr lang="en-US" altLang="en-US" sz="2400" dirty="0" smtClean="0"/>
              <a:t>Data reduction</a:t>
            </a:r>
          </a:p>
          <a:p>
            <a:pPr lvl="1"/>
            <a:r>
              <a:rPr lang="en-US" altLang="en-US" dirty="0"/>
              <a:t>Feature selection</a:t>
            </a:r>
          </a:p>
          <a:p>
            <a:pPr lvl="1"/>
            <a:r>
              <a:rPr lang="en-US" altLang="en-US" dirty="0" smtClean="0"/>
              <a:t>Data sampling</a:t>
            </a:r>
          </a:p>
          <a:p>
            <a:r>
              <a:rPr lang="en-US" altLang="en-US" sz="2400" dirty="0"/>
              <a:t>Introduction to R language</a:t>
            </a:r>
          </a:p>
          <a:p>
            <a:pPr lvl="1"/>
            <a:r>
              <a:rPr lang="en-US" altLang="en-US" dirty="0"/>
              <a:t>Principles of R</a:t>
            </a:r>
          </a:p>
          <a:p>
            <a:pPr lvl="1"/>
            <a:r>
              <a:rPr lang="en-US" altLang="en-US" dirty="0"/>
              <a:t>Working with </a:t>
            </a:r>
            <a:r>
              <a:rPr lang="en-US" altLang="en-US" dirty="0" smtClean="0"/>
              <a:t>R</a:t>
            </a:r>
          </a:p>
          <a:p>
            <a:pPr lvl="1"/>
            <a:r>
              <a:rPr lang="en-US" altLang="en-US" dirty="0"/>
              <a:t>Data preprocessing with </a:t>
            </a:r>
            <a:r>
              <a:rPr lang="en-US" altLang="en-US" dirty="0" smtClean="0"/>
              <a:t>R</a:t>
            </a:r>
            <a:endParaRPr lang="en-US" altLang="en-US" dirty="0"/>
          </a:p>
          <a:p>
            <a:pPr lvl="1"/>
            <a:endParaRPr lang="en-US" altLang="en-US" dirty="0"/>
          </a:p>
        </p:txBody>
      </p:sp>
    </p:spTree>
    <p:extLst>
      <p:ext uri="{BB962C8B-B14F-4D97-AF65-F5344CB8AC3E}">
        <p14:creationId xmlns:p14="http://schemas.microsoft.com/office/powerpoint/2010/main" val="23693419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48</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Replacing Missing Values</a:t>
            </a:r>
          </a:p>
        </p:txBody>
      </p:sp>
      <p:sp>
        <p:nvSpPr>
          <p:cNvPr id="8198" name="Rectangle 3"/>
          <p:cNvSpPr>
            <a:spLocks noGrp="1" noChangeArrowheads="1"/>
          </p:cNvSpPr>
          <p:nvPr>
            <p:ph type="body" idx="1"/>
          </p:nvPr>
        </p:nvSpPr>
        <p:spPr>
          <a:xfrm>
            <a:off x="1752600" y="1524000"/>
            <a:ext cx="8686800" cy="4114800"/>
          </a:xfrm>
        </p:spPr>
        <p:txBody>
          <a:bodyPr>
            <a:normAutofit/>
          </a:bodyPr>
          <a:lstStyle/>
          <a:p>
            <a:r>
              <a:rPr lang="en-US" altLang="en-US" dirty="0" smtClean="0"/>
              <a:t>Strategies for replacing missing values</a:t>
            </a:r>
          </a:p>
          <a:p>
            <a:pPr marL="0" indent="0">
              <a:buNone/>
            </a:pPr>
            <a:endParaRPr lang="en-US" altLang="en-US" dirty="0" smtClean="0"/>
          </a:p>
          <a:p>
            <a:pPr lvl="1"/>
            <a:r>
              <a:rPr lang="en-US" altLang="en-US" dirty="0" smtClean="0"/>
              <a:t>Delete the entire row (depends on how many rows you have)</a:t>
            </a:r>
          </a:p>
          <a:p>
            <a:pPr lvl="1"/>
            <a:r>
              <a:rPr lang="en-US" altLang="en-US" dirty="0" smtClean="0"/>
              <a:t>Replace by a fixed value (‘unknown’)</a:t>
            </a:r>
          </a:p>
          <a:p>
            <a:pPr lvl="1"/>
            <a:r>
              <a:rPr lang="en-US" altLang="en-US" dirty="0" smtClean="0"/>
              <a:t>Replace values by a statistic associated with a particular column or a particular group – mean, median, mode</a:t>
            </a:r>
          </a:p>
          <a:p>
            <a:pPr lvl="1"/>
            <a:r>
              <a:rPr lang="en-US" altLang="en-US" dirty="0" smtClean="0"/>
              <a:t>Replace values based on nearest neighbors</a:t>
            </a:r>
          </a:p>
          <a:p>
            <a:pPr lvl="1"/>
            <a:r>
              <a:rPr lang="en-US" altLang="en-US" dirty="0" smtClean="0"/>
              <a:t>Replace values based on likelihood.</a:t>
            </a:r>
          </a:p>
        </p:txBody>
      </p:sp>
    </p:spTree>
    <p:extLst>
      <p:ext uri="{BB962C8B-B14F-4D97-AF65-F5344CB8AC3E}">
        <p14:creationId xmlns:p14="http://schemas.microsoft.com/office/powerpoint/2010/main" val="41363223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49</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Replacing Missing Values</a:t>
            </a:r>
          </a:p>
        </p:txBody>
      </p:sp>
      <p:graphicFrame>
        <p:nvGraphicFramePr>
          <p:cNvPr id="2" name="Diagram 1"/>
          <p:cNvGraphicFramePr/>
          <p:nvPr>
            <p:extLst>
              <p:ext uri="{D42A27DB-BD31-4B8C-83A1-F6EECF244321}">
                <p14:modId xmlns:p14="http://schemas.microsoft.com/office/powerpoint/2010/main" val="2545557939"/>
              </p:ext>
            </p:extLst>
          </p:nvPr>
        </p:nvGraphicFramePr>
        <p:xfrm>
          <a:off x="1861127" y="1120245"/>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165033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50</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70000" lnSpcReduction="2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altLang="en-US" sz="2400" dirty="0" smtClean="0"/>
              <a:t>Locating and downloading datasets</a:t>
            </a:r>
          </a:p>
          <a:p>
            <a:pPr lvl="1"/>
            <a:r>
              <a:rPr lang="en-US" altLang="en-US" dirty="0" smtClean="0"/>
              <a:t>Datasets and files</a:t>
            </a:r>
          </a:p>
          <a:p>
            <a:pPr lvl="1"/>
            <a:r>
              <a:rPr lang="en-US" altLang="en-US" dirty="0" smtClean="0"/>
              <a:t>Data sources</a:t>
            </a:r>
            <a:endParaRPr lang="en-US" altLang="en-US" dirty="0"/>
          </a:p>
          <a:p>
            <a:r>
              <a:rPr lang="en-US" altLang="en-US" sz="2400" dirty="0" smtClean="0"/>
              <a:t>Data preprocessing</a:t>
            </a:r>
            <a:endParaRPr lang="en-US" altLang="en-US" sz="2400" dirty="0"/>
          </a:p>
          <a:p>
            <a:pPr lvl="1"/>
            <a:r>
              <a:rPr lang="en-US" altLang="en-US" dirty="0" smtClean="0"/>
              <a:t>Importance of data preprocessing</a:t>
            </a:r>
            <a:endParaRPr lang="en-US" altLang="en-US" dirty="0"/>
          </a:p>
          <a:p>
            <a:pPr lvl="1"/>
            <a:r>
              <a:rPr lang="en-US" altLang="en-US" dirty="0" smtClean="0"/>
              <a:t>Data preprocessing tasks</a:t>
            </a:r>
            <a:endParaRPr lang="en-US" altLang="en-US" dirty="0"/>
          </a:p>
          <a:p>
            <a:r>
              <a:rPr lang="en-US" altLang="en-US" sz="2400" dirty="0" smtClean="0"/>
              <a:t>Missing values</a:t>
            </a:r>
          </a:p>
          <a:p>
            <a:pPr lvl="1"/>
            <a:r>
              <a:rPr lang="en-US" altLang="en-US" dirty="0" smtClean="0"/>
              <a:t>Replacing missing values</a:t>
            </a:r>
          </a:p>
          <a:p>
            <a:r>
              <a:rPr lang="en-US" altLang="en-US" sz="2400" b="1" dirty="0" smtClean="0">
                <a:solidFill>
                  <a:srgbClr val="FFFF00"/>
                </a:solidFill>
              </a:rPr>
              <a:t>Normalizing and discretizing data</a:t>
            </a:r>
          </a:p>
          <a:p>
            <a:pPr lvl="1"/>
            <a:r>
              <a:rPr lang="en-US" altLang="en-US" dirty="0" smtClean="0"/>
              <a:t>Data normalization</a:t>
            </a:r>
          </a:p>
          <a:p>
            <a:pPr lvl="1"/>
            <a:r>
              <a:rPr lang="en-US" altLang="en-US" dirty="0" smtClean="0"/>
              <a:t>Discretization</a:t>
            </a:r>
          </a:p>
          <a:p>
            <a:r>
              <a:rPr lang="en-US" altLang="en-US" sz="2400" dirty="0" smtClean="0"/>
              <a:t>Data reduction</a:t>
            </a:r>
          </a:p>
          <a:p>
            <a:pPr lvl="1"/>
            <a:r>
              <a:rPr lang="en-US" altLang="en-US" dirty="0"/>
              <a:t>Feature selection</a:t>
            </a:r>
          </a:p>
          <a:p>
            <a:pPr lvl="1"/>
            <a:r>
              <a:rPr lang="en-US" altLang="en-US" dirty="0" smtClean="0"/>
              <a:t>Data sampling</a:t>
            </a:r>
          </a:p>
          <a:p>
            <a:r>
              <a:rPr lang="en-US" altLang="en-US" sz="2400" dirty="0"/>
              <a:t>Introduction to R language</a:t>
            </a:r>
          </a:p>
          <a:p>
            <a:pPr lvl="1"/>
            <a:r>
              <a:rPr lang="en-US" altLang="en-US" dirty="0"/>
              <a:t>Principles of R</a:t>
            </a:r>
          </a:p>
          <a:p>
            <a:pPr lvl="1"/>
            <a:r>
              <a:rPr lang="en-US" altLang="en-US" dirty="0"/>
              <a:t>Working with </a:t>
            </a:r>
            <a:r>
              <a:rPr lang="en-US" altLang="en-US" dirty="0" smtClean="0"/>
              <a:t>R</a:t>
            </a:r>
          </a:p>
          <a:p>
            <a:pPr lvl="1"/>
            <a:r>
              <a:rPr lang="en-US" altLang="en-US" dirty="0"/>
              <a:t>Data preprocessing with </a:t>
            </a:r>
            <a:r>
              <a:rPr lang="en-US" altLang="en-US" dirty="0" smtClean="0"/>
              <a:t>R</a:t>
            </a:r>
            <a:endParaRPr lang="en-US" altLang="en-US" dirty="0"/>
          </a:p>
          <a:p>
            <a:pPr lvl="1"/>
            <a:endParaRPr lang="en-US" altLang="en-US" dirty="0"/>
          </a:p>
        </p:txBody>
      </p:sp>
    </p:spTree>
    <p:extLst>
      <p:ext uri="{BB962C8B-B14F-4D97-AF65-F5344CB8AC3E}">
        <p14:creationId xmlns:p14="http://schemas.microsoft.com/office/powerpoint/2010/main" val="40882081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51</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Normalizing and Discretizing Data</a:t>
            </a:r>
          </a:p>
        </p:txBody>
      </p:sp>
      <p:sp>
        <p:nvSpPr>
          <p:cNvPr id="8198" name="Rectangle 3"/>
          <p:cNvSpPr>
            <a:spLocks noGrp="1" noChangeArrowheads="1"/>
          </p:cNvSpPr>
          <p:nvPr>
            <p:ph type="body" idx="1"/>
          </p:nvPr>
        </p:nvSpPr>
        <p:spPr>
          <a:xfrm>
            <a:off x="1752600" y="1524000"/>
            <a:ext cx="8686800" cy="4114800"/>
          </a:xfrm>
        </p:spPr>
        <p:txBody>
          <a:bodyPr>
            <a:normAutofit lnSpcReduction="10000"/>
          </a:bodyPr>
          <a:lstStyle/>
          <a:p>
            <a:r>
              <a:rPr lang="en-US" altLang="en-US" dirty="0" smtClean="0"/>
              <a:t>In order to handle noise in the data, they can be transformed globally to</a:t>
            </a:r>
          </a:p>
          <a:p>
            <a:endParaRPr lang="en-US" altLang="en-US" dirty="0"/>
          </a:p>
          <a:p>
            <a:pPr lvl="1"/>
            <a:r>
              <a:rPr lang="en-US" altLang="en-US" dirty="0" smtClean="0"/>
              <a:t>Reduce the grain in the data (discretize) from fine-rain to higher-grain, for example from numeric to nominal.</a:t>
            </a:r>
          </a:p>
          <a:p>
            <a:pPr lvl="1"/>
            <a:endParaRPr lang="en-US" altLang="en-US" dirty="0"/>
          </a:p>
          <a:p>
            <a:pPr lvl="1"/>
            <a:r>
              <a:rPr lang="en-US" altLang="en-US" dirty="0" smtClean="0"/>
              <a:t>Change the scale or range  of the data (normalize).</a:t>
            </a:r>
          </a:p>
          <a:p>
            <a:pPr lvl="1"/>
            <a:endParaRPr lang="en-US" altLang="en-US" dirty="0"/>
          </a:p>
          <a:p>
            <a:r>
              <a:rPr lang="en-US" altLang="en-US" dirty="0" smtClean="0"/>
              <a:t>It might also be necessary to discretize to apply different data analytics methods because some prediction methods require a nominal target attribute.</a:t>
            </a:r>
          </a:p>
        </p:txBody>
      </p:sp>
    </p:spTree>
    <p:extLst>
      <p:ext uri="{BB962C8B-B14F-4D97-AF65-F5344CB8AC3E}">
        <p14:creationId xmlns:p14="http://schemas.microsoft.com/office/powerpoint/2010/main" val="3262500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52</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70000" lnSpcReduction="2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altLang="en-US" sz="2400" dirty="0" smtClean="0"/>
              <a:t>Locating and downloading datasets</a:t>
            </a:r>
          </a:p>
          <a:p>
            <a:pPr lvl="1"/>
            <a:r>
              <a:rPr lang="en-US" altLang="en-US" dirty="0" smtClean="0"/>
              <a:t>Datasets and files</a:t>
            </a:r>
          </a:p>
          <a:p>
            <a:pPr lvl="1"/>
            <a:r>
              <a:rPr lang="en-US" altLang="en-US" dirty="0" smtClean="0"/>
              <a:t>Data sources</a:t>
            </a:r>
            <a:endParaRPr lang="en-US" altLang="en-US" dirty="0"/>
          </a:p>
          <a:p>
            <a:r>
              <a:rPr lang="en-US" altLang="en-US" sz="2400" dirty="0" smtClean="0"/>
              <a:t>Data preprocessing</a:t>
            </a:r>
            <a:endParaRPr lang="en-US" altLang="en-US" sz="2400" dirty="0"/>
          </a:p>
          <a:p>
            <a:pPr lvl="1"/>
            <a:r>
              <a:rPr lang="en-US" altLang="en-US" dirty="0" smtClean="0"/>
              <a:t>Importance of data preprocessing</a:t>
            </a:r>
            <a:endParaRPr lang="en-US" altLang="en-US" dirty="0"/>
          </a:p>
          <a:p>
            <a:pPr lvl="1"/>
            <a:r>
              <a:rPr lang="en-US" altLang="en-US" dirty="0" smtClean="0"/>
              <a:t>Data preprocessing tasks</a:t>
            </a:r>
            <a:endParaRPr lang="en-US" altLang="en-US" dirty="0"/>
          </a:p>
          <a:p>
            <a:r>
              <a:rPr lang="en-US" altLang="en-US" sz="2400" dirty="0" smtClean="0"/>
              <a:t>Missing values</a:t>
            </a:r>
          </a:p>
          <a:p>
            <a:pPr lvl="1"/>
            <a:r>
              <a:rPr lang="en-US" altLang="en-US" dirty="0" smtClean="0"/>
              <a:t>Replacing missing values</a:t>
            </a:r>
          </a:p>
          <a:p>
            <a:r>
              <a:rPr lang="en-US" altLang="en-US" sz="2400" dirty="0" smtClean="0"/>
              <a:t>Normalizing and discretizing data</a:t>
            </a:r>
          </a:p>
          <a:p>
            <a:pPr lvl="1"/>
            <a:r>
              <a:rPr lang="en-US" altLang="en-US" b="1" dirty="0" smtClean="0">
                <a:solidFill>
                  <a:srgbClr val="FFFF00"/>
                </a:solidFill>
              </a:rPr>
              <a:t>Data normalization</a:t>
            </a:r>
          </a:p>
          <a:p>
            <a:pPr lvl="1"/>
            <a:r>
              <a:rPr lang="en-US" altLang="en-US" dirty="0" smtClean="0"/>
              <a:t>Discretization</a:t>
            </a:r>
          </a:p>
          <a:p>
            <a:r>
              <a:rPr lang="en-US" altLang="en-US" sz="2400" dirty="0" smtClean="0"/>
              <a:t>Data reduction</a:t>
            </a:r>
          </a:p>
          <a:p>
            <a:pPr lvl="1"/>
            <a:r>
              <a:rPr lang="en-US" altLang="en-US" dirty="0"/>
              <a:t>Feature selection</a:t>
            </a:r>
          </a:p>
          <a:p>
            <a:pPr lvl="1"/>
            <a:r>
              <a:rPr lang="en-US" altLang="en-US" dirty="0" smtClean="0"/>
              <a:t>Data sampling</a:t>
            </a:r>
          </a:p>
          <a:p>
            <a:r>
              <a:rPr lang="en-US" altLang="en-US" sz="2400" dirty="0"/>
              <a:t>Introduction to R language</a:t>
            </a:r>
          </a:p>
          <a:p>
            <a:pPr lvl="1"/>
            <a:r>
              <a:rPr lang="en-US" altLang="en-US" dirty="0"/>
              <a:t>Principles of R</a:t>
            </a:r>
          </a:p>
          <a:p>
            <a:pPr lvl="1"/>
            <a:r>
              <a:rPr lang="en-US" altLang="en-US" dirty="0"/>
              <a:t>Working with </a:t>
            </a:r>
            <a:r>
              <a:rPr lang="en-US" altLang="en-US" dirty="0" smtClean="0"/>
              <a:t>R</a:t>
            </a:r>
          </a:p>
          <a:p>
            <a:pPr lvl="1"/>
            <a:r>
              <a:rPr lang="en-US" altLang="en-US" dirty="0"/>
              <a:t>Data preprocessing with </a:t>
            </a:r>
            <a:r>
              <a:rPr lang="en-US" altLang="en-US" dirty="0" smtClean="0"/>
              <a:t>R</a:t>
            </a:r>
            <a:endParaRPr lang="en-US" altLang="en-US" dirty="0"/>
          </a:p>
          <a:p>
            <a:pPr lvl="1"/>
            <a:endParaRPr lang="en-US" altLang="en-US" dirty="0"/>
          </a:p>
        </p:txBody>
      </p:sp>
    </p:spTree>
    <p:extLst>
      <p:ext uri="{BB962C8B-B14F-4D97-AF65-F5344CB8AC3E}">
        <p14:creationId xmlns:p14="http://schemas.microsoft.com/office/powerpoint/2010/main" val="17012358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53</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Normalization</a:t>
            </a:r>
          </a:p>
        </p:txBody>
      </p:sp>
      <p:sp>
        <p:nvSpPr>
          <p:cNvPr id="8198" name="Rectangle 3"/>
          <p:cNvSpPr>
            <a:spLocks noGrp="1" noChangeArrowheads="1"/>
          </p:cNvSpPr>
          <p:nvPr>
            <p:ph type="body" idx="1"/>
          </p:nvPr>
        </p:nvSpPr>
        <p:spPr>
          <a:xfrm>
            <a:off x="1752600" y="1524000"/>
            <a:ext cx="8686800" cy="4114800"/>
          </a:xfrm>
        </p:spPr>
        <p:txBody>
          <a:bodyPr>
            <a:normAutofit/>
          </a:bodyPr>
          <a:lstStyle/>
          <a:p>
            <a:r>
              <a:rPr lang="en-US" altLang="en-US" dirty="0" smtClean="0"/>
              <a:t>Normalization consists changing the scale in the data.</a:t>
            </a:r>
          </a:p>
          <a:p>
            <a:endParaRPr lang="en-US" altLang="en-US" dirty="0" smtClean="0"/>
          </a:p>
          <a:p>
            <a:r>
              <a:rPr lang="en-US" altLang="en-US" dirty="0" smtClean="0"/>
              <a:t>When having data of mixed scale, some data analytics methods do not behave well (Ex: age and income have widely different ranges).</a:t>
            </a:r>
          </a:p>
          <a:p>
            <a:pPr marL="0" indent="0">
              <a:buNone/>
            </a:pPr>
            <a:endParaRPr lang="en-US" altLang="en-US" dirty="0" smtClean="0"/>
          </a:p>
          <a:p>
            <a:r>
              <a:rPr lang="en-US" altLang="en-US" dirty="0" smtClean="0"/>
              <a:t>For example, it is frequent to scale all data between the range [-1, 1] or [0, 1].</a:t>
            </a:r>
          </a:p>
          <a:p>
            <a:pPr marL="0" indent="0">
              <a:buNone/>
            </a:pPr>
            <a:endParaRPr lang="en-US" altLang="en-US" dirty="0" smtClean="0"/>
          </a:p>
        </p:txBody>
      </p:sp>
    </p:spTree>
    <p:extLst>
      <p:ext uri="{BB962C8B-B14F-4D97-AF65-F5344CB8AC3E}">
        <p14:creationId xmlns:p14="http://schemas.microsoft.com/office/powerpoint/2010/main" val="19187223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54</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Normalization</a:t>
            </a:r>
          </a:p>
        </p:txBody>
      </p:sp>
      <p:sp>
        <p:nvSpPr>
          <p:cNvPr id="8198" name="Rectangle 3"/>
          <p:cNvSpPr>
            <a:spLocks noGrp="1" noChangeArrowheads="1"/>
          </p:cNvSpPr>
          <p:nvPr>
            <p:ph type="body" idx="1"/>
          </p:nvPr>
        </p:nvSpPr>
        <p:spPr>
          <a:xfrm>
            <a:off x="1752600" y="1524000"/>
            <a:ext cx="8686800" cy="4114800"/>
          </a:xfrm>
        </p:spPr>
        <p:txBody>
          <a:bodyPr>
            <a:normAutofit/>
          </a:bodyPr>
          <a:lstStyle/>
          <a:p>
            <a:r>
              <a:rPr lang="en-US" altLang="en-US" dirty="0" smtClean="0"/>
              <a:t>Generally, data are scaled into a smaller range.</a:t>
            </a:r>
          </a:p>
          <a:p>
            <a:endParaRPr lang="en-US" altLang="en-US" dirty="0"/>
          </a:p>
          <a:p>
            <a:r>
              <a:rPr lang="en-US" altLang="en-US" dirty="0" smtClean="0"/>
              <a:t>Methods include:</a:t>
            </a:r>
          </a:p>
          <a:p>
            <a:pPr lvl="1"/>
            <a:r>
              <a:rPr lang="en-US" altLang="en-US" dirty="0" smtClean="0"/>
              <a:t>Min-max normalization</a:t>
            </a:r>
          </a:p>
          <a:p>
            <a:pPr lvl="1"/>
            <a:endParaRPr lang="en-US" altLang="en-US" dirty="0"/>
          </a:p>
          <a:p>
            <a:pPr lvl="1"/>
            <a:r>
              <a:rPr lang="en-US" altLang="en-US" dirty="0" smtClean="0"/>
              <a:t>Z-score normalization</a:t>
            </a:r>
          </a:p>
          <a:p>
            <a:pPr lvl="1"/>
            <a:endParaRPr lang="en-US" altLang="en-US" dirty="0"/>
          </a:p>
          <a:p>
            <a:pPr lvl="1"/>
            <a:r>
              <a:rPr lang="en-US" altLang="en-US" dirty="0" smtClean="0"/>
              <a:t>Decimal scaling</a:t>
            </a:r>
          </a:p>
        </p:txBody>
      </p:sp>
    </p:spTree>
    <p:extLst>
      <p:ext uri="{BB962C8B-B14F-4D97-AF65-F5344CB8AC3E}">
        <p14:creationId xmlns:p14="http://schemas.microsoft.com/office/powerpoint/2010/main" val="10549471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55</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Normalization</a:t>
            </a:r>
          </a:p>
        </p:txBody>
      </p:sp>
      <p:sp>
        <p:nvSpPr>
          <p:cNvPr id="8198" name="Rectangle 3"/>
          <p:cNvSpPr>
            <a:spLocks noGrp="1" noChangeArrowheads="1"/>
          </p:cNvSpPr>
          <p:nvPr>
            <p:ph type="body" idx="1"/>
          </p:nvPr>
        </p:nvSpPr>
        <p:spPr>
          <a:xfrm>
            <a:off x="1752600" y="1524000"/>
            <a:ext cx="8686800" cy="4114800"/>
          </a:xfrm>
        </p:spPr>
        <p:txBody>
          <a:bodyPr>
            <a:normAutofit lnSpcReduction="10000"/>
          </a:bodyPr>
          <a:lstStyle/>
          <a:p>
            <a:r>
              <a:rPr lang="en-US" altLang="en-US" dirty="0" smtClean="0"/>
              <a:t>Min-max normalization transforms data from range [m, </a:t>
            </a:r>
            <a:r>
              <a:rPr lang="en-US" altLang="en-US" dirty="0"/>
              <a:t>M</a:t>
            </a:r>
            <a:r>
              <a:rPr lang="en-US" altLang="en-US" dirty="0" smtClean="0"/>
              <a:t>] into range [m’, M’] using the formula</a:t>
            </a:r>
            <a:br>
              <a:rPr lang="en-US" altLang="en-US" dirty="0" smtClean="0"/>
            </a:br>
            <a:r>
              <a:rPr lang="en-US" altLang="en-US" dirty="0" smtClean="0"/>
              <a:t/>
            </a:r>
            <a:br>
              <a:rPr lang="en-US" altLang="en-US" dirty="0" smtClean="0"/>
            </a:br>
            <a:r>
              <a:rPr lang="en-US" altLang="en-US" dirty="0" err="1" smtClean="0"/>
              <a:t>val</a:t>
            </a:r>
            <a:r>
              <a:rPr lang="en-US" altLang="en-US" dirty="0" smtClean="0"/>
              <a:t>’ = (</a:t>
            </a:r>
            <a:r>
              <a:rPr lang="en-US" altLang="en-US" dirty="0" err="1" smtClean="0"/>
              <a:t>val</a:t>
            </a:r>
            <a:r>
              <a:rPr lang="en-US" altLang="en-US" dirty="0" smtClean="0"/>
              <a:t> – m) / (M – m) * (M’ – m’) + m’ </a:t>
            </a:r>
          </a:p>
          <a:p>
            <a:endParaRPr lang="en-US" altLang="en-US" dirty="0"/>
          </a:p>
          <a:p>
            <a:r>
              <a:rPr lang="en-US" altLang="en-US" dirty="0" smtClean="0"/>
              <a:t>Example: normalizing into [0, 1] age values between [0, 150]</a:t>
            </a:r>
            <a:br>
              <a:rPr lang="en-US" altLang="en-US" dirty="0" smtClean="0"/>
            </a:br>
            <a:r>
              <a:rPr lang="en-US" altLang="en-US" dirty="0" smtClean="0"/>
              <a:t>age 50 </a:t>
            </a:r>
            <a:r>
              <a:rPr lang="en-US" altLang="en-US" dirty="0" smtClean="0">
                <a:sym typeface="Wingdings" panose="05000000000000000000" pitchFamily="2" charset="2"/>
              </a:rPr>
              <a:t> 0.33 (intuitively)</a:t>
            </a:r>
            <a:br>
              <a:rPr lang="en-US" altLang="en-US" dirty="0" smtClean="0">
                <a:sym typeface="Wingdings" panose="05000000000000000000" pitchFamily="2" charset="2"/>
              </a:rPr>
            </a:br>
            <a:r>
              <a:rPr lang="en-US" altLang="en-US" dirty="0" smtClean="0">
                <a:sym typeface="Wingdings" panose="05000000000000000000" pitchFamily="2" charset="2"/>
              </a:rPr>
              <a:t>check </a:t>
            </a:r>
            <a:r>
              <a:rPr lang="en-US" altLang="en-US" dirty="0" err="1" smtClean="0">
                <a:sym typeface="Wingdings" panose="05000000000000000000" pitchFamily="2" charset="2"/>
              </a:rPr>
              <a:t>val</a:t>
            </a:r>
            <a:r>
              <a:rPr lang="en-US" altLang="en-US" dirty="0" smtClean="0">
                <a:sym typeface="Wingdings" panose="05000000000000000000" pitchFamily="2" charset="2"/>
              </a:rPr>
              <a:t>’ = (50 – 0) / (150 – 0) * (1 – 0) + 0 </a:t>
            </a:r>
            <a:br>
              <a:rPr lang="en-US" altLang="en-US" dirty="0" smtClean="0">
                <a:sym typeface="Wingdings" panose="05000000000000000000" pitchFamily="2" charset="2"/>
              </a:rPr>
            </a:br>
            <a:r>
              <a:rPr lang="en-US" altLang="en-US" dirty="0" smtClean="0">
                <a:sym typeface="Wingdings" panose="05000000000000000000" pitchFamily="2" charset="2"/>
              </a:rPr>
              <a:t>                  = 50 / 150 = 1/3 = 0.33 </a:t>
            </a:r>
            <a:endParaRPr lang="en-US" altLang="en-US" dirty="0" smtClean="0"/>
          </a:p>
        </p:txBody>
      </p:sp>
    </p:spTree>
    <p:extLst>
      <p:ext uri="{BB962C8B-B14F-4D97-AF65-F5344CB8AC3E}">
        <p14:creationId xmlns:p14="http://schemas.microsoft.com/office/powerpoint/2010/main" val="41471914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56</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Normalization</a:t>
            </a:r>
          </a:p>
        </p:txBody>
      </p:sp>
      <p:sp>
        <p:nvSpPr>
          <p:cNvPr id="8198" name="Rectangle 3"/>
          <p:cNvSpPr>
            <a:spLocks noGrp="1" noChangeArrowheads="1"/>
          </p:cNvSpPr>
          <p:nvPr>
            <p:ph type="body" idx="1"/>
          </p:nvPr>
        </p:nvSpPr>
        <p:spPr>
          <a:xfrm>
            <a:off x="1752600" y="1524000"/>
            <a:ext cx="8686800" cy="4114800"/>
          </a:xfrm>
        </p:spPr>
        <p:txBody>
          <a:bodyPr>
            <a:normAutofit/>
          </a:bodyPr>
          <a:lstStyle/>
          <a:p>
            <a:r>
              <a:rPr lang="en-US" altLang="en-US" dirty="0" smtClean="0"/>
              <a:t>Z-score normalization</a:t>
            </a:r>
            <a:br>
              <a:rPr lang="en-US" altLang="en-US" dirty="0" smtClean="0"/>
            </a:br>
            <a:r>
              <a:rPr lang="en-US" altLang="en-US" dirty="0" smtClean="0"/>
              <a:t/>
            </a:r>
            <a:br>
              <a:rPr lang="en-US" altLang="en-US" dirty="0" smtClean="0"/>
            </a:br>
            <a:r>
              <a:rPr lang="en-US" altLang="en-US" dirty="0" err="1" smtClean="0"/>
              <a:t>val</a:t>
            </a:r>
            <a:r>
              <a:rPr lang="en-US" altLang="en-US" dirty="0" smtClean="0"/>
              <a:t>’ = </a:t>
            </a:r>
            <a:r>
              <a:rPr lang="en-US" altLang="en-US" dirty="0" err="1" smtClean="0"/>
              <a:t>val</a:t>
            </a:r>
            <a:r>
              <a:rPr lang="en-US" altLang="en-US" dirty="0" smtClean="0"/>
              <a:t> – mean / </a:t>
            </a:r>
            <a:r>
              <a:rPr lang="en-US" altLang="en-US" dirty="0" err="1" smtClean="0"/>
              <a:t>std</a:t>
            </a:r>
            <a:endParaRPr lang="en-US" altLang="en-US" dirty="0" smtClean="0"/>
          </a:p>
          <a:p>
            <a:endParaRPr lang="en-US" altLang="en-US" dirty="0"/>
          </a:p>
          <a:p>
            <a:r>
              <a:rPr lang="en-US" altLang="en-US" dirty="0" smtClean="0"/>
              <a:t>Ex</a:t>
            </a:r>
            <a:r>
              <a:rPr lang="en-US" altLang="en-US" dirty="0"/>
              <a:t>: normalizing </a:t>
            </a:r>
            <a:r>
              <a:rPr lang="en-US" altLang="en-US" dirty="0" smtClean="0"/>
              <a:t>age </a:t>
            </a:r>
            <a:r>
              <a:rPr lang="en-US" altLang="en-US" dirty="0"/>
              <a:t>values between [0, 150</a:t>
            </a:r>
            <a:r>
              <a:rPr lang="en-US" altLang="en-US" dirty="0" smtClean="0"/>
              <a:t>]</a:t>
            </a:r>
            <a:br>
              <a:rPr lang="en-US" altLang="en-US" dirty="0" smtClean="0"/>
            </a:br>
            <a:r>
              <a:rPr lang="en-US" altLang="en-US" dirty="0" smtClean="0"/>
              <a:t>where mean age in the population is 36.8 and standard deviation is 12</a:t>
            </a:r>
            <a:br>
              <a:rPr lang="en-US" altLang="en-US" dirty="0" smtClean="0"/>
            </a:br>
            <a:r>
              <a:rPr lang="en-US" altLang="en-US" dirty="0" smtClean="0"/>
              <a:t>age = 50 </a:t>
            </a:r>
            <a:r>
              <a:rPr lang="en-US" altLang="en-US" dirty="0" smtClean="0">
                <a:sym typeface="Wingdings" panose="05000000000000000000" pitchFamily="2" charset="2"/>
              </a:rPr>
              <a:t> </a:t>
            </a:r>
            <a:r>
              <a:rPr lang="en-US" altLang="en-US" dirty="0" err="1" smtClean="0">
                <a:sym typeface="Wingdings" panose="05000000000000000000" pitchFamily="2" charset="2"/>
              </a:rPr>
              <a:t>val</a:t>
            </a:r>
            <a:r>
              <a:rPr lang="en-US" altLang="en-US" dirty="0" smtClean="0">
                <a:sym typeface="Wingdings" panose="05000000000000000000" pitchFamily="2" charset="2"/>
              </a:rPr>
              <a:t>’ = 50 – 36.8 / 12 = 1.1</a:t>
            </a:r>
            <a:endParaRPr lang="en-US" altLang="en-US" dirty="0" smtClean="0"/>
          </a:p>
        </p:txBody>
      </p:sp>
    </p:spTree>
    <p:extLst>
      <p:ext uri="{BB962C8B-B14F-4D97-AF65-F5344CB8AC3E}">
        <p14:creationId xmlns:p14="http://schemas.microsoft.com/office/powerpoint/2010/main" val="14842391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57</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Normalization</a:t>
            </a:r>
          </a:p>
        </p:txBody>
      </p:sp>
      <p:sp>
        <p:nvSpPr>
          <p:cNvPr id="8198" name="Rectangle 3"/>
          <p:cNvSpPr>
            <a:spLocks noGrp="1" noChangeArrowheads="1"/>
          </p:cNvSpPr>
          <p:nvPr>
            <p:ph type="body" idx="1"/>
          </p:nvPr>
        </p:nvSpPr>
        <p:spPr>
          <a:xfrm>
            <a:off x="1752600" y="1524000"/>
            <a:ext cx="8686800" cy="4114800"/>
          </a:xfrm>
        </p:spPr>
        <p:txBody>
          <a:bodyPr>
            <a:normAutofit/>
          </a:bodyPr>
          <a:lstStyle/>
          <a:p>
            <a:r>
              <a:rPr lang="en-US" dirty="0">
                <a:solidFill>
                  <a:schemeClr val="tx2"/>
                </a:solidFill>
              </a:rPr>
              <a:t>The normal (distribution) curve</a:t>
            </a:r>
          </a:p>
          <a:p>
            <a:pPr lvl="1"/>
            <a:r>
              <a:rPr lang="en-US" dirty="0">
                <a:solidFill>
                  <a:schemeClr val="tx2"/>
                </a:solidFill>
              </a:rPr>
              <a:t>From </a:t>
            </a:r>
            <a:r>
              <a:rPr lang="el-GR" dirty="0">
                <a:solidFill>
                  <a:schemeClr val="tx2"/>
                </a:solidFill>
              </a:rPr>
              <a:t>μ</a:t>
            </a:r>
            <a:r>
              <a:rPr lang="en-US" dirty="0">
                <a:solidFill>
                  <a:schemeClr val="tx2"/>
                </a:solidFill>
                <a:latin typeface="Tahoma" pitchFamily="34" charset="0"/>
              </a:rPr>
              <a:t>–</a:t>
            </a:r>
            <a:r>
              <a:rPr lang="el-GR" dirty="0">
                <a:solidFill>
                  <a:schemeClr val="tx2"/>
                </a:solidFill>
              </a:rPr>
              <a:t>σ</a:t>
            </a:r>
            <a:r>
              <a:rPr lang="en-US" dirty="0">
                <a:solidFill>
                  <a:schemeClr val="tx2"/>
                </a:solidFill>
              </a:rPr>
              <a:t> to </a:t>
            </a:r>
            <a:r>
              <a:rPr lang="el-GR" dirty="0">
                <a:solidFill>
                  <a:schemeClr val="tx2"/>
                </a:solidFill>
              </a:rPr>
              <a:t>μ</a:t>
            </a:r>
            <a:r>
              <a:rPr lang="en-US" dirty="0">
                <a:solidFill>
                  <a:schemeClr val="tx2"/>
                </a:solidFill>
              </a:rPr>
              <a:t>+</a:t>
            </a:r>
            <a:r>
              <a:rPr lang="el-GR" dirty="0">
                <a:solidFill>
                  <a:schemeClr val="tx2"/>
                </a:solidFill>
              </a:rPr>
              <a:t>σ</a:t>
            </a:r>
            <a:r>
              <a:rPr lang="en-US" dirty="0">
                <a:solidFill>
                  <a:schemeClr val="tx2"/>
                </a:solidFill>
              </a:rPr>
              <a:t>: contains about 68% of the measurements  (</a:t>
            </a:r>
            <a:r>
              <a:rPr lang="el-GR" dirty="0">
                <a:solidFill>
                  <a:schemeClr val="tx2"/>
                </a:solidFill>
              </a:rPr>
              <a:t>μ</a:t>
            </a:r>
            <a:r>
              <a:rPr lang="en-US" dirty="0">
                <a:solidFill>
                  <a:schemeClr val="tx2"/>
                </a:solidFill>
              </a:rPr>
              <a:t>: mean, </a:t>
            </a:r>
            <a:r>
              <a:rPr lang="el-GR" dirty="0">
                <a:solidFill>
                  <a:schemeClr val="tx2"/>
                </a:solidFill>
              </a:rPr>
              <a:t>σ</a:t>
            </a:r>
            <a:r>
              <a:rPr lang="en-US" dirty="0">
                <a:solidFill>
                  <a:schemeClr val="tx2"/>
                </a:solidFill>
              </a:rPr>
              <a:t>: standard deviation)</a:t>
            </a:r>
          </a:p>
          <a:p>
            <a:pPr lvl="1"/>
            <a:r>
              <a:rPr lang="en-US" dirty="0">
                <a:solidFill>
                  <a:schemeClr val="tx2"/>
                </a:solidFill>
              </a:rPr>
              <a:t> From </a:t>
            </a:r>
            <a:r>
              <a:rPr lang="el-GR" dirty="0">
                <a:solidFill>
                  <a:schemeClr val="tx2"/>
                </a:solidFill>
              </a:rPr>
              <a:t>μ</a:t>
            </a:r>
            <a:r>
              <a:rPr lang="en-US" dirty="0">
                <a:solidFill>
                  <a:schemeClr val="tx2"/>
                </a:solidFill>
                <a:latin typeface="Tahoma" pitchFamily="34" charset="0"/>
              </a:rPr>
              <a:t>–</a:t>
            </a:r>
            <a:r>
              <a:rPr lang="en-US" dirty="0">
                <a:solidFill>
                  <a:schemeClr val="tx2"/>
                </a:solidFill>
              </a:rPr>
              <a:t>2</a:t>
            </a:r>
            <a:r>
              <a:rPr lang="el-GR" dirty="0">
                <a:solidFill>
                  <a:schemeClr val="tx2"/>
                </a:solidFill>
              </a:rPr>
              <a:t>σ</a:t>
            </a:r>
            <a:r>
              <a:rPr lang="en-US" dirty="0">
                <a:solidFill>
                  <a:schemeClr val="tx2"/>
                </a:solidFill>
              </a:rPr>
              <a:t> to </a:t>
            </a:r>
            <a:r>
              <a:rPr lang="el-GR" dirty="0">
                <a:solidFill>
                  <a:schemeClr val="tx2"/>
                </a:solidFill>
              </a:rPr>
              <a:t>μ</a:t>
            </a:r>
            <a:r>
              <a:rPr lang="en-US" dirty="0">
                <a:solidFill>
                  <a:schemeClr val="tx2"/>
                </a:solidFill>
              </a:rPr>
              <a:t>+2</a:t>
            </a:r>
            <a:r>
              <a:rPr lang="el-GR" dirty="0">
                <a:solidFill>
                  <a:schemeClr val="tx2"/>
                </a:solidFill>
              </a:rPr>
              <a:t>σ</a:t>
            </a:r>
            <a:r>
              <a:rPr lang="en-US" dirty="0">
                <a:solidFill>
                  <a:schemeClr val="tx2"/>
                </a:solidFill>
              </a:rPr>
              <a:t>: contains about 95% of it</a:t>
            </a:r>
          </a:p>
          <a:p>
            <a:pPr lvl="1"/>
            <a:r>
              <a:rPr lang="en-US" dirty="0">
                <a:solidFill>
                  <a:schemeClr val="tx2"/>
                </a:solidFill>
              </a:rPr>
              <a:t>From </a:t>
            </a:r>
            <a:r>
              <a:rPr lang="el-GR" dirty="0">
                <a:solidFill>
                  <a:schemeClr val="tx2"/>
                </a:solidFill>
              </a:rPr>
              <a:t>μ</a:t>
            </a:r>
            <a:r>
              <a:rPr lang="en-US" dirty="0">
                <a:solidFill>
                  <a:schemeClr val="tx2"/>
                </a:solidFill>
                <a:latin typeface="Tahoma" pitchFamily="34" charset="0"/>
              </a:rPr>
              <a:t>–</a:t>
            </a:r>
            <a:r>
              <a:rPr lang="en-US" dirty="0">
                <a:solidFill>
                  <a:schemeClr val="tx2"/>
                </a:solidFill>
              </a:rPr>
              <a:t>3</a:t>
            </a:r>
            <a:r>
              <a:rPr lang="el-GR" dirty="0">
                <a:solidFill>
                  <a:schemeClr val="tx2"/>
                </a:solidFill>
              </a:rPr>
              <a:t>σ</a:t>
            </a:r>
            <a:r>
              <a:rPr lang="en-US" dirty="0">
                <a:solidFill>
                  <a:schemeClr val="tx2"/>
                </a:solidFill>
              </a:rPr>
              <a:t> to </a:t>
            </a:r>
            <a:r>
              <a:rPr lang="el-GR" dirty="0">
                <a:solidFill>
                  <a:schemeClr val="tx2"/>
                </a:solidFill>
              </a:rPr>
              <a:t>μ</a:t>
            </a:r>
            <a:r>
              <a:rPr lang="en-US" dirty="0">
                <a:solidFill>
                  <a:schemeClr val="tx2"/>
                </a:solidFill>
              </a:rPr>
              <a:t>+3</a:t>
            </a:r>
            <a:r>
              <a:rPr lang="el-GR" dirty="0">
                <a:solidFill>
                  <a:schemeClr val="tx2"/>
                </a:solidFill>
              </a:rPr>
              <a:t>σ</a:t>
            </a:r>
            <a:r>
              <a:rPr lang="en-US" dirty="0">
                <a:solidFill>
                  <a:schemeClr val="tx2"/>
                </a:solidFill>
              </a:rPr>
              <a:t>: contains about 99.7% of it</a:t>
            </a:r>
          </a:p>
        </p:txBody>
      </p:sp>
      <p:pic>
        <p:nvPicPr>
          <p:cNvPr id="6" name="Picture 4" descr="normal1-9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733428" y="3913188"/>
            <a:ext cx="2684462" cy="2057400"/>
          </a:xfrm>
          <a:prstGeom prst="rect">
            <a:avLst/>
          </a:prstGeom>
          <a:noFill/>
        </p:spPr>
      </p:pic>
      <p:pic>
        <p:nvPicPr>
          <p:cNvPr id="7" name="Picture 5" descr="normal1-6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380764" y="3586162"/>
            <a:ext cx="2986088" cy="2438400"/>
          </a:xfrm>
          <a:prstGeom prst="rect">
            <a:avLst/>
          </a:prstGeom>
          <a:noFill/>
        </p:spPr>
      </p:pic>
      <p:pic>
        <p:nvPicPr>
          <p:cNvPr id="8" name="Picture 6" descr="normal1-9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30117" y="3482975"/>
            <a:ext cx="2986087"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67627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58</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Normalization</a:t>
            </a:r>
          </a:p>
        </p:txBody>
      </p:sp>
      <p:sp>
        <p:nvSpPr>
          <p:cNvPr id="8198" name="Rectangle 3"/>
          <p:cNvSpPr>
            <a:spLocks noGrp="1" noChangeArrowheads="1"/>
          </p:cNvSpPr>
          <p:nvPr>
            <p:ph type="body" idx="1"/>
          </p:nvPr>
        </p:nvSpPr>
        <p:spPr>
          <a:xfrm>
            <a:off x="1752600" y="1524000"/>
            <a:ext cx="8686800" cy="4114800"/>
          </a:xfrm>
        </p:spPr>
        <p:txBody>
          <a:bodyPr>
            <a:normAutofit fontScale="70000" lnSpcReduction="20000"/>
          </a:bodyPr>
          <a:lstStyle/>
          <a:p>
            <a:r>
              <a:rPr lang="en-US" altLang="en-US" dirty="0" smtClean="0"/>
              <a:t>Decimal scaling</a:t>
            </a:r>
            <a:br>
              <a:rPr lang="en-US" altLang="en-US" dirty="0" smtClean="0"/>
            </a:br>
            <a:r>
              <a:rPr lang="en-US" altLang="en-US" dirty="0" smtClean="0"/>
              <a:t/>
            </a:r>
            <a:br>
              <a:rPr lang="en-US" altLang="en-US" dirty="0" smtClean="0"/>
            </a:br>
            <a:r>
              <a:rPr lang="en-US" altLang="en-US" dirty="0" err="1" smtClean="0"/>
              <a:t>val</a:t>
            </a:r>
            <a:r>
              <a:rPr lang="en-US" altLang="en-US" dirty="0" smtClean="0"/>
              <a:t>’ = </a:t>
            </a:r>
            <a:r>
              <a:rPr lang="en-US" altLang="en-US" dirty="0" err="1"/>
              <a:t>v</a:t>
            </a:r>
            <a:r>
              <a:rPr lang="en-US" altLang="en-US" dirty="0" err="1" smtClean="0"/>
              <a:t>al</a:t>
            </a:r>
            <a:r>
              <a:rPr lang="en-US" altLang="en-US" dirty="0" smtClean="0"/>
              <a:t> / </a:t>
            </a:r>
            <a:r>
              <a:rPr lang="en-US" altLang="en-US" dirty="0"/>
              <a:t>10</a:t>
            </a:r>
            <a:r>
              <a:rPr lang="en-US" altLang="en-US" baseline="30000" dirty="0"/>
              <a:t>n</a:t>
            </a:r>
            <a:r>
              <a:rPr lang="en-US" altLang="en-US" dirty="0" smtClean="0"/>
              <a:t/>
            </a:r>
            <a:br>
              <a:rPr lang="en-US" altLang="en-US" dirty="0" smtClean="0"/>
            </a:br>
            <a:r>
              <a:rPr lang="en-US" altLang="en-US" dirty="0" smtClean="0"/>
              <a:t/>
            </a:r>
            <a:br>
              <a:rPr lang="en-US" altLang="en-US" dirty="0" smtClean="0"/>
            </a:br>
            <a:r>
              <a:rPr lang="en-US" altLang="en-US" dirty="0" smtClean="0"/>
              <a:t>where n is determined such as the largest </a:t>
            </a:r>
            <a:r>
              <a:rPr lang="en-US" altLang="en-US" dirty="0" err="1" smtClean="0"/>
              <a:t>val</a:t>
            </a:r>
            <a:r>
              <a:rPr lang="en-US" altLang="en-US" dirty="0" smtClean="0"/>
              <a:t>’ would be less than 1</a:t>
            </a:r>
            <a:br>
              <a:rPr lang="en-US" altLang="en-US" dirty="0" smtClean="0"/>
            </a:br>
            <a:r>
              <a:rPr lang="en-US" altLang="en-US" dirty="0" smtClean="0"/>
              <a:t/>
            </a:r>
            <a:br>
              <a:rPr lang="en-US" altLang="en-US" dirty="0" smtClean="0"/>
            </a:br>
            <a:r>
              <a:rPr lang="en-US" altLang="en-US" dirty="0" smtClean="0"/>
              <a:t>this formula transforms the values into interval [-1, 1] is there are negative values, and into [0, 1] otherwise.</a:t>
            </a:r>
          </a:p>
          <a:p>
            <a:endParaRPr lang="en-US" altLang="en-US" dirty="0"/>
          </a:p>
          <a:p>
            <a:r>
              <a:rPr lang="en-US" altLang="en-US" dirty="0" smtClean="0"/>
              <a:t>Ex: </a:t>
            </a:r>
            <a:r>
              <a:rPr lang="en-US" altLang="en-US" dirty="0"/>
              <a:t>normalizing </a:t>
            </a:r>
            <a:r>
              <a:rPr lang="en-US" altLang="en-US" dirty="0" smtClean="0"/>
              <a:t>age </a:t>
            </a:r>
            <a:r>
              <a:rPr lang="en-US" altLang="en-US" dirty="0"/>
              <a:t>values between [0, 150</a:t>
            </a:r>
            <a:r>
              <a:rPr lang="en-US" altLang="en-US" dirty="0" smtClean="0"/>
              <a:t>]</a:t>
            </a:r>
            <a:br>
              <a:rPr lang="en-US" altLang="en-US" dirty="0" smtClean="0"/>
            </a:br>
            <a:r>
              <a:rPr lang="en-US" altLang="en-US" dirty="0"/>
              <a:t/>
            </a:r>
            <a:br>
              <a:rPr lang="en-US" altLang="en-US" dirty="0"/>
            </a:br>
            <a:r>
              <a:rPr lang="en-US" altLang="en-US" dirty="0" smtClean="0"/>
              <a:t>we want the highest age to be less than 1, therefore divide by 1,000 = 10</a:t>
            </a:r>
            <a:r>
              <a:rPr lang="en-US" altLang="en-US" baseline="30000" dirty="0" smtClean="0"/>
              <a:t>3</a:t>
            </a:r>
            <a:r>
              <a:rPr lang="en-US" altLang="en-US" dirty="0" smtClean="0"/>
              <a:t/>
            </a:r>
            <a:br>
              <a:rPr lang="en-US" altLang="en-US" dirty="0" smtClean="0"/>
            </a:br>
            <a:r>
              <a:rPr lang="en-US" altLang="en-US" dirty="0" smtClean="0"/>
              <a:t/>
            </a:r>
            <a:br>
              <a:rPr lang="en-US" altLang="en-US" dirty="0" smtClean="0"/>
            </a:br>
            <a:r>
              <a:rPr lang="en-US" altLang="en-US" dirty="0" smtClean="0"/>
              <a:t>age </a:t>
            </a:r>
            <a:r>
              <a:rPr lang="en-US" altLang="en-US" dirty="0"/>
              <a:t>= 50 </a:t>
            </a:r>
            <a:r>
              <a:rPr lang="en-US" altLang="en-US" dirty="0">
                <a:sym typeface="Wingdings" panose="05000000000000000000" pitchFamily="2" charset="2"/>
              </a:rPr>
              <a:t> </a:t>
            </a:r>
            <a:r>
              <a:rPr lang="en-US" altLang="en-US" dirty="0" err="1">
                <a:sym typeface="Wingdings" panose="05000000000000000000" pitchFamily="2" charset="2"/>
              </a:rPr>
              <a:t>val</a:t>
            </a:r>
            <a:r>
              <a:rPr lang="en-US" altLang="en-US" dirty="0">
                <a:sym typeface="Wingdings" panose="05000000000000000000" pitchFamily="2" charset="2"/>
              </a:rPr>
              <a:t>’ = 50 </a:t>
            </a:r>
            <a:r>
              <a:rPr lang="en-US" altLang="en-US" dirty="0"/>
              <a:t>/ </a:t>
            </a:r>
            <a:r>
              <a:rPr lang="en-US" altLang="en-US" dirty="0" smtClean="0"/>
              <a:t>10</a:t>
            </a:r>
            <a:r>
              <a:rPr lang="en-US" altLang="en-US" baseline="30000" dirty="0" smtClean="0"/>
              <a:t>3</a:t>
            </a:r>
            <a:r>
              <a:rPr lang="en-US" altLang="en-US" dirty="0" smtClean="0">
                <a:sym typeface="Wingdings" panose="05000000000000000000" pitchFamily="2" charset="2"/>
              </a:rPr>
              <a:t> </a:t>
            </a:r>
            <a:r>
              <a:rPr lang="en-US" altLang="en-US" dirty="0">
                <a:sym typeface="Wingdings" panose="05000000000000000000" pitchFamily="2" charset="2"/>
              </a:rPr>
              <a:t>= </a:t>
            </a:r>
            <a:r>
              <a:rPr lang="en-US" altLang="en-US" dirty="0" smtClean="0">
                <a:sym typeface="Wingdings" panose="05000000000000000000" pitchFamily="2" charset="2"/>
              </a:rPr>
              <a:t>0.05</a:t>
            </a:r>
            <a:endParaRPr lang="en-US" altLang="en-US" dirty="0"/>
          </a:p>
          <a:p>
            <a:pPr marL="0" indent="0">
              <a:buNone/>
            </a:pPr>
            <a:r>
              <a:rPr lang="en-US" altLang="en-US" baseline="30000" dirty="0" smtClean="0"/>
              <a:t/>
            </a:r>
            <a:br>
              <a:rPr lang="en-US" altLang="en-US" baseline="30000" dirty="0" smtClean="0"/>
            </a:br>
            <a:endParaRPr lang="en-US" altLang="en-US" baseline="30000" dirty="0"/>
          </a:p>
          <a:p>
            <a:endParaRPr lang="en-US" altLang="en-US" baseline="30000" dirty="0" smtClean="0"/>
          </a:p>
          <a:p>
            <a:pPr marL="0" indent="0">
              <a:buNone/>
            </a:pPr>
            <a:endParaRPr lang="en-US" altLang="en-US" baseline="30000" dirty="0" smtClean="0"/>
          </a:p>
          <a:p>
            <a:endParaRPr lang="en-US" altLang="en-US" baseline="30000" dirty="0" smtClean="0"/>
          </a:p>
          <a:p>
            <a:endParaRPr lang="en-US" altLang="en-US" baseline="30000" dirty="0"/>
          </a:p>
          <a:p>
            <a:endParaRPr lang="en-US" altLang="en-US" baseline="30000" dirty="0" smtClean="0"/>
          </a:p>
        </p:txBody>
      </p:sp>
    </p:spTree>
    <p:extLst>
      <p:ext uri="{BB962C8B-B14F-4D97-AF65-F5344CB8AC3E}">
        <p14:creationId xmlns:p14="http://schemas.microsoft.com/office/powerpoint/2010/main" val="16362107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59</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Normalization</a:t>
            </a:r>
          </a:p>
        </p:txBody>
      </p:sp>
      <p:sp>
        <p:nvSpPr>
          <p:cNvPr id="8198" name="Rectangle 3"/>
          <p:cNvSpPr>
            <a:spLocks noGrp="1" noChangeArrowheads="1"/>
          </p:cNvSpPr>
          <p:nvPr>
            <p:ph type="body" idx="1"/>
          </p:nvPr>
        </p:nvSpPr>
        <p:spPr>
          <a:xfrm>
            <a:off x="1752600" y="1524000"/>
            <a:ext cx="8686800" cy="4114800"/>
          </a:xfrm>
        </p:spPr>
        <p:txBody>
          <a:bodyPr>
            <a:normAutofit fontScale="85000" lnSpcReduction="20000"/>
          </a:bodyPr>
          <a:lstStyle/>
          <a:p>
            <a:r>
              <a:rPr lang="en-US" altLang="en-US" dirty="0" smtClean="0"/>
              <a:t>Comparison between the methods</a:t>
            </a:r>
          </a:p>
          <a:p>
            <a:endParaRPr lang="en-US" altLang="en-US" dirty="0"/>
          </a:p>
          <a:p>
            <a:pPr lvl="1"/>
            <a:r>
              <a:rPr lang="en-US" altLang="en-US" dirty="0" smtClean="0"/>
              <a:t>The method that preserves the original data distribution is decimal scaling, therefore it preserves more than the others the shape of the data repartition. It acts similarly to image resizing in photo editing software (shrink / magnify).</a:t>
            </a:r>
          </a:p>
          <a:p>
            <a:pPr lvl="1"/>
            <a:endParaRPr lang="en-US" altLang="en-US" dirty="0"/>
          </a:p>
          <a:p>
            <a:pPr lvl="1"/>
            <a:r>
              <a:rPr lang="en-US" altLang="en-US" dirty="0" smtClean="0"/>
              <a:t>Z-score normalization is the most used because the resulting distribution is going to be normal, which is advantageous with certain statistical methods. However it distorts the natural shape of the data distribution.</a:t>
            </a:r>
          </a:p>
          <a:p>
            <a:pPr lvl="1"/>
            <a:endParaRPr lang="en-US" altLang="en-US" dirty="0"/>
          </a:p>
          <a:p>
            <a:pPr lvl="1"/>
            <a:r>
              <a:rPr lang="en-US" altLang="en-US" dirty="0" smtClean="0"/>
              <a:t>Min-max normalization can accommodate any new range we want, not only [0, 1] and [-1, 1] like the other ones.</a:t>
            </a:r>
            <a:endParaRPr lang="en-US" altLang="en-US" dirty="0"/>
          </a:p>
          <a:p>
            <a:pPr marL="0" indent="0">
              <a:buNone/>
            </a:pPr>
            <a:r>
              <a:rPr lang="en-US" altLang="en-US" baseline="30000" dirty="0" smtClean="0"/>
              <a:t/>
            </a:r>
            <a:br>
              <a:rPr lang="en-US" altLang="en-US" baseline="30000" dirty="0" smtClean="0"/>
            </a:br>
            <a:endParaRPr lang="en-US" altLang="en-US" baseline="30000" dirty="0"/>
          </a:p>
          <a:p>
            <a:endParaRPr lang="en-US" altLang="en-US" baseline="30000" dirty="0" smtClean="0"/>
          </a:p>
          <a:p>
            <a:pPr marL="0" indent="0">
              <a:buNone/>
            </a:pPr>
            <a:endParaRPr lang="en-US" altLang="en-US" baseline="30000" dirty="0" smtClean="0"/>
          </a:p>
          <a:p>
            <a:endParaRPr lang="en-US" altLang="en-US" baseline="30000" dirty="0" smtClean="0"/>
          </a:p>
          <a:p>
            <a:endParaRPr lang="en-US" altLang="en-US" baseline="30000" dirty="0"/>
          </a:p>
          <a:p>
            <a:endParaRPr lang="en-US" altLang="en-US" baseline="30000" dirty="0" smtClean="0"/>
          </a:p>
        </p:txBody>
      </p:sp>
    </p:spTree>
    <p:extLst>
      <p:ext uri="{BB962C8B-B14F-4D97-AF65-F5344CB8AC3E}">
        <p14:creationId xmlns:p14="http://schemas.microsoft.com/office/powerpoint/2010/main" val="12246567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60</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70000" lnSpcReduction="2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altLang="en-US" sz="2400" dirty="0" smtClean="0"/>
              <a:t>Locating and downloading datasets</a:t>
            </a:r>
          </a:p>
          <a:p>
            <a:pPr lvl="1"/>
            <a:r>
              <a:rPr lang="en-US" altLang="en-US" dirty="0" smtClean="0"/>
              <a:t>Datasets and files</a:t>
            </a:r>
          </a:p>
          <a:p>
            <a:pPr lvl="1"/>
            <a:r>
              <a:rPr lang="en-US" altLang="en-US" dirty="0" smtClean="0"/>
              <a:t>Data sources</a:t>
            </a:r>
            <a:endParaRPr lang="en-US" altLang="en-US" dirty="0"/>
          </a:p>
          <a:p>
            <a:r>
              <a:rPr lang="en-US" altLang="en-US" sz="2400" dirty="0" smtClean="0"/>
              <a:t>Data preprocessing</a:t>
            </a:r>
            <a:endParaRPr lang="en-US" altLang="en-US" sz="2400" dirty="0"/>
          </a:p>
          <a:p>
            <a:pPr lvl="1"/>
            <a:r>
              <a:rPr lang="en-US" altLang="en-US" dirty="0" smtClean="0"/>
              <a:t>Importance of data preprocessing</a:t>
            </a:r>
            <a:endParaRPr lang="en-US" altLang="en-US" dirty="0"/>
          </a:p>
          <a:p>
            <a:pPr lvl="1"/>
            <a:r>
              <a:rPr lang="en-US" altLang="en-US" dirty="0" smtClean="0"/>
              <a:t>Data preprocessing tasks</a:t>
            </a:r>
            <a:endParaRPr lang="en-US" altLang="en-US" dirty="0"/>
          </a:p>
          <a:p>
            <a:r>
              <a:rPr lang="en-US" altLang="en-US" sz="2400" dirty="0" smtClean="0"/>
              <a:t>Missing values</a:t>
            </a:r>
          </a:p>
          <a:p>
            <a:pPr lvl="1"/>
            <a:r>
              <a:rPr lang="en-US" altLang="en-US" dirty="0" smtClean="0"/>
              <a:t>Replacing missing values</a:t>
            </a:r>
          </a:p>
          <a:p>
            <a:r>
              <a:rPr lang="en-US" altLang="en-US" sz="2400" dirty="0" smtClean="0"/>
              <a:t>Normalizing and discretizing data</a:t>
            </a:r>
          </a:p>
          <a:p>
            <a:pPr lvl="1"/>
            <a:r>
              <a:rPr lang="en-US" altLang="en-US" dirty="0" smtClean="0"/>
              <a:t>Data normalization</a:t>
            </a:r>
          </a:p>
          <a:p>
            <a:pPr lvl="1"/>
            <a:r>
              <a:rPr lang="en-US" altLang="en-US" b="1" dirty="0" smtClean="0">
                <a:solidFill>
                  <a:srgbClr val="FFFF00"/>
                </a:solidFill>
              </a:rPr>
              <a:t>Discretization</a:t>
            </a:r>
          </a:p>
          <a:p>
            <a:r>
              <a:rPr lang="en-US" altLang="en-US" sz="2400" dirty="0" smtClean="0"/>
              <a:t>Data reduction</a:t>
            </a:r>
          </a:p>
          <a:p>
            <a:pPr lvl="1"/>
            <a:r>
              <a:rPr lang="en-US" altLang="en-US" dirty="0"/>
              <a:t>Feature selection</a:t>
            </a:r>
          </a:p>
          <a:p>
            <a:pPr lvl="1"/>
            <a:r>
              <a:rPr lang="en-US" altLang="en-US" dirty="0" smtClean="0"/>
              <a:t>Data sampling</a:t>
            </a:r>
          </a:p>
          <a:p>
            <a:r>
              <a:rPr lang="en-US" altLang="en-US" sz="2400" dirty="0"/>
              <a:t>Introduction to R language</a:t>
            </a:r>
          </a:p>
          <a:p>
            <a:pPr lvl="1"/>
            <a:r>
              <a:rPr lang="en-US" altLang="en-US" dirty="0"/>
              <a:t>Principles of R</a:t>
            </a:r>
          </a:p>
          <a:p>
            <a:pPr lvl="1"/>
            <a:r>
              <a:rPr lang="en-US" altLang="en-US" dirty="0"/>
              <a:t>Working with </a:t>
            </a:r>
            <a:r>
              <a:rPr lang="en-US" altLang="en-US" dirty="0" smtClean="0"/>
              <a:t>R</a:t>
            </a:r>
          </a:p>
          <a:p>
            <a:pPr lvl="1"/>
            <a:r>
              <a:rPr lang="en-US" altLang="en-US" dirty="0"/>
              <a:t>Data preprocessing with </a:t>
            </a:r>
            <a:r>
              <a:rPr lang="en-US" altLang="en-US" dirty="0" smtClean="0"/>
              <a:t>R</a:t>
            </a:r>
            <a:endParaRPr lang="en-US" altLang="en-US" dirty="0"/>
          </a:p>
          <a:p>
            <a:pPr lvl="1"/>
            <a:endParaRPr lang="en-US" altLang="en-US" dirty="0"/>
          </a:p>
        </p:txBody>
      </p:sp>
    </p:spTree>
    <p:extLst>
      <p:ext uri="{BB962C8B-B14F-4D97-AF65-F5344CB8AC3E}">
        <p14:creationId xmlns:p14="http://schemas.microsoft.com/office/powerpoint/2010/main" val="9041889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61</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a:effectLst>
                  <a:outerShdw blurRad="38100" dist="38100" dir="2700000" algn="tl">
                    <a:srgbClr val="000000">
                      <a:alpha val="43137"/>
                    </a:srgbClr>
                  </a:outerShdw>
                </a:effectLst>
              </a:rPr>
              <a:t>D</a:t>
            </a:r>
            <a:r>
              <a:rPr lang="en-US" altLang="en-US" b="1" dirty="0" smtClean="0">
                <a:effectLst>
                  <a:outerShdw blurRad="38100" dist="38100" dir="2700000" algn="tl">
                    <a:srgbClr val="000000">
                      <a:alpha val="43137"/>
                    </a:srgbClr>
                  </a:outerShdw>
                </a:effectLst>
              </a:rPr>
              <a:t>iscretization</a:t>
            </a:r>
          </a:p>
        </p:txBody>
      </p:sp>
      <p:sp>
        <p:nvSpPr>
          <p:cNvPr id="8198" name="Rectangle 3"/>
          <p:cNvSpPr>
            <a:spLocks noGrp="1" noChangeArrowheads="1"/>
          </p:cNvSpPr>
          <p:nvPr>
            <p:ph type="body" idx="1"/>
          </p:nvPr>
        </p:nvSpPr>
        <p:spPr>
          <a:xfrm>
            <a:off x="1752600" y="2102427"/>
            <a:ext cx="8686800" cy="4114800"/>
          </a:xfrm>
        </p:spPr>
        <p:txBody>
          <a:bodyPr>
            <a:normAutofit/>
          </a:bodyPr>
          <a:lstStyle/>
          <a:p>
            <a:r>
              <a:rPr lang="en-US" altLang="en-US" dirty="0" smtClean="0"/>
              <a:t>Discretization transforms data from numeric into nominal data type.</a:t>
            </a:r>
          </a:p>
          <a:p>
            <a:endParaRPr lang="en-US" altLang="en-US" dirty="0" smtClean="0"/>
          </a:p>
          <a:p>
            <a:r>
              <a:rPr lang="en-US" altLang="en-US" dirty="0" smtClean="0"/>
              <a:t>Effects of discretization:</a:t>
            </a:r>
          </a:p>
          <a:p>
            <a:pPr lvl="1"/>
            <a:r>
              <a:rPr lang="en-US" altLang="en-US" dirty="0" smtClean="0"/>
              <a:t>Smooths data.</a:t>
            </a:r>
          </a:p>
          <a:p>
            <a:pPr lvl="1"/>
            <a:r>
              <a:rPr lang="en-US" altLang="en-US" dirty="0" smtClean="0"/>
              <a:t>Reduces noise.</a:t>
            </a:r>
          </a:p>
          <a:p>
            <a:pPr lvl="1"/>
            <a:r>
              <a:rPr lang="en-US" altLang="en-US" dirty="0" smtClean="0"/>
              <a:t>Reduces data size.</a:t>
            </a:r>
          </a:p>
          <a:p>
            <a:pPr lvl="1"/>
            <a:r>
              <a:rPr lang="en-US" altLang="en-US" dirty="0" smtClean="0"/>
              <a:t>Enables specific methods using nominal data.</a:t>
            </a:r>
          </a:p>
          <a:p>
            <a:endParaRPr lang="en-US" altLang="en-US" dirty="0" smtClean="0"/>
          </a:p>
        </p:txBody>
      </p:sp>
    </p:spTree>
    <p:extLst>
      <p:ext uri="{BB962C8B-B14F-4D97-AF65-F5344CB8AC3E}">
        <p14:creationId xmlns:p14="http://schemas.microsoft.com/office/powerpoint/2010/main" val="9324268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62</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a:effectLst>
                  <a:outerShdw blurRad="38100" dist="38100" dir="2700000" algn="tl">
                    <a:srgbClr val="000000">
                      <a:alpha val="43137"/>
                    </a:srgbClr>
                  </a:outerShdw>
                </a:effectLst>
              </a:rPr>
              <a:t>D</a:t>
            </a:r>
            <a:r>
              <a:rPr lang="en-US" altLang="en-US" b="1" dirty="0" smtClean="0">
                <a:effectLst>
                  <a:outerShdw blurRad="38100" dist="38100" dir="2700000" algn="tl">
                    <a:srgbClr val="000000">
                      <a:alpha val="43137"/>
                    </a:srgbClr>
                  </a:outerShdw>
                </a:effectLst>
              </a:rPr>
              <a:t>iscretization</a:t>
            </a:r>
          </a:p>
        </p:txBody>
      </p:sp>
      <p:sp>
        <p:nvSpPr>
          <p:cNvPr id="8198" name="Rectangle 3"/>
          <p:cNvSpPr>
            <a:spLocks noGrp="1" noChangeArrowheads="1"/>
          </p:cNvSpPr>
          <p:nvPr>
            <p:ph type="body" idx="1"/>
          </p:nvPr>
        </p:nvSpPr>
        <p:spPr>
          <a:xfrm>
            <a:off x="1752600" y="1524000"/>
            <a:ext cx="8686800" cy="4114800"/>
          </a:xfrm>
        </p:spPr>
        <p:txBody>
          <a:bodyPr>
            <a:normAutofit fontScale="92500" lnSpcReduction="20000"/>
          </a:bodyPr>
          <a:lstStyle/>
          <a:p>
            <a:r>
              <a:rPr lang="en-US" altLang="en-US" dirty="0" smtClean="0"/>
              <a:t>Discretization methods</a:t>
            </a:r>
          </a:p>
          <a:p>
            <a:endParaRPr lang="en-US" altLang="en-US" dirty="0" smtClean="0"/>
          </a:p>
          <a:p>
            <a:pPr lvl="1"/>
            <a:r>
              <a:rPr lang="en-US" altLang="en-US" dirty="0" smtClean="0"/>
              <a:t>Manual methods:</a:t>
            </a:r>
          </a:p>
          <a:p>
            <a:pPr lvl="2"/>
            <a:r>
              <a:rPr lang="en-US" altLang="en-US" dirty="0" smtClean="0"/>
              <a:t>Distribution analysis.</a:t>
            </a:r>
          </a:p>
          <a:p>
            <a:pPr lvl="1"/>
            <a:endParaRPr lang="en-US" altLang="en-US" dirty="0"/>
          </a:p>
          <a:p>
            <a:pPr lvl="1"/>
            <a:r>
              <a:rPr lang="en-US" altLang="en-US" dirty="0" smtClean="0"/>
              <a:t>Automatic methods:</a:t>
            </a:r>
          </a:p>
          <a:p>
            <a:pPr lvl="1"/>
            <a:endParaRPr lang="en-US" altLang="en-US" dirty="0"/>
          </a:p>
          <a:p>
            <a:pPr lvl="2"/>
            <a:r>
              <a:rPr lang="en-US" altLang="en-US" dirty="0" smtClean="0"/>
              <a:t>Binning.</a:t>
            </a:r>
          </a:p>
          <a:p>
            <a:pPr lvl="3"/>
            <a:r>
              <a:rPr lang="en-US" altLang="en-US" dirty="0"/>
              <a:t>Equal-width binning</a:t>
            </a:r>
          </a:p>
          <a:p>
            <a:pPr lvl="3"/>
            <a:r>
              <a:rPr lang="en-US" altLang="en-US" dirty="0"/>
              <a:t>Equal-depth binning </a:t>
            </a:r>
            <a:endParaRPr lang="en-US" altLang="en-US" dirty="0" smtClean="0"/>
          </a:p>
          <a:p>
            <a:pPr lvl="2"/>
            <a:r>
              <a:rPr lang="en-US" altLang="en-US" dirty="0" smtClean="0"/>
              <a:t>Regression analysis.</a:t>
            </a:r>
          </a:p>
          <a:p>
            <a:pPr lvl="2"/>
            <a:r>
              <a:rPr lang="en-US" altLang="en-US" dirty="0" smtClean="0"/>
              <a:t>Cluster analysis.</a:t>
            </a:r>
          </a:p>
          <a:p>
            <a:pPr lvl="2"/>
            <a:r>
              <a:rPr lang="en-US" altLang="en-US" dirty="0" smtClean="0"/>
              <a:t>Natural partitioning.</a:t>
            </a:r>
            <a:endParaRPr lang="en-US" altLang="en-US" dirty="0"/>
          </a:p>
          <a:p>
            <a:pPr lvl="1"/>
            <a:endParaRPr lang="en-US" altLang="en-US" dirty="0" smtClean="0"/>
          </a:p>
        </p:txBody>
      </p:sp>
    </p:spTree>
    <p:extLst>
      <p:ext uri="{BB962C8B-B14F-4D97-AF65-F5344CB8AC3E}">
        <p14:creationId xmlns:p14="http://schemas.microsoft.com/office/powerpoint/2010/main" val="31748700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63</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a:effectLst>
                  <a:outerShdw blurRad="38100" dist="38100" dir="2700000" algn="tl">
                    <a:srgbClr val="000000">
                      <a:alpha val="43137"/>
                    </a:srgbClr>
                  </a:outerShdw>
                </a:effectLst>
              </a:rPr>
              <a:t>D</a:t>
            </a:r>
            <a:r>
              <a:rPr lang="en-US" altLang="en-US" b="1" dirty="0" smtClean="0">
                <a:effectLst>
                  <a:outerShdw blurRad="38100" dist="38100" dir="2700000" algn="tl">
                    <a:srgbClr val="000000">
                      <a:alpha val="43137"/>
                    </a:srgbClr>
                  </a:outerShdw>
                </a:effectLst>
              </a:rPr>
              <a:t>iscretization</a:t>
            </a:r>
          </a:p>
        </p:txBody>
      </p:sp>
      <p:sp>
        <p:nvSpPr>
          <p:cNvPr id="8198" name="Rectangle 3"/>
          <p:cNvSpPr>
            <a:spLocks noGrp="1" noChangeArrowheads="1"/>
          </p:cNvSpPr>
          <p:nvPr>
            <p:ph type="body" idx="1"/>
          </p:nvPr>
        </p:nvSpPr>
        <p:spPr>
          <a:xfrm>
            <a:off x="1752600" y="1524000"/>
            <a:ext cx="8686800" cy="4114800"/>
          </a:xfrm>
        </p:spPr>
        <p:txBody>
          <a:bodyPr>
            <a:normAutofit lnSpcReduction="10000"/>
          </a:bodyPr>
          <a:lstStyle/>
          <a:p>
            <a:r>
              <a:rPr lang="en-US" altLang="en-US" dirty="0" smtClean="0"/>
              <a:t>Equal-width binning </a:t>
            </a:r>
          </a:p>
          <a:p>
            <a:pPr lvl="1"/>
            <a:r>
              <a:rPr lang="en-US" altLang="en-US" dirty="0" smtClean="0"/>
              <a:t>Given a range of values [min, max], we divide in intervals of approximately same width; either we set the width arbitrarily to w, or we set the desired number of bins to n, in which case w is calculated as:</a:t>
            </a:r>
            <a:br>
              <a:rPr lang="en-US" altLang="en-US" dirty="0" smtClean="0"/>
            </a:br>
            <a:r>
              <a:rPr lang="en-US" altLang="en-US" dirty="0"/>
              <a:t/>
            </a:r>
            <a:br>
              <a:rPr lang="en-US" altLang="en-US" dirty="0"/>
            </a:br>
            <a:r>
              <a:rPr lang="en-US" altLang="en-US" dirty="0" smtClean="0"/>
              <a:t>w = max – min / n</a:t>
            </a:r>
          </a:p>
          <a:p>
            <a:pPr lvl="1"/>
            <a:endParaRPr lang="en-US" altLang="en-US" dirty="0"/>
          </a:p>
          <a:p>
            <a:pPr lvl="1"/>
            <a:r>
              <a:rPr lang="en-US" altLang="en-US" dirty="0" smtClean="0"/>
              <a:t>Ex: if the range is [0, 100] and we want 4 bins, each bin will have a width of </a:t>
            </a:r>
            <a:br>
              <a:rPr lang="en-US" altLang="en-US" dirty="0" smtClean="0"/>
            </a:br>
            <a:r>
              <a:rPr lang="en-US" altLang="en-US" dirty="0" smtClean="0"/>
              <a:t>100 – 0 / 4 = 25</a:t>
            </a:r>
            <a:br>
              <a:rPr lang="en-US" altLang="en-US" dirty="0" smtClean="0"/>
            </a:br>
            <a:r>
              <a:rPr lang="en-US" altLang="en-US" dirty="0" smtClean="0"/>
              <a:t>the bins will be: [0, 24], [25, 49], [50, 74], [75, 100]. </a:t>
            </a:r>
          </a:p>
        </p:txBody>
      </p:sp>
    </p:spTree>
    <p:extLst>
      <p:ext uri="{BB962C8B-B14F-4D97-AF65-F5344CB8AC3E}">
        <p14:creationId xmlns:p14="http://schemas.microsoft.com/office/powerpoint/2010/main" val="41185184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64</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a:effectLst>
                  <a:outerShdw blurRad="38100" dist="38100" dir="2700000" algn="tl">
                    <a:srgbClr val="000000">
                      <a:alpha val="43137"/>
                    </a:srgbClr>
                  </a:outerShdw>
                </a:effectLst>
              </a:rPr>
              <a:t>D</a:t>
            </a:r>
            <a:r>
              <a:rPr lang="en-US" altLang="en-US" b="1" dirty="0" smtClean="0">
                <a:effectLst>
                  <a:outerShdw blurRad="38100" dist="38100" dir="2700000" algn="tl">
                    <a:srgbClr val="000000">
                      <a:alpha val="43137"/>
                    </a:srgbClr>
                  </a:outerShdw>
                </a:effectLst>
              </a:rPr>
              <a:t>iscretization</a:t>
            </a:r>
          </a:p>
        </p:txBody>
      </p:sp>
      <p:sp>
        <p:nvSpPr>
          <p:cNvPr id="8198" name="Rectangle 3"/>
          <p:cNvSpPr>
            <a:spLocks noGrp="1" noChangeArrowheads="1"/>
          </p:cNvSpPr>
          <p:nvPr>
            <p:ph type="body" idx="1"/>
          </p:nvPr>
        </p:nvSpPr>
        <p:spPr>
          <a:xfrm>
            <a:off x="1752600" y="1524000"/>
            <a:ext cx="8686800" cy="4114800"/>
          </a:xfrm>
        </p:spPr>
        <p:txBody>
          <a:bodyPr>
            <a:normAutofit fontScale="92500" lnSpcReduction="10000"/>
          </a:bodyPr>
          <a:lstStyle/>
          <a:p>
            <a:r>
              <a:rPr lang="en-US" altLang="en-US" dirty="0" smtClean="0"/>
              <a:t>Equal-depth </a:t>
            </a:r>
            <a:r>
              <a:rPr lang="en-US" altLang="en-US" dirty="0"/>
              <a:t>binning </a:t>
            </a:r>
          </a:p>
          <a:p>
            <a:pPr lvl="1"/>
            <a:r>
              <a:rPr lang="en-US" altLang="en-US" dirty="0"/>
              <a:t>Given a range of values [min, max], </a:t>
            </a:r>
            <a:r>
              <a:rPr lang="en-US" altLang="en-US" dirty="0" smtClean="0"/>
              <a:t>we place approximately the same number of instances in each bin by dividing the total number of samples </a:t>
            </a:r>
            <a:r>
              <a:rPr lang="en-US" altLang="en-US" dirty="0" err="1" smtClean="0"/>
              <a:t>nb</a:t>
            </a:r>
            <a:r>
              <a:rPr lang="en-US" altLang="en-US" dirty="0" smtClean="0"/>
              <a:t> by the desired number of samples in each bin (depth) d, in which case  the number of bins n is calculated as:</a:t>
            </a:r>
            <a:r>
              <a:rPr lang="en-US" altLang="en-US" dirty="0"/>
              <a:t/>
            </a:r>
            <a:br>
              <a:rPr lang="en-US" altLang="en-US" dirty="0"/>
            </a:br>
            <a:r>
              <a:rPr lang="en-US" altLang="en-US" dirty="0"/>
              <a:t/>
            </a:r>
            <a:br>
              <a:rPr lang="en-US" altLang="en-US" dirty="0"/>
            </a:br>
            <a:r>
              <a:rPr lang="en-US" altLang="en-US" dirty="0" smtClean="0"/>
              <a:t>n </a:t>
            </a:r>
            <a:r>
              <a:rPr lang="en-US" altLang="en-US" dirty="0"/>
              <a:t>= </a:t>
            </a:r>
            <a:r>
              <a:rPr lang="en-US" altLang="en-US" dirty="0" err="1" smtClean="0"/>
              <a:t>nb</a:t>
            </a:r>
            <a:r>
              <a:rPr lang="en-US" altLang="en-US" dirty="0" smtClean="0"/>
              <a:t> / d</a:t>
            </a:r>
            <a:endParaRPr lang="en-US" altLang="en-US" dirty="0"/>
          </a:p>
          <a:p>
            <a:pPr lvl="1"/>
            <a:endParaRPr lang="en-US" altLang="en-US" dirty="0"/>
          </a:p>
          <a:p>
            <a:pPr lvl="1"/>
            <a:r>
              <a:rPr lang="en-US" altLang="en-US" dirty="0"/>
              <a:t>Ex: if the range is [0, 100</a:t>
            </a:r>
            <a:r>
              <a:rPr lang="en-US" altLang="en-US" dirty="0" smtClean="0"/>
              <a:t>] for 100 samples of different values (for example 99 is missing), we want 20 samples in each bin, the number of bins will be:</a:t>
            </a:r>
            <a:r>
              <a:rPr lang="en-US" altLang="en-US" dirty="0"/>
              <a:t/>
            </a:r>
            <a:br>
              <a:rPr lang="en-US" altLang="en-US" dirty="0"/>
            </a:br>
            <a:r>
              <a:rPr lang="en-US" altLang="en-US" dirty="0" smtClean="0"/>
              <a:t>100 / 20 </a:t>
            </a:r>
            <a:r>
              <a:rPr lang="en-US" altLang="en-US" dirty="0"/>
              <a:t>= 5</a:t>
            </a:r>
            <a:br>
              <a:rPr lang="en-US" altLang="en-US" dirty="0"/>
            </a:br>
            <a:r>
              <a:rPr lang="en-US" altLang="en-US" dirty="0"/>
              <a:t>the bins will be: [0, </a:t>
            </a:r>
            <a:r>
              <a:rPr lang="en-US" altLang="en-US" dirty="0" smtClean="0"/>
              <a:t>19], </a:t>
            </a:r>
            <a:r>
              <a:rPr lang="en-US" altLang="en-US" dirty="0"/>
              <a:t>[</a:t>
            </a:r>
            <a:r>
              <a:rPr lang="en-US" altLang="en-US" dirty="0" smtClean="0"/>
              <a:t>20, 39</a:t>
            </a:r>
            <a:r>
              <a:rPr lang="en-US" altLang="en-US" dirty="0"/>
              <a:t>], </a:t>
            </a:r>
            <a:r>
              <a:rPr lang="en-US" altLang="en-US" dirty="0" smtClean="0"/>
              <a:t>[40</a:t>
            </a:r>
            <a:r>
              <a:rPr lang="en-US" altLang="en-US" dirty="0"/>
              <a:t>, </a:t>
            </a:r>
            <a:r>
              <a:rPr lang="en-US" altLang="en-US" dirty="0" smtClean="0"/>
              <a:t>59], [60, 79], [80, 100]. </a:t>
            </a:r>
            <a:endParaRPr lang="en-US" altLang="en-US" dirty="0"/>
          </a:p>
        </p:txBody>
      </p:sp>
    </p:spTree>
    <p:extLst>
      <p:ext uri="{BB962C8B-B14F-4D97-AF65-F5344CB8AC3E}">
        <p14:creationId xmlns:p14="http://schemas.microsoft.com/office/powerpoint/2010/main" val="16214063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65</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a:effectLst>
                  <a:outerShdw blurRad="38100" dist="38100" dir="2700000" algn="tl">
                    <a:srgbClr val="000000">
                      <a:alpha val="43137"/>
                    </a:srgbClr>
                  </a:outerShdw>
                </a:effectLst>
              </a:rPr>
              <a:t>D</a:t>
            </a:r>
            <a:r>
              <a:rPr lang="en-US" altLang="en-US" b="1" dirty="0" smtClean="0">
                <a:effectLst>
                  <a:outerShdw blurRad="38100" dist="38100" dir="2700000" algn="tl">
                    <a:srgbClr val="000000">
                      <a:alpha val="43137"/>
                    </a:srgbClr>
                  </a:outerShdw>
                </a:effectLst>
              </a:rPr>
              <a:t>iscretization</a:t>
            </a:r>
          </a:p>
        </p:txBody>
      </p:sp>
      <p:sp>
        <p:nvSpPr>
          <p:cNvPr id="8198" name="Rectangle 3"/>
          <p:cNvSpPr>
            <a:spLocks noGrp="1" noChangeArrowheads="1"/>
          </p:cNvSpPr>
          <p:nvPr>
            <p:ph type="body" idx="1"/>
          </p:nvPr>
        </p:nvSpPr>
        <p:spPr>
          <a:xfrm>
            <a:off x="1752600" y="1524000"/>
            <a:ext cx="8686800" cy="4114800"/>
          </a:xfrm>
        </p:spPr>
        <p:txBody>
          <a:bodyPr>
            <a:normAutofit fontScale="92500" lnSpcReduction="10000"/>
          </a:bodyPr>
          <a:lstStyle/>
          <a:p>
            <a:r>
              <a:rPr lang="en-US" altLang="en-US" dirty="0" smtClean="0"/>
              <a:t>Advantage of each method:</a:t>
            </a:r>
          </a:p>
          <a:p>
            <a:endParaRPr lang="en-US" altLang="en-US" dirty="0"/>
          </a:p>
          <a:p>
            <a:pPr lvl="1"/>
            <a:r>
              <a:rPr lang="en-US" altLang="en-US" dirty="0" smtClean="0"/>
              <a:t>Equal-width binning is more simple however very sensitive to outliers in the data.</a:t>
            </a:r>
          </a:p>
          <a:p>
            <a:pPr lvl="1"/>
            <a:endParaRPr lang="en-US" altLang="en-US" dirty="0" smtClean="0"/>
          </a:p>
          <a:p>
            <a:pPr lvl="1"/>
            <a:r>
              <a:rPr lang="en-US" altLang="en-US" dirty="0" smtClean="0"/>
              <a:t>Equal-depth binning scales well by keeping the distribution of the data however the bin values may be more difficult to interpret.</a:t>
            </a:r>
          </a:p>
          <a:p>
            <a:pPr lvl="1"/>
            <a:endParaRPr lang="en-US" altLang="en-US" dirty="0"/>
          </a:p>
          <a:p>
            <a:r>
              <a:rPr lang="en-US" altLang="en-US" dirty="0" smtClean="0"/>
              <a:t>Smoothing of data can be accomplished by replacing the values in a bin by  statistic such as average (numeric data), median (numeric data), or mode (categorical data). </a:t>
            </a:r>
            <a:endParaRPr lang="en-US" altLang="en-US" dirty="0"/>
          </a:p>
          <a:p>
            <a:pPr lvl="1"/>
            <a:endParaRPr lang="en-US" altLang="en-US" dirty="0" smtClean="0"/>
          </a:p>
        </p:txBody>
      </p:sp>
    </p:spTree>
    <p:extLst>
      <p:ext uri="{BB962C8B-B14F-4D97-AF65-F5344CB8AC3E}">
        <p14:creationId xmlns:p14="http://schemas.microsoft.com/office/powerpoint/2010/main" val="26974685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66</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70000" lnSpcReduction="2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altLang="en-US" sz="2400" dirty="0" smtClean="0"/>
              <a:t>Locating and downloading datasets</a:t>
            </a:r>
          </a:p>
          <a:p>
            <a:pPr lvl="1"/>
            <a:r>
              <a:rPr lang="en-US" altLang="en-US" dirty="0" smtClean="0"/>
              <a:t>Datasets and files</a:t>
            </a:r>
          </a:p>
          <a:p>
            <a:pPr lvl="1"/>
            <a:r>
              <a:rPr lang="en-US" altLang="en-US" dirty="0" smtClean="0"/>
              <a:t>Data sources</a:t>
            </a:r>
            <a:endParaRPr lang="en-US" altLang="en-US" dirty="0"/>
          </a:p>
          <a:p>
            <a:r>
              <a:rPr lang="en-US" altLang="en-US" sz="2400" dirty="0" smtClean="0"/>
              <a:t>Data preprocessing</a:t>
            </a:r>
            <a:endParaRPr lang="en-US" altLang="en-US" sz="2400" dirty="0"/>
          </a:p>
          <a:p>
            <a:pPr lvl="1"/>
            <a:r>
              <a:rPr lang="en-US" altLang="en-US" dirty="0" smtClean="0"/>
              <a:t>Importance of data preprocessing</a:t>
            </a:r>
            <a:endParaRPr lang="en-US" altLang="en-US" dirty="0"/>
          </a:p>
          <a:p>
            <a:pPr lvl="1"/>
            <a:r>
              <a:rPr lang="en-US" altLang="en-US" dirty="0" smtClean="0"/>
              <a:t>Data preprocessing tasks</a:t>
            </a:r>
            <a:endParaRPr lang="en-US" altLang="en-US" dirty="0"/>
          </a:p>
          <a:p>
            <a:r>
              <a:rPr lang="en-US" altLang="en-US" sz="2400" dirty="0" smtClean="0"/>
              <a:t>Missing values</a:t>
            </a:r>
          </a:p>
          <a:p>
            <a:pPr lvl="1"/>
            <a:r>
              <a:rPr lang="en-US" altLang="en-US" dirty="0" smtClean="0"/>
              <a:t>Replacing missing values</a:t>
            </a:r>
          </a:p>
          <a:p>
            <a:r>
              <a:rPr lang="en-US" altLang="en-US" sz="2400" dirty="0" smtClean="0"/>
              <a:t>Normalizing and discretizing data</a:t>
            </a:r>
          </a:p>
          <a:p>
            <a:pPr lvl="1"/>
            <a:r>
              <a:rPr lang="en-US" altLang="en-US" dirty="0" smtClean="0"/>
              <a:t>Data normalization</a:t>
            </a:r>
          </a:p>
          <a:p>
            <a:pPr lvl="1"/>
            <a:r>
              <a:rPr lang="en-US" altLang="en-US" dirty="0" smtClean="0"/>
              <a:t>Discretization</a:t>
            </a:r>
          </a:p>
          <a:p>
            <a:r>
              <a:rPr lang="en-US" altLang="en-US" sz="2400" b="1" dirty="0" smtClean="0">
                <a:solidFill>
                  <a:srgbClr val="FFFF00"/>
                </a:solidFill>
              </a:rPr>
              <a:t>Data reduction</a:t>
            </a:r>
          </a:p>
          <a:p>
            <a:pPr lvl="1"/>
            <a:r>
              <a:rPr lang="en-US" altLang="en-US" dirty="0"/>
              <a:t>Feature selection</a:t>
            </a:r>
          </a:p>
          <a:p>
            <a:pPr lvl="1"/>
            <a:r>
              <a:rPr lang="en-US" altLang="en-US" dirty="0" smtClean="0"/>
              <a:t>Data sampling</a:t>
            </a:r>
          </a:p>
          <a:p>
            <a:r>
              <a:rPr lang="en-US" altLang="en-US" sz="2400" dirty="0"/>
              <a:t>Introduction to R language</a:t>
            </a:r>
          </a:p>
          <a:p>
            <a:pPr lvl="1"/>
            <a:r>
              <a:rPr lang="en-US" altLang="en-US" dirty="0"/>
              <a:t>Principles of R</a:t>
            </a:r>
          </a:p>
          <a:p>
            <a:pPr lvl="1"/>
            <a:r>
              <a:rPr lang="en-US" altLang="en-US" dirty="0"/>
              <a:t>Working with </a:t>
            </a:r>
            <a:r>
              <a:rPr lang="en-US" altLang="en-US" dirty="0" smtClean="0"/>
              <a:t>R</a:t>
            </a:r>
          </a:p>
          <a:p>
            <a:pPr lvl="1"/>
            <a:r>
              <a:rPr lang="en-US" altLang="en-US" dirty="0"/>
              <a:t>Data preprocessing with </a:t>
            </a:r>
            <a:r>
              <a:rPr lang="en-US" altLang="en-US" dirty="0" smtClean="0"/>
              <a:t>R</a:t>
            </a:r>
            <a:endParaRPr lang="en-US" altLang="en-US" dirty="0"/>
          </a:p>
          <a:p>
            <a:pPr lvl="1"/>
            <a:endParaRPr lang="en-US" altLang="en-US" dirty="0"/>
          </a:p>
        </p:txBody>
      </p:sp>
    </p:spTree>
    <p:extLst>
      <p:ext uri="{BB962C8B-B14F-4D97-AF65-F5344CB8AC3E}">
        <p14:creationId xmlns:p14="http://schemas.microsoft.com/office/powerpoint/2010/main" val="683757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67</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Reduction</a:t>
            </a:r>
          </a:p>
        </p:txBody>
      </p:sp>
      <p:sp>
        <p:nvSpPr>
          <p:cNvPr id="8198" name="Rectangle 3"/>
          <p:cNvSpPr>
            <a:spLocks noGrp="1" noChangeArrowheads="1"/>
          </p:cNvSpPr>
          <p:nvPr>
            <p:ph type="body" idx="1"/>
          </p:nvPr>
        </p:nvSpPr>
        <p:spPr>
          <a:xfrm>
            <a:off x="1752600" y="1524000"/>
            <a:ext cx="8686800" cy="4114800"/>
          </a:xfrm>
        </p:spPr>
        <p:txBody>
          <a:bodyPr>
            <a:normAutofit lnSpcReduction="10000"/>
          </a:bodyPr>
          <a:lstStyle/>
          <a:p>
            <a:r>
              <a:rPr lang="en-US" altLang="en-US" dirty="0" smtClean="0"/>
              <a:t>Data reduction can take several forms:</a:t>
            </a:r>
          </a:p>
          <a:p>
            <a:endParaRPr lang="en-US" altLang="en-US" dirty="0"/>
          </a:p>
          <a:p>
            <a:pPr lvl="1"/>
            <a:r>
              <a:rPr lang="en-US" altLang="en-US" dirty="0" smtClean="0"/>
              <a:t>Feature selection.</a:t>
            </a:r>
          </a:p>
          <a:p>
            <a:pPr lvl="1"/>
            <a:endParaRPr lang="en-US" altLang="en-US" dirty="0"/>
          </a:p>
          <a:p>
            <a:pPr lvl="1"/>
            <a:r>
              <a:rPr lang="en-US" altLang="en-US" dirty="0" smtClean="0"/>
              <a:t>Sampling.</a:t>
            </a:r>
          </a:p>
          <a:p>
            <a:pPr lvl="1"/>
            <a:endParaRPr lang="en-US" altLang="en-US" dirty="0"/>
          </a:p>
          <a:p>
            <a:pPr lvl="1"/>
            <a:r>
              <a:rPr lang="en-US" altLang="en-US" dirty="0" smtClean="0"/>
              <a:t>Data compression.</a:t>
            </a:r>
          </a:p>
          <a:p>
            <a:pPr lvl="1"/>
            <a:endParaRPr lang="en-US" altLang="en-US" dirty="0"/>
          </a:p>
          <a:p>
            <a:pPr lvl="1"/>
            <a:r>
              <a:rPr lang="en-US" altLang="en-US" dirty="0" smtClean="0"/>
              <a:t>Data aggregation.</a:t>
            </a:r>
          </a:p>
          <a:p>
            <a:pPr lvl="1"/>
            <a:endParaRPr lang="en-US" altLang="en-US" dirty="0"/>
          </a:p>
          <a:p>
            <a:pPr lvl="1"/>
            <a:r>
              <a:rPr lang="en-US" altLang="en-US" dirty="0"/>
              <a:t>e</a:t>
            </a:r>
            <a:r>
              <a:rPr lang="en-US" altLang="en-US" dirty="0" smtClean="0"/>
              <a:t>tc.</a:t>
            </a:r>
          </a:p>
        </p:txBody>
      </p:sp>
    </p:spTree>
    <p:extLst>
      <p:ext uri="{BB962C8B-B14F-4D97-AF65-F5344CB8AC3E}">
        <p14:creationId xmlns:p14="http://schemas.microsoft.com/office/powerpoint/2010/main" val="25453287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68</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70000" lnSpcReduction="2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altLang="en-US" sz="2400" dirty="0" smtClean="0"/>
              <a:t>Locating and downloading datasets</a:t>
            </a:r>
          </a:p>
          <a:p>
            <a:pPr lvl="1"/>
            <a:r>
              <a:rPr lang="en-US" altLang="en-US" dirty="0" smtClean="0"/>
              <a:t>Datasets and files</a:t>
            </a:r>
          </a:p>
          <a:p>
            <a:pPr lvl="1"/>
            <a:r>
              <a:rPr lang="en-US" altLang="en-US" dirty="0" smtClean="0"/>
              <a:t>Data sources</a:t>
            </a:r>
            <a:endParaRPr lang="en-US" altLang="en-US" dirty="0"/>
          </a:p>
          <a:p>
            <a:r>
              <a:rPr lang="en-US" altLang="en-US" sz="2400" dirty="0" smtClean="0"/>
              <a:t>Data preprocessing</a:t>
            </a:r>
            <a:endParaRPr lang="en-US" altLang="en-US" sz="2400" dirty="0"/>
          </a:p>
          <a:p>
            <a:pPr lvl="1"/>
            <a:r>
              <a:rPr lang="en-US" altLang="en-US" dirty="0" smtClean="0"/>
              <a:t>Importance of data preprocessing</a:t>
            </a:r>
            <a:endParaRPr lang="en-US" altLang="en-US" dirty="0"/>
          </a:p>
          <a:p>
            <a:pPr lvl="1"/>
            <a:r>
              <a:rPr lang="en-US" altLang="en-US" dirty="0" smtClean="0"/>
              <a:t>Data preprocessing tasks</a:t>
            </a:r>
            <a:endParaRPr lang="en-US" altLang="en-US" dirty="0"/>
          </a:p>
          <a:p>
            <a:r>
              <a:rPr lang="en-US" altLang="en-US" sz="2400" dirty="0" smtClean="0"/>
              <a:t>Missing values</a:t>
            </a:r>
          </a:p>
          <a:p>
            <a:pPr lvl="1"/>
            <a:r>
              <a:rPr lang="en-US" altLang="en-US" dirty="0" smtClean="0"/>
              <a:t>Replacing missing values</a:t>
            </a:r>
          </a:p>
          <a:p>
            <a:r>
              <a:rPr lang="en-US" altLang="en-US" sz="2400" dirty="0" smtClean="0"/>
              <a:t>Normalizing and discretizing data</a:t>
            </a:r>
          </a:p>
          <a:p>
            <a:pPr lvl="1"/>
            <a:r>
              <a:rPr lang="en-US" altLang="en-US" dirty="0" smtClean="0"/>
              <a:t>Data normalization</a:t>
            </a:r>
          </a:p>
          <a:p>
            <a:pPr lvl="1"/>
            <a:r>
              <a:rPr lang="en-US" altLang="en-US" dirty="0" smtClean="0"/>
              <a:t>Discretization</a:t>
            </a:r>
          </a:p>
          <a:p>
            <a:r>
              <a:rPr lang="en-US" altLang="en-US" sz="2400" dirty="0" smtClean="0"/>
              <a:t>Data reduction</a:t>
            </a:r>
          </a:p>
          <a:p>
            <a:pPr lvl="1"/>
            <a:r>
              <a:rPr lang="en-US" altLang="en-US" b="1" dirty="0">
                <a:solidFill>
                  <a:srgbClr val="FFFF00"/>
                </a:solidFill>
              </a:rPr>
              <a:t>Feature selection</a:t>
            </a:r>
          </a:p>
          <a:p>
            <a:pPr lvl="1"/>
            <a:r>
              <a:rPr lang="en-US" altLang="en-US" dirty="0" smtClean="0"/>
              <a:t>Data sampling</a:t>
            </a:r>
          </a:p>
          <a:p>
            <a:r>
              <a:rPr lang="en-US" altLang="en-US" sz="2400" dirty="0"/>
              <a:t>Introduction to R language</a:t>
            </a:r>
          </a:p>
          <a:p>
            <a:pPr lvl="1"/>
            <a:r>
              <a:rPr lang="en-US" altLang="en-US" dirty="0"/>
              <a:t>Principles of R</a:t>
            </a:r>
          </a:p>
          <a:p>
            <a:pPr lvl="1"/>
            <a:r>
              <a:rPr lang="en-US" altLang="en-US" dirty="0"/>
              <a:t>Working with </a:t>
            </a:r>
            <a:r>
              <a:rPr lang="en-US" altLang="en-US" dirty="0" smtClean="0"/>
              <a:t>R</a:t>
            </a:r>
          </a:p>
          <a:p>
            <a:pPr lvl="1"/>
            <a:r>
              <a:rPr lang="en-US" altLang="en-US" dirty="0"/>
              <a:t>Data preprocessing with </a:t>
            </a:r>
            <a:r>
              <a:rPr lang="en-US" altLang="en-US" dirty="0" smtClean="0"/>
              <a:t>R</a:t>
            </a:r>
            <a:endParaRPr lang="en-US" altLang="en-US" dirty="0"/>
          </a:p>
          <a:p>
            <a:pPr lvl="1"/>
            <a:endParaRPr lang="en-US" altLang="en-US" dirty="0"/>
          </a:p>
        </p:txBody>
      </p:sp>
    </p:spTree>
    <p:extLst>
      <p:ext uri="{BB962C8B-B14F-4D97-AF65-F5344CB8AC3E}">
        <p14:creationId xmlns:p14="http://schemas.microsoft.com/office/powerpoint/2010/main" val="34990226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69</a:t>
            </a:fld>
            <a:endParaRPr lang="en-US" altLang="en-US" sz="1400"/>
          </a:p>
        </p:txBody>
      </p:sp>
      <p:sp>
        <p:nvSpPr>
          <p:cNvPr id="8197" name="Rectangle 2"/>
          <p:cNvSpPr>
            <a:spLocks noGrp="1" noChangeArrowheads="1"/>
          </p:cNvSpPr>
          <p:nvPr>
            <p:ph type="title"/>
          </p:nvPr>
        </p:nvSpPr>
        <p:spPr>
          <a:xfrm>
            <a:off x="1752600"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Feature Selection</a:t>
            </a:r>
          </a:p>
        </p:txBody>
      </p:sp>
      <p:sp>
        <p:nvSpPr>
          <p:cNvPr id="8198" name="Rectangle 3"/>
          <p:cNvSpPr>
            <a:spLocks noGrp="1" noChangeArrowheads="1"/>
          </p:cNvSpPr>
          <p:nvPr>
            <p:ph type="body" idx="1"/>
          </p:nvPr>
        </p:nvSpPr>
        <p:spPr>
          <a:xfrm>
            <a:off x="1752600" y="1664277"/>
            <a:ext cx="8686800" cy="4114800"/>
          </a:xfrm>
        </p:spPr>
        <p:txBody>
          <a:bodyPr>
            <a:normAutofit fontScale="92500" lnSpcReduction="20000"/>
          </a:bodyPr>
          <a:lstStyle/>
          <a:p>
            <a:endParaRPr lang="en-US" altLang="en-US" dirty="0"/>
          </a:p>
          <a:p>
            <a:r>
              <a:rPr lang="en-US" altLang="en-US" dirty="0" smtClean="0"/>
              <a:t>Feature selection is also called dimensionality reduction</a:t>
            </a:r>
            <a:r>
              <a:rPr lang="en-US" altLang="en-US" dirty="0" smtClean="0"/>
              <a:t>.</a:t>
            </a:r>
          </a:p>
          <a:p>
            <a:endParaRPr lang="en-US" altLang="en-US" dirty="0"/>
          </a:p>
          <a:p>
            <a:r>
              <a:rPr lang="en-US" altLang="en-US" dirty="0" smtClean="0"/>
              <a:t>A feature is also called a variable (or a column).</a:t>
            </a:r>
            <a:endParaRPr lang="en-US" altLang="en-US" dirty="0" smtClean="0"/>
          </a:p>
          <a:p>
            <a:endParaRPr lang="en-US" altLang="en-US" dirty="0"/>
          </a:p>
          <a:p>
            <a:r>
              <a:rPr lang="en-US" altLang="en-US" dirty="0" smtClean="0"/>
              <a:t>It is very important in biomedical data due to an often large number of features available – the curse of dimensionality (Ex: number of gene expressions).</a:t>
            </a:r>
          </a:p>
          <a:p>
            <a:endParaRPr lang="en-US" altLang="en-US" dirty="0"/>
          </a:p>
          <a:p>
            <a:r>
              <a:rPr lang="en-US" altLang="en-US" dirty="0" smtClean="0"/>
              <a:t>It </a:t>
            </a:r>
            <a:r>
              <a:rPr lang="en-US" altLang="en-US" dirty="0"/>
              <a:t>will be studied in a future module.</a:t>
            </a:r>
          </a:p>
          <a:p>
            <a:endParaRPr lang="en-US" altLang="en-US" dirty="0" smtClean="0"/>
          </a:p>
        </p:txBody>
      </p:sp>
    </p:spTree>
    <p:extLst>
      <p:ext uri="{BB962C8B-B14F-4D97-AF65-F5344CB8AC3E}">
        <p14:creationId xmlns:p14="http://schemas.microsoft.com/office/powerpoint/2010/main" val="91582248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70</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70000" lnSpcReduction="2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altLang="en-US" sz="2400" dirty="0" smtClean="0"/>
              <a:t>Locating and downloading datasets</a:t>
            </a:r>
          </a:p>
          <a:p>
            <a:pPr lvl="1"/>
            <a:r>
              <a:rPr lang="en-US" altLang="en-US" dirty="0" smtClean="0"/>
              <a:t>Datasets and files</a:t>
            </a:r>
          </a:p>
          <a:p>
            <a:pPr lvl="1"/>
            <a:r>
              <a:rPr lang="en-US" altLang="en-US" dirty="0" smtClean="0"/>
              <a:t>Data sources</a:t>
            </a:r>
            <a:endParaRPr lang="en-US" altLang="en-US" dirty="0"/>
          </a:p>
          <a:p>
            <a:r>
              <a:rPr lang="en-US" altLang="en-US" sz="2400" dirty="0" smtClean="0"/>
              <a:t>Data preprocessing</a:t>
            </a:r>
            <a:endParaRPr lang="en-US" altLang="en-US" sz="2400" dirty="0"/>
          </a:p>
          <a:p>
            <a:pPr lvl="1"/>
            <a:r>
              <a:rPr lang="en-US" altLang="en-US" dirty="0" smtClean="0"/>
              <a:t>Importance of data preprocessing</a:t>
            </a:r>
            <a:endParaRPr lang="en-US" altLang="en-US" dirty="0"/>
          </a:p>
          <a:p>
            <a:pPr lvl="1"/>
            <a:r>
              <a:rPr lang="en-US" altLang="en-US" dirty="0" smtClean="0"/>
              <a:t>Data preprocessing tasks</a:t>
            </a:r>
            <a:endParaRPr lang="en-US" altLang="en-US" dirty="0"/>
          </a:p>
          <a:p>
            <a:r>
              <a:rPr lang="en-US" altLang="en-US" sz="2400" dirty="0" smtClean="0"/>
              <a:t>Missing values</a:t>
            </a:r>
          </a:p>
          <a:p>
            <a:pPr lvl="1"/>
            <a:r>
              <a:rPr lang="en-US" altLang="en-US" dirty="0" smtClean="0"/>
              <a:t>Replacing missing values</a:t>
            </a:r>
          </a:p>
          <a:p>
            <a:r>
              <a:rPr lang="en-US" altLang="en-US" sz="2400" dirty="0" smtClean="0"/>
              <a:t>Normalizing and discretizing data</a:t>
            </a:r>
          </a:p>
          <a:p>
            <a:pPr lvl="1"/>
            <a:r>
              <a:rPr lang="en-US" altLang="en-US" dirty="0" smtClean="0"/>
              <a:t>Data normalization</a:t>
            </a:r>
          </a:p>
          <a:p>
            <a:pPr lvl="1"/>
            <a:r>
              <a:rPr lang="en-US" altLang="en-US" dirty="0" smtClean="0"/>
              <a:t>Discretization</a:t>
            </a:r>
          </a:p>
          <a:p>
            <a:r>
              <a:rPr lang="en-US" altLang="en-US" sz="2400" dirty="0" smtClean="0"/>
              <a:t>Data reduction</a:t>
            </a:r>
          </a:p>
          <a:p>
            <a:pPr lvl="1"/>
            <a:r>
              <a:rPr lang="en-US" altLang="en-US" dirty="0"/>
              <a:t>Feature selection</a:t>
            </a:r>
          </a:p>
          <a:p>
            <a:pPr lvl="1"/>
            <a:r>
              <a:rPr lang="en-US" altLang="en-US" b="1" dirty="0" smtClean="0">
                <a:solidFill>
                  <a:srgbClr val="FFFF00"/>
                </a:solidFill>
              </a:rPr>
              <a:t>Data sampling</a:t>
            </a:r>
          </a:p>
          <a:p>
            <a:r>
              <a:rPr lang="en-US" altLang="en-US" sz="2400" dirty="0"/>
              <a:t>Introduction to R language</a:t>
            </a:r>
          </a:p>
          <a:p>
            <a:pPr lvl="1"/>
            <a:r>
              <a:rPr lang="en-US" altLang="en-US" dirty="0"/>
              <a:t>Principles of R</a:t>
            </a:r>
          </a:p>
          <a:p>
            <a:pPr lvl="1"/>
            <a:r>
              <a:rPr lang="en-US" altLang="en-US" dirty="0"/>
              <a:t>Working with </a:t>
            </a:r>
            <a:r>
              <a:rPr lang="en-US" altLang="en-US" dirty="0" smtClean="0"/>
              <a:t>R</a:t>
            </a:r>
          </a:p>
          <a:p>
            <a:pPr lvl="1"/>
            <a:r>
              <a:rPr lang="en-US" altLang="en-US" dirty="0"/>
              <a:t>Data preprocessing with </a:t>
            </a:r>
            <a:r>
              <a:rPr lang="en-US" altLang="en-US" dirty="0" smtClean="0"/>
              <a:t>R</a:t>
            </a:r>
            <a:endParaRPr lang="en-US" altLang="en-US" dirty="0"/>
          </a:p>
          <a:p>
            <a:pPr lvl="1"/>
            <a:endParaRPr lang="en-US" altLang="en-US" dirty="0"/>
          </a:p>
        </p:txBody>
      </p:sp>
    </p:spTree>
    <p:extLst>
      <p:ext uri="{BB962C8B-B14F-4D97-AF65-F5344CB8AC3E}">
        <p14:creationId xmlns:p14="http://schemas.microsoft.com/office/powerpoint/2010/main" val="17528001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71</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Sampling</a:t>
            </a:r>
          </a:p>
        </p:txBody>
      </p:sp>
      <p:sp>
        <p:nvSpPr>
          <p:cNvPr id="8198" name="Rectangle 3"/>
          <p:cNvSpPr>
            <a:spLocks noGrp="1" noChangeArrowheads="1"/>
          </p:cNvSpPr>
          <p:nvPr>
            <p:ph type="body" idx="1"/>
          </p:nvPr>
        </p:nvSpPr>
        <p:spPr>
          <a:xfrm>
            <a:off x="1752600" y="1524000"/>
            <a:ext cx="8686800" cy="4114800"/>
          </a:xfrm>
        </p:spPr>
        <p:txBody>
          <a:bodyPr>
            <a:normAutofit/>
          </a:bodyPr>
          <a:lstStyle/>
          <a:p>
            <a:r>
              <a:rPr lang="en-US" altLang="en-US" dirty="0" smtClean="0"/>
              <a:t>Data sampling refers to creating a subset or sample of the complete dataset.</a:t>
            </a:r>
          </a:p>
          <a:p>
            <a:endParaRPr lang="en-US" altLang="en-US" dirty="0"/>
          </a:p>
          <a:p>
            <a:r>
              <a:rPr lang="en-US" altLang="en-US" dirty="0" smtClean="0"/>
              <a:t>The sample needs to be representative.</a:t>
            </a:r>
          </a:p>
          <a:p>
            <a:endParaRPr lang="en-US" altLang="en-US" dirty="0"/>
          </a:p>
          <a:p>
            <a:r>
              <a:rPr lang="en-US" altLang="en-US" dirty="0" smtClean="0"/>
              <a:t>Main methods:</a:t>
            </a:r>
          </a:p>
          <a:p>
            <a:pPr lvl="1"/>
            <a:r>
              <a:rPr lang="en-US" altLang="en-US" dirty="0" smtClean="0"/>
              <a:t>Simple random sampling with replacement.</a:t>
            </a:r>
          </a:p>
          <a:p>
            <a:pPr lvl="1"/>
            <a:r>
              <a:rPr lang="en-US" altLang="en-US" dirty="0" smtClean="0"/>
              <a:t>Simple random sampling without replacement.</a:t>
            </a:r>
          </a:p>
          <a:p>
            <a:pPr lvl="1"/>
            <a:r>
              <a:rPr lang="en-US" altLang="en-US" dirty="0" smtClean="0"/>
              <a:t>Stratified sampling.</a:t>
            </a:r>
          </a:p>
        </p:txBody>
      </p:sp>
    </p:spTree>
    <p:extLst>
      <p:ext uri="{BB962C8B-B14F-4D97-AF65-F5344CB8AC3E}">
        <p14:creationId xmlns:p14="http://schemas.microsoft.com/office/powerpoint/2010/main" val="284913762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xfrm>
            <a:off x="3903610" y="6140450"/>
            <a:ext cx="41148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dirty="0" smtClean="0"/>
              <a:t>Isabelle Bichindaritz, SUNY Oswego</a:t>
            </a:r>
            <a:endParaRPr lang="en-US" altLang="en-US" sz="1400" dirty="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72</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Sampling</a:t>
            </a:r>
          </a:p>
        </p:txBody>
      </p:sp>
      <p:sp>
        <p:nvSpPr>
          <p:cNvPr id="8" name="Text Box 3"/>
          <p:cNvSpPr txBox="1">
            <a:spLocks noChangeArrowheads="1"/>
          </p:cNvSpPr>
          <p:nvPr/>
        </p:nvSpPr>
        <p:spPr bwMode="auto">
          <a:xfrm rot="-1013563">
            <a:off x="4938959" y="2425700"/>
            <a:ext cx="2205038"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r>
              <a:rPr lang="en-US"/>
              <a:t>SRSWOR</a:t>
            </a:r>
          </a:p>
          <a:p>
            <a:pPr algn="l"/>
            <a:r>
              <a:rPr lang="en-US"/>
              <a:t>(simple random</a:t>
            </a:r>
          </a:p>
          <a:p>
            <a:pPr algn="l"/>
            <a:r>
              <a:rPr lang="en-US"/>
              <a:t> sample without </a:t>
            </a:r>
          </a:p>
          <a:p>
            <a:pPr algn="l"/>
            <a:r>
              <a:rPr lang="en-US"/>
              <a:t>replacement)</a:t>
            </a:r>
          </a:p>
        </p:txBody>
      </p:sp>
      <p:grpSp>
        <p:nvGrpSpPr>
          <p:cNvPr id="9" name="Group 4"/>
          <p:cNvGrpSpPr>
            <a:grpSpLocks/>
          </p:cNvGrpSpPr>
          <p:nvPr/>
        </p:nvGrpSpPr>
        <p:grpSpPr bwMode="auto">
          <a:xfrm>
            <a:off x="6901109" y="1377950"/>
            <a:ext cx="2438400" cy="1676400"/>
            <a:chOff x="3588" y="1116"/>
            <a:chExt cx="1536" cy="1056"/>
          </a:xfrm>
        </p:grpSpPr>
        <p:sp>
          <p:nvSpPr>
            <p:cNvPr id="10" name="AutoShape 5"/>
            <p:cNvSpPr>
              <a:spLocks noChangeArrowheads="1"/>
            </p:cNvSpPr>
            <p:nvPr/>
          </p:nvSpPr>
          <p:spPr bwMode="auto">
            <a:xfrm>
              <a:off x="3588" y="1116"/>
              <a:ext cx="1536" cy="1056"/>
            </a:xfrm>
            <a:prstGeom prst="can">
              <a:avLst>
                <a:gd name="adj" fmla="val 25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Oval 6"/>
            <p:cNvSpPr>
              <a:spLocks noChangeArrowheads="1"/>
            </p:cNvSpPr>
            <p:nvPr/>
          </p:nvSpPr>
          <p:spPr bwMode="auto">
            <a:xfrm>
              <a:off x="4092" y="1788"/>
              <a:ext cx="540" cy="360"/>
            </a:xfrm>
            <a:prstGeom prst="ellipse">
              <a:avLst/>
            </a:prstGeom>
            <a:solidFill>
              <a:schemeClr val="bg1"/>
            </a:solidFill>
            <a:ln w="9525">
              <a:solidFill>
                <a:schemeClr val="tx1"/>
              </a:solidFill>
              <a:round/>
              <a:headEnd/>
              <a:tailEnd/>
            </a:ln>
          </p:spPr>
          <p:txBody>
            <a:bodyPr wrap="none" anchor="ctr"/>
            <a:lstStyle/>
            <a:p>
              <a:endParaRPr lang="en-US"/>
            </a:p>
          </p:txBody>
        </p:sp>
        <p:sp>
          <p:nvSpPr>
            <p:cNvPr id="12" name="Oval 7"/>
            <p:cNvSpPr>
              <a:spLocks noChangeArrowheads="1"/>
            </p:cNvSpPr>
            <p:nvPr/>
          </p:nvSpPr>
          <p:spPr bwMode="auto">
            <a:xfrm>
              <a:off x="4632" y="1632"/>
              <a:ext cx="492" cy="396"/>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13" name="Oval 8"/>
            <p:cNvSpPr>
              <a:spLocks noChangeArrowheads="1"/>
            </p:cNvSpPr>
            <p:nvPr/>
          </p:nvSpPr>
          <p:spPr bwMode="auto">
            <a:xfrm>
              <a:off x="3588" y="1668"/>
              <a:ext cx="540" cy="360"/>
            </a:xfrm>
            <a:prstGeom prst="ellipse">
              <a:avLst/>
            </a:prstGeom>
            <a:solidFill>
              <a:schemeClr val="tx2"/>
            </a:solidFill>
            <a:ln w="9525">
              <a:solidFill>
                <a:schemeClr val="tx1"/>
              </a:solidFill>
              <a:round/>
              <a:headEnd/>
              <a:tailEnd/>
            </a:ln>
          </p:spPr>
          <p:txBody>
            <a:bodyPr wrap="none" anchor="ctr"/>
            <a:lstStyle/>
            <a:p>
              <a:endParaRPr lang="en-US"/>
            </a:p>
          </p:txBody>
        </p:sp>
      </p:grpSp>
      <p:sp>
        <p:nvSpPr>
          <p:cNvPr id="14" name="Text Box 9"/>
          <p:cNvSpPr txBox="1">
            <a:spLocks noChangeArrowheads="1"/>
          </p:cNvSpPr>
          <p:nvPr/>
        </p:nvSpPr>
        <p:spPr bwMode="auto">
          <a:xfrm rot="848056">
            <a:off x="5167559" y="4711700"/>
            <a:ext cx="1217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r>
              <a:rPr lang="en-US"/>
              <a:t>SRSWR</a:t>
            </a:r>
          </a:p>
        </p:txBody>
      </p:sp>
      <p:grpSp>
        <p:nvGrpSpPr>
          <p:cNvPr id="15" name="Group 10"/>
          <p:cNvGrpSpPr>
            <a:grpSpLocks/>
          </p:cNvGrpSpPr>
          <p:nvPr/>
        </p:nvGrpSpPr>
        <p:grpSpPr bwMode="auto">
          <a:xfrm>
            <a:off x="6977309" y="4064000"/>
            <a:ext cx="2438400" cy="1676400"/>
            <a:chOff x="3636" y="2808"/>
            <a:chExt cx="1536" cy="1056"/>
          </a:xfrm>
        </p:grpSpPr>
        <p:sp>
          <p:nvSpPr>
            <p:cNvPr id="16" name="AutoShape 11"/>
            <p:cNvSpPr>
              <a:spLocks noChangeArrowheads="1"/>
            </p:cNvSpPr>
            <p:nvPr/>
          </p:nvSpPr>
          <p:spPr bwMode="auto">
            <a:xfrm>
              <a:off x="3636" y="2808"/>
              <a:ext cx="1536" cy="1056"/>
            </a:xfrm>
            <a:prstGeom prst="can">
              <a:avLst>
                <a:gd name="adj" fmla="val 25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 name="Oval 12"/>
            <p:cNvSpPr>
              <a:spLocks noChangeArrowheads="1"/>
            </p:cNvSpPr>
            <p:nvPr/>
          </p:nvSpPr>
          <p:spPr bwMode="auto">
            <a:xfrm>
              <a:off x="3648" y="3372"/>
              <a:ext cx="540" cy="360"/>
            </a:xfrm>
            <a:prstGeom prst="ellipse">
              <a:avLst/>
            </a:prstGeom>
            <a:solidFill>
              <a:schemeClr val="tx2"/>
            </a:solidFill>
            <a:ln w="9525">
              <a:solidFill>
                <a:schemeClr val="tx1"/>
              </a:solidFill>
              <a:round/>
              <a:headEnd/>
              <a:tailEnd/>
            </a:ln>
          </p:spPr>
          <p:txBody>
            <a:bodyPr wrap="none" anchor="ctr"/>
            <a:lstStyle/>
            <a:p>
              <a:endParaRPr lang="en-US"/>
            </a:p>
          </p:txBody>
        </p:sp>
        <p:sp>
          <p:nvSpPr>
            <p:cNvPr id="18" name="Oval 13"/>
            <p:cNvSpPr>
              <a:spLocks noChangeArrowheads="1"/>
            </p:cNvSpPr>
            <p:nvPr/>
          </p:nvSpPr>
          <p:spPr bwMode="auto">
            <a:xfrm>
              <a:off x="4188" y="3480"/>
              <a:ext cx="540" cy="360"/>
            </a:xfrm>
            <a:prstGeom prst="ellipse">
              <a:avLst/>
            </a:prstGeom>
            <a:solidFill>
              <a:schemeClr val="tx2"/>
            </a:solidFill>
            <a:ln w="9525">
              <a:solidFill>
                <a:schemeClr val="tx1"/>
              </a:solidFill>
              <a:round/>
              <a:headEnd/>
              <a:tailEnd/>
            </a:ln>
          </p:spPr>
          <p:txBody>
            <a:bodyPr wrap="none" anchor="ctr"/>
            <a:lstStyle/>
            <a:p>
              <a:endParaRPr lang="en-US"/>
            </a:p>
          </p:txBody>
        </p:sp>
        <p:sp>
          <p:nvSpPr>
            <p:cNvPr id="19" name="Oval 14"/>
            <p:cNvSpPr>
              <a:spLocks noChangeArrowheads="1"/>
            </p:cNvSpPr>
            <p:nvPr/>
          </p:nvSpPr>
          <p:spPr bwMode="auto">
            <a:xfrm>
              <a:off x="4656" y="3288"/>
              <a:ext cx="516" cy="396"/>
            </a:xfrm>
            <a:prstGeom prst="ellipse">
              <a:avLst/>
            </a:prstGeom>
            <a:solidFill>
              <a:srgbClr val="FAE2F6"/>
            </a:solidFill>
            <a:ln w="9525">
              <a:solidFill>
                <a:schemeClr val="tx1"/>
              </a:solidFill>
              <a:round/>
              <a:headEnd/>
              <a:tailEnd/>
            </a:ln>
          </p:spPr>
          <p:txBody>
            <a:bodyPr wrap="none" anchor="ctr"/>
            <a:lstStyle/>
            <a:p>
              <a:endParaRPr lang="en-US"/>
            </a:p>
          </p:txBody>
        </p:sp>
      </p:grpSp>
      <p:grpSp>
        <p:nvGrpSpPr>
          <p:cNvPr id="20" name="Group 15"/>
          <p:cNvGrpSpPr>
            <a:grpSpLocks/>
          </p:cNvGrpSpPr>
          <p:nvPr/>
        </p:nvGrpSpPr>
        <p:grpSpPr bwMode="auto">
          <a:xfrm>
            <a:off x="2040515" y="1511300"/>
            <a:ext cx="2724150" cy="4556125"/>
            <a:chOff x="564" y="1284"/>
            <a:chExt cx="1716" cy="2870"/>
          </a:xfrm>
        </p:grpSpPr>
        <p:sp>
          <p:nvSpPr>
            <p:cNvPr id="21" name="AutoShape 16"/>
            <p:cNvSpPr>
              <a:spLocks noChangeArrowheads="1"/>
            </p:cNvSpPr>
            <p:nvPr/>
          </p:nvSpPr>
          <p:spPr bwMode="auto">
            <a:xfrm>
              <a:off x="564" y="1284"/>
              <a:ext cx="1716" cy="2616"/>
            </a:xfrm>
            <a:prstGeom prst="can">
              <a:avLst>
                <a:gd name="adj" fmla="val 38112"/>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2" name="Oval 17"/>
            <p:cNvSpPr>
              <a:spLocks noChangeArrowheads="1"/>
            </p:cNvSpPr>
            <p:nvPr/>
          </p:nvSpPr>
          <p:spPr bwMode="auto">
            <a:xfrm>
              <a:off x="672" y="3336"/>
              <a:ext cx="516" cy="396"/>
            </a:xfrm>
            <a:prstGeom prst="ellipse">
              <a:avLst/>
            </a:prstGeom>
            <a:solidFill>
              <a:srgbClr val="FAE2F6"/>
            </a:solidFill>
            <a:ln w="9525">
              <a:solidFill>
                <a:schemeClr val="tx1"/>
              </a:solidFill>
              <a:round/>
              <a:headEnd/>
              <a:tailEnd/>
            </a:ln>
          </p:spPr>
          <p:txBody>
            <a:bodyPr wrap="none" anchor="ctr"/>
            <a:lstStyle/>
            <a:p>
              <a:endParaRPr lang="en-US"/>
            </a:p>
          </p:txBody>
        </p:sp>
        <p:sp>
          <p:nvSpPr>
            <p:cNvPr id="23" name="Oval 18"/>
            <p:cNvSpPr>
              <a:spLocks noChangeArrowheads="1"/>
            </p:cNvSpPr>
            <p:nvPr/>
          </p:nvSpPr>
          <p:spPr bwMode="auto">
            <a:xfrm>
              <a:off x="660" y="2916"/>
              <a:ext cx="540" cy="360"/>
            </a:xfrm>
            <a:prstGeom prst="ellipse">
              <a:avLst/>
            </a:prstGeom>
            <a:solidFill>
              <a:srgbClr val="006666"/>
            </a:solidFill>
            <a:ln w="9525">
              <a:solidFill>
                <a:schemeClr val="accent2"/>
              </a:solidFill>
              <a:round/>
              <a:headEnd/>
              <a:tailEnd/>
            </a:ln>
          </p:spPr>
          <p:txBody>
            <a:bodyPr wrap="none" anchor="ctr"/>
            <a:lstStyle/>
            <a:p>
              <a:endParaRPr lang="en-US"/>
            </a:p>
          </p:txBody>
        </p:sp>
        <p:sp>
          <p:nvSpPr>
            <p:cNvPr id="24" name="Oval 19"/>
            <p:cNvSpPr>
              <a:spLocks noChangeArrowheads="1"/>
            </p:cNvSpPr>
            <p:nvPr/>
          </p:nvSpPr>
          <p:spPr bwMode="auto">
            <a:xfrm>
              <a:off x="1236" y="3468"/>
              <a:ext cx="564" cy="396"/>
            </a:xfrm>
            <a:prstGeom prst="ellipse">
              <a:avLst/>
            </a:prstGeom>
            <a:solidFill>
              <a:srgbClr val="121328"/>
            </a:solidFill>
            <a:ln w="9525">
              <a:solidFill>
                <a:schemeClr val="tx1"/>
              </a:solidFill>
              <a:round/>
              <a:headEnd/>
              <a:tailEnd/>
            </a:ln>
          </p:spPr>
          <p:txBody>
            <a:bodyPr wrap="none" anchor="ctr"/>
            <a:lstStyle/>
            <a:p>
              <a:endParaRPr lang="en-US"/>
            </a:p>
          </p:txBody>
        </p:sp>
        <p:sp>
          <p:nvSpPr>
            <p:cNvPr id="25" name="Oval 20"/>
            <p:cNvSpPr>
              <a:spLocks noChangeArrowheads="1"/>
            </p:cNvSpPr>
            <p:nvPr/>
          </p:nvSpPr>
          <p:spPr bwMode="auto">
            <a:xfrm>
              <a:off x="1764" y="3240"/>
              <a:ext cx="492" cy="396"/>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26" name="Oval 21"/>
            <p:cNvSpPr>
              <a:spLocks noChangeArrowheads="1"/>
            </p:cNvSpPr>
            <p:nvPr/>
          </p:nvSpPr>
          <p:spPr bwMode="auto">
            <a:xfrm>
              <a:off x="1236" y="3084"/>
              <a:ext cx="468" cy="372"/>
            </a:xfrm>
            <a:prstGeom prst="ellipse">
              <a:avLst/>
            </a:prstGeom>
            <a:solidFill>
              <a:srgbClr val="CCFF99"/>
            </a:solidFill>
            <a:ln w="9525">
              <a:solidFill>
                <a:schemeClr val="tx1"/>
              </a:solidFill>
              <a:round/>
              <a:headEnd/>
              <a:tailEnd/>
            </a:ln>
          </p:spPr>
          <p:txBody>
            <a:bodyPr wrap="none" anchor="ctr"/>
            <a:lstStyle/>
            <a:p>
              <a:endParaRPr lang="en-US"/>
            </a:p>
          </p:txBody>
        </p:sp>
        <p:sp>
          <p:nvSpPr>
            <p:cNvPr id="27" name="Oval 22"/>
            <p:cNvSpPr>
              <a:spLocks noChangeArrowheads="1"/>
            </p:cNvSpPr>
            <p:nvPr/>
          </p:nvSpPr>
          <p:spPr bwMode="auto">
            <a:xfrm>
              <a:off x="1680" y="2808"/>
              <a:ext cx="540" cy="360"/>
            </a:xfrm>
            <a:prstGeom prst="ellipse">
              <a:avLst/>
            </a:prstGeom>
            <a:solidFill>
              <a:schemeClr val="hlink"/>
            </a:solidFill>
            <a:ln w="9525">
              <a:solidFill>
                <a:schemeClr val="hlink"/>
              </a:solidFill>
              <a:round/>
              <a:headEnd/>
              <a:tailEnd/>
            </a:ln>
          </p:spPr>
          <p:txBody>
            <a:bodyPr wrap="none" anchor="ctr"/>
            <a:lstStyle/>
            <a:p>
              <a:endParaRPr lang="en-US"/>
            </a:p>
          </p:txBody>
        </p:sp>
        <p:sp>
          <p:nvSpPr>
            <p:cNvPr id="28" name="Oval 23"/>
            <p:cNvSpPr>
              <a:spLocks noChangeArrowheads="1"/>
            </p:cNvSpPr>
            <p:nvPr/>
          </p:nvSpPr>
          <p:spPr bwMode="auto">
            <a:xfrm>
              <a:off x="1092" y="2664"/>
              <a:ext cx="540" cy="360"/>
            </a:xfrm>
            <a:prstGeom prst="ellipse">
              <a:avLst/>
            </a:prstGeom>
            <a:solidFill>
              <a:schemeClr val="bg1"/>
            </a:solidFill>
            <a:ln w="9525">
              <a:solidFill>
                <a:schemeClr val="tx1"/>
              </a:solidFill>
              <a:round/>
              <a:headEnd/>
              <a:tailEnd/>
            </a:ln>
          </p:spPr>
          <p:txBody>
            <a:bodyPr wrap="none" anchor="ctr"/>
            <a:lstStyle/>
            <a:p>
              <a:endParaRPr lang="en-US"/>
            </a:p>
          </p:txBody>
        </p:sp>
        <p:sp>
          <p:nvSpPr>
            <p:cNvPr id="29" name="Oval 24"/>
            <p:cNvSpPr>
              <a:spLocks noChangeArrowheads="1"/>
            </p:cNvSpPr>
            <p:nvPr/>
          </p:nvSpPr>
          <p:spPr bwMode="auto">
            <a:xfrm>
              <a:off x="564" y="2556"/>
              <a:ext cx="540" cy="360"/>
            </a:xfrm>
            <a:prstGeom prst="ellipse">
              <a:avLst/>
            </a:prstGeom>
            <a:solidFill>
              <a:schemeClr val="tx2"/>
            </a:solidFill>
            <a:ln w="9525">
              <a:solidFill>
                <a:schemeClr val="tx1"/>
              </a:solidFill>
              <a:round/>
              <a:headEnd/>
              <a:tailEnd/>
            </a:ln>
          </p:spPr>
          <p:txBody>
            <a:bodyPr wrap="none" anchor="ctr"/>
            <a:lstStyle/>
            <a:p>
              <a:endParaRPr lang="en-US"/>
            </a:p>
          </p:txBody>
        </p:sp>
        <p:sp>
          <p:nvSpPr>
            <p:cNvPr id="30" name="Oval 25"/>
            <p:cNvSpPr>
              <a:spLocks noChangeArrowheads="1"/>
            </p:cNvSpPr>
            <p:nvPr/>
          </p:nvSpPr>
          <p:spPr bwMode="auto">
            <a:xfrm>
              <a:off x="1620" y="2424"/>
              <a:ext cx="540" cy="360"/>
            </a:xfrm>
            <a:prstGeom prst="ellipse">
              <a:avLst/>
            </a:prstGeom>
            <a:solidFill>
              <a:srgbClr val="423E78"/>
            </a:solidFill>
            <a:ln w="9525">
              <a:solidFill>
                <a:schemeClr val="tx1"/>
              </a:solidFill>
              <a:round/>
              <a:headEnd/>
              <a:tailEnd/>
            </a:ln>
          </p:spPr>
          <p:txBody>
            <a:bodyPr wrap="none" anchor="ctr"/>
            <a:lstStyle/>
            <a:p>
              <a:endParaRPr lang="en-US"/>
            </a:p>
          </p:txBody>
        </p:sp>
        <p:sp>
          <p:nvSpPr>
            <p:cNvPr id="31" name="Text Box 26"/>
            <p:cNvSpPr txBox="1">
              <a:spLocks noChangeArrowheads="1"/>
            </p:cNvSpPr>
            <p:nvPr/>
          </p:nvSpPr>
          <p:spPr bwMode="auto">
            <a:xfrm>
              <a:off x="974" y="3866"/>
              <a:ext cx="8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a:r>
                <a:rPr lang="en-US"/>
                <a:t>Raw Data</a:t>
              </a:r>
            </a:p>
          </p:txBody>
        </p:sp>
      </p:grpSp>
      <p:sp>
        <p:nvSpPr>
          <p:cNvPr id="32" name="Line 27"/>
          <p:cNvSpPr>
            <a:spLocks noChangeShapeType="1"/>
          </p:cNvSpPr>
          <p:nvPr/>
        </p:nvSpPr>
        <p:spPr bwMode="auto">
          <a:xfrm flipV="1">
            <a:off x="5015159" y="2578100"/>
            <a:ext cx="1657350" cy="5524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28"/>
          <p:cNvSpPr>
            <a:spLocks noChangeShapeType="1"/>
          </p:cNvSpPr>
          <p:nvPr/>
        </p:nvSpPr>
        <p:spPr bwMode="auto">
          <a:xfrm>
            <a:off x="5034209" y="4502150"/>
            <a:ext cx="1790700" cy="4953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4" name="Rectangle 3"/>
          <p:cNvSpPr txBox="1">
            <a:spLocks noChangeArrowheads="1"/>
          </p:cNvSpPr>
          <p:nvPr/>
        </p:nvSpPr>
        <p:spPr>
          <a:xfrm>
            <a:off x="8870951" y="3227934"/>
            <a:ext cx="3321049" cy="72811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a:lstStyle>
          <a:p>
            <a:pPr marL="0" indent="0">
              <a:buNone/>
            </a:pPr>
            <a:r>
              <a:rPr lang="en-US" altLang="en-US" dirty="0"/>
              <a:t>f</a:t>
            </a:r>
            <a:r>
              <a:rPr lang="en-US" altLang="en-US" dirty="0" smtClean="0"/>
              <a:t>rom Han and </a:t>
            </a:r>
            <a:r>
              <a:rPr lang="en-US" altLang="en-US" dirty="0" err="1" smtClean="0"/>
              <a:t>Kamber</a:t>
            </a:r>
            <a:r>
              <a:rPr lang="en-US" altLang="en-US" dirty="0" smtClean="0"/>
              <a:t> (2014)</a:t>
            </a:r>
          </a:p>
        </p:txBody>
      </p:sp>
    </p:spTree>
    <p:extLst>
      <p:ext uri="{BB962C8B-B14F-4D97-AF65-F5344CB8AC3E}">
        <p14:creationId xmlns:p14="http://schemas.microsoft.com/office/powerpoint/2010/main" val="30302499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73</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70000" lnSpcReduction="2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altLang="en-US" sz="2400" dirty="0" smtClean="0"/>
              <a:t>Locating and downloading datasets</a:t>
            </a:r>
          </a:p>
          <a:p>
            <a:pPr lvl="1"/>
            <a:r>
              <a:rPr lang="en-US" altLang="en-US" dirty="0" smtClean="0"/>
              <a:t>Datasets and files</a:t>
            </a:r>
          </a:p>
          <a:p>
            <a:pPr lvl="1"/>
            <a:r>
              <a:rPr lang="en-US" altLang="en-US" dirty="0" smtClean="0"/>
              <a:t>Data sources</a:t>
            </a:r>
            <a:endParaRPr lang="en-US" altLang="en-US" dirty="0"/>
          </a:p>
          <a:p>
            <a:r>
              <a:rPr lang="en-US" altLang="en-US" sz="2400" dirty="0" smtClean="0"/>
              <a:t>Data preprocessing</a:t>
            </a:r>
            <a:endParaRPr lang="en-US" altLang="en-US" sz="2400" dirty="0"/>
          </a:p>
          <a:p>
            <a:pPr lvl="1"/>
            <a:r>
              <a:rPr lang="en-US" altLang="en-US" dirty="0" smtClean="0"/>
              <a:t>Importance of data preprocessing</a:t>
            </a:r>
            <a:endParaRPr lang="en-US" altLang="en-US" dirty="0"/>
          </a:p>
          <a:p>
            <a:pPr lvl="1"/>
            <a:r>
              <a:rPr lang="en-US" altLang="en-US" dirty="0" smtClean="0"/>
              <a:t>Data preprocessing tasks</a:t>
            </a:r>
            <a:endParaRPr lang="en-US" altLang="en-US" dirty="0"/>
          </a:p>
          <a:p>
            <a:r>
              <a:rPr lang="en-US" altLang="en-US" sz="2400" dirty="0" smtClean="0"/>
              <a:t>Missing values</a:t>
            </a:r>
          </a:p>
          <a:p>
            <a:pPr lvl="1"/>
            <a:r>
              <a:rPr lang="en-US" altLang="en-US" dirty="0" smtClean="0"/>
              <a:t>Replacing missing values</a:t>
            </a:r>
          </a:p>
          <a:p>
            <a:r>
              <a:rPr lang="en-US" altLang="en-US" sz="2400" dirty="0" smtClean="0"/>
              <a:t>Normalizing and discretizing data</a:t>
            </a:r>
          </a:p>
          <a:p>
            <a:pPr lvl="1"/>
            <a:r>
              <a:rPr lang="en-US" altLang="en-US" dirty="0" smtClean="0"/>
              <a:t>Data normalization</a:t>
            </a:r>
          </a:p>
          <a:p>
            <a:pPr lvl="1"/>
            <a:r>
              <a:rPr lang="en-US" altLang="en-US" dirty="0" smtClean="0"/>
              <a:t>Discretization</a:t>
            </a:r>
          </a:p>
          <a:p>
            <a:r>
              <a:rPr lang="en-US" altLang="en-US" sz="2400" dirty="0" smtClean="0"/>
              <a:t>Data reduction</a:t>
            </a:r>
          </a:p>
          <a:p>
            <a:pPr lvl="1"/>
            <a:r>
              <a:rPr lang="en-US" altLang="en-US" dirty="0"/>
              <a:t>Feature selection</a:t>
            </a:r>
          </a:p>
          <a:p>
            <a:pPr lvl="1"/>
            <a:r>
              <a:rPr lang="en-US" altLang="en-US" dirty="0" smtClean="0"/>
              <a:t>Data sampling</a:t>
            </a:r>
          </a:p>
          <a:p>
            <a:r>
              <a:rPr lang="en-US" altLang="en-US" sz="2400" b="1" dirty="0">
                <a:solidFill>
                  <a:srgbClr val="FFFF00"/>
                </a:solidFill>
              </a:rPr>
              <a:t>Introduction to R language</a:t>
            </a:r>
          </a:p>
          <a:p>
            <a:pPr lvl="1"/>
            <a:r>
              <a:rPr lang="en-US" altLang="en-US" dirty="0"/>
              <a:t>Principles of R</a:t>
            </a:r>
          </a:p>
          <a:p>
            <a:pPr lvl="1"/>
            <a:r>
              <a:rPr lang="en-US" altLang="en-US" dirty="0"/>
              <a:t>Working with </a:t>
            </a:r>
            <a:r>
              <a:rPr lang="en-US" altLang="en-US" dirty="0" smtClean="0"/>
              <a:t>R</a:t>
            </a:r>
          </a:p>
          <a:p>
            <a:pPr lvl="1"/>
            <a:r>
              <a:rPr lang="en-US" altLang="en-US" dirty="0"/>
              <a:t>Data preprocessing with </a:t>
            </a:r>
            <a:r>
              <a:rPr lang="en-US" altLang="en-US" dirty="0" smtClean="0"/>
              <a:t>R</a:t>
            </a:r>
            <a:endParaRPr lang="en-US" altLang="en-US" dirty="0"/>
          </a:p>
          <a:p>
            <a:pPr lvl="1"/>
            <a:endParaRPr lang="en-US" altLang="en-US" dirty="0"/>
          </a:p>
        </p:txBody>
      </p:sp>
    </p:spTree>
    <p:extLst>
      <p:ext uri="{BB962C8B-B14F-4D97-AF65-F5344CB8AC3E}">
        <p14:creationId xmlns:p14="http://schemas.microsoft.com/office/powerpoint/2010/main" val="27364974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74</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Introduction to R Language</a:t>
            </a:r>
          </a:p>
        </p:txBody>
      </p:sp>
      <p:sp>
        <p:nvSpPr>
          <p:cNvPr id="8198" name="Rectangle 3"/>
          <p:cNvSpPr>
            <a:spLocks noGrp="1" noChangeArrowheads="1"/>
          </p:cNvSpPr>
          <p:nvPr>
            <p:ph type="body" idx="1"/>
          </p:nvPr>
        </p:nvSpPr>
        <p:spPr>
          <a:xfrm>
            <a:off x="1752600" y="1524000"/>
            <a:ext cx="8686800" cy="4556760"/>
          </a:xfrm>
        </p:spPr>
        <p:txBody>
          <a:bodyPr>
            <a:normAutofit fontScale="70000" lnSpcReduction="20000"/>
          </a:bodyPr>
          <a:lstStyle/>
          <a:p>
            <a:r>
              <a:rPr lang="en-US" dirty="0" smtClean="0"/>
              <a:t>R </a:t>
            </a:r>
            <a:r>
              <a:rPr lang="en-US" dirty="0"/>
              <a:t>is a computation, graphic, and open source programming environment for statistical analysis and </a:t>
            </a:r>
            <a:r>
              <a:rPr lang="en-US" dirty="0" smtClean="0"/>
              <a:t>data science applications</a:t>
            </a:r>
            <a:r>
              <a:rPr lang="en-US" dirty="0"/>
              <a:t>. </a:t>
            </a:r>
            <a:endParaRPr lang="en-US" dirty="0" smtClean="0"/>
          </a:p>
          <a:p>
            <a:endParaRPr lang="en-US" dirty="0"/>
          </a:p>
          <a:p>
            <a:r>
              <a:rPr lang="en-US" dirty="0" smtClean="0"/>
              <a:t>R </a:t>
            </a:r>
            <a:r>
              <a:rPr lang="en-US" dirty="0"/>
              <a:t>comprises a set of functions for statistical analysis and graphics, </a:t>
            </a:r>
            <a:r>
              <a:rPr lang="en-US" dirty="0" smtClean="0"/>
              <a:t>a programming </a:t>
            </a:r>
            <a:r>
              <a:rPr lang="en-US" dirty="0"/>
              <a:t>language, a run-time interpreter, a debugger, </a:t>
            </a:r>
            <a:r>
              <a:rPr lang="en-US" dirty="0" smtClean="0"/>
              <a:t/>
            </a:r>
            <a:br>
              <a:rPr lang="en-US" dirty="0" smtClean="0"/>
            </a:br>
            <a:r>
              <a:rPr lang="en-US" dirty="0" smtClean="0"/>
              <a:t>numerous </a:t>
            </a:r>
            <a:r>
              <a:rPr lang="en-US" dirty="0"/>
              <a:t>add-on packages, and script files</a:t>
            </a:r>
            <a:r>
              <a:rPr lang="en-US" dirty="0" smtClean="0"/>
              <a:t>.</a:t>
            </a:r>
          </a:p>
          <a:p>
            <a:endParaRPr lang="en-US" dirty="0"/>
          </a:p>
          <a:p>
            <a:r>
              <a:rPr lang="en-US" dirty="0" smtClean="0"/>
              <a:t>Packages </a:t>
            </a:r>
            <a:r>
              <a:rPr lang="en-US" dirty="0"/>
              <a:t>provide added functionality and allow for extensibility </a:t>
            </a:r>
            <a:r>
              <a:rPr lang="en-US" dirty="0" smtClean="0"/>
              <a:t/>
            </a:r>
            <a:br>
              <a:rPr lang="en-US" dirty="0" smtClean="0"/>
            </a:br>
            <a:r>
              <a:rPr lang="en-US" dirty="0" smtClean="0"/>
              <a:t>of </a:t>
            </a:r>
            <a:r>
              <a:rPr lang="en-US" dirty="0"/>
              <a:t>the language functionality since any researcher can contribute </a:t>
            </a:r>
            <a:r>
              <a:rPr lang="en-US" dirty="0" smtClean="0"/>
              <a:t/>
            </a:r>
            <a:br>
              <a:rPr lang="en-US" dirty="0" smtClean="0"/>
            </a:br>
            <a:r>
              <a:rPr lang="en-US" dirty="0" smtClean="0"/>
              <a:t>a </a:t>
            </a:r>
            <a:r>
              <a:rPr lang="en-US" dirty="0"/>
              <a:t>package to R. </a:t>
            </a:r>
            <a:endParaRPr lang="en-US" dirty="0" smtClean="0"/>
          </a:p>
          <a:p>
            <a:pPr marL="0" indent="0">
              <a:buNone/>
            </a:pPr>
            <a:endParaRPr lang="en-US" dirty="0" smtClean="0"/>
          </a:p>
          <a:p>
            <a:r>
              <a:rPr lang="en-US" dirty="0" smtClean="0"/>
              <a:t>In </a:t>
            </a:r>
            <a:r>
              <a:rPr lang="en-US" dirty="0"/>
              <a:t>terms of programming language, R’ syntax is close to that of Scheme. </a:t>
            </a:r>
            <a:endParaRPr lang="en-US" dirty="0" smtClean="0"/>
          </a:p>
          <a:p>
            <a:endParaRPr lang="en-US" dirty="0"/>
          </a:p>
          <a:p>
            <a:r>
              <a:rPr lang="en-US" dirty="0" smtClean="0"/>
              <a:t>Developed </a:t>
            </a:r>
            <a:r>
              <a:rPr lang="en-US" dirty="0"/>
              <a:t>originally by </a:t>
            </a:r>
            <a:r>
              <a:rPr lang="en-US" sz="2900" dirty="0"/>
              <a:t>Ross Ihaka </a:t>
            </a:r>
            <a:r>
              <a:rPr lang="en-US" dirty="0"/>
              <a:t>and Robert Gentleman at the University of Auckland in New Zealand, it is now maintained by the “R core group” (</a:t>
            </a:r>
            <a:r>
              <a:rPr lang="en-US" u="sng" dirty="0">
                <a:hlinkClick r:id="rId2"/>
              </a:rPr>
              <a:t>http://www.R-project.org</a:t>
            </a:r>
            <a:r>
              <a:rPr lang="en-US" dirty="0"/>
              <a:t>).</a:t>
            </a:r>
            <a:endParaRPr lang="en-US" altLang="en-US" dirty="0" smtClean="0"/>
          </a:p>
        </p:txBody>
      </p:sp>
      <p:pic>
        <p:nvPicPr>
          <p:cNvPr id="2050" name="Picture 2" descr="http://bioinfotraining.bio.cam.ac.uk/images/Rlogo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55302" y="2693002"/>
            <a:ext cx="2442585" cy="18529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44952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75</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70000" lnSpcReduction="2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altLang="en-US" sz="2400" dirty="0" smtClean="0"/>
              <a:t>Locating and downloading datasets</a:t>
            </a:r>
          </a:p>
          <a:p>
            <a:pPr lvl="1"/>
            <a:r>
              <a:rPr lang="en-US" altLang="en-US" dirty="0" smtClean="0"/>
              <a:t>Datasets and files</a:t>
            </a:r>
          </a:p>
          <a:p>
            <a:pPr lvl="1"/>
            <a:r>
              <a:rPr lang="en-US" altLang="en-US" dirty="0" smtClean="0"/>
              <a:t>Data sources</a:t>
            </a:r>
            <a:endParaRPr lang="en-US" altLang="en-US" dirty="0"/>
          </a:p>
          <a:p>
            <a:r>
              <a:rPr lang="en-US" altLang="en-US" sz="2400" dirty="0" smtClean="0"/>
              <a:t>Data preprocessing</a:t>
            </a:r>
            <a:endParaRPr lang="en-US" altLang="en-US" sz="2400" dirty="0"/>
          </a:p>
          <a:p>
            <a:pPr lvl="1"/>
            <a:r>
              <a:rPr lang="en-US" altLang="en-US" dirty="0" smtClean="0"/>
              <a:t>Importance of data preprocessing</a:t>
            </a:r>
            <a:endParaRPr lang="en-US" altLang="en-US" dirty="0"/>
          </a:p>
          <a:p>
            <a:pPr lvl="1"/>
            <a:r>
              <a:rPr lang="en-US" altLang="en-US" dirty="0" smtClean="0"/>
              <a:t>Data preprocessing tasks</a:t>
            </a:r>
            <a:endParaRPr lang="en-US" altLang="en-US" dirty="0"/>
          </a:p>
          <a:p>
            <a:r>
              <a:rPr lang="en-US" altLang="en-US" sz="2400" dirty="0" smtClean="0"/>
              <a:t>Missing values</a:t>
            </a:r>
          </a:p>
          <a:p>
            <a:pPr lvl="1"/>
            <a:r>
              <a:rPr lang="en-US" altLang="en-US" dirty="0" smtClean="0"/>
              <a:t>Replacing missing values</a:t>
            </a:r>
          </a:p>
          <a:p>
            <a:r>
              <a:rPr lang="en-US" altLang="en-US" sz="2400" dirty="0" smtClean="0"/>
              <a:t>Normalizing and discretizing data</a:t>
            </a:r>
          </a:p>
          <a:p>
            <a:pPr lvl="1"/>
            <a:r>
              <a:rPr lang="en-US" altLang="en-US" dirty="0" smtClean="0"/>
              <a:t>Data normalization</a:t>
            </a:r>
          </a:p>
          <a:p>
            <a:pPr lvl="1"/>
            <a:r>
              <a:rPr lang="en-US" altLang="en-US" dirty="0" smtClean="0"/>
              <a:t>Discretization</a:t>
            </a:r>
          </a:p>
          <a:p>
            <a:r>
              <a:rPr lang="en-US" altLang="en-US" sz="2400" dirty="0" smtClean="0"/>
              <a:t>Data reduction</a:t>
            </a:r>
          </a:p>
          <a:p>
            <a:pPr lvl="1"/>
            <a:r>
              <a:rPr lang="en-US" altLang="en-US" dirty="0"/>
              <a:t>Feature selection</a:t>
            </a:r>
          </a:p>
          <a:p>
            <a:pPr lvl="1"/>
            <a:r>
              <a:rPr lang="en-US" altLang="en-US" dirty="0" smtClean="0"/>
              <a:t>Data sampling</a:t>
            </a:r>
          </a:p>
          <a:p>
            <a:r>
              <a:rPr lang="en-US" altLang="en-US" sz="2400" dirty="0"/>
              <a:t>Introduction to R language</a:t>
            </a:r>
          </a:p>
          <a:p>
            <a:pPr lvl="1"/>
            <a:r>
              <a:rPr lang="en-US" altLang="en-US" b="1" dirty="0">
                <a:solidFill>
                  <a:srgbClr val="FFFF00"/>
                </a:solidFill>
              </a:rPr>
              <a:t>Principles of R</a:t>
            </a:r>
          </a:p>
          <a:p>
            <a:pPr lvl="1"/>
            <a:r>
              <a:rPr lang="en-US" altLang="en-US" dirty="0"/>
              <a:t>Working with </a:t>
            </a:r>
            <a:r>
              <a:rPr lang="en-US" altLang="en-US" dirty="0" smtClean="0"/>
              <a:t>R</a:t>
            </a:r>
          </a:p>
          <a:p>
            <a:pPr lvl="1"/>
            <a:r>
              <a:rPr lang="en-US" altLang="en-US" dirty="0"/>
              <a:t>Data preprocessing with </a:t>
            </a:r>
            <a:r>
              <a:rPr lang="en-US" altLang="en-US" dirty="0" smtClean="0"/>
              <a:t>R</a:t>
            </a:r>
            <a:endParaRPr lang="en-US" altLang="en-US" dirty="0"/>
          </a:p>
          <a:p>
            <a:pPr lvl="1"/>
            <a:endParaRPr lang="en-US" altLang="en-US" dirty="0"/>
          </a:p>
        </p:txBody>
      </p:sp>
    </p:spTree>
    <p:extLst>
      <p:ext uri="{BB962C8B-B14F-4D97-AF65-F5344CB8AC3E}">
        <p14:creationId xmlns:p14="http://schemas.microsoft.com/office/powerpoint/2010/main" val="38960826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76</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Principles of R</a:t>
            </a:r>
          </a:p>
        </p:txBody>
      </p:sp>
      <p:sp>
        <p:nvSpPr>
          <p:cNvPr id="8198" name="Rectangle 3"/>
          <p:cNvSpPr>
            <a:spLocks noGrp="1" noChangeArrowheads="1"/>
          </p:cNvSpPr>
          <p:nvPr>
            <p:ph type="body" idx="1"/>
          </p:nvPr>
        </p:nvSpPr>
        <p:spPr>
          <a:xfrm>
            <a:off x="1752600" y="1228621"/>
            <a:ext cx="8686800" cy="5277058"/>
          </a:xfrm>
        </p:spPr>
        <p:txBody>
          <a:bodyPr>
            <a:normAutofit fontScale="92500" lnSpcReduction="20000"/>
          </a:bodyPr>
          <a:lstStyle/>
          <a:p>
            <a:r>
              <a:rPr lang="en-US" b="1" u="sng" dirty="0"/>
              <a:t>Installation.</a:t>
            </a:r>
            <a:r>
              <a:rPr lang="en-US" b="1" dirty="0"/>
              <a:t> </a:t>
            </a:r>
            <a:r>
              <a:rPr lang="en-US" dirty="0" smtClean="0"/>
              <a:t>Installers can be downloaded from </a:t>
            </a:r>
            <a:r>
              <a:rPr lang="en-US" dirty="0"/>
              <a:t>a mirror listed on </a:t>
            </a:r>
            <a:r>
              <a:rPr lang="en-US" dirty="0">
                <a:hlinkClick r:id="rId2"/>
              </a:rPr>
              <a:t>https://</a:t>
            </a:r>
            <a:r>
              <a:rPr lang="en-US" dirty="0" smtClean="0">
                <a:hlinkClick r:id="rId2"/>
              </a:rPr>
              <a:t>cran.r-project.org/mirrors.html</a:t>
            </a:r>
            <a:r>
              <a:rPr lang="en-US" dirty="0" smtClean="0"/>
              <a:t>. Installation </a:t>
            </a:r>
            <a:r>
              <a:rPr lang="en-US" dirty="0"/>
              <a:t>is automatic by double-clicking on the installer. Installation requirements are about 50Mb of disk </a:t>
            </a:r>
            <a:r>
              <a:rPr lang="en-US" dirty="0" smtClean="0"/>
              <a:t>space.</a:t>
            </a:r>
            <a:endParaRPr lang="en-US" dirty="0"/>
          </a:p>
          <a:p>
            <a:r>
              <a:rPr lang="en-US" b="1" u="sng" dirty="0"/>
              <a:t>Configuration.</a:t>
            </a:r>
            <a:r>
              <a:rPr lang="en-US" dirty="0"/>
              <a:t> User should select a working directory and memory size, which will contain all files input or output with R. This can be done from the desktop shortcut to R, through the </a:t>
            </a:r>
            <a:r>
              <a:rPr lang="en-US" dirty="0" smtClean="0"/>
              <a:t>properties:</a:t>
            </a:r>
            <a:endParaRPr lang="en-US" dirty="0"/>
          </a:p>
          <a:p>
            <a:pPr lvl="0"/>
            <a:r>
              <a:rPr lang="en-US" dirty="0"/>
              <a:t>Change the working directory under </a:t>
            </a:r>
            <a:r>
              <a:rPr lang="en-US" dirty="0" smtClean="0"/>
              <a:t>Start-in (Windows). </a:t>
            </a:r>
            <a:r>
              <a:rPr lang="en-US" dirty="0"/>
              <a:t>This is the directory from which R will read, or into which R will write, by default.</a:t>
            </a:r>
          </a:p>
          <a:p>
            <a:pPr lvl="0"/>
            <a:r>
              <a:rPr lang="en-US" dirty="0"/>
              <a:t>Change the memory size by adding at the end of Target the number of Gb wanted: --max-mem-size=3G</a:t>
            </a:r>
            <a:r>
              <a:rPr lang="en-US" dirty="0" smtClean="0"/>
              <a:t>. The memory limit varies depending on the available memory and the operating system.</a:t>
            </a:r>
            <a:endParaRPr lang="en-US" dirty="0" smtClean="0"/>
          </a:p>
          <a:p>
            <a:pPr lvl="0"/>
            <a:r>
              <a:rPr lang="en-US" dirty="0" smtClean="0"/>
              <a:t>Some useful tools: </a:t>
            </a:r>
            <a:r>
              <a:rPr lang="en-US" dirty="0" err="1" smtClean="0"/>
              <a:t>Rgui</a:t>
            </a:r>
            <a:r>
              <a:rPr lang="en-US" dirty="0" smtClean="0"/>
              <a:t>, </a:t>
            </a:r>
            <a:r>
              <a:rPr lang="en-US" dirty="0" err="1" smtClean="0"/>
              <a:t>Rstudio</a:t>
            </a:r>
            <a:r>
              <a:rPr lang="en-US" dirty="0" smtClean="0"/>
              <a:t>, notepad++.</a:t>
            </a:r>
            <a:endParaRPr lang="en-US" dirty="0"/>
          </a:p>
          <a:p>
            <a:endParaRPr lang="en-US" altLang="en-US" dirty="0" smtClean="0"/>
          </a:p>
        </p:txBody>
      </p:sp>
    </p:spTree>
    <p:extLst>
      <p:ext uri="{BB962C8B-B14F-4D97-AF65-F5344CB8AC3E}">
        <p14:creationId xmlns:p14="http://schemas.microsoft.com/office/powerpoint/2010/main" val="35042819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77</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Principles of R</a:t>
            </a:r>
          </a:p>
        </p:txBody>
      </p:sp>
      <p:sp>
        <p:nvSpPr>
          <p:cNvPr id="8198" name="Rectangle 3"/>
          <p:cNvSpPr>
            <a:spLocks noGrp="1" noChangeArrowheads="1"/>
          </p:cNvSpPr>
          <p:nvPr>
            <p:ph type="body" idx="1"/>
          </p:nvPr>
        </p:nvSpPr>
        <p:spPr>
          <a:xfrm>
            <a:off x="1752600" y="1524000"/>
            <a:ext cx="8686800" cy="4114800"/>
          </a:xfrm>
        </p:spPr>
        <p:txBody>
          <a:bodyPr>
            <a:normAutofit fontScale="70000" lnSpcReduction="20000"/>
          </a:bodyPr>
          <a:lstStyle/>
          <a:p>
            <a:r>
              <a:rPr lang="en-US" b="1" u="sng" dirty="0"/>
              <a:t>Running.</a:t>
            </a:r>
            <a:r>
              <a:rPr lang="en-US" dirty="0"/>
              <a:t> Double-clicking on the desktop shortcut or selecting from the start menu R will open R </a:t>
            </a:r>
            <a:r>
              <a:rPr lang="en-US" dirty="0" smtClean="0"/>
              <a:t>window.</a:t>
            </a:r>
            <a:endParaRPr lang="en-US" dirty="0"/>
          </a:p>
          <a:p>
            <a:r>
              <a:rPr lang="en-US" b="1" u="sng" dirty="0"/>
              <a:t>Documentation.</a:t>
            </a:r>
            <a:r>
              <a:rPr lang="en-US" dirty="0"/>
              <a:t> Important documents for getting started with R are the following:</a:t>
            </a:r>
          </a:p>
          <a:p>
            <a:pPr lvl="0"/>
            <a:r>
              <a:rPr lang="en-US" dirty="0"/>
              <a:t>An FAQ for R for Windows is available from </a:t>
            </a:r>
            <a:r>
              <a:rPr lang="en-US" u="sng" dirty="0">
                <a:hlinkClick r:id="rId2"/>
              </a:rPr>
              <a:t>http://cran.r-project.org/bin/windows/base/rw-FAQ.html</a:t>
            </a:r>
            <a:r>
              <a:rPr lang="en-US" dirty="0"/>
              <a:t>.</a:t>
            </a:r>
          </a:p>
          <a:p>
            <a:pPr lvl="0"/>
            <a:r>
              <a:rPr lang="en-US" dirty="0"/>
              <a:t>An FAQ for R is available from </a:t>
            </a:r>
            <a:r>
              <a:rPr lang="en-US" u="sng" dirty="0">
                <a:hlinkClick r:id="rId3"/>
              </a:rPr>
              <a:t>http://cran.r-project.org/doc/FAQ/R-FAQ.html</a:t>
            </a:r>
            <a:r>
              <a:rPr lang="en-US" dirty="0"/>
              <a:t>.</a:t>
            </a:r>
          </a:p>
          <a:p>
            <a:pPr lvl="0"/>
            <a:r>
              <a:rPr lang="en-US" dirty="0"/>
              <a:t>The user guide of R is entitled “Using R for Data Analysis and Graphics” and is available from: </a:t>
            </a:r>
            <a:r>
              <a:rPr lang="en-US" u="sng" dirty="0">
                <a:hlinkClick r:id="rId4"/>
              </a:rPr>
              <a:t>http://cran.r-project.org/doc/contrib/usingR.pdf</a:t>
            </a:r>
            <a:r>
              <a:rPr lang="en-US" dirty="0"/>
              <a:t>.</a:t>
            </a:r>
          </a:p>
          <a:p>
            <a:pPr lvl="0"/>
            <a:r>
              <a:rPr lang="en-US" dirty="0"/>
              <a:t>Other documents are available from the documentation section of </a:t>
            </a:r>
            <a:r>
              <a:rPr lang="en-US" u="sng" dirty="0">
                <a:hlinkClick r:id="rId5"/>
              </a:rPr>
              <a:t>http://cran.fhcrc.org/</a:t>
            </a:r>
            <a:r>
              <a:rPr lang="en-US" dirty="0"/>
              <a:t>.</a:t>
            </a:r>
          </a:p>
          <a:p>
            <a:pPr lvl="0"/>
            <a:r>
              <a:rPr lang="en-US" dirty="0"/>
              <a:t>Online documentation is available from R itself through </a:t>
            </a:r>
            <a:r>
              <a:rPr lang="en-US" i="1" dirty="0"/>
              <a:t>help(name)</a:t>
            </a:r>
            <a:r>
              <a:rPr lang="en-US" dirty="0"/>
              <a:t> or </a:t>
            </a:r>
            <a:r>
              <a:rPr lang="en-US" i="1" dirty="0"/>
              <a:t>?name</a:t>
            </a:r>
            <a:r>
              <a:rPr lang="en-US" dirty="0"/>
              <a:t>.</a:t>
            </a:r>
          </a:p>
        </p:txBody>
      </p:sp>
    </p:spTree>
    <p:extLst>
      <p:ext uri="{BB962C8B-B14F-4D97-AF65-F5344CB8AC3E}">
        <p14:creationId xmlns:p14="http://schemas.microsoft.com/office/powerpoint/2010/main" val="36956536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78</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Principles of R</a:t>
            </a:r>
          </a:p>
        </p:txBody>
      </p:sp>
      <p:sp>
        <p:nvSpPr>
          <p:cNvPr id="8198" name="Rectangle 3"/>
          <p:cNvSpPr>
            <a:spLocks noGrp="1" noChangeArrowheads="1"/>
          </p:cNvSpPr>
          <p:nvPr>
            <p:ph type="body" idx="1"/>
          </p:nvPr>
        </p:nvSpPr>
        <p:spPr>
          <a:xfrm>
            <a:off x="1752600" y="1524000"/>
            <a:ext cx="8686800" cy="4114800"/>
          </a:xfrm>
        </p:spPr>
        <p:txBody>
          <a:bodyPr>
            <a:normAutofit lnSpcReduction="10000"/>
          </a:bodyPr>
          <a:lstStyle/>
          <a:p>
            <a:r>
              <a:rPr lang="en-US" b="1" u="sng" dirty="0"/>
              <a:t>Important commands.</a:t>
            </a:r>
            <a:r>
              <a:rPr lang="en-US" dirty="0"/>
              <a:t> Some important commands include</a:t>
            </a:r>
            <a:r>
              <a:rPr lang="en-US" dirty="0" smtClean="0"/>
              <a:t>:</a:t>
            </a:r>
          </a:p>
          <a:p>
            <a:pPr marL="0" indent="0">
              <a:buNone/>
            </a:pPr>
            <a:endParaRPr lang="en-US" dirty="0"/>
          </a:p>
          <a:p>
            <a:pPr marL="457200" lvl="1" indent="0">
              <a:buNone/>
            </a:pPr>
            <a:r>
              <a:rPr lang="en-US" dirty="0"/>
              <a:t>ls() to list the content of the memory.</a:t>
            </a:r>
          </a:p>
          <a:p>
            <a:pPr marL="457200" lvl="1" indent="0">
              <a:buNone/>
            </a:pPr>
            <a:r>
              <a:rPr lang="en-US" dirty="0" err="1"/>
              <a:t>rm</a:t>
            </a:r>
            <a:r>
              <a:rPr lang="en-US" dirty="0"/>
              <a:t>() to empty the memory.</a:t>
            </a:r>
          </a:p>
          <a:p>
            <a:pPr marL="457200" lvl="1" indent="0">
              <a:buNone/>
            </a:pPr>
            <a:r>
              <a:rPr lang="en-US" dirty="0" err="1"/>
              <a:t>rm</a:t>
            </a:r>
            <a:r>
              <a:rPr lang="en-US" dirty="0"/>
              <a:t>(object) to remove an object from memory.</a:t>
            </a:r>
          </a:p>
          <a:p>
            <a:pPr marL="457200" lvl="1" indent="0">
              <a:buNone/>
            </a:pPr>
            <a:r>
              <a:rPr lang="en-US" dirty="0"/>
              <a:t>q() to quit.</a:t>
            </a:r>
          </a:p>
          <a:p>
            <a:pPr marL="457200" lvl="1" indent="0">
              <a:buNone/>
            </a:pPr>
            <a:r>
              <a:rPr lang="en-US" dirty="0"/>
              <a:t>summary(object) to display summary characteristics of an object.</a:t>
            </a:r>
          </a:p>
          <a:p>
            <a:pPr marL="457200" lvl="1" indent="0">
              <a:buNone/>
            </a:pPr>
            <a:r>
              <a:rPr lang="en-US" dirty="0"/>
              <a:t>class(object) to display the class (type) of an object.</a:t>
            </a:r>
          </a:p>
          <a:p>
            <a:pPr marL="457200" lvl="1" indent="0">
              <a:buNone/>
            </a:pPr>
            <a:r>
              <a:rPr lang="en-US" dirty="0"/>
              <a:t> </a:t>
            </a:r>
          </a:p>
          <a:p>
            <a:pPr marL="0" indent="0">
              <a:buNone/>
            </a:pPr>
            <a:endParaRPr lang="en-US" altLang="en-US" dirty="0" smtClean="0"/>
          </a:p>
        </p:txBody>
      </p:sp>
    </p:spTree>
    <p:extLst>
      <p:ext uri="{BB962C8B-B14F-4D97-AF65-F5344CB8AC3E}">
        <p14:creationId xmlns:p14="http://schemas.microsoft.com/office/powerpoint/2010/main" val="22304168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79</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Principles of R</a:t>
            </a:r>
          </a:p>
        </p:txBody>
      </p:sp>
      <p:sp>
        <p:nvSpPr>
          <p:cNvPr id="8198" name="Rectangle 3"/>
          <p:cNvSpPr>
            <a:spLocks noGrp="1" noChangeArrowheads="1"/>
          </p:cNvSpPr>
          <p:nvPr>
            <p:ph type="body" idx="1"/>
          </p:nvPr>
        </p:nvSpPr>
        <p:spPr>
          <a:xfrm>
            <a:off x="1752600" y="1524000"/>
            <a:ext cx="8686800" cy="4114800"/>
          </a:xfrm>
        </p:spPr>
        <p:txBody>
          <a:bodyPr>
            <a:normAutofit fontScale="85000" lnSpcReduction="10000"/>
          </a:bodyPr>
          <a:lstStyle/>
          <a:p>
            <a:r>
              <a:rPr lang="en-US" dirty="0"/>
              <a:t>Packages are libraries of functions to use in addition to the standard functions. They need to be loaded specifically. There are two types of packages:</a:t>
            </a:r>
          </a:p>
          <a:p>
            <a:pPr lvl="0"/>
            <a:r>
              <a:rPr lang="en-US" dirty="0"/>
              <a:t>Standard packages, which can be </a:t>
            </a:r>
            <a:r>
              <a:rPr lang="en-US" dirty="0" smtClean="0"/>
              <a:t>installed</a:t>
            </a:r>
            <a:r>
              <a:rPr lang="en-US" dirty="0" smtClean="0"/>
              <a:t> </a:t>
            </a:r>
            <a:r>
              <a:rPr lang="en-US" dirty="0"/>
              <a:t>from the </a:t>
            </a:r>
            <a:r>
              <a:rPr lang="en-US" i="1" dirty="0"/>
              <a:t>Package</a:t>
            </a:r>
            <a:r>
              <a:rPr lang="en-US" dirty="0"/>
              <a:t> </a:t>
            </a:r>
            <a:r>
              <a:rPr lang="en-US" dirty="0" smtClean="0"/>
              <a:t>menu, </a:t>
            </a:r>
            <a:r>
              <a:rPr lang="en-US" dirty="0"/>
              <a:t>choosing </a:t>
            </a:r>
            <a:r>
              <a:rPr lang="en-US" i="1" dirty="0"/>
              <a:t>Load package </a:t>
            </a:r>
            <a:r>
              <a:rPr lang="en-US" i="1" dirty="0" smtClean="0"/>
              <a:t>in the graphical user interface (GUI)</a:t>
            </a:r>
            <a:r>
              <a:rPr lang="en-US" dirty="0" smtClean="0"/>
              <a:t>.</a:t>
            </a:r>
          </a:p>
          <a:p>
            <a:pPr lvl="0"/>
            <a:r>
              <a:rPr lang="en-US" dirty="0" smtClean="0"/>
              <a:t>Packages </a:t>
            </a:r>
            <a:r>
              <a:rPr lang="en-US" dirty="0"/>
              <a:t>to </a:t>
            </a:r>
            <a:r>
              <a:rPr lang="en-US" dirty="0" smtClean="0"/>
              <a:t>install</a:t>
            </a:r>
            <a:r>
              <a:rPr lang="en-US" dirty="0" smtClean="0"/>
              <a:t> </a:t>
            </a:r>
            <a:r>
              <a:rPr lang="en-US" dirty="0"/>
              <a:t>from a local zip file, which can be </a:t>
            </a:r>
            <a:r>
              <a:rPr lang="en-US" dirty="0" smtClean="0"/>
              <a:t>installed</a:t>
            </a:r>
            <a:r>
              <a:rPr lang="en-US" dirty="0" smtClean="0"/>
              <a:t> </a:t>
            </a:r>
            <a:r>
              <a:rPr lang="en-US" dirty="0"/>
              <a:t>from the </a:t>
            </a:r>
            <a:r>
              <a:rPr lang="en-US" i="1" dirty="0"/>
              <a:t>Package</a:t>
            </a:r>
            <a:r>
              <a:rPr lang="en-US" dirty="0"/>
              <a:t> </a:t>
            </a:r>
            <a:r>
              <a:rPr lang="en-US" dirty="0" smtClean="0"/>
              <a:t>menu, </a:t>
            </a:r>
            <a:r>
              <a:rPr lang="en-US" dirty="0"/>
              <a:t>choosing </a:t>
            </a:r>
            <a:r>
              <a:rPr lang="en-US" i="1" dirty="0"/>
              <a:t>Install </a:t>
            </a:r>
            <a:r>
              <a:rPr lang="en-US" i="1" dirty="0" smtClean="0"/>
              <a:t>package(s</a:t>
            </a:r>
            <a:r>
              <a:rPr lang="en-US" i="1" dirty="0"/>
              <a:t>) from local zip files…</a:t>
            </a:r>
            <a:r>
              <a:rPr lang="en-US" dirty="0"/>
              <a:t>, which proposes to load a zipped package from the working directory. </a:t>
            </a:r>
            <a:endParaRPr lang="en-US" dirty="0" smtClean="0"/>
          </a:p>
          <a:p>
            <a:pPr lvl="0"/>
            <a:r>
              <a:rPr lang="en-US" dirty="0" smtClean="0"/>
              <a:t>Packages can also be </a:t>
            </a:r>
            <a:r>
              <a:rPr lang="en-US" dirty="0" smtClean="0"/>
              <a:t>installed</a:t>
            </a:r>
            <a:r>
              <a:rPr lang="en-US" dirty="0" smtClean="0"/>
              <a:t> </a:t>
            </a:r>
            <a:r>
              <a:rPr lang="en-US" dirty="0" smtClean="0"/>
              <a:t>with </a:t>
            </a:r>
            <a:r>
              <a:rPr lang="en-US" dirty="0" err="1" smtClean="0"/>
              <a:t>install.packages</a:t>
            </a:r>
            <a:r>
              <a:rPr lang="en-US" dirty="0" smtClean="0"/>
              <a:t>().</a:t>
            </a:r>
          </a:p>
          <a:p>
            <a:pPr lvl="0"/>
            <a:r>
              <a:rPr lang="en-US" dirty="0" smtClean="0"/>
              <a:t>Once packages are </a:t>
            </a:r>
            <a:r>
              <a:rPr lang="en-US" dirty="0" smtClean="0"/>
              <a:t>installed</a:t>
            </a:r>
            <a:r>
              <a:rPr lang="en-US" dirty="0" smtClean="0"/>
              <a:t>, </a:t>
            </a:r>
            <a:r>
              <a:rPr lang="en-US" dirty="0" smtClean="0"/>
              <a:t>they can be loaded with library().</a:t>
            </a:r>
            <a:endParaRPr lang="en-US" dirty="0"/>
          </a:p>
        </p:txBody>
      </p:sp>
    </p:spTree>
    <p:extLst>
      <p:ext uri="{BB962C8B-B14F-4D97-AF65-F5344CB8AC3E}">
        <p14:creationId xmlns:p14="http://schemas.microsoft.com/office/powerpoint/2010/main" val="340505275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80</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70000" lnSpcReduction="2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altLang="en-US" sz="2400" dirty="0" smtClean="0"/>
              <a:t>Locating and downloading datasets</a:t>
            </a:r>
          </a:p>
          <a:p>
            <a:pPr lvl="1"/>
            <a:r>
              <a:rPr lang="en-US" altLang="en-US" dirty="0" smtClean="0"/>
              <a:t>Datasets and files</a:t>
            </a:r>
          </a:p>
          <a:p>
            <a:pPr lvl="1"/>
            <a:r>
              <a:rPr lang="en-US" altLang="en-US" dirty="0" smtClean="0"/>
              <a:t>Data sources</a:t>
            </a:r>
            <a:endParaRPr lang="en-US" altLang="en-US" dirty="0"/>
          </a:p>
          <a:p>
            <a:r>
              <a:rPr lang="en-US" altLang="en-US" sz="2400" dirty="0" smtClean="0"/>
              <a:t>Data preprocessing</a:t>
            </a:r>
            <a:endParaRPr lang="en-US" altLang="en-US" sz="2400" dirty="0"/>
          </a:p>
          <a:p>
            <a:pPr lvl="1"/>
            <a:r>
              <a:rPr lang="en-US" altLang="en-US" dirty="0" smtClean="0"/>
              <a:t>Importance of data preprocessing</a:t>
            </a:r>
            <a:endParaRPr lang="en-US" altLang="en-US" dirty="0"/>
          </a:p>
          <a:p>
            <a:pPr lvl="1"/>
            <a:r>
              <a:rPr lang="en-US" altLang="en-US" dirty="0" smtClean="0"/>
              <a:t>Data preprocessing tasks</a:t>
            </a:r>
            <a:endParaRPr lang="en-US" altLang="en-US" dirty="0"/>
          </a:p>
          <a:p>
            <a:r>
              <a:rPr lang="en-US" altLang="en-US" sz="2400" dirty="0" smtClean="0"/>
              <a:t>Missing values</a:t>
            </a:r>
          </a:p>
          <a:p>
            <a:pPr lvl="1"/>
            <a:r>
              <a:rPr lang="en-US" altLang="en-US" dirty="0" smtClean="0"/>
              <a:t>Replacing missing values</a:t>
            </a:r>
          </a:p>
          <a:p>
            <a:r>
              <a:rPr lang="en-US" altLang="en-US" sz="2400" dirty="0" smtClean="0"/>
              <a:t>Normalizing and discretizing data</a:t>
            </a:r>
          </a:p>
          <a:p>
            <a:pPr lvl="1"/>
            <a:r>
              <a:rPr lang="en-US" altLang="en-US" dirty="0" smtClean="0"/>
              <a:t>Data normalization</a:t>
            </a:r>
          </a:p>
          <a:p>
            <a:pPr lvl="1"/>
            <a:r>
              <a:rPr lang="en-US" altLang="en-US" dirty="0" smtClean="0"/>
              <a:t>Discretization</a:t>
            </a:r>
          </a:p>
          <a:p>
            <a:r>
              <a:rPr lang="en-US" altLang="en-US" sz="2400" dirty="0" smtClean="0"/>
              <a:t>Data reduction</a:t>
            </a:r>
          </a:p>
          <a:p>
            <a:pPr lvl="1"/>
            <a:r>
              <a:rPr lang="en-US" altLang="en-US" dirty="0"/>
              <a:t>Feature selection</a:t>
            </a:r>
          </a:p>
          <a:p>
            <a:pPr lvl="1"/>
            <a:r>
              <a:rPr lang="en-US" altLang="en-US" dirty="0" smtClean="0"/>
              <a:t>Data sampling</a:t>
            </a:r>
          </a:p>
          <a:p>
            <a:r>
              <a:rPr lang="en-US" altLang="en-US" sz="2400" dirty="0"/>
              <a:t>Introduction to R language</a:t>
            </a:r>
          </a:p>
          <a:p>
            <a:pPr lvl="1"/>
            <a:r>
              <a:rPr lang="en-US" altLang="en-US" dirty="0"/>
              <a:t>Principles of R</a:t>
            </a:r>
          </a:p>
          <a:p>
            <a:pPr lvl="1"/>
            <a:r>
              <a:rPr lang="en-US" altLang="en-US" b="1" dirty="0">
                <a:solidFill>
                  <a:srgbClr val="FFFF00"/>
                </a:solidFill>
              </a:rPr>
              <a:t>Working with </a:t>
            </a:r>
            <a:r>
              <a:rPr lang="en-US" altLang="en-US" b="1" dirty="0" smtClean="0">
                <a:solidFill>
                  <a:srgbClr val="FFFF00"/>
                </a:solidFill>
              </a:rPr>
              <a:t>R</a:t>
            </a:r>
          </a:p>
          <a:p>
            <a:pPr lvl="1"/>
            <a:r>
              <a:rPr lang="en-US" altLang="en-US" dirty="0"/>
              <a:t>Data preprocessing with </a:t>
            </a:r>
            <a:r>
              <a:rPr lang="en-US" altLang="en-US" dirty="0" smtClean="0"/>
              <a:t>R</a:t>
            </a:r>
            <a:endParaRPr lang="en-US" altLang="en-US" b="1" dirty="0">
              <a:solidFill>
                <a:srgbClr val="FFFF00"/>
              </a:solidFill>
            </a:endParaRPr>
          </a:p>
          <a:p>
            <a:pPr lvl="1"/>
            <a:endParaRPr lang="en-US" altLang="en-US" dirty="0"/>
          </a:p>
        </p:txBody>
      </p:sp>
    </p:spTree>
    <p:extLst>
      <p:ext uri="{BB962C8B-B14F-4D97-AF65-F5344CB8AC3E}">
        <p14:creationId xmlns:p14="http://schemas.microsoft.com/office/powerpoint/2010/main" val="30454546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81</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Working with R</a:t>
            </a:r>
          </a:p>
        </p:txBody>
      </p:sp>
      <p:sp>
        <p:nvSpPr>
          <p:cNvPr id="8198" name="Rectangle 3"/>
          <p:cNvSpPr>
            <a:spLocks noGrp="1" noChangeArrowheads="1"/>
          </p:cNvSpPr>
          <p:nvPr>
            <p:ph type="body" idx="1"/>
          </p:nvPr>
        </p:nvSpPr>
        <p:spPr>
          <a:xfrm>
            <a:off x="1752600" y="1524000"/>
            <a:ext cx="8686800" cy="4114800"/>
          </a:xfrm>
        </p:spPr>
        <p:txBody>
          <a:bodyPr>
            <a:normAutofit/>
          </a:bodyPr>
          <a:lstStyle/>
          <a:p>
            <a:r>
              <a:rPr lang="en-US" altLang="en-US" dirty="0" smtClean="0"/>
              <a:t>Some distributions are available combining several tools for bioinformatics, such as</a:t>
            </a:r>
          </a:p>
          <a:p>
            <a:endParaRPr lang="en-US" altLang="en-US" dirty="0"/>
          </a:p>
          <a:p>
            <a:pPr lvl="1"/>
            <a:r>
              <a:rPr lang="en-US" altLang="en-US" dirty="0" smtClean="0"/>
              <a:t>Bioconductor (</a:t>
            </a:r>
            <a:r>
              <a:rPr lang="en-US" dirty="0">
                <a:hlinkClick r:id="rId2"/>
              </a:rPr>
              <a:t>http://</a:t>
            </a:r>
            <a:r>
              <a:rPr lang="en-US" dirty="0" smtClean="0">
                <a:hlinkClick r:id="rId2"/>
              </a:rPr>
              <a:t>bioconductor.org</a:t>
            </a:r>
            <a:r>
              <a:rPr lang="en-US" dirty="0" smtClean="0"/>
              <a:t>) for bioinformatics  packages.</a:t>
            </a:r>
          </a:p>
          <a:p>
            <a:pPr lvl="1"/>
            <a:endParaRPr lang="en-US" altLang="en-US" dirty="0"/>
          </a:p>
          <a:p>
            <a:pPr lvl="1"/>
            <a:r>
              <a:rPr lang="en-US" altLang="en-US" dirty="0"/>
              <a:t>Anaconda (</a:t>
            </a:r>
            <a:r>
              <a:rPr lang="en-US" altLang="en-US" dirty="0">
                <a:hlinkClick r:id="rId3"/>
              </a:rPr>
              <a:t>https://</a:t>
            </a:r>
            <a:r>
              <a:rPr lang="en-US" altLang="en-US" dirty="0" smtClean="0">
                <a:hlinkClick r:id="rId3"/>
              </a:rPr>
              <a:t>www.continuum.io/downloads</a:t>
            </a:r>
            <a:r>
              <a:rPr lang="en-US" altLang="en-US" dirty="0" smtClean="0"/>
              <a:t>) for data Science includes Python, R, and Scala with their most popular packages (including Bioconductor).</a:t>
            </a:r>
          </a:p>
        </p:txBody>
      </p:sp>
    </p:spTree>
    <p:extLst>
      <p:ext uri="{BB962C8B-B14F-4D97-AF65-F5344CB8AC3E}">
        <p14:creationId xmlns:p14="http://schemas.microsoft.com/office/powerpoint/2010/main" val="35427224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82</a:t>
            </a:fld>
            <a:endParaRPr lang="en-US" altLang="en-US" sz="1400"/>
          </a:p>
        </p:txBody>
      </p:sp>
      <p:sp>
        <p:nvSpPr>
          <p:cNvPr id="8197" name="Rectangle 2"/>
          <p:cNvSpPr>
            <a:spLocks noGrp="1" noChangeArrowheads="1"/>
          </p:cNvSpPr>
          <p:nvPr>
            <p:ph type="title"/>
          </p:nvPr>
        </p:nvSpPr>
        <p:spPr>
          <a:xfrm>
            <a:off x="2040515"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Working with R</a:t>
            </a:r>
          </a:p>
        </p:txBody>
      </p:sp>
      <p:sp>
        <p:nvSpPr>
          <p:cNvPr id="8198" name="Rectangle 3"/>
          <p:cNvSpPr>
            <a:spLocks noGrp="1" noChangeArrowheads="1"/>
          </p:cNvSpPr>
          <p:nvPr>
            <p:ph type="body" idx="1"/>
          </p:nvPr>
        </p:nvSpPr>
        <p:spPr>
          <a:xfrm>
            <a:off x="1752600" y="1809750"/>
            <a:ext cx="8686800" cy="4114800"/>
          </a:xfrm>
        </p:spPr>
        <p:txBody>
          <a:bodyPr>
            <a:normAutofit/>
          </a:bodyPr>
          <a:lstStyle/>
          <a:p>
            <a:r>
              <a:rPr lang="en-US" altLang="en-US" dirty="0" smtClean="0"/>
              <a:t>Anaconda includes the </a:t>
            </a:r>
            <a:r>
              <a:rPr lang="en-US" altLang="en-US" dirty="0" err="1" smtClean="0"/>
              <a:t>Jupyter</a:t>
            </a:r>
            <a:r>
              <a:rPr lang="en-US" altLang="en-US" dirty="0" smtClean="0"/>
              <a:t> notebook in which R can be run.</a:t>
            </a:r>
          </a:p>
          <a:p>
            <a:endParaRPr lang="en-US" altLang="en-US" dirty="0"/>
          </a:p>
          <a:p>
            <a:r>
              <a:rPr lang="en-US" altLang="en-US" dirty="0" smtClean="0"/>
              <a:t>In this course, </a:t>
            </a:r>
            <a:r>
              <a:rPr lang="en-US" altLang="en-US" dirty="0" err="1" smtClean="0"/>
              <a:t>Jupyter</a:t>
            </a:r>
            <a:r>
              <a:rPr lang="en-US" altLang="en-US" dirty="0" smtClean="0"/>
              <a:t> notebook is provided from a link in the menu so that no local R installation is required.</a:t>
            </a:r>
          </a:p>
        </p:txBody>
      </p:sp>
    </p:spTree>
    <p:extLst>
      <p:ext uri="{BB962C8B-B14F-4D97-AF65-F5344CB8AC3E}">
        <p14:creationId xmlns:p14="http://schemas.microsoft.com/office/powerpoint/2010/main" val="331903998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717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D716D28-8F6E-4A42-B856-7B86E1D7F3D1}" type="slidenum">
              <a:rPr lang="en-US" altLang="en-US" sz="1400"/>
              <a:pPr/>
              <a:t>83</a:t>
            </a:fld>
            <a:endParaRPr lang="en-US" altLang="en-US" sz="1400"/>
          </a:p>
        </p:txBody>
      </p:sp>
      <p:sp>
        <p:nvSpPr>
          <p:cNvPr id="401410" name="Rectangle 2"/>
          <p:cNvSpPr>
            <a:spLocks noGrp="1" noChangeArrowheads="1"/>
          </p:cNvSpPr>
          <p:nvPr>
            <p:ph type="title"/>
          </p:nvPr>
        </p:nvSpPr>
        <p:spPr>
          <a:xfrm>
            <a:off x="2133600" y="0"/>
            <a:ext cx="7772400" cy="1143000"/>
          </a:xfrm>
        </p:spPr>
        <p:txBody>
          <a:bodyPr vert="horz" lIns="92075" tIns="46038" rIns="92075" bIns="46038" rtlCol="0" anchor="b">
            <a:normAutofit/>
          </a:bodyPr>
          <a:lstStyle/>
          <a:p>
            <a:pPr>
              <a:defRPr/>
            </a:pPr>
            <a:r>
              <a:rPr lang="en-US" b="1" dirty="0" smtClean="0">
                <a:effectLst>
                  <a:outerShdw blurRad="38100" dist="38100" dir="2700000" algn="tl">
                    <a:srgbClr val="000000"/>
                  </a:outerShdw>
                </a:effectLst>
              </a:rPr>
              <a:t>Outline</a:t>
            </a:r>
          </a:p>
        </p:txBody>
      </p:sp>
      <p:sp>
        <p:nvSpPr>
          <p:cNvPr id="7174" name="Rectangle 3"/>
          <p:cNvSpPr>
            <a:spLocks noGrp="1" noChangeArrowheads="1"/>
          </p:cNvSpPr>
          <p:nvPr>
            <p:ph type="body" idx="1"/>
          </p:nvPr>
        </p:nvSpPr>
        <p:spPr>
          <a:xfrm>
            <a:off x="2133600" y="960437"/>
            <a:ext cx="7772400" cy="5578475"/>
          </a:xfrm>
          <a:noFill/>
        </p:spPr>
        <p:txBody>
          <a:bodyPr vert="horz" lIns="92075" tIns="46038" rIns="92075" bIns="46038" rtlCol="0">
            <a:normAutofit fontScale="70000" lnSpcReduction="20000"/>
          </a:bodyPr>
          <a:lstStyle/>
          <a:p>
            <a:endParaRPr lang="en-US" altLang="en-US" sz="2000" dirty="0" smtClean="0"/>
          </a:p>
          <a:p>
            <a:r>
              <a:rPr lang="en-US" altLang="en-US" sz="2400" dirty="0" smtClean="0"/>
              <a:t>Introduction </a:t>
            </a:r>
            <a:r>
              <a:rPr lang="en-US" altLang="en-US" sz="2400" dirty="0"/>
              <a:t>to </a:t>
            </a:r>
            <a:r>
              <a:rPr lang="en-US" altLang="en-US" sz="2400" dirty="0" smtClean="0"/>
              <a:t>module</a:t>
            </a:r>
            <a:endParaRPr lang="en-US" altLang="en-US" sz="2400" dirty="0"/>
          </a:p>
          <a:p>
            <a:r>
              <a:rPr lang="en-US" altLang="en-US" sz="2400" dirty="0" smtClean="0"/>
              <a:t>Locating and downloading datasets</a:t>
            </a:r>
          </a:p>
          <a:p>
            <a:pPr lvl="1"/>
            <a:r>
              <a:rPr lang="en-US" altLang="en-US" dirty="0" smtClean="0"/>
              <a:t>Datasets and files</a:t>
            </a:r>
          </a:p>
          <a:p>
            <a:pPr lvl="1"/>
            <a:r>
              <a:rPr lang="en-US" altLang="en-US" dirty="0" smtClean="0"/>
              <a:t>Data sources</a:t>
            </a:r>
            <a:endParaRPr lang="en-US" altLang="en-US" dirty="0"/>
          </a:p>
          <a:p>
            <a:r>
              <a:rPr lang="en-US" altLang="en-US" sz="2400" dirty="0" smtClean="0"/>
              <a:t>Data preprocessing</a:t>
            </a:r>
            <a:endParaRPr lang="en-US" altLang="en-US" sz="2400" dirty="0"/>
          </a:p>
          <a:p>
            <a:pPr lvl="1"/>
            <a:r>
              <a:rPr lang="en-US" altLang="en-US" dirty="0" smtClean="0"/>
              <a:t>Importance of data preprocessing</a:t>
            </a:r>
            <a:endParaRPr lang="en-US" altLang="en-US" dirty="0"/>
          </a:p>
          <a:p>
            <a:pPr lvl="1"/>
            <a:r>
              <a:rPr lang="en-US" altLang="en-US" dirty="0" smtClean="0"/>
              <a:t>Data preprocessing tasks</a:t>
            </a:r>
            <a:endParaRPr lang="en-US" altLang="en-US" dirty="0"/>
          </a:p>
          <a:p>
            <a:r>
              <a:rPr lang="en-US" altLang="en-US" sz="2400" dirty="0" smtClean="0"/>
              <a:t>Missing values</a:t>
            </a:r>
          </a:p>
          <a:p>
            <a:pPr lvl="1"/>
            <a:r>
              <a:rPr lang="en-US" altLang="en-US" dirty="0" smtClean="0"/>
              <a:t>Replacing missing values</a:t>
            </a:r>
          </a:p>
          <a:p>
            <a:r>
              <a:rPr lang="en-US" altLang="en-US" sz="2400" dirty="0" smtClean="0"/>
              <a:t>Normalizing and discretizing data</a:t>
            </a:r>
          </a:p>
          <a:p>
            <a:pPr lvl="1"/>
            <a:r>
              <a:rPr lang="en-US" altLang="en-US" dirty="0" smtClean="0"/>
              <a:t>Data normalization</a:t>
            </a:r>
          </a:p>
          <a:p>
            <a:pPr lvl="1"/>
            <a:r>
              <a:rPr lang="en-US" altLang="en-US" dirty="0" smtClean="0"/>
              <a:t>Discretization</a:t>
            </a:r>
          </a:p>
          <a:p>
            <a:r>
              <a:rPr lang="en-US" altLang="en-US" sz="2400" dirty="0" smtClean="0"/>
              <a:t>Data reduction</a:t>
            </a:r>
          </a:p>
          <a:p>
            <a:pPr lvl="1"/>
            <a:r>
              <a:rPr lang="en-US" altLang="en-US" dirty="0" smtClean="0"/>
              <a:t>Feature selection</a:t>
            </a:r>
          </a:p>
          <a:p>
            <a:pPr lvl="1"/>
            <a:r>
              <a:rPr lang="en-US" altLang="en-US" dirty="0" smtClean="0"/>
              <a:t>Data sampling</a:t>
            </a:r>
          </a:p>
          <a:p>
            <a:r>
              <a:rPr lang="en-US" altLang="en-US" sz="2400" dirty="0"/>
              <a:t>Introduction to R language</a:t>
            </a:r>
          </a:p>
          <a:p>
            <a:pPr lvl="1"/>
            <a:r>
              <a:rPr lang="en-US" altLang="en-US" dirty="0"/>
              <a:t>Principles of R</a:t>
            </a:r>
          </a:p>
          <a:p>
            <a:pPr lvl="1"/>
            <a:r>
              <a:rPr lang="en-US" altLang="en-US" dirty="0"/>
              <a:t>Working with </a:t>
            </a:r>
            <a:r>
              <a:rPr lang="en-US" altLang="en-US" dirty="0" smtClean="0"/>
              <a:t>R</a:t>
            </a:r>
          </a:p>
          <a:p>
            <a:pPr lvl="1"/>
            <a:r>
              <a:rPr lang="en-US" altLang="en-US" b="1" dirty="0" smtClean="0">
                <a:solidFill>
                  <a:srgbClr val="FFFF00"/>
                </a:solidFill>
              </a:rPr>
              <a:t>Data preprocessing </a:t>
            </a:r>
            <a:r>
              <a:rPr lang="en-US" altLang="en-US" b="1" smtClean="0">
                <a:solidFill>
                  <a:srgbClr val="FFFF00"/>
                </a:solidFill>
              </a:rPr>
              <a:t>with R</a:t>
            </a:r>
            <a:endParaRPr lang="en-US" altLang="en-US" b="1" dirty="0">
              <a:solidFill>
                <a:srgbClr val="FFFF00"/>
              </a:solidFill>
            </a:endParaRPr>
          </a:p>
          <a:p>
            <a:pPr lvl="1"/>
            <a:endParaRPr lang="en-US" altLang="en-US" dirty="0"/>
          </a:p>
        </p:txBody>
      </p:sp>
      <p:sp>
        <p:nvSpPr>
          <p:cNvPr id="2" name="Rectangle 1"/>
          <p:cNvSpPr/>
          <p:nvPr/>
        </p:nvSpPr>
        <p:spPr>
          <a:xfrm>
            <a:off x="4965177" y="3244334"/>
            <a:ext cx="2261645" cy="369332"/>
          </a:xfrm>
          <a:prstGeom prst="rect">
            <a:avLst/>
          </a:prstGeom>
        </p:spPr>
        <p:txBody>
          <a:bodyPr wrap="none">
            <a:spAutoFit/>
          </a:bodyPr>
          <a:lstStyle/>
          <a:p>
            <a:pPr lvl="1"/>
            <a:r>
              <a:rPr lang="en-US" altLang="en-US" dirty="0"/>
              <a:t>Feature selection</a:t>
            </a:r>
          </a:p>
        </p:txBody>
      </p:sp>
    </p:spTree>
    <p:extLst>
      <p:ext uri="{BB962C8B-B14F-4D97-AF65-F5344CB8AC3E}">
        <p14:creationId xmlns:p14="http://schemas.microsoft.com/office/powerpoint/2010/main" val="15018427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smtClean="0"/>
              <a:t>Isabelle Bichindaritz, SUNY Oswego</a:t>
            </a:r>
            <a:endParaRPr lang="en-US" altLang="en-US" sz="1400"/>
          </a:p>
        </p:txBody>
      </p:sp>
      <p:sp>
        <p:nvSpPr>
          <p:cNvPr id="81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fld id="{8F4DAEBF-EBC9-49F4-AD41-978B72A49882}" type="slidenum">
              <a:rPr lang="en-US" altLang="en-US" sz="1400"/>
              <a:pPr/>
              <a:t>84</a:t>
            </a:fld>
            <a:endParaRPr lang="en-US" altLang="en-US" sz="1400"/>
          </a:p>
        </p:txBody>
      </p:sp>
      <p:sp>
        <p:nvSpPr>
          <p:cNvPr id="8197" name="Rectangle 2"/>
          <p:cNvSpPr>
            <a:spLocks noGrp="1" noChangeArrowheads="1"/>
          </p:cNvSpPr>
          <p:nvPr>
            <p:ph type="title"/>
          </p:nvPr>
        </p:nvSpPr>
        <p:spPr>
          <a:xfrm>
            <a:off x="1752600" y="234950"/>
            <a:ext cx="7772400" cy="1143000"/>
          </a:xfrm>
        </p:spPr>
        <p:txBody>
          <a:bodyPr>
            <a:normAutofit/>
          </a:bodyPr>
          <a:lstStyle/>
          <a:p>
            <a:r>
              <a:rPr lang="en-US" altLang="en-US" b="1" dirty="0" smtClean="0">
                <a:effectLst>
                  <a:outerShdw blurRad="38100" dist="38100" dir="2700000" algn="tl">
                    <a:srgbClr val="000000">
                      <a:alpha val="43137"/>
                    </a:srgbClr>
                  </a:outerShdw>
                </a:effectLst>
              </a:rPr>
              <a:t>Data Preprocessing with R</a:t>
            </a:r>
          </a:p>
        </p:txBody>
      </p:sp>
      <p:sp>
        <p:nvSpPr>
          <p:cNvPr id="8198" name="Rectangle 3"/>
          <p:cNvSpPr>
            <a:spLocks noGrp="1" noChangeArrowheads="1"/>
          </p:cNvSpPr>
          <p:nvPr>
            <p:ph type="body" idx="1"/>
          </p:nvPr>
        </p:nvSpPr>
        <p:spPr>
          <a:xfrm>
            <a:off x="1752600" y="2453986"/>
            <a:ext cx="8686800" cy="2575214"/>
          </a:xfrm>
        </p:spPr>
        <p:txBody>
          <a:bodyPr>
            <a:normAutofit/>
          </a:bodyPr>
          <a:lstStyle/>
          <a:p>
            <a:r>
              <a:rPr lang="en-US" altLang="en-US" dirty="0" smtClean="0"/>
              <a:t>Watch the video</a:t>
            </a:r>
          </a:p>
          <a:p>
            <a:endParaRPr lang="en-US" altLang="en-US" dirty="0"/>
          </a:p>
          <a:p>
            <a:r>
              <a:rPr lang="en-US" altLang="en-US" dirty="0" smtClean="0"/>
              <a:t>Start </a:t>
            </a:r>
            <a:r>
              <a:rPr lang="en-US" altLang="en-US" dirty="0" err="1" smtClean="0"/>
              <a:t>Jupyter</a:t>
            </a:r>
            <a:r>
              <a:rPr lang="en-US" altLang="en-US" dirty="0" smtClean="0"/>
              <a:t> notebook from the provided link</a:t>
            </a:r>
          </a:p>
        </p:txBody>
      </p:sp>
    </p:spTree>
    <p:extLst>
      <p:ext uri="{BB962C8B-B14F-4D97-AF65-F5344CB8AC3E}">
        <p14:creationId xmlns:p14="http://schemas.microsoft.com/office/powerpoint/2010/main" val="3625061210"/>
      </p:ext>
    </p:extLst>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7592</TotalTime>
  <Words>4465</Words>
  <Application>Microsoft Office PowerPoint</Application>
  <PresentationFormat>Widescreen</PresentationFormat>
  <Paragraphs>1063</Paragraphs>
  <Slides>84</Slides>
  <Notes>31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84</vt:i4>
      </vt:variant>
    </vt:vector>
  </HeadingPairs>
  <TitlesOfParts>
    <vt:vector size="94" baseType="lpstr">
      <vt:lpstr>Arrows2</vt:lpstr>
      <vt:lpstr>Calibri</vt:lpstr>
      <vt:lpstr>Calibri Light</vt:lpstr>
      <vt:lpstr>Tahoma</vt:lpstr>
      <vt:lpstr>Times New Roman</vt:lpstr>
      <vt:lpstr>Verdana</vt:lpstr>
      <vt:lpstr>Wingdings</vt:lpstr>
      <vt:lpstr>Wingdings 2</vt:lpstr>
      <vt:lpstr>HDOfficeLightV0</vt:lpstr>
      <vt:lpstr>Worksheet</vt:lpstr>
      <vt:lpstr>Module 2</vt:lpstr>
      <vt:lpstr>Outline</vt:lpstr>
      <vt:lpstr>Learning Objectives</vt:lpstr>
      <vt:lpstr>Introduction to Module</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Outline</vt:lpstr>
      <vt:lpstr>PowerPoint Presentation</vt:lpstr>
      <vt:lpstr>Datasets and Files</vt:lpstr>
      <vt:lpstr>Datasets and Files</vt:lpstr>
      <vt:lpstr>Datasets and Files</vt:lpstr>
      <vt:lpstr>Datasets and Files</vt:lpstr>
      <vt:lpstr>Datasets and Files</vt:lpstr>
      <vt:lpstr>Datasets and Files</vt:lpstr>
      <vt:lpstr>Outline</vt:lpstr>
      <vt:lpstr>Data Sources</vt:lpstr>
      <vt:lpstr>Data Sources</vt:lpstr>
      <vt:lpstr>Data Sources</vt:lpstr>
      <vt:lpstr>Data Sources</vt:lpstr>
      <vt:lpstr>Data Sources</vt:lpstr>
      <vt:lpstr>Data Sources</vt:lpstr>
      <vt:lpstr>Data Sources</vt:lpstr>
      <vt:lpstr>Data Sources</vt:lpstr>
      <vt:lpstr>Data Sources</vt:lpstr>
      <vt:lpstr>Data Sources</vt:lpstr>
      <vt:lpstr>Data Sources</vt:lpstr>
      <vt:lpstr>Data Sources</vt:lpstr>
      <vt:lpstr>Outline</vt:lpstr>
      <vt:lpstr>Data Preprocessing</vt:lpstr>
      <vt:lpstr>Outline</vt:lpstr>
      <vt:lpstr>Importance of Data Preprocessing</vt:lpstr>
      <vt:lpstr>Importance of Data Preprocessing</vt:lpstr>
      <vt:lpstr>Importance of Data Preprocessing</vt:lpstr>
      <vt:lpstr>Outline</vt:lpstr>
      <vt:lpstr>Data Preprocessing Tasks</vt:lpstr>
      <vt:lpstr>Data Preprocessing Tasks</vt:lpstr>
      <vt:lpstr>Outline</vt:lpstr>
      <vt:lpstr>Missing Values</vt:lpstr>
      <vt:lpstr>Outline</vt:lpstr>
      <vt:lpstr>Replacing Missing Values</vt:lpstr>
      <vt:lpstr>Replacing Missing Values</vt:lpstr>
      <vt:lpstr>Outline</vt:lpstr>
      <vt:lpstr>Normalizing and Discretizing Data</vt:lpstr>
      <vt:lpstr>Outline</vt:lpstr>
      <vt:lpstr>Data Normalization</vt:lpstr>
      <vt:lpstr>Data Normalization</vt:lpstr>
      <vt:lpstr>Data Normalization</vt:lpstr>
      <vt:lpstr>Data Normalization</vt:lpstr>
      <vt:lpstr>Data Normalization</vt:lpstr>
      <vt:lpstr>Data Normalization</vt:lpstr>
      <vt:lpstr>Data Normalization</vt:lpstr>
      <vt:lpstr>Outline</vt:lpstr>
      <vt:lpstr>Discretization</vt:lpstr>
      <vt:lpstr>Discretization</vt:lpstr>
      <vt:lpstr>Discretization</vt:lpstr>
      <vt:lpstr>Discretization</vt:lpstr>
      <vt:lpstr>Discretization</vt:lpstr>
      <vt:lpstr>Outline</vt:lpstr>
      <vt:lpstr>Data Reduction</vt:lpstr>
      <vt:lpstr>Outline</vt:lpstr>
      <vt:lpstr>Feature Selection</vt:lpstr>
      <vt:lpstr>Outline</vt:lpstr>
      <vt:lpstr>Data Sampling</vt:lpstr>
      <vt:lpstr>Data Sampling</vt:lpstr>
      <vt:lpstr>Outline</vt:lpstr>
      <vt:lpstr>Introduction to R Language</vt:lpstr>
      <vt:lpstr>Outline</vt:lpstr>
      <vt:lpstr>Principles of R</vt:lpstr>
      <vt:lpstr>Principles of R</vt:lpstr>
      <vt:lpstr>Principles of R</vt:lpstr>
      <vt:lpstr>Principles of R</vt:lpstr>
      <vt:lpstr>Outline</vt:lpstr>
      <vt:lpstr>Working with R</vt:lpstr>
      <vt:lpstr>Working with R</vt:lpstr>
      <vt:lpstr>Outline</vt:lpstr>
      <vt:lpstr>Data Preprocessing with R</vt:lpstr>
    </vt:vector>
  </TitlesOfParts>
  <Company>SUNY Oswego</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dc:title>
  <dc:creator>Isabelle Bichindaritz</dc:creator>
  <cp:lastModifiedBy>Isabelle Bichindaritz</cp:lastModifiedBy>
  <cp:revision>200</cp:revision>
  <cp:lastPrinted>2016-08-12T15:29:56Z</cp:lastPrinted>
  <dcterms:created xsi:type="dcterms:W3CDTF">2016-07-10T19:12:56Z</dcterms:created>
  <dcterms:modified xsi:type="dcterms:W3CDTF">2016-09-23T01:37:11Z</dcterms:modified>
</cp:coreProperties>
</file>