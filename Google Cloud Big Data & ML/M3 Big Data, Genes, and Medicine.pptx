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6"/>
  </p:notesMasterIdLst>
  <p:sldIdLst>
    <p:sldId id="256" r:id="rId2"/>
    <p:sldId id="261" r:id="rId3"/>
    <p:sldId id="262" r:id="rId4"/>
    <p:sldId id="257" r:id="rId5"/>
    <p:sldId id="393" r:id="rId6"/>
    <p:sldId id="392" r:id="rId7"/>
    <p:sldId id="420" r:id="rId8"/>
    <p:sldId id="395" r:id="rId9"/>
    <p:sldId id="396" r:id="rId10"/>
    <p:sldId id="425" r:id="rId11"/>
    <p:sldId id="421" r:id="rId12"/>
    <p:sldId id="422" r:id="rId13"/>
    <p:sldId id="423" r:id="rId14"/>
    <p:sldId id="424" r:id="rId15"/>
    <p:sldId id="426" r:id="rId16"/>
    <p:sldId id="418" r:id="rId17"/>
    <p:sldId id="419" r:id="rId18"/>
    <p:sldId id="397" r:id="rId19"/>
    <p:sldId id="398" r:id="rId20"/>
    <p:sldId id="427" r:id="rId21"/>
    <p:sldId id="428" r:id="rId22"/>
    <p:sldId id="399" r:id="rId23"/>
    <p:sldId id="400" r:id="rId24"/>
    <p:sldId id="430" r:id="rId25"/>
    <p:sldId id="429" r:id="rId26"/>
    <p:sldId id="401" r:id="rId27"/>
    <p:sldId id="402" r:id="rId28"/>
    <p:sldId id="403" r:id="rId29"/>
    <p:sldId id="404" r:id="rId30"/>
    <p:sldId id="432" r:id="rId31"/>
    <p:sldId id="433" r:id="rId32"/>
    <p:sldId id="431" r:id="rId33"/>
    <p:sldId id="405" r:id="rId34"/>
    <p:sldId id="406" r:id="rId35"/>
    <p:sldId id="407" r:id="rId36"/>
    <p:sldId id="408" r:id="rId37"/>
    <p:sldId id="409" r:id="rId38"/>
    <p:sldId id="410" r:id="rId39"/>
    <p:sldId id="411" r:id="rId40"/>
    <p:sldId id="412" r:id="rId41"/>
    <p:sldId id="413" r:id="rId42"/>
    <p:sldId id="414" r:id="rId43"/>
    <p:sldId id="415" r:id="rId44"/>
    <p:sldId id="416" r:id="rId45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50" d="100"/>
          <a:sy n="50" d="100"/>
        </p:scale>
        <p:origin x="54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24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308481BC-C8FD-4874-AC97-BD3798764E27}" type="datetimeFigureOut">
              <a:rPr lang="en-US" smtClean="0"/>
              <a:t>9/25/2016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ADF3B73-E173-45C2-B65F-B02BEF24A8B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555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2</a:t>
            </a:fld>
            <a:endParaRPr lang="en-US" altLang="en-US" sz="1200" dirty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9800031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3</a:t>
            </a:fld>
            <a:endParaRPr lang="en-US" altLang="en-US" sz="1200" dirty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0363581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5</a:t>
            </a:fld>
            <a:endParaRPr lang="en-US" altLang="en-US" sz="1200" dirty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1052955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8</a:t>
            </a:fld>
            <a:endParaRPr lang="en-US" altLang="en-US" sz="1200" dirty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7329616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18</a:t>
            </a:fld>
            <a:endParaRPr lang="en-US" altLang="en-US" sz="1200" dirty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5794585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22</a:t>
            </a:fld>
            <a:endParaRPr lang="en-US" altLang="en-US" sz="1200" dirty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768423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26</a:t>
            </a:fld>
            <a:endParaRPr lang="en-US" altLang="en-US" sz="1200" dirty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8687544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28</a:t>
            </a:fld>
            <a:endParaRPr lang="en-US" altLang="en-US" sz="1200" dirty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3117666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33</a:t>
            </a:fld>
            <a:endParaRPr lang="en-US" altLang="en-US" sz="1200" dirty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8995499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35</a:t>
            </a:fld>
            <a:endParaRPr lang="en-US" altLang="en-US" sz="1200" dirty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2705592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37</a:t>
            </a:fld>
            <a:endParaRPr lang="en-US" altLang="en-US" sz="1200" dirty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595634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39</a:t>
            </a:fld>
            <a:endParaRPr lang="en-US" altLang="en-US" sz="1200" dirty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6619167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41</a:t>
            </a:fld>
            <a:endParaRPr lang="en-US" altLang="en-US" sz="1200" dirty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2960033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57066" indent="-291179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64717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30604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96491" indent="-232943" defTabSz="946333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62377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3028264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94151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960038" indent="-232943" algn="ctr" defTabSz="946333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7CD84D6-A37C-4066-8057-22ADF90E1769}" type="slidenum">
              <a:rPr lang="en-US" altLang="en-US" sz="1200"/>
              <a:pPr/>
              <a:t>43</a:t>
            </a:fld>
            <a:endParaRPr lang="en-US" altLang="en-US" sz="1200" dirty="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12750" y="685800"/>
            <a:ext cx="6329363" cy="3560763"/>
          </a:xfrm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85027" y="4486805"/>
            <a:ext cx="5183152" cy="427214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013425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1/4/2010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Isabelle Bichindaritz, SUNY Oswego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8588C-1661-40F2-A5C9-AAE089DDE3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997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1/4/2010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Isabelle Bichindaritz, SUNY Oswego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8588C-1661-40F2-A5C9-AAE089DDE3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169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1/4/2010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Isabelle Bichindaritz, SUNY Oswego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8588C-1661-40F2-A5C9-AAE089DDE3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4263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1/4/2010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Isabelle Bichindaritz, SUNY Oswego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8588C-1661-40F2-A5C9-AAE089DDE3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884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1/4/2010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Isabelle Bichindaritz, SUNY Oswego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8588C-1661-40F2-A5C9-AAE089DDE36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88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1/4/2010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Isabelle Bichindaritz, SUNY Oswego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8588C-1661-40F2-A5C9-AAE089DDE36E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919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1/4/2010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Isabelle Bichindaritz, SUNY Oswego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8588C-1661-40F2-A5C9-AAE089DDE3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4609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1/4/2010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Isabelle Bichindaritz, SUNY Oswego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8588C-1661-40F2-A5C9-AAE089DDE3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001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1/4/2010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Isabelle Bichindaritz, SUNY Oswego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8588C-1661-40F2-A5C9-AAE089DDE3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358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1/4/2010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Isabelle Bichindaritz, SUNY Oswego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8588C-1661-40F2-A5C9-AAE089DDE3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0277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1/4/2010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Isabelle Bichindaritz, SUNY Oswego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8588C-1661-40F2-A5C9-AAE089DDE3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1645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 smtClean="0"/>
              <a:t>1/4/2010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 smtClean="0"/>
              <a:t>Isabelle Bichindaritz, SUNY Oswego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8588C-1661-40F2-A5C9-AAE089DDE3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561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Module 3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Finding Differentially Expressed Genes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Isabelle Bichindaritz, SUNY Oswego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8588C-1661-40F2-A5C9-AAE089DDE36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188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/>
              <a:t>Isabelle Bichindaritz, SUNY Oswego</a:t>
            </a:r>
            <a:endParaRPr lang="en-US" altLang="en-US" sz="1400" dirty="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2</a:t>
            </a:fld>
            <a:endParaRPr lang="en-US" altLang="en-US" sz="1400" dirty="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143000"/>
          </a:xfrm>
        </p:spPr>
        <p:txBody>
          <a:bodyPr vert="horz" lIns="92075" tIns="46038" rIns="92075" bIns="46038" rtlCol="0" anchor="b">
            <a:normAutofit/>
          </a:bodyPr>
          <a:lstStyle/>
          <a:p>
            <a:pPr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Outline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960437"/>
            <a:ext cx="7772400" cy="5578475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endParaRPr lang="en-US" altLang="en-US" sz="2000" dirty="0" smtClean="0"/>
          </a:p>
          <a:p>
            <a:r>
              <a:rPr lang="en-US" altLang="en-US" sz="2200" dirty="0" smtClean="0"/>
              <a:t>Introduction </a:t>
            </a:r>
            <a:r>
              <a:rPr lang="en-US" altLang="en-US" sz="2200" dirty="0"/>
              <a:t>to </a:t>
            </a:r>
            <a:r>
              <a:rPr lang="en-US" altLang="en-US" sz="2200" dirty="0" smtClean="0"/>
              <a:t>module</a:t>
            </a:r>
            <a:endParaRPr lang="en-US" altLang="en-US" sz="2200" dirty="0"/>
          </a:p>
          <a:p>
            <a:r>
              <a:rPr lang="en-US" altLang="en-US" sz="2200" dirty="0" smtClean="0"/>
              <a:t>Feature selection methods</a:t>
            </a:r>
          </a:p>
          <a:p>
            <a:pPr lvl="1"/>
            <a:r>
              <a:rPr lang="en-US" sz="2200" dirty="0"/>
              <a:t>Overview of feature selection </a:t>
            </a:r>
            <a:r>
              <a:rPr lang="en-US" sz="2200" dirty="0" smtClean="0"/>
              <a:t>methods</a:t>
            </a:r>
          </a:p>
          <a:p>
            <a:pPr lvl="1"/>
            <a:r>
              <a:rPr lang="en-US" sz="2200" dirty="0" smtClean="0"/>
              <a:t>Filter methods</a:t>
            </a:r>
          </a:p>
          <a:p>
            <a:pPr lvl="1"/>
            <a:r>
              <a:rPr lang="en-US" sz="2200" dirty="0"/>
              <a:t>Wrapper </a:t>
            </a:r>
            <a:r>
              <a:rPr lang="en-US" sz="2200" dirty="0" smtClean="0"/>
              <a:t>methods</a:t>
            </a:r>
          </a:p>
          <a:p>
            <a:r>
              <a:rPr lang="en-US" altLang="en-US" sz="2200" dirty="0" smtClean="0"/>
              <a:t>Evaluation of feature selection methods</a:t>
            </a:r>
            <a:endParaRPr lang="en-US" altLang="en-US" sz="2200" dirty="0"/>
          </a:p>
          <a:p>
            <a:pPr lvl="1"/>
            <a:r>
              <a:rPr lang="en-US" altLang="en-US" sz="2200" dirty="0" smtClean="0"/>
              <a:t>Evaluation schemes</a:t>
            </a:r>
            <a:endParaRPr lang="en-US" altLang="en-US" sz="2200" dirty="0"/>
          </a:p>
          <a:p>
            <a:r>
              <a:rPr lang="en-US" sz="2200" dirty="0"/>
              <a:t>Feature selection </a:t>
            </a:r>
            <a:r>
              <a:rPr lang="en-US" sz="2200" dirty="0" smtClean="0"/>
              <a:t>for </a:t>
            </a:r>
            <a:r>
              <a:rPr lang="en-US" sz="2200" dirty="0"/>
              <a:t>gene expression </a:t>
            </a:r>
            <a:r>
              <a:rPr lang="en-US" sz="2200" dirty="0" smtClean="0"/>
              <a:t>data</a:t>
            </a:r>
          </a:p>
          <a:p>
            <a:pPr lvl="1"/>
            <a:r>
              <a:rPr lang="en-US" sz="2200" dirty="0" smtClean="0"/>
              <a:t>Selecting differentially expressed genes</a:t>
            </a:r>
          </a:p>
          <a:p>
            <a:r>
              <a:rPr lang="en-US" altLang="en-US" sz="2200" dirty="0" smtClean="0"/>
              <a:t>Heatmaps and visualizations</a:t>
            </a:r>
          </a:p>
          <a:p>
            <a:pPr lvl="1"/>
            <a:r>
              <a:rPr lang="en-US" altLang="en-US" sz="2200" dirty="0" smtClean="0"/>
              <a:t>Heatmaps</a:t>
            </a:r>
          </a:p>
          <a:p>
            <a:r>
              <a:rPr lang="en-US" altLang="en-US" sz="2200" dirty="0" smtClean="0"/>
              <a:t>Feature selection with R</a:t>
            </a:r>
            <a:endParaRPr lang="en-US" altLang="en-US" sz="2200" dirty="0"/>
          </a:p>
          <a:p>
            <a:pPr lvl="1"/>
            <a:r>
              <a:rPr lang="en-US" sz="2200" dirty="0"/>
              <a:t>R scripts for </a:t>
            </a:r>
            <a:r>
              <a:rPr lang="en-US" sz="2200" dirty="0" smtClean="0"/>
              <a:t>feature selection from gene </a:t>
            </a:r>
            <a:r>
              <a:rPr lang="en-US" sz="2200" dirty="0"/>
              <a:t>expressions data 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1243746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/>
              <a:t>Isabelle Bichindaritz, SUNY Oswego</a:t>
            </a:r>
            <a:endParaRPr lang="en-US" altLang="en-US" sz="1400" dirty="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3</a:t>
            </a:fld>
            <a:endParaRPr lang="en-US" altLang="en-US" sz="1400" dirty="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143000"/>
          </a:xfrm>
        </p:spPr>
        <p:txBody>
          <a:bodyPr vert="horz" lIns="92075" tIns="46038" rIns="92075" bIns="46038" rtlCol="0" anchor="b">
            <a:normAutofit/>
          </a:bodyPr>
          <a:lstStyle/>
          <a:p>
            <a:pPr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Learning Objectives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82436" y="1417955"/>
            <a:ext cx="9074727" cy="4724400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pPr>
              <a:lnSpc>
                <a:spcPct val="90000"/>
              </a:lnSpc>
            </a:pPr>
            <a:endParaRPr lang="en-US" altLang="en-US" dirty="0"/>
          </a:p>
          <a:p>
            <a:pPr marL="0" indent="0">
              <a:buNone/>
            </a:pPr>
            <a:r>
              <a:rPr lang="en-US" dirty="0" smtClean="0"/>
              <a:t>1. Select </a:t>
            </a:r>
            <a:r>
              <a:rPr lang="en-US" dirty="0"/>
              <a:t>features from highly dimensional datasets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Evaluate the performance of feature selection methods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3. Write R scripts to select features from datasets involving gene expressions.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98654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/>
              <a:t>Isabelle Bichindaritz, SUNY Oswego</a:t>
            </a:r>
            <a:endParaRPr lang="en-US" altLang="en-US" sz="1400" dirty="0"/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F4DAEBF-EBC9-49F4-AD41-978B72A49882}" type="slidenum">
              <a:rPr lang="en-US" altLang="en-US" sz="1400"/>
              <a:pPr/>
              <a:t>4</a:t>
            </a:fld>
            <a:endParaRPr lang="en-US" altLang="en-US" sz="1400" dirty="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2040515" y="234950"/>
            <a:ext cx="7772400" cy="1143000"/>
          </a:xfrm>
        </p:spPr>
        <p:txBody>
          <a:bodyPr/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Introduction to Module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524000"/>
            <a:ext cx="8686800" cy="4114800"/>
          </a:xfrm>
        </p:spPr>
        <p:txBody>
          <a:bodyPr>
            <a:normAutofit/>
          </a:bodyPr>
          <a:lstStyle/>
          <a:p>
            <a:r>
              <a:rPr lang="en-US" altLang="en-US" dirty="0" smtClean="0"/>
              <a:t>This module tackles the challenge of working with highly dimensional datasets, which are datasets having a large number of columns / variables / features.</a:t>
            </a:r>
          </a:p>
          <a:p>
            <a:r>
              <a:rPr lang="en-US" altLang="en-US" dirty="0" smtClean="0"/>
              <a:t>It is valuable to select features as to </a:t>
            </a:r>
          </a:p>
          <a:p>
            <a:pPr lvl="1"/>
            <a:r>
              <a:rPr lang="en-US" altLang="en-US" dirty="0" smtClean="0"/>
              <a:t>reduce the size of a dataset being studied to make its analysis more efficient, and even feasible in some cases</a:t>
            </a:r>
          </a:p>
          <a:p>
            <a:pPr lvl="1"/>
            <a:r>
              <a:rPr lang="en-US" altLang="en-US" dirty="0" smtClean="0"/>
              <a:t>make data analytics more effective, with better performance results.</a:t>
            </a:r>
          </a:p>
          <a:p>
            <a:r>
              <a:rPr lang="en-US" altLang="en-US" dirty="0" smtClean="0"/>
              <a:t>This is particularly important for bioinformatics data, which most often involved highly dimensional datasets.</a:t>
            </a:r>
          </a:p>
        </p:txBody>
      </p:sp>
    </p:spTree>
    <p:extLst>
      <p:ext uri="{BB962C8B-B14F-4D97-AF65-F5344CB8AC3E}">
        <p14:creationId xmlns:p14="http://schemas.microsoft.com/office/powerpoint/2010/main" val="697558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/>
              <a:t>Isabelle Bichindaritz, SUNY Oswego</a:t>
            </a:r>
            <a:endParaRPr lang="en-US" altLang="en-US" sz="1400" dirty="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5</a:t>
            </a:fld>
            <a:endParaRPr lang="en-US" altLang="en-US" sz="1400" dirty="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143000"/>
          </a:xfrm>
        </p:spPr>
        <p:txBody>
          <a:bodyPr vert="horz" lIns="92075" tIns="46038" rIns="92075" bIns="46038" rtlCol="0" anchor="b">
            <a:normAutofit/>
          </a:bodyPr>
          <a:lstStyle/>
          <a:p>
            <a:pPr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Outline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960437"/>
            <a:ext cx="7772400" cy="5578475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endParaRPr lang="en-US" altLang="en-US" sz="2000" dirty="0" smtClean="0"/>
          </a:p>
          <a:p>
            <a:r>
              <a:rPr lang="en-US" altLang="en-US" sz="2200" dirty="0" smtClean="0"/>
              <a:t>Introduction </a:t>
            </a:r>
            <a:r>
              <a:rPr lang="en-US" altLang="en-US" sz="2200" dirty="0"/>
              <a:t>to </a:t>
            </a:r>
            <a:r>
              <a:rPr lang="en-US" altLang="en-US" sz="2200" dirty="0" smtClean="0"/>
              <a:t>module</a:t>
            </a:r>
            <a:endParaRPr lang="en-US" altLang="en-US" sz="2200" dirty="0"/>
          </a:p>
          <a:p>
            <a:r>
              <a:rPr lang="en-US" altLang="en-US" sz="2200" b="1" dirty="0" smtClean="0">
                <a:solidFill>
                  <a:srgbClr val="FFFF00"/>
                </a:solidFill>
              </a:rPr>
              <a:t>Feature selection methods</a:t>
            </a:r>
          </a:p>
          <a:p>
            <a:pPr lvl="1"/>
            <a:r>
              <a:rPr lang="en-US" sz="2200" dirty="0"/>
              <a:t>Overview of feature selection </a:t>
            </a:r>
            <a:r>
              <a:rPr lang="en-US" sz="2200" dirty="0" smtClean="0"/>
              <a:t>methods</a:t>
            </a:r>
          </a:p>
          <a:p>
            <a:pPr lvl="1"/>
            <a:r>
              <a:rPr lang="en-US" sz="2200" dirty="0" smtClean="0"/>
              <a:t>Filter methods</a:t>
            </a:r>
          </a:p>
          <a:p>
            <a:pPr lvl="1"/>
            <a:r>
              <a:rPr lang="en-US" sz="2200" dirty="0"/>
              <a:t>Wrapper </a:t>
            </a:r>
            <a:r>
              <a:rPr lang="en-US" sz="2200" dirty="0" smtClean="0"/>
              <a:t>methods</a:t>
            </a:r>
          </a:p>
          <a:p>
            <a:r>
              <a:rPr lang="en-US" altLang="en-US" sz="2200" dirty="0" smtClean="0"/>
              <a:t>Evaluation of feature selection methods</a:t>
            </a:r>
            <a:endParaRPr lang="en-US" altLang="en-US" sz="2200" dirty="0"/>
          </a:p>
          <a:p>
            <a:pPr lvl="1"/>
            <a:r>
              <a:rPr lang="en-US" altLang="en-US" sz="2200" dirty="0" smtClean="0"/>
              <a:t>Evaluation schemes</a:t>
            </a:r>
            <a:endParaRPr lang="en-US" altLang="en-US" sz="2200" dirty="0"/>
          </a:p>
          <a:p>
            <a:r>
              <a:rPr lang="en-US" sz="2200" dirty="0"/>
              <a:t>Feature selection </a:t>
            </a:r>
            <a:r>
              <a:rPr lang="en-US" sz="2200" dirty="0" smtClean="0"/>
              <a:t>for </a:t>
            </a:r>
            <a:r>
              <a:rPr lang="en-US" sz="2200" dirty="0"/>
              <a:t>gene expression </a:t>
            </a:r>
            <a:r>
              <a:rPr lang="en-US" sz="2200" dirty="0" smtClean="0"/>
              <a:t>data</a:t>
            </a:r>
          </a:p>
          <a:p>
            <a:pPr lvl="1"/>
            <a:r>
              <a:rPr lang="en-US" sz="2200" dirty="0" smtClean="0"/>
              <a:t>Selecting differentially expressed genes</a:t>
            </a:r>
          </a:p>
          <a:p>
            <a:r>
              <a:rPr lang="en-US" altLang="en-US" sz="2200" dirty="0" smtClean="0"/>
              <a:t>Heatmaps and visualizations</a:t>
            </a:r>
          </a:p>
          <a:p>
            <a:pPr lvl="1"/>
            <a:r>
              <a:rPr lang="en-US" altLang="en-US" sz="2200" dirty="0" smtClean="0"/>
              <a:t>Heatmaps</a:t>
            </a:r>
          </a:p>
          <a:p>
            <a:r>
              <a:rPr lang="en-US" altLang="en-US" sz="2200" dirty="0" smtClean="0"/>
              <a:t>Feature selection with R</a:t>
            </a:r>
            <a:endParaRPr lang="en-US" altLang="en-US" sz="2200" dirty="0"/>
          </a:p>
          <a:p>
            <a:pPr lvl="1"/>
            <a:r>
              <a:rPr lang="en-US" sz="2200" dirty="0"/>
              <a:t>R scripts for </a:t>
            </a:r>
            <a:r>
              <a:rPr lang="en-US" sz="2200" dirty="0" smtClean="0"/>
              <a:t>feature selection from gene </a:t>
            </a:r>
            <a:r>
              <a:rPr lang="en-US" sz="2200" dirty="0"/>
              <a:t>expressions data 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1312030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/>
              <a:t>Isabelle Bichindaritz, SUNY Oswego</a:t>
            </a:r>
            <a:endParaRPr lang="en-US" altLang="en-US" sz="1400" dirty="0"/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F4DAEBF-EBC9-49F4-AD41-978B72A49882}" type="slidenum">
              <a:rPr lang="en-US" altLang="en-US" sz="1400"/>
              <a:pPr/>
              <a:t>6</a:t>
            </a:fld>
            <a:endParaRPr lang="en-US" altLang="en-US" sz="1400" dirty="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234950"/>
            <a:ext cx="7772400" cy="1143000"/>
          </a:xfrm>
        </p:spPr>
        <p:txBody>
          <a:bodyPr>
            <a:norm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Feature Selection Methods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511300"/>
            <a:ext cx="8686800" cy="4462780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 smtClean="0"/>
              <a:t>Feature selection is also called </a:t>
            </a:r>
            <a:br>
              <a:rPr lang="en-US" altLang="en-US" dirty="0" smtClean="0"/>
            </a:br>
            <a:r>
              <a:rPr lang="en-US" altLang="en-US" dirty="0" smtClean="0"/>
              <a:t>dimensionality reduction and </a:t>
            </a:r>
            <a:br>
              <a:rPr lang="en-US" altLang="en-US" dirty="0" smtClean="0"/>
            </a:br>
            <a:r>
              <a:rPr lang="en-US" altLang="en-US" dirty="0" smtClean="0"/>
              <a:t>contributes to data reduction.</a:t>
            </a:r>
          </a:p>
          <a:p>
            <a:endParaRPr lang="en-US" altLang="en-US" dirty="0"/>
          </a:p>
          <a:p>
            <a:r>
              <a:rPr lang="en-US" altLang="en-US" dirty="0" smtClean="0"/>
              <a:t>It is very important in biomedical </a:t>
            </a:r>
            <a:br>
              <a:rPr lang="en-US" altLang="en-US" dirty="0" smtClean="0"/>
            </a:br>
            <a:r>
              <a:rPr lang="en-US" altLang="en-US" dirty="0" smtClean="0"/>
              <a:t>data due to an often large number </a:t>
            </a:r>
            <a:br>
              <a:rPr lang="en-US" altLang="en-US" dirty="0" smtClean="0"/>
            </a:br>
            <a:r>
              <a:rPr lang="en-US" altLang="en-US" dirty="0" smtClean="0"/>
              <a:t>of features available – the curse of </a:t>
            </a:r>
            <a:br>
              <a:rPr lang="en-US" altLang="en-US" dirty="0" smtClean="0"/>
            </a:br>
            <a:r>
              <a:rPr lang="en-US" altLang="en-US" dirty="0" smtClean="0"/>
              <a:t>dimensionality (Ex: number of gene </a:t>
            </a:r>
            <a:br>
              <a:rPr lang="en-US" altLang="en-US" dirty="0" smtClean="0"/>
            </a:br>
            <a:r>
              <a:rPr lang="en-US" altLang="en-US" dirty="0" smtClean="0"/>
              <a:t>expressions).</a:t>
            </a:r>
          </a:p>
          <a:p>
            <a:endParaRPr lang="en-US" altLang="en-US" dirty="0"/>
          </a:p>
          <a:p>
            <a:r>
              <a:rPr lang="en-US" altLang="en-US" dirty="0" smtClean="0"/>
              <a:t>Many feature selection methods exist.</a:t>
            </a:r>
          </a:p>
          <a:p>
            <a:endParaRPr lang="en-US" altLang="en-US" dirty="0"/>
          </a:p>
          <a:p>
            <a:endParaRPr lang="en-US" altLang="en-US" dirty="0" smtClean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842" y="2007870"/>
            <a:ext cx="5191125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822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/>
              <a:t>Isabelle Bichindaritz, SUNY Oswego</a:t>
            </a:r>
            <a:endParaRPr lang="en-US" altLang="en-US" sz="1400" dirty="0"/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F4DAEBF-EBC9-49F4-AD41-978B72A49882}" type="slidenum">
              <a:rPr lang="en-US" altLang="en-US" sz="1400"/>
              <a:pPr/>
              <a:t>7</a:t>
            </a:fld>
            <a:endParaRPr lang="en-US" altLang="en-US" sz="1400" dirty="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234950"/>
            <a:ext cx="7772400" cy="1143000"/>
          </a:xfrm>
        </p:spPr>
        <p:txBody>
          <a:bodyPr>
            <a:norm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Feature Selection Methods</a:t>
            </a:r>
          </a:p>
        </p:txBody>
      </p:sp>
      <p:pic>
        <p:nvPicPr>
          <p:cNvPr id="8" name="Picture 2" descr="C:\Users\ibichindaritz\Laptop\UWTLaptop\Isabelle\research\papers\ICDM2010\Images\uglyduckling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7000" y="1530350"/>
            <a:ext cx="6858000" cy="457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75207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/>
              <a:t>Isabelle Bichindaritz, SUNY Oswego</a:t>
            </a:r>
            <a:endParaRPr lang="en-US" altLang="en-US" sz="1400" dirty="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8</a:t>
            </a:fld>
            <a:endParaRPr lang="en-US" altLang="en-US" sz="1400" dirty="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143000"/>
          </a:xfrm>
        </p:spPr>
        <p:txBody>
          <a:bodyPr vert="horz" lIns="92075" tIns="46038" rIns="92075" bIns="46038" rtlCol="0" anchor="b">
            <a:normAutofit/>
          </a:bodyPr>
          <a:lstStyle/>
          <a:p>
            <a:pPr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Outline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960437"/>
            <a:ext cx="7772400" cy="5578475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endParaRPr lang="en-US" altLang="en-US" sz="2000" dirty="0" smtClean="0"/>
          </a:p>
          <a:p>
            <a:r>
              <a:rPr lang="en-US" altLang="en-US" sz="2200" dirty="0" smtClean="0"/>
              <a:t>Introduction </a:t>
            </a:r>
            <a:r>
              <a:rPr lang="en-US" altLang="en-US" sz="2200" dirty="0"/>
              <a:t>to </a:t>
            </a:r>
            <a:r>
              <a:rPr lang="en-US" altLang="en-US" sz="2200" dirty="0" smtClean="0"/>
              <a:t>module</a:t>
            </a:r>
            <a:endParaRPr lang="en-US" altLang="en-US" sz="2200" dirty="0"/>
          </a:p>
          <a:p>
            <a:r>
              <a:rPr lang="en-US" altLang="en-US" sz="2200" dirty="0" smtClean="0"/>
              <a:t>Feature selection methods</a:t>
            </a:r>
          </a:p>
          <a:p>
            <a:pPr lvl="1"/>
            <a:r>
              <a:rPr lang="en-US" sz="2200" b="1" dirty="0">
                <a:solidFill>
                  <a:srgbClr val="FFFF00"/>
                </a:solidFill>
              </a:rPr>
              <a:t>Overview of feature selection </a:t>
            </a:r>
            <a:r>
              <a:rPr lang="en-US" sz="2200" b="1" dirty="0" smtClean="0">
                <a:solidFill>
                  <a:srgbClr val="FFFF00"/>
                </a:solidFill>
              </a:rPr>
              <a:t>methods</a:t>
            </a:r>
          </a:p>
          <a:p>
            <a:pPr lvl="1"/>
            <a:r>
              <a:rPr lang="en-US" sz="2200" dirty="0" smtClean="0"/>
              <a:t>Filter methods</a:t>
            </a:r>
          </a:p>
          <a:p>
            <a:pPr lvl="1"/>
            <a:r>
              <a:rPr lang="en-US" sz="2200" dirty="0"/>
              <a:t>Wrapper </a:t>
            </a:r>
            <a:r>
              <a:rPr lang="en-US" sz="2200" dirty="0" smtClean="0"/>
              <a:t>methods</a:t>
            </a:r>
          </a:p>
          <a:p>
            <a:r>
              <a:rPr lang="en-US" altLang="en-US" sz="2200" dirty="0" smtClean="0"/>
              <a:t>Evaluation of feature selection methods</a:t>
            </a:r>
            <a:endParaRPr lang="en-US" altLang="en-US" sz="2200" dirty="0"/>
          </a:p>
          <a:p>
            <a:pPr lvl="1"/>
            <a:r>
              <a:rPr lang="en-US" altLang="en-US" sz="2200" dirty="0" smtClean="0"/>
              <a:t>Evaluation schemes</a:t>
            </a:r>
            <a:endParaRPr lang="en-US" altLang="en-US" sz="2200" dirty="0"/>
          </a:p>
          <a:p>
            <a:r>
              <a:rPr lang="en-US" sz="2200" dirty="0"/>
              <a:t>Feature selection </a:t>
            </a:r>
            <a:r>
              <a:rPr lang="en-US" sz="2200" dirty="0" smtClean="0"/>
              <a:t>for </a:t>
            </a:r>
            <a:r>
              <a:rPr lang="en-US" sz="2200" dirty="0"/>
              <a:t>gene expression </a:t>
            </a:r>
            <a:r>
              <a:rPr lang="en-US" sz="2200" dirty="0" smtClean="0"/>
              <a:t>data</a:t>
            </a:r>
          </a:p>
          <a:p>
            <a:pPr lvl="1"/>
            <a:r>
              <a:rPr lang="en-US" sz="2200" dirty="0" smtClean="0"/>
              <a:t>Selecting differentially expressed genes</a:t>
            </a:r>
          </a:p>
          <a:p>
            <a:r>
              <a:rPr lang="en-US" altLang="en-US" sz="2200" dirty="0" smtClean="0"/>
              <a:t>Heatmaps and visualizations</a:t>
            </a:r>
          </a:p>
          <a:p>
            <a:pPr lvl="1"/>
            <a:r>
              <a:rPr lang="en-US" altLang="en-US" sz="2200" dirty="0" smtClean="0"/>
              <a:t>Heatmaps</a:t>
            </a:r>
          </a:p>
          <a:p>
            <a:r>
              <a:rPr lang="en-US" altLang="en-US" sz="2200" dirty="0" smtClean="0"/>
              <a:t>Feature selection with R</a:t>
            </a:r>
            <a:endParaRPr lang="en-US" altLang="en-US" sz="2200" dirty="0"/>
          </a:p>
          <a:p>
            <a:pPr lvl="1"/>
            <a:r>
              <a:rPr lang="en-US" sz="2200" dirty="0"/>
              <a:t>R scripts for </a:t>
            </a:r>
            <a:r>
              <a:rPr lang="en-US" sz="2200" dirty="0" smtClean="0"/>
              <a:t>feature selection from gene </a:t>
            </a:r>
            <a:r>
              <a:rPr lang="en-US" sz="2200" dirty="0"/>
              <a:t>expressions data 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1815295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/>
              <a:t>Isabelle Bichindaritz, SUNY Oswego</a:t>
            </a:r>
            <a:endParaRPr lang="en-US" altLang="en-US" sz="1400" dirty="0"/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F4DAEBF-EBC9-49F4-AD41-978B72A49882}" type="slidenum">
              <a:rPr lang="en-US" altLang="en-US" sz="1400"/>
              <a:pPr/>
              <a:t>9</a:t>
            </a:fld>
            <a:endParaRPr lang="en-US" altLang="en-US" sz="1400" dirty="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234950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 of Feature Selection Methods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45920" y="1377950"/>
            <a:ext cx="9083040" cy="4718050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 smtClean="0"/>
              <a:t>Features may be redundant, they may duplicate much of the information contained in the other features (Ex: age and date of birth  represent the same information).</a:t>
            </a:r>
          </a:p>
          <a:p>
            <a:endParaRPr lang="en-US" altLang="en-US" dirty="0"/>
          </a:p>
          <a:p>
            <a:r>
              <a:rPr lang="en-US" altLang="en-US" dirty="0" smtClean="0"/>
              <a:t>Features may be irrelevant, they do not bring valuable information for the data analytics task (Ex: patient ID is not relevant for the analysis).</a:t>
            </a:r>
          </a:p>
          <a:p>
            <a:endParaRPr lang="en-US" altLang="en-US" dirty="0"/>
          </a:p>
          <a:p>
            <a:r>
              <a:rPr lang="en-US" altLang="en-US" dirty="0" smtClean="0"/>
              <a:t>Features may impede a data analysis method from performing well (overfitting – when the model built fits too closely the dataset, which would degrade its performance on other sets of data).</a:t>
            </a:r>
          </a:p>
          <a:p>
            <a:endParaRPr lang="en-US" altLang="en-US" dirty="0"/>
          </a:p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029902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/>
              <a:t>Isabelle Bichindaritz, SUNY Oswego</a:t>
            </a:r>
            <a:endParaRPr lang="en-US" altLang="en-US" sz="1400" dirty="0"/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F4DAEBF-EBC9-49F4-AD41-978B72A49882}" type="slidenum">
              <a:rPr lang="en-US" altLang="en-US" sz="1400"/>
              <a:pPr/>
              <a:t>10</a:t>
            </a:fld>
            <a:endParaRPr lang="en-US" altLang="en-US" sz="1400" dirty="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234950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 of Feature Selection Methods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278" y="5823194"/>
            <a:ext cx="10426449" cy="589998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en-US" altLang="en-US" dirty="0" smtClean="0"/>
              <a:t>Search problem – N features </a:t>
            </a:r>
            <a:r>
              <a:rPr lang="en-US" altLang="en-US" dirty="0" smtClean="0">
                <a:sym typeface="Wingdings" panose="05000000000000000000" pitchFamily="2" charset="2"/>
              </a:rPr>
              <a:t> 2</a:t>
            </a:r>
            <a:r>
              <a:rPr lang="en-US" altLang="en-US" baseline="30000" dirty="0" smtClean="0">
                <a:sym typeface="Wingdings" panose="05000000000000000000" pitchFamily="2" charset="2"/>
              </a:rPr>
              <a:t>N</a:t>
            </a:r>
            <a:r>
              <a:rPr lang="en-US" altLang="en-US" dirty="0" smtClean="0">
                <a:sym typeface="Wingdings" panose="05000000000000000000" pitchFamily="2" charset="2"/>
              </a:rPr>
              <a:t> subsets possible (exponential problem)</a:t>
            </a:r>
            <a:endParaRPr lang="en-US" altLang="en-US" dirty="0" smtClean="0"/>
          </a:p>
          <a:p>
            <a:pPr marL="0" indent="0" algn="ctr">
              <a:buNone/>
            </a:pPr>
            <a:endParaRPr lang="en-US" altLang="en-US" dirty="0"/>
          </a:p>
          <a:p>
            <a:pPr marL="0" indent="0" algn="ctr">
              <a:buNone/>
            </a:pPr>
            <a:endParaRPr lang="en-US" altLang="en-US" dirty="0" smtClean="0"/>
          </a:p>
        </p:txBody>
      </p:sp>
      <p:pic>
        <p:nvPicPr>
          <p:cNvPr id="6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731" y="1218926"/>
            <a:ext cx="5454693" cy="45709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3820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/>
              <a:t>Isabelle Bichindaritz, SUNY Oswego</a:t>
            </a:r>
            <a:endParaRPr lang="en-US" altLang="en-US" sz="1400" dirty="0"/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F4DAEBF-EBC9-49F4-AD41-978B72A49882}" type="slidenum">
              <a:rPr lang="en-US" altLang="en-US" sz="1400"/>
              <a:pPr/>
              <a:t>11</a:t>
            </a:fld>
            <a:endParaRPr lang="en-US" altLang="en-US" sz="1400" dirty="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234950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 of Feature Selection Methods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fr-FR" sz="2800" dirty="0" smtClean="0"/>
              <a:t>Feature selection:</a:t>
            </a:r>
          </a:p>
          <a:p>
            <a:pPr lvl="1"/>
            <a:r>
              <a:rPr lang="en-US" dirty="0" smtClean="0"/>
              <a:t>A minimal set of relevant features for future tasks such as diagnosis, treatment etc.</a:t>
            </a:r>
          </a:p>
          <a:p>
            <a:pPr lvl="1"/>
            <a:r>
              <a:rPr lang="fr-FR" dirty="0" smtClean="0"/>
              <a:t>Ex: gene selection for future prediction or </a:t>
            </a:r>
            <a:r>
              <a:rPr lang="en-US" dirty="0" smtClean="0"/>
              <a:t>assay</a:t>
            </a:r>
            <a:r>
              <a:rPr lang="fr-FR" dirty="0" smtClean="0"/>
              <a:t> </a:t>
            </a:r>
            <a:r>
              <a:rPr lang="en-US" dirty="0" smtClean="0"/>
              <a:t>development</a:t>
            </a:r>
          </a:p>
          <a:p>
            <a:pPr lvl="1"/>
            <a:endParaRPr lang="fr-FR" sz="2200" dirty="0" smtClean="0">
              <a:sym typeface="Symbol" pitchFamily="18" charset="2"/>
            </a:endParaRPr>
          </a:p>
          <a:p>
            <a:pPr lvl="1">
              <a:buNone/>
            </a:pPr>
            <a:endParaRPr lang="en-US" sz="2200" dirty="0" smtClean="0">
              <a:sym typeface="Symbol" pitchFamily="18" charset="2"/>
            </a:endParaRPr>
          </a:p>
          <a:p>
            <a:pPr lvl="1">
              <a:lnSpc>
                <a:spcPct val="90000"/>
              </a:lnSpc>
              <a:buFontTx/>
              <a:buNone/>
            </a:pPr>
            <a:endParaRPr lang="en-US" sz="3200" dirty="0" smtClean="0">
              <a:sym typeface="Symbol" pitchFamily="18" charset="2"/>
            </a:endParaRPr>
          </a:p>
          <a:p>
            <a:pPr lvl="2">
              <a:lnSpc>
                <a:spcPct val="90000"/>
              </a:lnSpc>
            </a:pPr>
            <a:endParaRPr lang="en-US" sz="1600" dirty="0" smtClean="0">
              <a:sym typeface="Symbol" pitchFamily="18" charset="2"/>
            </a:endParaRPr>
          </a:p>
          <a:p>
            <a:pPr>
              <a:lnSpc>
                <a:spcPct val="90000"/>
              </a:lnSpc>
            </a:pPr>
            <a:endParaRPr lang="en-US" sz="2400" dirty="0" smtClean="0">
              <a:sym typeface="Symbol" pitchFamily="18" charset="2"/>
            </a:endParaRPr>
          </a:p>
          <a:p>
            <a:pPr>
              <a:lnSpc>
                <a:spcPct val="90000"/>
              </a:lnSpc>
            </a:pPr>
            <a:endParaRPr lang="en-US" sz="4000" dirty="0" smtClean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5842" y="3679411"/>
            <a:ext cx="6148108" cy="2176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18065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/>
              <a:t>Isabelle Bichindaritz, SUNY Oswego</a:t>
            </a:r>
            <a:endParaRPr lang="en-US" altLang="en-US" sz="1400" dirty="0"/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F4DAEBF-EBC9-49F4-AD41-978B72A49882}" type="slidenum">
              <a:rPr lang="en-US" altLang="en-US" sz="1400"/>
              <a:pPr/>
              <a:t>12</a:t>
            </a:fld>
            <a:endParaRPr lang="en-US" altLang="en-US" sz="1400" dirty="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234950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 of Feature Selection Methods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013791" y="1581150"/>
            <a:ext cx="91440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 2" pitchFamily="18" charset="2"/>
              <a:buChar char="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Typical variable selection methods – one variable at a time</a:t>
            </a:r>
          </a:p>
          <a:p>
            <a:endParaRPr lang="en-US" dirty="0" smtClean="0">
              <a:sym typeface="Symbol" pitchFamily="18" charset="2"/>
            </a:endParaRPr>
          </a:p>
          <a:p>
            <a:endParaRPr lang="en-US" dirty="0" smtClean="0">
              <a:sym typeface="Symbol" pitchFamily="18" charset="2"/>
            </a:endParaRPr>
          </a:p>
          <a:p>
            <a:endParaRPr lang="en-US" dirty="0" smtClean="0">
              <a:sym typeface="Symbol" pitchFamily="18" charset="2"/>
            </a:endParaRPr>
          </a:p>
          <a:p>
            <a:endParaRPr lang="en-US" dirty="0" smtClean="0">
              <a:sym typeface="Symbol" pitchFamily="18" charset="2"/>
            </a:endParaRPr>
          </a:p>
          <a:p>
            <a:r>
              <a:rPr lang="en-US" dirty="0" smtClean="0">
                <a:sym typeface="Symbol" pitchFamily="18" charset="2"/>
              </a:rPr>
              <a:t>Examples:</a:t>
            </a:r>
          </a:p>
          <a:p>
            <a:pPr lvl="1"/>
            <a:r>
              <a:rPr lang="en-US" dirty="0" smtClean="0">
                <a:sym typeface="Symbol" pitchFamily="18" charset="2"/>
              </a:rPr>
              <a:t>T-test</a:t>
            </a:r>
          </a:p>
          <a:p>
            <a:pPr lvl="1"/>
            <a:r>
              <a:rPr lang="en-US" dirty="0" smtClean="0">
                <a:sym typeface="Symbol" pitchFamily="18" charset="2"/>
              </a:rPr>
              <a:t>Correlation coefficient</a:t>
            </a:r>
          </a:p>
          <a:p>
            <a:pPr lvl="1"/>
            <a:r>
              <a:rPr lang="en-US" dirty="0" smtClean="0"/>
              <a:t>Between group to within group sum of squares (BSS/ </a:t>
            </a:r>
            <a:r>
              <a:rPr lang="fr-FR" dirty="0" smtClean="0"/>
              <a:t>WSS) (Dudoit et al. 2001)</a:t>
            </a:r>
            <a:endParaRPr lang="en-US" dirty="0" smtClean="0">
              <a:sym typeface="Symbol" pitchFamily="18" charset="2"/>
            </a:endParaRPr>
          </a:p>
          <a:p>
            <a:pPr lvl="1"/>
            <a:endParaRPr lang="en-US" dirty="0" smtClean="0">
              <a:sym typeface="Symbol" pitchFamily="18" charset="2"/>
            </a:endParaRPr>
          </a:p>
          <a:p>
            <a:pPr lvl="1">
              <a:buFontTx/>
              <a:buNone/>
            </a:pPr>
            <a:endParaRPr lang="en-US" sz="3200" dirty="0" smtClean="0">
              <a:sym typeface="Symbol" pitchFamily="18" charset="2"/>
            </a:endParaRPr>
          </a:p>
          <a:p>
            <a:pPr lvl="2"/>
            <a:endParaRPr lang="en-US" sz="1600" dirty="0" smtClean="0">
              <a:sym typeface="Symbol" pitchFamily="18" charset="2"/>
            </a:endParaRPr>
          </a:p>
          <a:p>
            <a:endParaRPr lang="en-US" sz="2400" dirty="0" smtClean="0">
              <a:sym typeface="Symbol" pitchFamily="18" charset="2"/>
            </a:endParaRPr>
          </a:p>
          <a:p>
            <a:endParaRPr lang="en-US" sz="4000" dirty="0" smtClean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43107" y="2488095"/>
            <a:ext cx="513588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22732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/>
              <a:t>Isabelle Bichindaritz, SUNY Oswego</a:t>
            </a:r>
            <a:endParaRPr lang="en-US" altLang="en-US" sz="1400" dirty="0"/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F4DAEBF-EBC9-49F4-AD41-978B72A49882}" type="slidenum">
              <a:rPr lang="en-US" altLang="en-US" sz="1400"/>
              <a:pPr/>
              <a:t>13</a:t>
            </a:fld>
            <a:endParaRPr lang="en-US" altLang="en-US" sz="1400" dirty="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234950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 of Feature Selection Methods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524000" y="1377950"/>
            <a:ext cx="91440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 2" pitchFamily="18" charset="2"/>
              <a:buChar char="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Wingdings 2" pitchFamily="18" charset="2"/>
              <a:buChar char="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Multivariate gene selection</a:t>
            </a:r>
          </a:p>
          <a:p>
            <a:pPr lvl="1"/>
            <a:r>
              <a:rPr lang="en-US" dirty="0" smtClean="0"/>
              <a:t>Our goal: Consider multiple genes </a:t>
            </a:r>
            <a:br>
              <a:rPr lang="en-US" dirty="0" smtClean="0"/>
            </a:br>
            <a:r>
              <a:rPr lang="en-US" dirty="0" smtClean="0"/>
              <a:t>simultaneously to exploit the interdependence between</a:t>
            </a:r>
            <a:r>
              <a:rPr lang="fr-FR" dirty="0" smtClean="0"/>
              <a:t> </a:t>
            </a:r>
            <a:r>
              <a:rPr lang="en-US" dirty="0" smtClean="0"/>
              <a:t>genes</a:t>
            </a:r>
            <a:r>
              <a:rPr lang="fr-FR" dirty="0" smtClean="0"/>
              <a:t> to </a:t>
            </a:r>
            <a:r>
              <a:rPr lang="en-US" dirty="0" smtClean="0"/>
              <a:t>reduce</a:t>
            </a:r>
            <a:r>
              <a:rPr lang="fr-FR" dirty="0" smtClean="0"/>
              <a:t> # </a:t>
            </a:r>
            <a:r>
              <a:rPr lang="fr-FR" sz="2800" dirty="0" smtClean="0"/>
              <a:t>relevant </a:t>
            </a:r>
            <a:r>
              <a:rPr lang="en-US" sz="2800" dirty="0" smtClean="0"/>
              <a:t>genes</a:t>
            </a:r>
            <a:endParaRPr lang="en-US" sz="4000" dirty="0" smtClean="0">
              <a:sym typeface="Symbol" pitchFamily="18" charset="2"/>
            </a:endParaRPr>
          </a:p>
          <a:p>
            <a:pPr lvl="1">
              <a:buFontTx/>
              <a:buNone/>
            </a:pPr>
            <a:endParaRPr lang="en-US" sz="3200" dirty="0" smtClean="0">
              <a:sym typeface="Symbol" pitchFamily="18" charset="2"/>
            </a:endParaRPr>
          </a:p>
          <a:p>
            <a:pPr lvl="2"/>
            <a:endParaRPr lang="en-US" sz="1600" dirty="0" smtClean="0">
              <a:sym typeface="Symbol" pitchFamily="18" charset="2"/>
            </a:endParaRPr>
          </a:p>
          <a:p>
            <a:endParaRPr lang="en-US" sz="2400" dirty="0" smtClean="0">
              <a:sym typeface="Symbol" pitchFamily="18" charset="2"/>
            </a:endParaRPr>
          </a:p>
          <a:p>
            <a:endParaRPr lang="en-US" sz="4000" dirty="0" smtClean="0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38061" y="3382618"/>
            <a:ext cx="538226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70869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/>
              <a:t>Isabelle Bichindaritz, SUNY Oswego</a:t>
            </a:r>
            <a:endParaRPr lang="en-US" altLang="en-US" sz="1400" dirty="0"/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F4DAEBF-EBC9-49F4-AD41-978B72A49882}" type="slidenum">
              <a:rPr lang="en-US" altLang="en-US" sz="1400"/>
              <a:pPr/>
              <a:t>14</a:t>
            </a:fld>
            <a:endParaRPr lang="en-US" altLang="en-US" sz="1400" dirty="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234950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 of Feature Selection Methods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524000"/>
            <a:ext cx="8686800" cy="4114800"/>
          </a:xfrm>
        </p:spPr>
        <p:txBody>
          <a:bodyPr>
            <a:normAutofit lnSpcReduction="10000"/>
          </a:bodyPr>
          <a:lstStyle/>
          <a:p>
            <a:r>
              <a:rPr lang="en-US" altLang="en-US" dirty="0" smtClean="0"/>
              <a:t>More generally, feature selection methods belong to several families: 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 smtClean="0"/>
              <a:t>Filter methods where features are selected independently from the data analysis task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 smtClean="0"/>
              <a:t>Wrapper methods where features are selected based on the resulting performance in the data analysis task 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 smtClean="0"/>
              <a:t>Embedded methods where feature selection is performed during the data analysis task (no as preprocessing).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 smtClean="0"/>
          </a:p>
          <a:p>
            <a:pPr lvl="1"/>
            <a:endParaRPr lang="en-US" altLang="en-US" dirty="0" smtClean="0"/>
          </a:p>
          <a:p>
            <a:endParaRPr lang="en-US" altLang="en-US" dirty="0" smtClean="0"/>
          </a:p>
          <a:p>
            <a:endParaRPr lang="en-US" altLang="en-US" dirty="0"/>
          </a:p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927448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/>
              <a:t>Isabelle Bichindaritz, SUNY Oswego</a:t>
            </a:r>
            <a:endParaRPr lang="en-US" altLang="en-US" sz="1400" dirty="0"/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F4DAEBF-EBC9-49F4-AD41-978B72A49882}" type="slidenum">
              <a:rPr lang="en-US" altLang="en-US" sz="1400"/>
              <a:pPr/>
              <a:t>15</a:t>
            </a:fld>
            <a:endParaRPr lang="en-US" altLang="en-US" sz="1400" dirty="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599" y="-1"/>
            <a:ext cx="8686800" cy="1073149"/>
          </a:xfrm>
        </p:spPr>
        <p:txBody>
          <a:bodyPr>
            <a:normAutofit fontScale="90000"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 of Feature Selection Methods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27561" y="5803416"/>
            <a:ext cx="10515600" cy="735496"/>
          </a:xfrm>
        </p:spPr>
        <p:txBody>
          <a:bodyPr>
            <a:normAutofit fontScale="62500" lnSpcReduction="20000"/>
          </a:bodyPr>
          <a:lstStyle/>
          <a:p>
            <a:r>
              <a:rPr lang="en-US" dirty="0" smtClean="0"/>
              <a:t>Filter </a:t>
            </a:r>
            <a:r>
              <a:rPr lang="en-US" dirty="0" smtClean="0">
                <a:sym typeface="Wingdings" panose="05000000000000000000" pitchFamily="2" charset="2"/>
              </a:rPr>
              <a:t> select features independently from the task of determining whether a duckling is little duck or not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Wrapper  select features that improve the prediction of whether the duckling is a little duck or not.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9024" y="880686"/>
            <a:ext cx="4584376" cy="4753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839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/>
              <a:t>Isabelle Bichindaritz, SUNY Oswego</a:t>
            </a:r>
            <a:endParaRPr lang="en-US" altLang="en-US" sz="1400" dirty="0"/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F4DAEBF-EBC9-49F4-AD41-978B72A49882}" type="slidenum">
              <a:rPr lang="en-US" altLang="en-US" sz="1400"/>
              <a:pPr/>
              <a:t>16</a:t>
            </a:fld>
            <a:endParaRPr lang="en-US" altLang="en-US" sz="1400" dirty="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234950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 of Feature Selection Methods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524000"/>
            <a:ext cx="8686800" cy="4114800"/>
          </a:xfrm>
        </p:spPr>
        <p:txBody>
          <a:bodyPr>
            <a:normAutofit/>
          </a:bodyPr>
          <a:lstStyle/>
          <a:p>
            <a:r>
              <a:rPr lang="en-US" altLang="en-US" dirty="0" smtClean="0"/>
              <a:t>Some methods map the present features to another space where they may become more meaningful.</a:t>
            </a:r>
          </a:p>
          <a:p>
            <a:endParaRPr lang="en-US" altLang="en-US" dirty="0"/>
          </a:p>
          <a:p>
            <a:r>
              <a:rPr lang="en-US" altLang="en-US" dirty="0" smtClean="0"/>
              <a:t>This method is at the basis of such methods as </a:t>
            </a:r>
          </a:p>
          <a:p>
            <a:pPr lvl="1"/>
            <a:r>
              <a:rPr lang="en-US" altLang="en-US" dirty="0" smtClean="0"/>
              <a:t>support </a:t>
            </a:r>
            <a:r>
              <a:rPr lang="en-US" altLang="en-US" dirty="0" smtClean="0"/>
              <a:t>vector machines (SVMs), </a:t>
            </a:r>
          </a:p>
          <a:p>
            <a:pPr lvl="1"/>
            <a:r>
              <a:rPr lang="en-US" altLang="en-US" dirty="0"/>
              <a:t>s</a:t>
            </a:r>
            <a:r>
              <a:rPr lang="en-US" altLang="en-US" dirty="0" smtClean="0"/>
              <a:t>ignal processing methods such as Fourier transformation or wavelet transformation,</a:t>
            </a:r>
            <a:endParaRPr lang="en-US" altLang="en-US" dirty="0"/>
          </a:p>
          <a:p>
            <a:pPr lvl="1"/>
            <a:r>
              <a:rPr lang="en-US" altLang="en-US" dirty="0" smtClean="0"/>
              <a:t>statistical methods such as factor analysis or principal component analysis.</a:t>
            </a:r>
          </a:p>
          <a:p>
            <a:endParaRPr lang="en-US" altLang="en-US" dirty="0" smtClean="0"/>
          </a:p>
          <a:p>
            <a:endParaRPr lang="en-US" altLang="en-US" dirty="0"/>
          </a:p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025602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/>
              <a:t>Isabelle Bichindaritz, SUNY Oswego</a:t>
            </a:r>
            <a:endParaRPr lang="en-US" altLang="en-US" sz="1400" dirty="0"/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F4DAEBF-EBC9-49F4-AD41-978B72A49882}" type="slidenum">
              <a:rPr lang="en-US" altLang="en-US" sz="1400"/>
              <a:pPr/>
              <a:t>17</a:t>
            </a:fld>
            <a:endParaRPr lang="en-US" altLang="en-US" sz="1400" dirty="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234950"/>
            <a:ext cx="8686800" cy="1143000"/>
          </a:xfrm>
        </p:spPr>
        <p:txBody>
          <a:bodyPr>
            <a:normAutofit fontScale="90000"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Overview of Feature Selection Methods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5071695"/>
            <a:ext cx="8686800" cy="65324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en-US" dirty="0" smtClean="0"/>
              <a:t>Fourier transformation</a:t>
            </a:r>
          </a:p>
          <a:p>
            <a:endParaRPr lang="en-US" altLang="en-US" dirty="0" smtClean="0"/>
          </a:p>
          <a:p>
            <a:endParaRPr lang="en-US" altLang="en-US" dirty="0"/>
          </a:p>
          <a:p>
            <a:endParaRPr lang="en-US" altLang="en-US" dirty="0" smtClean="0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93"/>
          <a:stretch>
            <a:fillRect/>
          </a:stretch>
        </p:blipFill>
        <p:spPr bwMode="auto">
          <a:xfrm>
            <a:off x="7193280" y="1621137"/>
            <a:ext cx="3352800" cy="274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3"/>
          <a:stretch>
            <a:fillRect/>
          </a:stretch>
        </p:blipFill>
        <p:spPr bwMode="auto">
          <a:xfrm>
            <a:off x="1402080" y="1621137"/>
            <a:ext cx="3427413" cy="274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7" r="6209"/>
          <a:stretch>
            <a:fillRect/>
          </a:stretch>
        </p:blipFill>
        <p:spPr bwMode="auto">
          <a:xfrm>
            <a:off x="4450080" y="1621137"/>
            <a:ext cx="3124200" cy="2741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8225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/>
              <a:t>Isabelle Bichindaritz, SUNY Oswego</a:t>
            </a:r>
            <a:endParaRPr lang="en-US" altLang="en-US" sz="1400" dirty="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18</a:t>
            </a:fld>
            <a:endParaRPr lang="en-US" altLang="en-US" sz="1400" dirty="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143000"/>
          </a:xfrm>
        </p:spPr>
        <p:txBody>
          <a:bodyPr vert="horz" lIns="92075" tIns="46038" rIns="92075" bIns="46038" rtlCol="0" anchor="b">
            <a:normAutofit/>
          </a:bodyPr>
          <a:lstStyle/>
          <a:p>
            <a:pPr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Outline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960437"/>
            <a:ext cx="7772400" cy="5578475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endParaRPr lang="en-US" altLang="en-US" sz="2000" dirty="0" smtClean="0"/>
          </a:p>
          <a:p>
            <a:r>
              <a:rPr lang="en-US" altLang="en-US" sz="2200" dirty="0" smtClean="0"/>
              <a:t>Introduction </a:t>
            </a:r>
            <a:r>
              <a:rPr lang="en-US" altLang="en-US" sz="2200" dirty="0"/>
              <a:t>to </a:t>
            </a:r>
            <a:r>
              <a:rPr lang="en-US" altLang="en-US" sz="2200" dirty="0" smtClean="0"/>
              <a:t>module</a:t>
            </a:r>
            <a:endParaRPr lang="en-US" altLang="en-US" sz="2200" dirty="0"/>
          </a:p>
          <a:p>
            <a:r>
              <a:rPr lang="en-US" altLang="en-US" sz="2200" dirty="0" smtClean="0"/>
              <a:t>Feature selection methods</a:t>
            </a:r>
          </a:p>
          <a:p>
            <a:pPr lvl="1"/>
            <a:r>
              <a:rPr lang="en-US" sz="2200" dirty="0"/>
              <a:t>Overview of feature selection </a:t>
            </a:r>
            <a:r>
              <a:rPr lang="en-US" sz="2200" dirty="0" smtClean="0"/>
              <a:t>methods</a:t>
            </a:r>
          </a:p>
          <a:p>
            <a:pPr lvl="1"/>
            <a:r>
              <a:rPr lang="en-US" sz="2200" b="1" dirty="0" smtClean="0">
                <a:solidFill>
                  <a:srgbClr val="FFFF00"/>
                </a:solidFill>
              </a:rPr>
              <a:t>Filter methods</a:t>
            </a:r>
          </a:p>
          <a:p>
            <a:pPr lvl="1"/>
            <a:r>
              <a:rPr lang="en-US" sz="2200" dirty="0"/>
              <a:t>Wrapper </a:t>
            </a:r>
            <a:r>
              <a:rPr lang="en-US" sz="2200" dirty="0" smtClean="0"/>
              <a:t>methods</a:t>
            </a:r>
          </a:p>
          <a:p>
            <a:r>
              <a:rPr lang="en-US" altLang="en-US" sz="2200" dirty="0" smtClean="0"/>
              <a:t>Evaluation of feature selection methods</a:t>
            </a:r>
            <a:endParaRPr lang="en-US" altLang="en-US" sz="2200" dirty="0"/>
          </a:p>
          <a:p>
            <a:pPr lvl="1"/>
            <a:r>
              <a:rPr lang="en-US" altLang="en-US" sz="2200" dirty="0" smtClean="0"/>
              <a:t>Evaluation schemes</a:t>
            </a:r>
            <a:endParaRPr lang="en-US" altLang="en-US" sz="2200" dirty="0"/>
          </a:p>
          <a:p>
            <a:r>
              <a:rPr lang="en-US" sz="2200" dirty="0"/>
              <a:t>Feature selection </a:t>
            </a:r>
            <a:r>
              <a:rPr lang="en-US" sz="2200" dirty="0" smtClean="0"/>
              <a:t>for </a:t>
            </a:r>
            <a:r>
              <a:rPr lang="en-US" sz="2200" dirty="0"/>
              <a:t>gene expression </a:t>
            </a:r>
            <a:r>
              <a:rPr lang="en-US" sz="2200" dirty="0" smtClean="0"/>
              <a:t>data</a:t>
            </a:r>
          </a:p>
          <a:p>
            <a:pPr lvl="1"/>
            <a:r>
              <a:rPr lang="en-US" sz="2200" dirty="0" smtClean="0"/>
              <a:t>Selecting differentially expressed genes</a:t>
            </a:r>
          </a:p>
          <a:p>
            <a:r>
              <a:rPr lang="en-US" altLang="en-US" sz="2200" dirty="0" smtClean="0"/>
              <a:t>Heatmaps and visualizations</a:t>
            </a:r>
          </a:p>
          <a:p>
            <a:pPr lvl="1"/>
            <a:r>
              <a:rPr lang="en-US" altLang="en-US" sz="2200" dirty="0" smtClean="0"/>
              <a:t>Heatmaps</a:t>
            </a:r>
          </a:p>
          <a:p>
            <a:r>
              <a:rPr lang="en-US" altLang="en-US" sz="2200" dirty="0" smtClean="0"/>
              <a:t>Feature selection with R</a:t>
            </a:r>
            <a:endParaRPr lang="en-US" altLang="en-US" sz="2200" dirty="0"/>
          </a:p>
          <a:p>
            <a:pPr lvl="1"/>
            <a:r>
              <a:rPr lang="en-US" sz="2200" dirty="0"/>
              <a:t>R scripts for </a:t>
            </a:r>
            <a:r>
              <a:rPr lang="en-US" sz="2200" dirty="0" smtClean="0"/>
              <a:t>feature selection from gene </a:t>
            </a:r>
            <a:r>
              <a:rPr lang="en-US" sz="2200" dirty="0"/>
              <a:t>expressions data 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1926081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/>
              <a:t>Isabelle Bichindaritz, SUNY Oswego</a:t>
            </a:r>
            <a:endParaRPr lang="en-US" altLang="en-US" sz="1400" dirty="0"/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F4DAEBF-EBC9-49F4-AD41-978B72A49882}" type="slidenum">
              <a:rPr lang="en-US" altLang="en-US" sz="1400"/>
              <a:pPr/>
              <a:t>19</a:t>
            </a:fld>
            <a:endParaRPr lang="en-US" altLang="en-US" sz="1400" dirty="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234950"/>
            <a:ext cx="7772400" cy="1143000"/>
          </a:xfrm>
        </p:spPr>
        <p:txBody>
          <a:bodyPr>
            <a:norm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Filter Methods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524000"/>
            <a:ext cx="8686800" cy="4114800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dirty="0" smtClean="0"/>
              <a:t>Filter methods for features and classes</a:t>
            </a:r>
          </a:p>
          <a:p>
            <a:pPr lvl="1"/>
            <a:r>
              <a:rPr lang="en-US" altLang="en-US" dirty="0" smtClean="0"/>
              <a:t>A class is a predefined label associated to a particular sample.</a:t>
            </a:r>
          </a:p>
          <a:p>
            <a:pPr lvl="1"/>
            <a:r>
              <a:rPr lang="en-US" altLang="en-US" dirty="0" smtClean="0"/>
              <a:t>Ex: two classes: duck / swan</a:t>
            </a:r>
          </a:p>
          <a:p>
            <a:pPr marL="457200" lvl="1" indent="0">
              <a:buNone/>
            </a:pPr>
            <a:endParaRPr lang="en-US" altLang="en-US" dirty="0" smtClean="0"/>
          </a:p>
          <a:p>
            <a:pPr lvl="1"/>
            <a:r>
              <a:rPr lang="en-US" altLang="en-US" dirty="0" smtClean="0"/>
              <a:t>They may measure uncertainty, distance or similarity, dependence, or consistency between classes.</a:t>
            </a:r>
          </a:p>
          <a:p>
            <a:pPr lvl="1"/>
            <a:endParaRPr lang="en-US" altLang="en-US" dirty="0" smtClean="0"/>
          </a:p>
          <a:p>
            <a:pPr lvl="1"/>
            <a:r>
              <a:rPr lang="en-US" altLang="en-US" dirty="0" smtClean="0"/>
              <a:t>They are independent from the data analytics task and therefore can be applied to several different tasks:</a:t>
            </a:r>
          </a:p>
          <a:p>
            <a:pPr lvl="2"/>
            <a:r>
              <a:rPr lang="en-US" altLang="en-US" dirty="0" smtClean="0"/>
              <a:t>In this course, you will learn about several tasks, among which prediction and clustering are the main ones.</a:t>
            </a:r>
          </a:p>
          <a:p>
            <a:pPr marL="914400" lvl="2" indent="0">
              <a:buNone/>
            </a:pPr>
            <a:endParaRPr lang="en-US" altLang="en-US" dirty="0" smtClean="0"/>
          </a:p>
          <a:p>
            <a:pPr lvl="1"/>
            <a:r>
              <a:rPr lang="en-US" altLang="en-US" dirty="0" smtClean="0"/>
              <a:t>They are more simple than the wrapper methods and consequently are more efficient (take less time and resources).</a:t>
            </a:r>
          </a:p>
        </p:txBody>
      </p:sp>
    </p:spTree>
    <p:extLst>
      <p:ext uri="{BB962C8B-B14F-4D97-AF65-F5344CB8AC3E}">
        <p14:creationId xmlns:p14="http://schemas.microsoft.com/office/powerpoint/2010/main" val="4244576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/>
              <a:t>Isabelle Bichindaritz, SUNY Oswego</a:t>
            </a:r>
            <a:endParaRPr lang="en-US" altLang="en-US" sz="1400" dirty="0"/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F4DAEBF-EBC9-49F4-AD41-978B72A49882}" type="slidenum">
              <a:rPr lang="en-US" altLang="en-US" sz="1400"/>
              <a:pPr/>
              <a:t>20</a:t>
            </a:fld>
            <a:endParaRPr lang="en-US" altLang="en-US" sz="1400" dirty="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234950"/>
            <a:ext cx="7772400" cy="1143000"/>
          </a:xfrm>
        </p:spPr>
        <p:txBody>
          <a:bodyPr>
            <a:norm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Filter Methods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524000"/>
            <a:ext cx="8686800" cy="4114800"/>
          </a:xfrm>
        </p:spPr>
        <p:txBody>
          <a:bodyPr>
            <a:normAutofit lnSpcReduction="10000"/>
          </a:bodyPr>
          <a:lstStyle/>
          <a:p>
            <a:r>
              <a:rPr lang="en-US" altLang="en-US" dirty="0" smtClean="0"/>
              <a:t>Filter methods examples (see module Resources for statistics background)</a:t>
            </a:r>
          </a:p>
          <a:p>
            <a:pPr lvl="1"/>
            <a:r>
              <a:rPr lang="en-US" altLang="en-US" dirty="0" smtClean="0"/>
              <a:t>T-test of a feature between two classes (p-value &lt; 0.05, numeric features).</a:t>
            </a:r>
          </a:p>
          <a:p>
            <a:pPr lvl="1"/>
            <a:r>
              <a:rPr lang="en-US" altLang="en-US" dirty="0" smtClean="0"/>
              <a:t>Correlation coefficient (numeric features) between a feature and a class.</a:t>
            </a:r>
          </a:p>
          <a:p>
            <a:pPr lvl="1"/>
            <a:r>
              <a:rPr lang="en-US" altLang="en-US" dirty="0" smtClean="0"/>
              <a:t>Chi-square (nominal features).</a:t>
            </a:r>
          </a:p>
          <a:p>
            <a:pPr lvl="1"/>
            <a:r>
              <a:rPr lang="en-US" altLang="en-US" dirty="0" smtClean="0"/>
              <a:t>…</a:t>
            </a:r>
          </a:p>
          <a:p>
            <a:pPr lvl="1"/>
            <a:endParaRPr lang="en-US" altLang="en-US" dirty="0"/>
          </a:p>
          <a:p>
            <a:r>
              <a:rPr lang="en-US" altLang="en-US" dirty="0" smtClean="0"/>
              <a:t>They can yield a ranking of features, where features are ranked based on their differences between two classes.</a:t>
            </a:r>
          </a:p>
          <a:p>
            <a:pPr lvl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625734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/>
              <a:t>Isabelle Bichindaritz, SUNY Oswego</a:t>
            </a:r>
            <a:endParaRPr lang="en-US" altLang="en-US" sz="1400" dirty="0"/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F4DAEBF-EBC9-49F4-AD41-978B72A49882}" type="slidenum">
              <a:rPr lang="en-US" altLang="en-US" sz="1400"/>
              <a:pPr/>
              <a:t>21</a:t>
            </a:fld>
            <a:endParaRPr lang="en-US" altLang="en-US" sz="1400" dirty="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234950"/>
            <a:ext cx="7772400" cy="1143000"/>
          </a:xfrm>
        </p:spPr>
        <p:txBody>
          <a:bodyPr>
            <a:norm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Filter Methods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524000"/>
            <a:ext cx="8686800" cy="4114800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 smtClean="0"/>
              <a:t>BSS/WSS </a:t>
            </a:r>
            <a:r>
              <a:rPr lang="fr-FR" altLang="en-US" dirty="0" smtClean="0"/>
              <a:t>(</a:t>
            </a:r>
            <a:r>
              <a:rPr lang="fr-FR" dirty="0" smtClean="0"/>
              <a:t>Dudoit </a:t>
            </a:r>
            <a:r>
              <a:rPr lang="fr-FR" dirty="0"/>
              <a:t>et al. </a:t>
            </a:r>
            <a:r>
              <a:rPr lang="fr-FR" dirty="0" smtClean="0"/>
              <a:t>2001)</a:t>
            </a:r>
            <a:endParaRPr lang="en-US" dirty="0">
              <a:sym typeface="Symbol" pitchFamily="18" charset="2"/>
            </a:endParaRPr>
          </a:p>
          <a:p>
            <a:r>
              <a:rPr lang="en-US" altLang="en-US" dirty="0" smtClean="0"/>
              <a:t> Between Sum of Squares (BSS) / Within Sum of Squares (WSS)</a:t>
            </a:r>
          </a:p>
          <a:p>
            <a:pPr lvl="1"/>
            <a:r>
              <a:rPr lang="en-US" altLang="en-US" dirty="0" smtClean="0"/>
              <a:t>Two classes A and B, n</a:t>
            </a:r>
            <a:r>
              <a:rPr lang="en-US" altLang="en-US" baseline="-25000" dirty="0" smtClean="0"/>
              <a:t>a</a:t>
            </a:r>
            <a:r>
              <a:rPr lang="en-US" altLang="en-US" dirty="0" smtClean="0"/>
              <a:t> samples in A, n</a:t>
            </a:r>
            <a:r>
              <a:rPr lang="en-US" altLang="en-US" baseline="-25000" dirty="0" smtClean="0"/>
              <a:t>b</a:t>
            </a:r>
            <a:r>
              <a:rPr lang="en-US" altLang="en-US" dirty="0" smtClean="0"/>
              <a:t> samples in B, m the overall mean, m</a:t>
            </a:r>
            <a:r>
              <a:rPr lang="en-US" altLang="en-US" baseline="-25000" dirty="0" smtClean="0"/>
              <a:t>a</a:t>
            </a:r>
            <a:r>
              <a:rPr lang="en-US" altLang="en-US" dirty="0" smtClean="0"/>
              <a:t> the mean in A, m</a:t>
            </a:r>
            <a:r>
              <a:rPr lang="en-US" altLang="en-US" baseline="-25000" dirty="0" smtClean="0"/>
              <a:t>b</a:t>
            </a:r>
            <a:r>
              <a:rPr lang="en-US" altLang="en-US" dirty="0" smtClean="0"/>
              <a:t> the mean in B.</a:t>
            </a:r>
          </a:p>
          <a:p>
            <a:pPr lvl="1"/>
            <a:r>
              <a:rPr lang="en-US" altLang="en-US" dirty="0" smtClean="0"/>
              <a:t>BSS </a:t>
            </a:r>
            <a:r>
              <a:rPr lang="en-US" altLang="en-US" dirty="0"/>
              <a:t>= n</a:t>
            </a:r>
            <a:r>
              <a:rPr lang="en-US" altLang="en-US" baseline="-25000" dirty="0"/>
              <a:t>a</a:t>
            </a:r>
            <a:r>
              <a:rPr lang="en-US" altLang="en-US" dirty="0"/>
              <a:t> (m</a:t>
            </a:r>
            <a:r>
              <a:rPr lang="en-US" altLang="en-US" baseline="-25000" dirty="0"/>
              <a:t>a </a:t>
            </a:r>
            <a:r>
              <a:rPr lang="en-US" altLang="en-US" baseline="-25000" dirty="0" smtClean="0"/>
              <a:t> </a:t>
            </a:r>
            <a:r>
              <a:rPr lang="en-US" altLang="en-US" dirty="0" smtClean="0"/>
              <a:t>- m)</a:t>
            </a:r>
            <a:r>
              <a:rPr lang="en-US" altLang="en-US" baseline="30000" dirty="0" smtClean="0"/>
              <a:t>2</a:t>
            </a:r>
            <a:r>
              <a:rPr lang="en-US" altLang="en-US" dirty="0" smtClean="0"/>
              <a:t> </a:t>
            </a:r>
            <a:r>
              <a:rPr lang="en-US" altLang="en-US" dirty="0"/>
              <a:t>+ </a:t>
            </a:r>
            <a:r>
              <a:rPr lang="en-US" altLang="en-US" dirty="0" smtClean="0"/>
              <a:t>n</a:t>
            </a:r>
            <a:r>
              <a:rPr lang="en-US" altLang="en-US" baseline="-25000" dirty="0" smtClean="0"/>
              <a:t>b</a:t>
            </a:r>
            <a:r>
              <a:rPr lang="en-US" altLang="en-US" dirty="0" smtClean="0"/>
              <a:t> </a:t>
            </a:r>
            <a:r>
              <a:rPr lang="en-US" altLang="en-US" dirty="0"/>
              <a:t>(</a:t>
            </a:r>
            <a:r>
              <a:rPr lang="en-US" altLang="en-US" dirty="0" smtClean="0"/>
              <a:t>m</a:t>
            </a:r>
            <a:r>
              <a:rPr lang="en-US" altLang="en-US" baseline="-25000" dirty="0" smtClean="0"/>
              <a:t>b  </a:t>
            </a:r>
            <a:r>
              <a:rPr lang="en-US" altLang="en-US" dirty="0"/>
              <a:t>- m)</a:t>
            </a:r>
            <a:r>
              <a:rPr lang="en-US" altLang="en-US" baseline="30000" dirty="0"/>
              <a:t>2</a:t>
            </a:r>
            <a:r>
              <a:rPr lang="en-US" altLang="en-US" dirty="0"/>
              <a:t> 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WSS = sum </a:t>
            </a:r>
            <a:r>
              <a:rPr lang="en-US" altLang="en-US" baseline="-25000" dirty="0" smtClean="0"/>
              <a:t>i in A </a:t>
            </a:r>
            <a:r>
              <a:rPr lang="en-US" altLang="en-US" dirty="0" smtClean="0"/>
              <a:t>(x</a:t>
            </a:r>
            <a:r>
              <a:rPr lang="en-US" altLang="en-US" baseline="-25000" dirty="0" smtClean="0"/>
              <a:t>i</a:t>
            </a:r>
            <a:r>
              <a:rPr lang="en-US" altLang="en-US" dirty="0" smtClean="0"/>
              <a:t> </a:t>
            </a:r>
            <a:r>
              <a:rPr lang="en-US" altLang="en-US" dirty="0"/>
              <a:t>- m</a:t>
            </a:r>
            <a:r>
              <a:rPr lang="en-US" altLang="en-US" baseline="-25000" dirty="0"/>
              <a:t>a</a:t>
            </a:r>
            <a:r>
              <a:rPr lang="en-US" altLang="en-US" dirty="0" smtClean="0"/>
              <a:t>)</a:t>
            </a:r>
            <a:r>
              <a:rPr lang="en-US" altLang="en-US" baseline="30000" dirty="0"/>
              <a:t> 2</a:t>
            </a:r>
            <a:r>
              <a:rPr lang="en-US" altLang="en-US" dirty="0"/>
              <a:t>  + sum </a:t>
            </a:r>
            <a:r>
              <a:rPr lang="en-US" altLang="en-US" baseline="-25000" dirty="0"/>
              <a:t>i in </a:t>
            </a:r>
            <a:r>
              <a:rPr lang="en-US" altLang="en-US" baseline="-25000" dirty="0" smtClean="0"/>
              <a:t>B </a:t>
            </a:r>
            <a:r>
              <a:rPr lang="en-US" altLang="en-US" dirty="0"/>
              <a:t>(x</a:t>
            </a:r>
            <a:r>
              <a:rPr lang="en-US" altLang="en-US" baseline="-25000" dirty="0"/>
              <a:t>i</a:t>
            </a:r>
            <a:r>
              <a:rPr lang="en-US" altLang="en-US" dirty="0"/>
              <a:t> - </a:t>
            </a:r>
            <a:r>
              <a:rPr lang="en-US" altLang="en-US" dirty="0" smtClean="0"/>
              <a:t>m</a:t>
            </a:r>
            <a:r>
              <a:rPr lang="en-US" altLang="en-US" baseline="-25000" dirty="0" smtClean="0"/>
              <a:t>b</a:t>
            </a:r>
            <a:r>
              <a:rPr lang="en-US" altLang="en-US" dirty="0" smtClean="0"/>
              <a:t>)</a:t>
            </a:r>
            <a:r>
              <a:rPr lang="en-US" altLang="en-US" baseline="30000" dirty="0" smtClean="0"/>
              <a:t> </a:t>
            </a:r>
            <a:r>
              <a:rPr lang="en-US" altLang="en-US" baseline="30000" dirty="0"/>
              <a:t>2</a:t>
            </a:r>
            <a:r>
              <a:rPr lang="en-US" altLang="en-US" dirty="0"/>
              <a:t> 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BSS is a measure of separation between the classes, while </a:t>
            </a:r>
            <a:br>
              <a:rPr lang="en-US" altLang="en-US" dirty="0" smtClean="0"/>
            </a:br>
            <a:r>
              <a:rPr lang="en-US" altLang="en-US" dirty="0" smtClean="0"/>
              <a:t>WSS is a measure of cohesion on each class.</a:t>
            </a:r>
          </a:p>
          <a:p>
            <a:pPr lvl="1"/>
            <a:r>
              <a:rPr lang="en-US" altLang="en-US" dirty="0" smtClean="0"/>
              <a:t>BSS/WSS – ratio between to within groups sum of squares - can be used for ranking features by their discrimination power between two classes.</a:t>
            </a:r>
          </a:p>
        </p:txBody>
      </p:sp>
    </p:spTree>
    <p:extLst>
      <p:ext uri="{BB962C8B-B14F-4D97-AF65-F5344CB8AC3E}">
        <p14:creationId xmlns:p14="http://schemas.microsoft.com/office/powerpoint/2010/main" val="2769604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/>
              <a:t>Isabelle Bichindaritz, SUNY Oswego</a:t>
            </a:r>
            <a:endParaRPr lang="en-US" altLang="en-US" sz="1400" dirty="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22</a:t>
            </a:fld>
            <a:endParaRPr lang="en-US" altLang="en-US" sz="1400" dirty="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143000"/>
          </a:xfrm>
        </p:spPr>
        <p:txBody>
          <a:bodyPr vert="horz" lIns="92075" tIns="46038" rIns="92075" bIns="46038" rtlCol="0" anchor="b">
            <a:normAutofit/>
          </a:bodyPr>
          <a:lstStyle/>
          <a:p>
            <a:pPr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Outline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960437"/>
            <a:ext cx="7772400" cy="5578475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endParaRPr lang="en-US" altLang="en-US" sz="2000" dirty="0" smtClean="0"/>
          </a:p>
          <a:p>
            <a:r>
              <a:rPr lang="en-US" altLang="en-US" sz="2200" dirty="0" smtClean="0"/>
              <a:t>Introduction </a:t>
            </a:r>
            <a:r>
              <a:rPr lang="en-US" altLang="en-US" sz="2200" dirty="0"/>
              <a:t>to </a:t>
            </a:r>
            <a:r>
              <a:rPr lang="en-US" altLang="en-US" sz="2200" dirty="0" smtClean="0"/>
              <a:t>module</a:t>
            </a:r>
            <a:endParaRPr lang="en-US" altLang="en-US" sz="2200" dirty="0"/>
          </a:p>
          <a:p>
            <a:r>
              <a:rPr lang="en-US" altLang="en-US" sz="2200" dirty="0" smtClean="0"/>
              <a:t>Feature selection methods</a:t>
            </a:r>
          </a:p>
          <a:p>
            <a:pPr lvl="1"/>
            <a:r>
              <a:rPr lang="en-US" sz="2200" dirty="0"/>
              <a:t>Overview of feature selection </a:t>
            </a:r>
            <a:r>
              <a:rPr lang="en-US" sz="2200" dirty="0" smtClean="0"/>
              <a:t>methods</a:t>
            </a:r>
          </a:p>
          <a:p>
            <a:pPr lvl="1"/>
            <a:r>
              <a:rPr lang="en-US" sz="2200" dirty="0" smtClean="0"/>
              <a:t>Filter methods</a:t>
            </a:r>
          </a:p>
          <a:p>
            <a:pPr lvl="1"/>
            <a:r>
              <a:rPr lang="en-US" sz="2200" b="1" dirty="0">
                <a:solidFill>
                  <a:srgbClr val="FFFF00"/>
                </a:solidFill>
              </a:rPr>
              <a:t>Wrapper </a:t>
            </a:r>
            <a:r>
              <a:rPr lang="en-US" sz="2200" b="1" dirty="0" smtClean="0">
                <a:solidFill>
                  <a:srgbClr val="FFFF00"/>
                </a:solidFill>
              </a:rPr>
              <a:t>methods</a:t>
            </a:r>
          </a:p>
          <a:p>
            <a:r>
              <a:rPr lang="en-US" altLang="en-US" sz="2200" dirty="0" smtClean="0"/>
              <a:t>Evaluation of feature selection methods</a:t>
            </a:r>
            <a:endParaRPr lang="en-US" altLang="en-US" sz="2200" dirty="0"/>
          </a:p>
          <a:p>
            <a:pPr lvl="1"/>
            <a:r>
              <a:rPr lang="en-US" altLang="en-US" sz="2200" dirty="0" smtClean="0"/>
              <a:t>Evaluation schemes</a:t>
            </a:r>
            <a:endParaRPr lang="en-US" altLang="en-US" sz="2200" dirty="0"/>
          </a:p>
          <a:p>
            <a:r>
              <a:rPr lang="en-US" sz="2200" dirty="0"/>
              <a:t>Feature selection </a:t>
            </a:r>
            <a:r>
              <a:rPr lang="en-US" sz="2200" dirty="0" smtClean="0"/>
              <a:t>for </a:t>
            </a:r>
            <a:r>
              <a:rPr lang="en-US" sz="2200" dirty="0"/>
              <a:t>gene expression </a:t>
            </a:r>
            <a:r>
              <a:rPr lang="en-US" sz="2200" dirty="0" smtClean="0"/>
              <a:t>data</a:t>
            </a:r>
          </a:p>
          <a:p>
            <a:pPr lvl="1"/>
            <a:r>
              <a:rPr lang="en-US" sz="2200" dirty="0" smtClean="0"/>
              <a:t>Selecting differentially expressed genes</a:t>
            </a:r>
          </a:p>
          <a:p>
            <a:r>
              <a:rPr lang="en-US" altLang="en-US" sz="2200" dirty="0" smtClean="0"/>
              <a:t>Heatmaps and visualizations</a:t>
            </a:r>
          </a:p>
          <a:p>
            <a:pPr lvl="1"/>
            <a:r>
              <a:rPr lang="en-US" altLang="en-US" sz="2200" dirty="0" smtClean="0"/>
              <a:t>Heatmaps</a:t>
            </a:r>
          </a:p>
          <a:p>
            <a:r>
              <a:rPr lang="en-US" altLang="en-US" sz="2200" dirty="0" smtClean="0"/>
              <a:t>Feature selection with R</a:t>
            </a:r>
            <a:endParaRPr lang="en-US" altLang="en-US" sz="2200" dirty="0"/>
          </a:p>
          <a:p>
            <a:pPr lvl="1"/>
            <a:r>
              <a:rPr lang="en-US" sz="2200" dirty="0"/>
              <a:t>R scripts for </a:t>
            </a:r>
            <a:r>
              <a:rPr lang="en-US" sz="2200" dirty="0" smtClean="0"/>
              <a:t>feature selection from gene </a:t>
            </a:r>
            <a:r>
              <a:rPr lang="en-US" sz="2200" dirty="0"/>
              <a:t>expressions data 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533816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/>
              <a:t>Isabelle Bichindaritz, SUNY Oswego</a:t>
            </a:r>
            <a:endParaRPr lang="en-US" altLang="en-US" sz="1400" dirty="0"/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F4DAEBF-EBC9-49F4-AD41-978B72A49882}" type="slidenum">
              <a:rPr lang="en-US" altLang="en-US" sz="1400"/>
              <a:pPr/>
              <a:t>23</a:t>
            </a:fld>
            <a:endParaRPr lang="en-US" altLang="en-US" sz="1400" dirty="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234950"/>
            <a:ext cx="7772400" cy="1143000"/>
          </a:xfrm>
        </p:spPr>
        <p:txBody>
          <a:bodyPr>
            <a:norm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Wrapper Methods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9457" y="1617306"/>
            <a:ext cx="10261270" cy="4596882"/>
          </a:xfrm>
        </p:spPr>
        <p:txBody>
          <a:bodyPr>
            <a:normAutofit/>
          </a:bodyPr>
          <a:lstStyle/>
          <a:p>
            <a:r>
              <a:rPr lang="en-US" altLang="en-US" dirty="0" smtClean="0"/>
              <a:t>Wrapper methods select best features for a prediction method. </a:t>
            </a:r>
          </a:p>
          <a:p>
            <a:r>
              <a:rPr lang="en-US" altLang="en-US" dirty="0" smtClean="0"/>
              <a:t>Example:</a:t>
            </a:r>
          </a:p>
          <a:p>
            <a:pPr lvl="1"/>
            <a:r>
              <a:rPr lang="en-US" altLang="en-US" dirty="0" smtClean="0"/>
              <a:t>Bayesian Model Averaging (BMA) selects best features using Bayesian (probabilistic) method / algorithm.</a:t>
            </a:r>
          </a:p>
          <a:p>
            <a:pPr lvl="1"/>
            <a:r>
              <a:rPr lang="en-US" dirty="0" smtClean="0"/>
              <a:t>It is a multivariate variable selection technique.</a:t>
            </a:r>
          </a:p>
          <a:p>
            <a:pPr lvl="1"/>
            <a:r>
              <a:rPr lang="en-US" dirty="0" smtClean="0"/>
              <a:t>Typical model selection approaches select a model and then proceed as if the selected model has generated the data --&gt; overconfident inferences</a:t>
            </a:r>
            <a:endParaRPr lang="en-US" sz="2800" dirty="0" smtClean="0"/>
          </a:p>
          <a:p>
            <a:pPr lvl="1"/>
            <a:r>
              <a:rPr lang="en-US" dirty="0" smtClean="0"/>
              <a:t>Some advantages of BMA are:</a:t>
            </a:r>
          </a:p>
          <a:p>
            <a:pPr lvl="2"/>
            <a:r>
              <a:rPr lang="en-US" dirty="0" smtClean="0"/>
              <a:t>Fewer selected genes</a:t>
            </a:r>
          </a:p>
          <a:p>
            <a:pPr lvl="2"/>
            <a:r>
              <a:rPr lang="en-US" dirty="0" smtClean="0"/>
              <a:t>Can be generalized to any number of classes</a:t>
            </a:r>
          </a:p>
          <a:p>
            <a:pPr lvl="2"/>
            <a:r>
              <a:rPr lang="en-US" dirty="0" smtClean="0"/>
              <a:t>Posterior probabilities for selected genes and selected models.</a:t>
            </a:r>
            <a:endParaRPr lang="en-US" sz="4800" dirty="0" smtClean="0">
              <a:sym typeface="Symbol" pitchFamily="18" charset="2"/>
            </a:endParaRPr>
          </a:p>
          <a:p>
            <a:pPr lvl="1"/>
            <a:endParaRPr lang="en-US" altLang="en-US" dirty="0" smtClean="0"/>
          </a:p>
          <a:p>
            <a:pPr lvl="1"/>
            <a:endParaRPr lang="en-US" altLang="en-US" dirty="0" smtClean="0"/>
          </a:p>
          <a:p>
            <a:pPr lvl="1"/>
            <a:endParaRPr lang="en-US" altLang="en-US" dirty="0" smtClean="0"/>
          </a:p>
          <a:p>
            <a:pPr lvl="1"/>
            <a:endParaRPr lang="en-US" altLang="en-US" dirty="0" smtClean="0"/>
          </a:p>
          <a:p>
            <a:pPr lvl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171245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/>
              <a:t>Isabelle Bichindaritz, SUNY Oswego</a:t>
            </a:r>
            <a:endParaRPr lang="en-US" altLang="en-US" sz="1400" dirty="0"/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F4DAEBF-EBC9-49F4-AD41-978B72A49882}" type="slidenum">
              <a:rPr lang="en-US" altLang="en-US" sz="1400"/>
              <a:pPr/>
              <a:t>24</a:t>
            </a:fld>
            <a:endParaRPr lang="en-US" altLang="en-US" sz="1400" dirty="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234950"/>
            <a:ext cx="7772400" cy="1143000"/>
          </a:xfrm>
        </p:spPr>
        <p:txBody>
          <a:bodyPr>
            <a:norm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Wrapper Methods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99457" y="1617305"/>
            <a:ext cx="10261270" cy="4578221"/>
          </a:xfrm>
        </p:spPr>
        <p:txBody>
          <a:bodyPr>
            <a:normAutofit/>
          </a:bodyPr>
          <a:lstStyle/>
          <a:p>
            <a:r>
              <a:rPr lang="en-US" altLang="en-US" sz="2400" dirty="0" smtClean="0"/>
              <a:t>BMA averages predictions from several models (</a:t>
            </a:r>
            <a:r>
              <a:rPr lang="fr-FR" sz="2400" dirty="0" smtClean="0"/>
              <a:t>Yeung</a:t>
            </a:r>
            <a:r>
              <a:rPr lang="fr-FR" sz="2400" dirty="0"/>
              <a:t>, Bumgarner, Raftery </a:t>
            </a:r>
            <a:r>
              <a:rPr lang="fr-FR" sz="2400" dirty="0" smtClean="0"/>
              <a:t>2005)</a:t>
            </a:r>
            <a:endParaRPr lang="fr-FR" sz="2400" dirty="0"/>
          </a:p>
          <a:p>
            <a:pPr lvl="1"/>
            <a:r>
              <a:rPr lang="en-US" dirty="0"/>
              <a:t>Pre-processing step: Rank genes using BSS/WSS ratio.</a:t>
            </a:r>
          </a:p>
          <a:p>
            <a:pPr lvl="1"/>
            <a:r>
              <a:rPr lang="fr-FR" dirty="0"/>
              <a:t>Initial step:</a:t>
            </a:r>
          </a:p>
          <a:p>
            <a:pPr lvl="1"/>
            <a:endParaRPr lang="fr-FR" dirty="0"/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Repeat </a:t>
            </a:r>
            <a:r>
              <a:rPr lang="en-US" dirty="0"/>
              <a:t>until all genes are processed:</a:t>
            </a:r>
          </a:p>
          <a:p>
            <a:pPr lvl="1"/>
            <a:endParaRPr lang="en-US" dirty="0"/>
          </a:p>
          <a:p>
            <a:pPr lvl="1">
              <a:buNone/>
            </a:pPr>
            <a:endParaRPr lang="en-US" dirty="0"/>
          </a:p>
          <a:p>
            <a:endParaRPr lang="en-US" sz="2400" dirty="0" smtClean="0"/>
          </a:p>
          <a:p>
            <a:r>
              <a:rPr lang="en-US" sz="2400" dirty="0" smtClean="0"/>
              <a:t>Output</a:t>
            </a:r>
            <a:r>
              <a:rPr lang="en-US" sz="2400" dirty="0"/>
              <a:t>: selected genes and models with their posterior </a:t>
            </a:r>
            <a:r>
              <a:rPr lang="en-US" sz="2400" dirty="0" smtClean="0"/>
              <a:t>probabilities</a:t>
            </a:r>
            <a:r>
              <a:rPr lang="fr-FR" sz="2400" dirty="0" smtClean="0"/>
              <a:t>.</a:t>
            </a:r>
            <a:endParaRPr lang="en-US" sz="2400" dirty="0">
              <a:sym typeface="Symbol" pitchFamily="18" charset="2"/>
            </a:endParaRPr>
          </a:p>
          <a:p>
            <a:pPr lvl="1">
              <a:buFontTx/>
              <a:buNone/>
            </a:pPr>
            <a:endParaRPr lang="en-US" sz="3200" dirty="0">
              <a:sym typeface="Symbol" pitchFamily="18" charset="2"/>
            </a:endParaRPr>
          </a:p>
          <a:p>
            <a:endParaRPr lang="en-US" altLang="en-US" dirty="0" smtClean="0"/>
          </a:p>
          <a:p>
            <a:endParaRPr lang="en-US" sz="4800" dirty="0">
              <a:sym typeface="Symbol" pitchFamily="18" charset="2"/>
            </a:endParaRPr>
          </a:p>
          <a:p>
            <a:pPr lvl="1"/>
            <a:endParaRPr lang="en-US" altLang="en-US" dirty="0" smtClean="0"/>
          </a:p>
          <a:p>
            <a:pPr lvl="1"/>
            <a:endParaRPr lang="en-US" altLang="en-US" dirty="0"/>
          </a:p>
          <a:p>
            <a:pPr lvl="1"/>
            <a:endParaRPr lang="en-US" altLang="en-US" dirty="0" smtClean="0"/>
          </a:p>
          <a:p>
            <a:pPr lvl="1"/>
            <a:endParaRPr lang="en-US" altLang="en-US" dirty="0" smtClean="0"/>
          </a:p>
          <a:p>
            <a:pPr lvl="1"/>
            <a:endParaRPr lang="en-US" altLang="en-US" dirty="0" smtClean="0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79335" y="3231502"/>
            <a:ext cx="4901514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54453" y="4474027"/>
            <a:ext cx="4826006" cy="762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01056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/>
              <a:t>Isabelle Bichindaritz, SUNY Oswego</a:t>
            </a:r>
            <a:endParaRPr lang="en-US" altLang="en-US" sz="1400" dirty="0"/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F4DAEBF-EBC9-49F4-AD41-978B72A49882}" type="slidenum">
              <a:rPr lang="en-US" altLang="en-US" sz="1400"/>
              <a:pPr/>
              <a:t>25</a:t>
            </a:fld>
            <a:endParaRPr lang="en-US" altLang="en-US" sz="1400" dirty="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234950"/>
            <a:ext cx="7772400" cy="1143000"/>
          </a:xfrm>
        </p:spPr>
        <p:txBody>
          <a:bodyPr>
            <a:norm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Wrapper Methods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523999"/>
            <a:ext cx="8686800" cy="4671527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dirty="0" smtClean="0"/>
              <a:t>Wrapper can search for best features according to several search methods involving search direction, search strategy, and evaluation measure:</a:t>
            </a:r>
          </a:p>
          <a:p>
            <a:endParaRPr lang="en-US" altLang="en-US" dirty="0"/>
          </a:p>
          <a:p>
            <a:pPr lvl="1"/>
            <a:r>
              <a:rPr lang="en-US" altLang="en-US" dirty="0" smtClean="0"/>
              <a:t>Exhaustive tests all combinations of features.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 smtClean="0"/>
              <a:t>Best first selects first the best overall features and builds on these.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 smtClean="0"/>
              <a:t>Step wise adds or removes features one by one as long as each improves on the prediction task.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 smtClean="0"/>
              <a:t>Step wise can go forward (starts from an empty set and adds features one by one) or backward (starts from all features and removes them one by one).</a:t>
            </a:r>
          </a:p>
          <a:p>
            <a:pPr marL="457200" lvl="1" indent="0">
              <a:buNone/>
            </a:pPr>
            <a:endParaRPr lang="en-US" altLang="en-US" dirty="0" smtClean="0"/>
          </a:p>
          <a:p>
            <a:pPr lvl="1"/>
            <a:endParaRPr lang="en-US" altLang="en-US" dirty="0" smtClean="0"/>
          </a:p>
          <a:p>
            <a:pPr lvl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893603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/>
              <a:t>Isabelle Bichindaritz, SUNY Oswego</a:t>
            </a:r>
            <a:endParaRPr lang="en-US" altLang="en-US" sz="1400" dirty="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26</a:t>
            </a:fld>
            <a:endParaRPr lang="en-US" altLang="en-US" sz="1400" dirty="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143000"/>
          </a:xfrm>
        </p:spPr>
        <p:txBody>
          <a:bodyPr vert="horz" lIns="92075" tIns="46038" rIns="92075" bIns="46038" rtlCol="0" anchor="b">
            <a:normAutofit/>
          </a:bodyPr>
          <a:lstStyle/>
          <a:p>
            <a:pPr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Outline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960437"/>
            <a:ext cx="7772400" cy="5578475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endParaRPr lang="en-US" altLang="en-US" sz="2000" dirty="0" smtClean="0"/>
          </a:p>
          <a:p>
            <a:r>
              <a:rPr lang="en-US" altLang="en-US" sz="2200" dirty="0" smtClean="0"/>
              <a:t>Introduction </a:t>
            </a:r>
            <a:r>
              <a:rPr lang="en-US" altLang="en-US" sz="2200" dirty="0"/>
              <a:t>to </a:t>
            </a:r>
            <a:r>
              <a:rPr lang="en-US" altLang="en-US" sz="2200" dirty="0" smtClean="0"/>
              <a:t>module</a:t>
            </a:r>
            <a:endParaRPr lang="en-US" altLang="en-US" sz="2200" dirty="0"/>
          </a:p>
          <a:p>
            <a:r>
              <a:rPr lang="en-US" altLang="en-US" sz="2200" dirty="0" smtClean="0"/>
              <a:t>Feature selection methods</a:t>
            </a:r>
          </a:p>
          <a:p>
            <a:pPr lvl="1"/>
            <a:r>
              <a:rPr lang="en-US" sz="2200" dirty="0"/>
              <a:t>Overview of feature selection </a:t>
            </a:r>
            <a:r>
              <a:rPr lang="en-US" sz="2200" dirty="0" smtClean="0"/>
              <a:t>methods</a:t>
            </a:r>
          </a:p>
          <a:p>
            <a:pPr lvl="1"/>
            <a:r>
              <a:rPr lang="en-US" sz="2200" dirty="0" smtClean="0"/>
              <a:t>Filter methods</a:t>
            </a:r>
          </a:p>
          <a:p>
            <a:pPr lvl="1"/>
            <a:r>
              <a:rPr lang="en-US" sz="2200" dirty="0"/>
              <a:t>Wrapper </a:t>
            </a:r>
            <a:r>
              <a:rPr lang="en-US" sz="2200" dirty="0" smtClean="0"/>
              <a:t>methods</a:t>
            </a:r>
          </a:p>
          <a:p>
            <a:r>
              <a:rPr lang="en-US" altLang="en-US" sz="2200" b="1" dirty="0" smtClean="0">
                <a:solidFill>
                  <a:srgbClr val="FFFF00"/>
                </a:solidFill>
              </a:rPr>
              <a:t>Evaluation of feature selection methods</a:t>
            </a:r>
            <a:endParaRPr lang="en-US" altLang="en-US" sz="2200" b="1" dirty="0">
              <a:solidFill>
                <a:srgbClr val="FFFF00"/>
              </a:solidFill>
            </a:endParaRPr>
          </a:p>
          <a:p>
            <a:pPr lvl="1"/>
            <a:r>
              <a:rPr lang="en-US" altLang="en-US" sz="2200" dirty="0" smtClean="0"/>
              <a:t>Evaluation schemes</a:t>
            </a:r>
            <a:endParaRPr lang="en-US" altLang="en-US" sz="2200" dirty="0"/>
          </a:p>
          <a:p>
            <a:r>
              <a:rPr lang="en-US" sz="2200" dirty="0"/>
              <a:t>Feature selection </a:t>
            </a:r>
            <a:r>
              <a:rPr lang="en-US" sz="2200" dirty="0" smtClean="0"/>
              <a:t>for </a:t>
            </a:r>
            <a:r>
              <a:rPr lang="en-US" sz="2200" dirty="0"/>
              <a:t>gene expression </a:t>
            </a:r>
            <a:r>
              <a:rPr lang="en-US" sz="2200" dirty="0" smtClean="0"/>
              <a:t>data</a:t>
            </a:r>
          </a:p>
          <a:p>
            <a:pPr lvl="1"/>
            <a:r>
              <a:rPr lang="en-US" sz="2200" dirty="0" smtClean="0"/>
              <a:t>Selecting differentially expressed genes</a:t>
            </a:r>
          </a:p>
          <a:p>
            <a:r>
              <a:rPr lang="en-US" altLang="en-US" sz="2200" dirty="0" smtClean="0"/>
              <a:t>Heatmaps and visualizations</a:t>
            </a:r>
          </a:p>
          <a:p>
            <a:pPr lvl="1"/>
            <a:r>
              <a:rPr lang="en-US" altLang="en-US" sz="2200" dirty="0" smtClean="0"/>
              <a:t>Heatmaps</a:t>
            </a:r>
          </a:p>
          <a:p>
            <a:r>
              <a:rPr lang="en-US" altLang="en-US" sz="2200" dirty="0" smtClean="0"/>
              <a:t>Feature selection with R</a:t>
            </a:r>
            <a:endParaRPr lang="en-US" altLang="en-US" sz="2200" dirty="0"/>
          </a:p>
          <a:p>
            <a:pPr lvl="1"/>
            <a:r>
              <a:rPr lang="en-US" sz="2200" dirty="0"/>
              <a:t>R scripts for </a:t>
            </a:r>
            <a:r>
              <a:rPr lang="en-US" sz="2200" dirty="0" smtClean="0"/>
              <a:t>feature selection from gene </a:t>
            </a:r>
            <a:r>
              <a:rPr lang="en-US" sz="2200" dirty="0"/>
              <a:t>expressions data 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206261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/>
              <a:t>Isabelle Bichindaritz, SUNY Oswego</a:t>
            </a:r>
            <a:endParaRPr lang="en-US" altLang="en-US" sz="1400" dirty="0"/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F4DAEBF-EBC9-49F4-AD41-978B72A49882}" type="slidenum">
              <a:rPr lang="en-US" altLang="en-US" sz="1400"/>
              <a:pPr/>
              <a:t>27</a:t>
            </a:fld>
            <a:endParaRPr lang="en-US" altLang="en-US" sz="1400" dirty="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23495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Evaluation of Feature Selection Methods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51214" y="1489916"/>
            <a:ext cx="9089571" cy="4578220"/>
          </a:xfrm>
        </p:spPr>
        <p:txBody>
          <a:bodyPr>
            <a:normAutofit lnSpcReduction="10000"/>
          </a:bodyPr>
          <a:lstStyle/>
          <a:p>
            <a:r>
              <a:rPr lang="en-US" altLang="en-US" dirty="0" smtClean="0"/>
              <a:t>Evaluation of the best feature subset can take several approaches, the main ones being:</a:t>
            </a:r>
          </a:p>
          <a:p>
            <a:endParaRPr lang="en-US" altLang="en-US" dirty="0"/>
          </a:p>
          <a:p>
            <a:pPr lvl="1"/>
            <a:r>
              <a:rPr lang="en-US" altLang="en-US" sz="2800" dirty="0" smtClean="0"/>
              <a:t>Comparison of prediction performance.</a:t>
            </a:r>
          </a:p>
          <a:p>
            <a:pPr lvl="1"/>
            <a:endParaRPr lang="en-US" altLang="en-US" sz="2800" dirty="0"/>
          </a:p>
          <a:p>
            <a:pPr lvl="1"/>
            <a:r>
              <a:rPr lang="en-US" altLang="en-US" sz="2800" dirty="0" smtClean="0"/>
              <a:t>Robustness testing.</a:t>
            </a:r>
          </a:p>
          <a:p>
            <a:pPr lvl="1"/>
            <a:endParaRPr lang="en-US" altLang="en-US" sz="2800" dirty="0"/>
          </a:p>
          <a:p>
            <a:pPr lvl="1"/>
            <a:r>
              <a:rPr lang="en-US" altLang="en-US" sz="2800" dirty="0" smtClean="0"/>
              <a:t>Efficiency (time and resource comparison).</a:t>
            </a:r>
          </a:p>
          <a:p>
            <a:pPr lvl="1"/>
            <a:endParaRPr lang="en-US" altLang="en-US" sz="2800" dirty="0"/>
          </a:p>
          <a:p>
            <a:pPr lvl="1"/>
            <a:r>
              <a:rPr lang="en-US" altLang="en-US" sz="2800" dirty="0" smtClean="0"/>
              <a:t>Value added (feature ranking, feature posterior probability, feature weighting).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871252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/>
              <a:t>Isabelle Bichindaritz, SUNY Oswego</a:t>
            </a:r>
            <a:endParaRPr lang="en-US" altLang="en-US" sz="1400" dirty="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28</a:t>
            </a:fld>
            <a:endParaRPr lang="en-US" altLang="en-US" sz="1400" dirty="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143000"/>
          </a:xfrm>
        </p:spPr>
        <p:txBody>
          <a:bodyPr vert="horz" lIns="92075" tIns="46038" rIns="92075" bIns="46038" rtlCol="0" anchor="b">
            <a:normAutofit/>
          </a:bodyPr>
          <a:lstStyle/>
          <a:p>
            <a:pPr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Outline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960437"/>
            <a:ext cx="7772400" cy="5578475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endParaRPr lang="en-US" altLang="en-US" sz="2000" dirty="0" smtClean="0"/>
          </a:p>
          <a:p>
            <a:r>
              <a:rPr lang="en-US" altLang="en-US" sz="2200" dirty="0" smtClean="0"/>
              <a:t>Introduction </a:t>
            </a:r>
            <a:r>
              <a:rPr lang="en-US" altLang="en-US" sz="2200" dirty="0"/>
              <a:t>to </a:t>
            </a:r>
            <a:r>
              <a:rPr lang="en-US" altLang="en-US" sz="2200" dirty="0" smtClean="0"/>
              <a:t>module</a:t>
            </a:r>
            <a:endParaRPr lang="en-US" altLang="en-US" sz="2200" dirty="0"/>
          </a:p>
          <a:p>
            <a:r>
              <a:rPr lang="en-US" altLang="en-US" sz="2200" dirty="0" smtClean="0"/>
              <a:t>Feature selection methods</a:t>
            </a:r>
          </a:p>
          <a:p>
            <a:pPr lvl="1"/>
            <a:r>
              <a:rPr lang="en-US" sz="2200" dirty="0"/>
              <a:t>Overview of feature selection </a:t>
            </a:r>
            <a:r>
              <a:rPr lang="en-US" sz="2200" dirty="0" smtClean="0"/>
              <a:t>methods</a:t>
            </a:r>
          </a:p>
          <a:p>
            <a:pPr lvl="1"/>
            <a:r>
              <a:rPr lang="en-US" sz="2200" dirty="0" smtClean="0"/>
              <a:t>Filter methods</a:t>
            </a:r>
          </a:p>
          <a:p>
            <a:pPr lvl="1"/>
            <a:r>
              <a:rPr lang="en-US" sz="2200" dirty="0"/>
              <a:t>Wrapper </a:t>
            </a:r>
            <a:r>
              <a:rPr lang="en-US" sz="2200" dirty="0" smtClean="0"/>
              <a:t>methods</a:t>
            </a:r>
          </a:p>
          <a:p>
            <a:r>
              <a:rPr lang="en-US" altLang="en-US" sz="2200" dirty="0" smtClean="0"/>
              <a:t>Evaluation of feature selection methods</a:t>
            </a:r>
            <a:endParaRPr lang="en-US" altLang="en-US" sz="2200" dirty="0"/>
          </a:p>
          <a:p>
            <a:pPr lvl="1"/>
            <a:r>
              <a:rPr lang="en-US" altLang="en-US" sz="2200" b="1" dirty="0" smtClean="0">
                <a:solidFill>
                  <a:srgbClr val="FFFF00"/>
                </a:solidFill>
              </a:rPr>
              <a:t>Evaluation schemes</a:t>
            </a:r>
            <a:endParaRPr lang="en-US" altLang="en-US" sz="2200" b="1" dirty="0">
              <a:solidFill>
                <a:srgbClr val="FFFF00"/>
              </a:solidFill>
            </a:endParaRPr>
          </a:p>
          <a:p>
            <a:r>
              <a:rPr lang="en-US" sz="2200" dirty="0"/>
              <a:t>Feature selection </a:t>
            </a:r>
            <a:r>
              <a:rPr lang="en-US" sz="2200" dirty="0" smtClean="0"/>
              <a:t>for </a:t>
            </a:r>
            <a:r>
              <a:rPr lang="en-US" sz="2200" dirty="0"/>
              <a:t>gene expression </a:t>
            </a:r>
            <a:r>
              <a:rPr lang="en-US" sz="2200" dirty="0" smtClean="0"/>
              <a:t>data</a:t>
            </a:r>
          </a:p>
          <a:p>
            <a:pPr lvl="1"/>
            <a:r>
              <a:rPr lang="en-US" sz="2200" dirty="0" smtClean="0"/>
              <a:t>Selecting differentially expressed genes</a:t>
            </a:r>
          </a:p>
          <a:p>
            <a:r>
              <a:rPr lang="en-US" altLang="en-US" sz="2200" dirty="0" smtClean="0"/>
              <a:t>Heatmaps and visualizations</a:t>
            </a:r>
          </a:p>
          <a:p>
            <a:pPr lvl="1"/>
            <a:r>
              <a:rPr lang="en-US" altLang="en-US" sz="2200" dirty="0" smtClean="0"/>
              <a:t>Heatmaps</a:t>
            </a:r>
          </a:p>
          <a:p>
            <a:r>
              <a:rPr lang="en-US" altLang="en-US" sz="2200" dirty="0" smtClean="0"/>
              <a:t>Feature selection with R</a:t>
            </a:r>
            <a:endParaRPr lang="en-US" altLang="en-US" sz="2200" dirty="0"/>
          </a:p>
          <a:p>
            <a:pPr lvl="1"/>
            <a:r>
              <a:rPr lang="en-US" sz="2200" dirty="0"/>
              <a:t>R scripts for </a:t>
            </a:r>
            <a:r>
              <a:rPr lang="en-US" sz="2200" dirty="0" smtClean="0"/>
              <a:t>feature selection from gene </a:t>
            </a:r>
            <a:r>
              <a:rPr lang="en-US" sz="2200" dirty="0"/>
              <a:t>expressions data 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1474411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/>
              <a:t>Isabelle Bichindaritz, SUNY Oswego</a:t>
            </a:r>
            <a:endParaRPr lang="en-US" altLang="en-US" sz="1400" dirty="0"/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F4DAEBF-EBC9-49F4-AD41-978B72A49882}" type="slidenum">
              <a:rPr lang="en-US" altLang="en-US" sz="1400"/>
              <a:pPr/>
              <a:t>29</a:t>
            </a:fld>
            <a:endParaRPr lang="en-US" altLang="en-US" sz="1400" dirty="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234950"/>
            <a:ext cx="7772400" cy="1143000"/>
          </a:xfrm>
        </p:spPr>
        <p:txBody>
          <a:bodyPr>
            <a:norm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Evaluation Schemes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524000"/>
            <a:ext cx="8686800" cy="4114800"/>
          </a:xfrm>
        </p:spPr>
        <p:txBody>
          <a:bodyPr>
            <a:normAutofit/>
          </a:bodyPr>
          <a:lstStyle/>
          <a:p>
            <a:r>
              <a:rPr lang="en-US" altLang="en-US" dirty="0" smtClean="0"/>
              <a:t>Prediction performance</a:t>
            </a:r>
            <a:endParaRPr lang="en-US" altLang="en-US" dirty="0"/>
          </a:p>
          <a:p>
            <a:endParaRPr lang="en-US" altLang="en-US" dirty="0" smtClean="0"/>
          </a:p>
          <a:p>
            <a:pPr lvl="1"/>
            <a:r>
              <a:rPr lang="en-US" altLang="en-US" dirty="0" smtClean="0"/>
              <a:t>Compare the predictive power of the subset of predictive genes using the predictive task – or several of them - and determine </a:t>
            </a:r>
          </a:p>
          <a:p>
            <a:pPr lvl="1"/>
            <a:endParaRPr lang="en-US" altLang="en-US" dirty="0"/>
          </a:p>
          <a:p>
            <a:pPr lvl="2"/>
            <a:r>
              <a:rPr lang="en-US" altLang="en-US" dirty="0" smtClean="0"/>
              <a:t>Which is the best feature subset, or</a:t>
            </a:r>
          </a:p>
          <a:p>
            <a:pPr lvl="2"/>
            <a:endParaRPr lang="en-US" altLang="en-US" dirty="0"/>
          </a:p>
          <a:p>
            <a:pPr lvl="2"/>
            <a:r>
              <a:rPr lang="en-US" altLang="en-US" dirty="0" smtClean="0"/>
              <a:t>Whether the feature subsets perform better than the complete set of features.</a:t>
            </a:r>
          </a:p>
        </p:txBody>
      </p:sp>
    </p:spTree>
    <p:extLst>
      <p:ext uri="{BB962C8B-B14F-4D97-AF65-F5344CB8AC3E}">
        <p14:creationId xmlns:p14="http://schemas.microsoft.com/office/powerpoint/2010/main" val="2138836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/>
              <a:t>Isabelle Bichindaritz, SUNY Oswego</a:t>
            </a:r>
            <a:endParaRPr lang="en-US" altLang="en-US" sz="1400" dirty="0"/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F4DAEBF-EBC9-49F4-AD41-978B72A49882}" type="slidenum">
              <a:rPr lang="en-US" altLang="en-US" sz="1400"/>
              <a:pPr/>
              <a:t>30</a:t>
            </a:fld>
            <a:endParaRPr lang="en-US" altLang="en-US" sz="1400" dirty="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234950"/>
            <a:ext cx="7772400" cy="1143000"/>
          </a:xfrm>
        </p:spPr>
        <p:txBody>
          <a:bodyPr>
            <a:norm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Evaluation Schemes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199" y="1487626"/>
            <a:ext cx="8686800" cy="4868724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dirty="0" smtClean="0"/>
              <a:t>Prediction performance </a:t>
            </a:r>
            <a:br>
              <a:rPr lang="en-US" altLang="en-US" dirty="0" smtClean="0"/>
            </a:br>
            <a:r>
              <a:rPr lang="en-US" altLang="en-US" dirty="0" smtClean="0"/>
              <a:t>(Annest, Bumgarner, Yeung 2009)</a:t>
            </a:r>
          </a:p>
          <a:p>
            <a:pPr lvl="1"/>
            <a:endParaRPr lang="en-US" altLang="en-US" dirty="0" smtClean="0"/>
          </a:p>
          <a:p>
            <a:pPr lvl="1"/>
            <a:r>
              <a:rPr lang="en-US" altLang="en-US" dirty="0" smtClean="0"/>
              <a:t>Genes selected for a high-risk </a:t>
            </a:r>
            <a:br>
              <a:rPr lang="en-US" altLang="en-US" dirty="0" smtClean="0"/>
            </a:br>
            <a:r>
              <a:rPr lang="en-US" altLang="en-US" dirty="0" smtClean="0"/>
              <a:t>group (red) in comparison with </a:t>
            </a:r>
            <a:br>
              <a:rPr lang="en-US" altLang="en-US" dirty="0" smtClean="0"/>
            </a:br>
            <a:r>
              <a:rPr lang="en-US" altLang="en-US" dirty="0" smtClean="0"/>
              <a:t>a low-risk group of breast cancer </a:t>
            </a:r>
            <a:br>
              <a:rPr lang="en-US" altLang="en-US" dirty="0" smtClean="0"/>
            </a:br>
            <a:r>
              <a:rPr lang="en-US" altLang="en-US" dirty="0" smtClean="0"/>
              <a:t>patients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 smtClean="0"/>
              <a:t>Survival curve between the </a:t>
            </a:r>
            <a:br>
              <a:rPr lang="en-US" altLang="en-US" dirty="0" smtClean="0"/>
            </a:br>
            <a:r>
              <a:rPr lang="en-US" altLang="en-US" dirty="0" smtClean="0"/>
              <a:t>two groups is significant </a:t>
            </a:r>
            <a:br>
              <a:rPr lang="en-US" altLang="en-US" dirty="0" smtClean="0"/>
            </a:br>
            <a:r>
              <a:rPr lang="en-US" altLang="en-US" dirty="0" smtClean="0"/>
              <a:t>(p-value &lt; 0.05)</a:t>
            </a:r>
            <a:endParaRPr lang="en-US" altLang="en-US" dirty="0"/>
          </a:p>
          <a:p>
            <a:pPr lvl="1"/>
            <a:endParaRPr lang="en-US" altLang="en-US" dirty="0" smtClean="0"/>
          </a:p>
          <a:p>
            <a:pPr lvl="1"/>
            <a:r>
              <a:rPr lang="en-US" altLang="en-US" dirty="0" smtClean="0"/>
              <a:t>We conclude that the genes / </a:t>
            </a:r>
            <a:br>
              <a:rPr lang="en-US" altLang="en-US" dirty="0" smtClean="0"/>
            </a:br>
            <a:r>
              <a:rPr lang="en-US" altLang="en-US" dirty="0" smtClean="0"/>
              <a:t>features selected  add a value to </a:t>
            </a:r>
            <a:br>
              <a:rPr lang="en-US" altLang="en-US" dirty="0" smtClean="0"/>
            </a:br>
            <a:r>
              <a:rPr lang="en-US" altLang="en-US" dirty="0" smtClean="0"/>
              <a:t>the task of predicting the severity </a:t>
            </a:r>
            <a:br>
              <a:rPr lang="en-US" altLang="en-US" dirty="0" smtClean="0"/>
            </a:br>
            <a:r>
              <a:rPr lang="en-US" altLang="en-US" dirty="0" smtClean="0"/>
              <a:t>of this disease.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 smtClean="0"/>
              <a:t>cBioPortal can be used to perform this analysis </a:t>
            </a:r>
            <a:br>
              <a:rPr lang="en-US" altLang="en-US" dirty="0" smtClean="0"/>
            </a:br>
            <a:r>
              <a:rPr lang="en-US" altLang="en-US" dirty="0" smtClean="0"/>
              <a:t>once genes have been selected. 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94971" y="1644714"/>
            <a:ext cx="5260057" cy="45545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32494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/>
              <a:t>Isabelle Bichindaritz, SUNY Oswego</a:t>
            </a:r>
            <a:endParaRPr lang="en-US" altLang="en-US" sz="1400" dirty="0"/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F4DAEBF-EBC9-49F4-AD41-978B72A49882}" type="slidenum">
              <a:rPr lang="en-US" altLang="en-US" sz="1400"/>
              <a:pPr/>
              <a:t>31</a:t>
            </a:fld>
            <a:endParaRPr lang="en-US" altLang="en-US" sz="1400" dirty="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234950"/>
            <a:ext cx="7772400" cy="1143000"/>
          </a:xfrm>
        </p:spPr>
        <p:txBody>
          <a:bodyPr>
            <a:norm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Evaluation Schemes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67952" y="1150775"/>
            <a:ext cx="11402008" cy="4832350"/>
          </a:xfrm>
        </p:spPr>
        <p:txBody>
          <a:bodyPr>
            <a:normAutofit/>
          </a:bodyPr>
          <a:lstStyle/>
          <a:p>
            <a:r>
              <a:rPr lang="en-US" altLang="en-US" dirty="0" smtClean="0"/>
              <a:t>Prediction performance </a:t>
            </a:r>
            <a:br>
              <a:rPr lang="en-US" altLang="en-US" dirty="0" smtClean="0"/>
            </a:br>
            <a:r>
              <a:rPr lang="en-US" altLang="en-US" dirty="0" smtClean="0"/>
              <a:t>(Bichindaritz, 2010)</a:t>
            </a:r>
          </a:p>
          <a:p>
            <a:pPr marL="0" indent="0">
              <a:buNone/>
            </a:pPr>
            <a:endParaRPr lang="en-US" altLang="en-US" dirty="0"/>
          </a:p>
          <a:p>
            <a:pPr lvl="1"/>
            <a:r>
              <a:rPr lang="en-US" altLang="en-US" dirty="0" smtClean="0"/>
              <a:t>Often feature selection methods compare </a:t>
            </a:r>
            <a:br>
              <a:rPr lang="en-US" altLang="en-US" dirty="0" smtClean="0"/>
            </a:br>
            <a:r>
              <a:rPr lang="en-US" altLang="en-US" dirty="0" smtClean="0"/>
              <a:t>themselves with one another  by selecting </a:t>
            </a:r>
            <a:br>
              <a:rPr lang="en-US" altLang="en-US" dirty="0" smtClean="0"/>
            </a:br>
            <a:r>
              <a:rPr lang="en-US" altLang="en-US" dirty="0" smtClean="0"/>
              <a:t>the smallest feature subset that maximizes</a:t>
            </a:r>
            <a:br>
              <a:rPr lang="en-US" altLang="en-US" dirty="0" smtClean="0"/>
            </a:br>
            <a:r>
              <a:rPr lang="en-US" altLang="en-US" dirty="0" smtClean="0"/>
              <a:t>performance.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1274" y="1623906"/>
            <a:ext cx="5737065" cy="4545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409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/>
              <a:t>Isabelle Bichindaritz, SUNY Oswego</a:t>
            </a:r>
            <a:endParaRPr lang="en-US" altLang="en-US" sz="1400" dirty="0"/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F4DAEBF-EBC9-49F4-AD41-978B72A49882}" type="slidenum">
              <a:rPr lang="en-US" altLang="en-US" sz="1400"/>
              <a:pPr/>
              <a:t>32</a:t>
            </a:fld>
            <a:endParaRPr lang="en-US" altLang="en-US" sz="1400" dirty="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234950"/>
            <a:ext cx="7772400" cy="1143000"/>
          </a:xfrm>
        </p:spPr>
        <p:txBody>
          <a:bodyPr>
            <a:norm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Evaluation Schemes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524000"/>
            <a:ext cx="8686800" cy="4114800"/>
          </a:xfrm>
        </p:spPr>
        <p:txBody>
          <a:bodyPr>
            <a:normAutofit/>
          </a:bodyPr>
          <a:lstStyle/>
          <a:p>
            <a:r>
              <a:rPr lang="en-US" altLang="en-US" dirty="0" smtClean="0"/>
              <a:t>Robustness testing</a:t>
            </a:r>
          </a:p>
          <a:p>
            <a:endParaRPr lang="en-US" altLang="en-US" dirty="0" smtClean="0"/>
          </a:p>
          <a:p>
            <a:pPr lvl="1"/>
            <a:r>
              <a:rPr lang="en-US" altLang="en-US" dirty="0" smtClean="0"/>
              <a:t>Consists in testing how well the feature set selected resists noise.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 smtClean="0"/>
              <a:t>Obtained by adding noise (slightly modifying) the feature values and seeing whether the feature set remains unchanged.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 smtClean="0"/>
              <a:t>Can participate in avoiding overfitting.</a:t>
            </a:r>
          </a:p>
        </p:txBody>
      </p:sp>
    </p:spTree>
    <p:extLst>
      <p:ext uri="{BB962C8B-B14F-4D97-AF65-F5344CB8AC3E}">
        <p14:creationId xmlns:p14="http://schemas.microsoft.com/office/powerpoint/2010/main" val="2869072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/>
              <a:t>Isabelle Bichindaritz, SUNY Oswego</a:t>
            </a:r>
            <a:endParaRPr lang="en-US" altLang="en-US" sz="1400" dirty="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33</a:t>
            </a:fld>
            <a:endParaRPr lang="en-US" altLang="en-US" sz="1400" dirty="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143000"/>
          </a:xfrm>
        </p:spPr>
        <p:txBody>
          <a:bodyPr vert="horz" lIns="92075" tIns="46038" rIns="92075" bIns="46038" rtlCol="0" anchor="b">
            <a:normAutofit/>
          </a:bodyPr>
          <a:lstStyle/>
          <a:p>
            <a:pPr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Outline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960437"/>
            <a:ext cx="7772400" cy="5578475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endParaRPr lang="en-US" altLang="en-US" sz="2000" dirty="0" smtClean="0"/>
          </a:p>
          <a:p>
            <a:r>
              <a:rPr lang="en-US" altLang="en-US" sz="2200" dirty="0" smtClean="0"/>
              <a:t>Introduction </a:t>
            </a:r>
            <a:r>
              <a:rPr lang="en-US" altLang="en-US" sz="2200" dirty="0"/>
              <a:t>to </a:t>
            </a:r>
            <a:r>
              <a:rPr lang="en-US" altLang="en-US" sz="2200" dirty="0" smtClean="0"/>
              <a:t>module</a:t>
            </a:r>
            <a:endParaRPr lang="en-US" altLang="en-US" sz="2200" dirty="0"/>
          </a:p>
          <a:p>
            <a:r>
              <a:rPr lang="en-US" altLang="en-US" sz="2200" dirty="0" smtClean="0"/>
              <a:t>Feature selection methods</a:t>
            </a:r>
          </a:p>
          <a:p>
            <a:pPr lvl="1"/>
            <a:r>
              <a:rPr lang="en-US" sz="2200" dirty="0"/>
              <a:t>Overview of feature selection </a:t>
            </a:r>
            <a:r>
              <a:rPr lang="en-US" sz="2200" dirty="0" smtClean="0"/>
              <a:t>methods</a:t>
            </a:r>
          </a:p>
          <a:p>
            <a:pPr lvl="1"/>
            <a:r>
              <a:rPr lang="en-US" sz="2200" dirty="0" smtClean="0"/>
              <a:t>Filter methods</a:t>
            </a:r>
          </a:p>
          <a:p>
            <a:pPr lvl="1"/>
            <a:r>
              <a:rPr lang="en-US" sz="2200" dirty="0"/>
              <a:t>Wrapper </a:t>
            </a:r>
            <a:r>
              <a:rPr lang="en-US" sz="2200" dirty="0" smtClean="0"/>
              <a:t>methods</a:t>
            </a:r>
          </a:p>
          <a:p>
            <a:r>
              <a:rPr lang="en-US" altLang="en-US" sz="2200" dirty="0" smtClean="0"/>
              <a:t>Evaluation of feature selection methods</a:t>
            </a:r>
            <a:endParaRPr lang="en-US" altLang="en-US" sz="2200" dirty="0"/>
          </a:p>
          <a:p>
            <a:pPr lvl="1"/>
            <a:r>
              <a:rPr lang="en-US" altLang="en-US" sz="2200" dirty="0" smtClean="0"/>
              <a:t>Evaluation schemes</a:t>
            </a:r>
            <a:endParaRPr lang="en-US" altLang="en-US" sz="2200" dirty="0"/>
          </a:p>
          <a:p>
            <a:r>
              <a:rPr lang="en-US" sz="2200" b="1" dirty="0">
                <a:solidFill>
                  <a:srgbClr val="FFFF00"/>
                </a:solidFill>
              </a:rPr>
              <a:t>Feature selection </a:t>
            </a:r>
            <a:r>
              <a:rPr lang="en-US" sz="2200" b="1" dirty="0" smtClean="0">
                <a:solidFill>
                  <a:srgbClr val="FFFF00"/>
                </a:solidFill>
              </a:rPr>
              <a:t>for </a:t>
            </a:r>
            <a:r>
              <a:rPr lang="en-US" sz="2200" b="1" dirty="0">
                <a:solidFill>
                  <a:srgbClr val="FFFF00"/>
                </a:solidFill>
              </a:rPr>
              <a:t>gene expression </a:t>
            </a:r>
            <a:r>
              <a:rPr lang="en-US" sz="2200" b="1" dirty="0" smtClean="0">
                <a:solidFill>
                  <a:srgbClr val="FFFF00"/>
                </a:solidFill>
              </a:rPr>
              <a:t>data</a:t>
            </a:r>
          </a:p>
          <a:p>
            <a:pPr lvl="1"/>
            <a:r>
              <a:rPr lang="en-US" sz="2200" dirty="0" smtClean="0"/>
              <a:t>Selecting differentially expressed genes</a:t>
            </a:r>
          </a:p>
          <a:p>
            <a:r>
              <a:rPr lang="en-US" altLang="en-US" sz="2200" dirty="0" smtClean="0"/>
              <a:t>Heatmaps and visualizations</a:t>
            </a:r>
          </a:p>
          <a:p>
            <a:pPr lvl="1"/>
            <a:r>
              <a:rPr lang="en-US" altLang="en-US" sz="2200" dirty="0" smtClean="0"/>
              <a:t>Heatmaps</a:t>
            </a:r>
          </a:p>
          <a:p>
            <a:r>
              <a:rPr lang="en-US" altLang="en-US" sz="2200" dirty="0" smtClean="0"/>
              <a:t>Feature selection with R</a:t>
            </a:r>
            <a:endParaRPr lang="en-US" altLang="en-US" sz="2200" dirty="0"/>
          </a:p>
          <a:p>
            <a:pPr lvl="1"/>
            <a:r>
              <a:rPr lang="en-US" sz="2200" dirty="0"/>
              <a:t>R scripts for </a:t>
            </a:r>
            <a:r>
              <a:rPr lang="en-US" sz="2200" dirty="0" smtClean="0"/>
              <a:t>feature selection from gene </a:t>
            </a:r>
            <a:r>
              <a:rPr lang="en-US" sz="2200" dirty="0"/>
              <a:t>expressions data 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431094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/>
              <a:t>Isabelle Bichindaritz, SUNY Oswego</a:t>
            </a:r>
            <a:endParaRPr lang="en-US" altLang="en-US" sz="1400" dirty="0"/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F4DAEBF-EBC9-49F4-AD41-978B72A49882}" type="slidenum">
              <a:rPr lang="en-US" altLang="en-US" sz="1400"/>
              <a:pPr/>
              <a:t>34</a:t>
            </a:fld>
            <a:endParaRPr lang="en-US" altLang="en-US" sz="1400" dirty="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23495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Feature Selection for Gene Expression Data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1524000"/>
            <a:ext cx="8686800" cy="4114800"/>
          </a:xfrm>
        </p:spPr>
        <p:txBody>
          <a:bodyPr>
            <a:normAutofit/>
          </a:bodyPr>
          <a:lstStyle/>
          <a:p>
            <a:r>
              <a:rPr lang="en-US" altLang="en-US" dirty="0" smtClean="0"/>
              <a:t>Differential gene expression aims </a:t>
            </a:r>
            <a:br>
              <a:rPr lang="en-US" altLang="en-US" dirty="0" smtClean="0"/>
            </a:br>
            <a:r>
              <a:rPr lang="en-US" altLang="en-US" dirty="0" smtClean="0"/>
              <a:t>at determining whether different </a:t>
            </a:r>
            <a:br>
              <a:rPr lang="en-US" altLang="en-US" dirty="0" smtClean="0"/>
            </a:br>
            <a:r>
              <a:rPr lang="en-US" altLang="en-US" dirty="0" smtClean="0"/>
              <a:t>genes are expressed in patients </a:t>
            </a:r>
            <a:br>
              <a:rPr lang="en-US" altLang="en-US" dirty="0" smtClean="0"/>
            </a:br>
            <a:r>
              <a:rPr lang="en-US" altLang="en-US" dirty="0" smtClean="0"/>
              <a:t>of different medical conditions, or </a:t>
            </a:r>
            <a:br>
              <a:rPr lang="en-US" altLang="en-US" dirty="0" smtClean="0"/>
            </a:br>
            <a:r>
              <a:rPr lang="en-US" altLang="en-US" dirty="0" smtClean="0"/>
              <a:t>between patients and normal </a:t>
            </a:r>
            <a:br>
              <a:rPr lang="en-US" altLang="en-US" dirty="0" smtClean="0"/>
            </a:br>
            <a:r>
              <a:rPr lang="en-US" altLang="en-US" dirty="0" smtClean="0"/>
              <a:t>subjects.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4195" y="1599520"/>
            <a:ext cx="3860556" cy="439805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090988"/>
            <a:ext cx="5257800" cy="1390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8199" y="5608286"/>
            <a:ext cx="5740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Non expressed             Intermediate                Overexpressed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2753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/>
              <a:t>Isabelle Bichindaritz, SUNY Oswego</a:t>
            </a:r>
            <a:endParaRPr lang="en-US" altLang="en-US" sz="1400" dirty="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35</a:t>
            </a:fld>
            <a:endParaRPr lang="en-US" altLang="en-US" sz="1400" dirty="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143000"/>
          </a:xfrm>
        </p:spPr>
        <p:txBody>
          <a:bodyPr vert="horz" lIns="92075" tIns="46038" rIns="92075" bIns="46038" rtlCol="0" anchor="b">
            <a:normAutofit/>
          </a:bodyPr>
          <a:lstStyle/>
          <a:p>
            <a:pPr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Outline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960437"/>
            <a:ext cx="7772400" cy="5578475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endParaRPr lang="en-US" altLang="en-US" sz="2000" dirty="0" smtClean="0"/>
          </a:p>
          <a:p>
            <a:r>
              <a:rPr lang="en-US" altLang="en-US" sz="2200" dirty="0" smtClean="0"/>
              <a:t>Introduction </a:t>
            </a:r>
            <a:r>
              <a:rPr lang="en-US" altLang="en-US" sz="2200" dirty="0"/>
              <a:t>to </a:t>
            </a:r>
            <a:r>
              <a:rPr lang="en-US" altLang="en-US" sz="2200" dirty="0" smtClean="0"/>
              <a:t>module</a:t>
            </a:r>
            <a:endParaRPr lang="en-US" altLang="en-US" sz="2200" dirty="0"/>
          </a:p>
          <a:p>
            <a:r>
              <a:rPr lang="en-US" altLang="en-US" sz="2200" dirty="0" smtClean="0"/>
              <a:t>Feature selection methods</a:t>
            </a:r>
          </a:p>
          <a:p>
            <a:pPr lvl="1"/>
            <a:r>
              <a:rPr lang="en-US" sz="2200" dirty="0"/>
              <a:t>Overview of feature selection </a:t>
            </a:r>
            <a:r>
              <a:rPr lang="en-US" sz="2200" dirty="0" smtClean="0"/>
              <a:t>methods</a:t>
            </a:r>
          </a:p>
          <a:p>
            <a:pPr lvl="1"/>
            <a:r>
              <a:rPr lang="en-US" sz="2200" dirty="0" smtClean="0"/>
              <a:t>Filter methods</a:t>
            </a:r>
          </a:p>
          <a:p>
            <a:pPr lvl="1"/>
            <a:r>
              <a:rPr lang="en-US" sz="2200" dirty="0"/>
              <a:t>Wrapper </a:t>
            </a:r>
            <a:r>
              <a:rPr lang="en-US" sz="2200" dirty="0" smtClean="0"/>
              <a:t>methods</a:t>
            </a:r>
          </a:p>
          <a:p>
            <a:r>
              <a:rPr lang="en-US" altLang="en-US" sz="2200" dirty="0" smtClean="0"/>
              <a:t>Evaluation of feature selection methods</a:t>
            </a:r>
            <a:endParaRPr lang="en-US" altLang="en-US" sz="2200" dirty="0"/>
          </a:p>
          <a:p>
            <a:pPr lvl="1"/>
            <a:r>
              <a:rPr lang="en-US" altLang="en-US" sz="2200" dirty="0" smtClean="0"/>
              <a:t>Evaluation schemes</a:t>
            </a:r>
            <a:endParaRPr lang="en-US" altLang="en-US" sz="2200" dirty="0"/>
          </a:p>
          <a:p>
            <a:r>
              <a:rPr lang="en-US" sz="2200" dirty="0"/>
              <a:t>Feature selection </a:t>
            </a:r>
            <a:r>
              <a:rPr lang="en-US" sz="2200" dirty="0" smtClean="0"/>
              <a:t>for </a:t>
            </a:r>
            <a:r>
              <a:rPr lang="en-US" sz="2200" dirty="0"/>
              <a:t>gene expression </a:t>
            </a:r>
            <a:r>
              <a:rPr lang="en-US" sz="2200" dirty="0" smtClean="0"/>
              <a:t>data</a:t>
            </a:r>
          </a:p>
          <a:p>
            <a:pPr lvl="1"/>
            <a:r>
              <a:rPr lang="en-US" sz="2200" b="1" dirty="0" smtClean="0">
                <a:solidFill>
                  <a:srgbClr val="FFFF00"/>
                </a:solidFill>
              </a:rPr>
              <a:t>Selecting differentially expressed genes</a:t>
            </a:r>
          </a:p>
          <a:p>
            <a:r>
              <a:rPr lang="en-US" altLang="en-US" sz="2200" dirty="0" smtClean="0"/>
              <a:t>Heatmaps and visualizations</a:t>
            </a:r>
          </a:p>
          <a:p>
            <a:pPr lvl="1"/>
            <a:r>
              <a:rPr lang="en-US" altLang="en-US" sz="2200" dirty="0" smtClean="0"/>
              <a:t>Heatmaps</a:t>
            </a:r>
          </a:p>
          <a:p>
            <a:r>
              <a:rPr lang="en-US" altLang="en-US" sz="2200" dirty="0" smtClean="0"/>
              <a:t>Feature selection with R</a:t>
            </a:r>
            <a:endParaRPr lang="en-US" altLang="en-US" sz="2200" dirty="0"/>
          </a:p>
          <a:p>
            <a:pPr lvl="1"/>
            <a:r>
              <a:rPr lang="en-US" sz="2200" dirty="0"/>
              <a:t>R scripts for </a:t>
            </a:r>
            <a:r>
              <a:rPr lang="en-US" sz="2200" dirty="0" smtClean="0"/>
              <a:t>feature selection from gene </a:t>
            </a:r>
            <a:r>
              <a:rPr lang="en-US" sz="2200" dirty="0"/>
              <a:t>expressions data 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1392521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/>
              <a:t>Isabelle Bichindaritz, SUNY Oswego</a:t>
            </a:r>
            <a:endParaRPr lang="en-US" altLang="en-US" sz="1400" dirty="0"/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F4DAEBF-EBC9-49F4-AD41-978B72A49882}" type="slidenum">
              <a:rPr lang="en-US" altLang="en-US" sz="1400"/>
              <a:pPr/>
              <a:t>36</a:t>
            </a:fld>
            <a:endParaRPr lang="en-US" altLang="en-US" sz="1400" dirty="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23495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Selecting Differentially Expressed Genes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3009" y="1612181"/>
            <a:ext cx="8686800" cy="4114800"/>
          </a:xfrm>
        </p:spPr>
        <p:txBody>
          <a:bodyPr>
            <a:normAutofit/>
          </a:bodyPr>
          <a:lstStyle/>
          <a:p>
            <a:r>
              <a:rPr lang="en-US" altLang="en-US" dirty="0" smtClean="0"/>
              <a:t>Methods for selecting differentially </a:t>
            </a:r>
            <a:br>
              <a:rPr lang="en-US" altLang="en-US" dirty="0" smtClean="0"/>
            </a:br>
            <a:r>
              <a:rPr lang="en-US" altLang="en-US" dirty="0" smtClean="0"/>
              <a:t>expressed genes</a:t>
            </a:r>
          </a:p>
          <a:p>
            <a:pPr lvl="1"/>
            <a:r>
              <a:rPr lang="en-US" altLang="en-US" dirty="0" smtClean="0"/>
              <a:t>Calculate expression level difference with </a:t>
            </a:r>
            <a:br>
              <a:rPr lang="en-US" altLang="en-US" dirty="0" smtClean="0"/>
            </a:br>
            <a:r>
              <a:rPr lang="en-US" altLang="en-US" dirty="0" smtClean="0"/>
              <a:t>normal tissue and apply feature selection </a:t>
            </a:r>
            <a:br>
              <a:rPr lang="en-US" altLang="en-US" dirty="0" smtClean="0"/>
            </a:br>
            <a:r>
              <a:rPr lang="en-US" altLang="en-US" dirty="0" smtClean="0"/>
              <a:t>method</a:t>
            </a:r>
          </a:p>
          <a:p>
            <a:pPr lvl="1"/>
            <a:r>
              <a:rPr lang="en-US" altLang="en-US" dirty="0" smtClean="0"/>
              <a:t>DESeq2</a:t>
            </a:r>
          </a:p>
          <a:p>
            <a:pPr lvl="1"/>
            <a:r>
              <a:rPr lang="en-US" altLang="en-US" dirty="0" smtClean="0"/>
              <a:t>EdgeR</a:t>
            </a:r>
          </a:p>
          <a:p>
            <a:pPr lvl="1"/>
            <a:r>
              <a:rPr lang="en-US" altLang="en-US" dirty="0" smtClean="0"/>
              <a:t>Cuttdiff</a:t>
            </a:r>
          </a:p>
          <a:p>
            <a:pPr lvl="1"/>
            <a:r>
              <a:rPr lang="en-US" altLang="en-US" dirty="0" smtClean="0"/>
              <a:t>Limma</a:t>
            </a:r>
          </a:p>
          <a:p>
            <a:pPr lvl="1"/>
            <a:r>
              <a:rPr lang="en-US" altLang="en-US" dirty="0"/>
              <a:t>e</a:t>
            </a:r>
            <a:r>
              <a:rPr lang="en-US" altLang="en-US" dirty="0" smtClean="0"/>
              <a:t>tc.</a:t>
            </a:r>
          </a:p>
        </p:txBody>
      </p:sp>
      <p:pic>
        <p:nvPicPr>
          <p:cNvPr id="6" name="Picture 2" descr="C:\Users\ibichindaritz\Laptop\UWTLaptop\Isabelle\research\papers\ICDM2010\Images\Image-for-Poster-for-2002-Bioinformatics-Symp-71679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79297" y="1524000"/>
            <a:ext cx="4773315" cy="42911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83490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/>
              <a:t>Isabelle Bichindaritz, SUNY Oswego</a:t>
            </a:r>
            <a:endParaRPr lang="en-US" altLang="en-US" sz="1400" dirty="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37</a:t>
            </a:fld>
            <a:endParaRPr lang="en-US" altLang="en-US" sz="1400" dirty="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143000"/>
          </a:xfrm>
        </p:spPr>
        <p:txBody>
          <a:bodyPr vert="horz" lIns="92075" tIns="46038" rIns="92075" bIns="46038" rtlCol="0" anchor="b">
            <a:normAutofit/>
          </a:bodyPr>
          <a:lstStyle/>
          <a:p>
            <a:pPr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Outline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960437"/>
            <a:ext cx="7772400" cy="5578475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endParaRPr lang="en-US" altLang="en-US" sz="2000" dirty="0" smtClean="0"/>
          </a:p>
          <a:p>
            <a:r>
              <a:rPr lang="en-US" altLang="en-US" sz="2200" dirty="0" smtClean="0"/>
              <a:t>Introduction </a:t>
            </a:r>
            <a:r>
              <a:rPr lang="en-US" altLang="en-US" sz="2200" dirty="0"/>
              <a:t>to </a:t>
            </a:r>
            <a:r>
              <a:rPr lang="en-US" altLang="en-US" sz="2200" dirty="0" smtClean="0"/>
              <a:t>module</a:t>
            </a:r>
            <a:endParaRPr lang="en-US" altLang="en-US" sz="2200" dirty="0"/>
          </a:p>
          <a:p>
            <a:r>
              <a:rPr lang="en-US" altLang="en-US" sz="2200" dirty="0" smtClean="0"/>
              <a:t>Feature selection methods</a:t>
            </a:r>
          </a:p>
          <a:p>
            <a:pPr lvl="1"/>
            <a:r>
              <a:rPr lang="en-US" sz="2200" dirty="0"/>
              <a:t>Overview of feature selection </a:t>
            </a:r>
            <a:r>
              <a:rPr lang="en-US" sz="2200" dirty="0" smtClean="0"/>
              <a:t>methods</a:t>
            </a:r>
          </a:p>
          <a:p>
            <a:pPr lvl="1"/>
            <a:r>
              <a:rPr lang="en-US" sz="2200" dirty="0" smtClean="0"/>
              <a:t>Filter methods</a:t>
            </a:r>
          </a:p>
          <a:p>
            <a:pPr lvl="1"/>
            <a:r>
              <a:rPr lang="en-US" sz="2200" dirty="0"/>
              <a:t>Wrapper </a:t>
            </a:r>
            <a:r>
              <a:rPr lang="en-US" sz="2200" dirty="0" smtClean="0"/>
              <a:t>methods</a:t>
            </a:r>
          </a:p>
          <a:p>
            <a:r>
              <a:rPr lang="en-US" altLang="en-US" sz="2200" dirty="0" smtClean="0"/>
              <a:t>Evaluation of feature selection methods</a:t>
            </a:r>
            <a:endParaRPr lang="en-US" altLang="en-US" sz="2200" dirty="0"/>
          </a:p>
          <a:p>
            <a:pPr lvl="1"/>
            <a:r>
              <a:rPr lang="en-US" altLang="en-US" sz="2200" dirty="0" smtClean="0"/>
              <a:t>Evaluation schemes</a:t>
            </a:r>
            <a:endParaRPr lang="en-US" altLang="en-US" sz="2200" dirty="0"/>
          </a:p>
          <a:p>
            <a:r>
              <a:rPr lang="en-US" sz="2200" dirty="0"/>
              <a:t>Feature selection </a:t>
            </a:r>
            <a:r>
              <a:rPr lang="en-US" sz="2200" dirty="0" smtClean="0"/>
              <a:t>for </a:t>
            </a:r>
            <a:r>
              <a:rPr lang="en-US" sz="2200" dirty="0"/>
              <a:t>gene expression </a:t>
            </a:r>
            <a:r>
              <a:rPr lang="en-US" sz="2200" dirty="0" smtClean="0"/>
              <a:t>data</a:t>
            </a:r>
          </a:p>
          <a:p>
            <a:pPr lvl="1"/>
            <a:r>
              <a:rPr lang="en-US" sz="2200" dirty="0" smtClean="0"/>
              <a:t>Selecting differentially expressed genes</a:t>
            </a:r>
          </a:p>
          <a:p>
            <a:r>
              <a:rPr lang="en-US" altLang="en-US" sz="2200" b="1" dirty="0" smtClean="0">
                <a:solidFill>
                  <a:srgbClr val="FFFF00"/>
                </a:solidFill>
              </a:rPr>
              <a:t>Heatmaps and visualizations</a:t>
            </a:r>
          </a:p>
          <a:p>
            <a:pPr lvl="1"/>
            <a:r>
              <a:rPr lang="en-US" altLang="en-US" sz="2200" dirty="0" smtClean="0"/>
              <a:t>Heatmaps</a:t>
            </a:r>
          </a:p>
          <a:p>
            <a:r>
              <a:rPr lang="en-US" altLang="en-US" sz="2200" dirty="0" smtClean="0"/>
              <a:t>Feature selection with R</a:t>
            </a:r>
            <a:endParaRPr lang="en-US" altLang="en-US" sz="2200" dirty="0"/>
          </a:p>
          <a:p>
            <a:pPr lvl="1"/>
            <a:r>
              <a:rPr lang="en-US" sz="2200" dirty="0"/>
              <a:t>R scripts for </a:t>
            </a:r>
            <a:r>
              <a:rPr lang="en-US" sz="2200" dirty="0" smtClean="0"/>
              <a:t>feature selection from gene </a:t>
            </a:r>
            <a:r>
              <a:rPr lang="en-US" sz="2200" dirty="0"/>
              <a:t>expressions data 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412476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/>
              <a:t>Isabelle Bichindaritz, SUNY Oswego</a:t>
            </a:r>
            <a:endParaRPr lang="en-US" altLang="en-US" sz="1400" dirty="0"/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F4DAEBF-EBC9-49F4-AD41-978B72A49882}" type="slidenum">
              <a:rPr lang="en-US" altLang="en-US" sz="1400"/>
              <a:pPr/>
              <a:t>38</a:t>
            </a:fld>
            <a:endParaRPr lang="en-US" altLang="en-US" sz="1400" dirty="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234950"/>
            <a:ext cx="7772400" cy="1143000"/>
          </a:xfrm>
        </p:spPr>
        <p:txBody>
          <a:bodyPr>
            <a:norm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Heatmaps and Visualizations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598644"/>
            <a:ext cx="8686800" cy="4757706"/>
          </a:xfrm>
        </p:spPr>
        <p:txBody>
          <a:bodyPr>
            <a:normAutofit/>
          </a:bodyPr>
          <a:lstStyle/>
          <a:p>
            <a:r>
              <a:rPr lang="en-US" altLang="en-US" dirty="0" smtClean="0"/>
              <a:t>Visualizations play a major role for </a:t>
            </a:r>
            <a:br>
              <a:rPr lang="en-US" altLang="en-US" dirty="0" smtClean="0"/>
            </a:br>
            <a:r>
              <a:rPr lang="en-US" altLang="en-US" dirty="0" smtClean="0"/>
              <a:t>understanding the data, exploring </a:t>
            </a:r>
            <a:br>
              <a:rPr lang="en-US" altLang="en-US" dirty="0" smtClean="0"/>
            </a:br>
            <a:r>
              <a:rPr lang="en-US" altLang="en-US" dirty="0" smtClean="0"/>
              <a:t>the data, and interpreting the </a:t>
            </a:r>
            <a:br>
              <a:rPr lang="en-US" altLang="en-US" dirty="0" smtClean="0"/>
            </a:br>
            <a:r>
              <a:rPr lang="en-US" altLang="en-US" dirty="0" smtClean="0"/>
              <a:t>results of data analysis.</a:t>
            </a:r>
          </a:p>
          <a:p>
            <a:r>
              <a:rPr lang="en-US" altLang="en-US" dirty="0" smtClean="0"/>
              <a:t>Visualization methods include:</a:t>
            </a:r>
          </a:p>
          <a:p>
            <a:pPr lvl="1"/>
            <a:r>
              <a:rPr lang="en-US" altLang="en-US" dirty="0" smtClean="0"/>
              <a:t>Histograms</a:t>
            </a:r>
          </a:p>
          <a:p>
            <a:pPr lvl="1"/>
            <a:r>
              <a:rPr lang="en-US" altLang="en-US" dirty="0" smtClean="0"/>
              <a:t>Scatterplots</a:t>
            </a:r>
          </a:p>
          <a:p>
            <a:pPr lvl="1"/>
            <a:r>
              <a:rPr lang="en-US" altLang="en-US" dirty="0" smtClean="0"/>
              <a:t>Boxplots</a:t>
            </a:r>
          </a:p>
          <a:p>
            <a:pPr lvl="1"/>
            <a:r>
              <a:rPr lang="en-US" altLang="en-US" dirty="0" smtClean="0"/>
              <a:t>Survival curves (Kaplan Meyer)</a:t>
            </a:r>
          </a:p>
          <a:p>
            <a:pPr lvl="1"/>
            <a:r>
              <a:rPr lang="en-US" altLang="en-US" dirty="0" smtClean="0"/>
              <a:t>Heatmaps</a:t>
            </a:r>
          </a:p>
          <a:p>
            <a:pPr lvl="1"/>
            <a:r>
              <a:rPr lang="en-US" altLang="en-US" dirty="0"/>
              <a:t>e</a:t>
            </a:r>
            <a:r>
              <a:rPr lang="en-US" altLang="en-US" dirty="0" smtClean="0"/>
              <a:t>tc.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5040" y="1422529"/>
            <a:ext cx="660696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892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/>
              <a:t>Isabelle Bichindaritz, SUNY Oswego</a:t>
            </a:r>
            <a:endParaRPr lang="en-US" altLang="en-US" sz="1400" dirty="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39</a:t>
            </a:fld>
            <a:endParaRPr lang="en-US" altLang="en-US" sz="1400" dirty="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143000"/>
          </a:xfrm>
        </p:spPr>
        <p:txBody>
          <a:bodyPr vert="horz" lIns="92075" tIns="46038" rIns="92075" bIns="46038" rtlCol="0" anchor="b">
            <a:normAutofit/>
          </a:bodyPr>
          <a:lstStyle/>
          <a:p>
            <a:pPr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Outline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960437"/>
            <a:ext cx="7772400" cy="5578475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endParaRPr lang="en-US" altLang="en-US" sz="2000" dirty="0" smtClean="0"/>
          </a:p>
          <a:p>
            <a:r>
              <a:rPr lang="en-US" altLang="en-US" sz="2200" dirty="0" smtClean="0"/>
              <a:t>Introduction </a:t>
            </a:r>
            <a:r>
              <a:rPr lang="en-US" altLang="en-US" sz="2200" dirty="0"/>
              <a:t>to </a:t>
            </a:r>
            <a:r>
              <a:rPr lang="en-US" altLang="en-US" sz="2200" dirty="0" smtClean="0"/>
              <a:t>module</a:t>
            </a:r>
            <a:endParaRPr lang="en-US" altLang="en-US" sz="2200" dirty="0"/>
          </a:p>
          <a:p>
            <a:r>
              <a:rPr lang="en-US" altLang="en-US" sz="2200" dirty="0" smtClean="0"/>
              <a:t>Feature selection methods</a:t>
            </a:r>
          </a:p>
          <a:p>
            <a:pPr lvl="1"/>
            <a:r>
              <a:rPr lang="en-US" sz="2200" dirty="0"/>
              <a:t>Overview of feature selection </a:t>
            </a:r>
            <a:r>
              <a:rPr lang="en-US" sz="2200" dirty="0" smtClean="0"/>
              <a:t>methods</a:t>
            </a:r>
          </a:p>
          <a:p>
            <a:pPr lvl="1"/>
            <a:r>
              <a:rPr lang="en-US" sz="2200" dirty="0" smtClean="0"/>
              <a:t>Filter methods</a:t>
            </a:r>
          </a:p>
          <a:p>
            <a:pPr lvl="1"/>
            <a:r>
              <a:rPr lang="en-US" sz="2200" dirty="0"/>
              <a:t>Wrapper </a:t>
            </a:r>
            <a:r>
              <a:rPr lang="en-US" sz="2200" dirty="0" smtClean="0"/>
              <a:t>methods</a:t>
            </a:r>
          </a:p>
          <a:p>
            <a:r>
              <a:rPr lang="en-US" altLang="en-US" sz="2200" dirty="0" smtClean="0"/>
              <a:t>Evaluation of feature selection methods</a:t>
            </a:r>
            <a:endParaRPr lang="en-US" altLang="en-US" sz="2200" dirty="0"/>
          </a:p>
          <a:p>
            <a:pPr lvl="1"/>
            <a:r>
              <a:rPr lang="en-US" altLang="en-US" sz="2200" dirty="0" smtClean="0"/>
              <a:t>Evaluation schemes</a:t>
            </a:r>
            <a:endParaRPr lang="en-US" altLang="en-US" sz="2200" dirty="0"/>
          </a:p>
          <a:p>
            <a:r>
              <a:rPr lang="en-US" sz="2200" dirty="0"/>
              <a:t>Feature selection </a:t>
            </a:r>
            <a:r>
              <a:rPr lang="en-US" sz="2200" dirty="0" smtClean="0"/>
              <a:t>for </a:t>
            </a:r>
            <a:r>
              <a:rPr lang="en-US" sz="2200" dirty="0"/>
              <a:t>gene expression </a:t>
            </a:r>
            <a:r>
              <a:rPr lang="en-US" sz="2200" dirty="0" smtClean="0"/>
              <a:t>data</a:t>
            </a:r>
          </a:p>
          <a:p>
            <a:pPr lvl="1"/>
            <a:r>
              <a:rPr lang="en-US" sz="2200" dirty="0" smtClean="0"/>
              <a:t>Selecting differentially expressed genes</a:t>
            </a:r>
          </a:p>
          <a:p>
            <a:r>
              <a:rPr lang="en-US" altLang="en-US" sz="2200" dirty="0" smtClean="0"/>
              <a:t>Heatmaps and visualizations</a:t>
            </a:r>
          </a:p>
          <a:p>
            <a:pPr lvl="1"/>
            <a:r>
              <a:rPr lang="en-US" altLang="en-US" sz="2200" b="1" dirty="0" smtClean="0">
                <a:solidFill>
                  <a:srgbClr val="FFFF00"/>
                </a:solidFill>
              </a:rPr>
              <a:t>Heatmaps</a:t>
            </a:r>
          </a:p>
          <a:p>
            <a:r>
              <a:rPr lang="en-US" altLang="en-US" sz="2200" dirty="0" smtClean="0"/>
              <a:t>Feature selection with R</a:t>
            </a:r>
            <a:endParaRPr lang="en-US" altLang="en-US" sz="2200" dirty="0"/>
          </a:p>
          <a:p>
            <a:pPr lvl="1"/>
            <a:r>
              <a:rPr lang="en-US" sz="2200" dirty="0"/>
              <a:t>R scripts for </a:t>
            </a:r>
            <a:r>
              <a:rPr lang="en-US" sz="2200" dirty="0" smtClean="0"/>
              <a:t>feature selection from gene </a:t>
            </a:r>
            <a:r>
              <a:rPr lang="en-US" sz="2200" dirty="0"/>
              <a:t>expressions data 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2530044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/>
              <a:t>Isabelle Bichindaritz, SUNY Oswego</a:t>
            </a:r>
            <a:endParaRPr lang="en-US" altLang="en-US" sz="1400" dirty="0"/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F4DAEBF-EBC9-49F4-AD41-978B72A49882}" type="slidenum">
              <a:rPr lang="en-US" altLang="en-US" sz="1400"/>
              <a:pPr/>
              <a:t>40</a:t>
            </a:fld>
            <a:endParaRPr lang="en-US" altLang="en-US" sz="1400" dirty="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234950"/>
            <a:ext cx="7772400" cy="1143000"/>
          </a:xfrm>
        </p:spPr>
        <p:txBody>
          <a:bodyPr>
            <a:norm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Heatmaps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7653" y="1630362"/>
            <a:ext cx="5668347" cy="4114800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dirty="0" smtClean="0"/>
              <a:t>A heatmap is a visualization of  expression levels of features (genes etc.) using a color scale.</a:t>
            </a:r>
          </a:p>
          <a:p>
            <a:pPr marL="0" indent="0">
              <a:buNone/>
            </a:pPr>
            <a:endParaRPr lang="en-US" altLang="en-US" dirty="0" smtClean="0"/>
          </a:p>
          <a:p>
            <a:r>
              <a:rPr lang="en-US" altLang="en-US" dirty="0" smtClean="0"/>
              <a:t>In general, features are in rows and sample in columns.</a:t>
            </a:r>
          </a:p>
          <a:p>
            <a:endParaRPr lang="en-US" altLang="en-US" dirty="0"/>
          </a:p>
          <a:p>
            <a:r>
              <a:rPr lang="en-US" altLang="en-US" dirty="0" smtClean="0"/>
              <a:t>They are often combined with some clustering to group either patients in classes or features in groups, which is represented by a tree at the top and/or the side.</a:t>
            </a:r>
          </a:p>
        </p:txBody>
      </p:sp>
      <p:pic>
        <p:nvPicPr>
          <p:cNvPr id="7" name="Picture 6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327927"/>
            <a:ext cx="5340622" cy="5669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00717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/>
              <a:t>Isabelle Bichindaritz, SUNY Oswego</a:t>
            </a:r>
            <a:endParaRPr lang="en-US" altLang="en-US" sz="1400" dirty="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41</a:t>
            </a:fld>
            <a:endParaRPr lang="en-US" altLang="en-US" sz="1400" dirty="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143000"/>
          </a:xfrm>
        </p:spPr>
        <p:txBody>
          <a:bodyPr vert="horz" lIns="92075" tIns="46038" rIns="92075" bIns="46038" rtlCol="0" anchor="b">
            <a:normAutofit/>
          </a:bodyPr>
          <a:lstStyle/>
          <a:p>
            <a:pPr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Outline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960437"/>
            <a:ext cx="7772400" cy="5578475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endParaRPr lang="en-US" altLang="en-US" sz="2000" dirty="0" smtClean="0"/>
          </a:p>
          <a:p>
            <a:r>
              <a:rPr lang="en-US" altLang="en-US" sz="2200" dirty="0" smtClean="0"/>
              <a:t>Introduction </a:t>
            </a:r>
            <a:r>
              <a:rPr lang="en-US" altLang="en-US" sz="2200" dirty="0"/>
              <a:t>to </a:t>
            </a:r>
            <a:r>
              <a:rPr lang="en-US" altLang="en-US" sz="2200" dirty="0" smtClean="0"/>
              <a:t>module</a:t>
            </a:r>
            <a:endParaRPr lang="en-US" altLang="en-US" sz="2200" dirty="0"/>
          </a:p>
          <a:p>
            <a:r>
              <a:rPr lang="en-US" altLang="en-US" sz="2200" dirty="0" smtClean="0"/>
              <a:t>Feature selection methods</a:t>
            </a:r>
          </a:p>
          <a:p>
            <a:pPr lvl="1"/>
            <a:r>
              <a:rPr lang="en-US" sz="2200" dirty="0"/>
              <a:t>Overview of feature selection </a:t>
            </a:r>
            <a:r>
              <a:rPr lang="en-US" sz="2200" dirty="0" smtClean="0"/>
              <a:t>methods</a:t>
            </a:r>
          </a:p>
          <a:p>
            <a:pPr lvl="1"/>
            <a:r>
              <a:rPr lang="en-US" sz="2200" dirty="0" smtClean="0"/>
              <a:t>Filter methods</a:t>
            </a:r>
          </a:p>
          <a:p>
            <a:pPr lvl="1"/>
            <a:r>
              <a:rPr lang="en-US" sz="2200" dirty="0"/>
              <a:t>Wrapper </a:t>
            </a:r>
            <a:r>
              <a:rPr lang="en-US" sz="2200" dirty="0" smtClean="0"/>
              <a:t>methods</a:t>
            </a:r>
          </a:p>
          <a:p>
            <a:r>
              <a:rPr lang="en-US" altLang="en-US" sz="2200" dirty="0" smtClean="0"/>
              <a:t>Evaluation of feature selection methods</a:t>
            </a:r>
            <a:endParaRPr lang="en-US" altLang="en-US" sz="2200" dirty="0"/>
          </a:p>
          <a:p>
            <a:pPr lvl="1"/>
            <a:r>
              <a:rPr lang="en-US" altLang="en-US" sz="2200" dirty="0" smtClean="0"/>
              <a:t>Evaluation schemes</a:t>
            </a:r>
            <a:endParaRPr lang="en-US" altLang="en-US" sz="2200" dirty="0"/>
          </a:p>
          <a:p>
            <a:r>
              <a:rPr lang="en-US" sz="2200" dirty="0"/>
              <a:t>Feature selection </a:t>
            </a:r>
            <a:r>
              <a:rPr lang="en-US" sz="2200" dirty="0" smtClean="0"/>
              <a:t>for </a:t>
            </a:r>
            <a:r>
              <a:rPr lang="en-US" sz="2200" dirty="0"/>
              <a:t>gene expression </a:t>
            </a:r>
            <a:r>
              <a:rPr lang="en-US" sz="2200" dirty="0" smtClean="0"/>
              <a:t>data</a:t>
            </a:r>
          </a:p>
          <a:p>
            <a:pPr lvl="1"/>
            <a:r>
              <a:rPr lang="en-US" sz="2200" dirty="0" smtClean="0"/>
              <a:t>Selecting differentially expressed genes</a:t>
            </a:r>
          </a:p>
          <a:p>
            <a:r>
              <a:rPr lang="en-US" altLang="en-US" sz="2200" dirty="0" smtClean="0"/>
              <a:t>Heatmaps and visualizations</a:t>
            </a:r>
          </a:p>
          <a:p>
            <a:pPr lvl="1"/>
            <a:r>
              <a:rPr lang="en-US" altLang="en-US" sz="2200" dirty="0" smtClean="0"/>
              <a:t>Heatmaps</a:t>
            </a:r>
          </a:p>
          <a:p>
            <a:r>
              <a:rPr lang="en-US" altLang="en-US" sz="2200" b="1" dirty="0" smtClean="0">
                <a:solidFill>
                  <a:srgbClr val="FFFF00"/>
                </a:solidFill>
              </a:rPr>
              <a:t>Feature selection with R</a:t>
            </a:r>
            <a:endParaRPr lang="en-US" altLang="en-US" sz="2200" b="1" dirty="0">
              <a:solidFill>
                <a:srgbClr val="FFFF00"/>
              </a:solidFill>
            </a:endParaRPr>
          </a:p>
          <a:p>
            <a:pPr lvl="1"/>
            <a:r>
              <a:rPr lang="en-US" sz="2200" dirty="0"/>
              <a:t>R scripts for </a:t>
            </a:r>
            <a:r>
              <a:rPr lang="en-US" sz="2200" dirty="0" smtClean="0"/>
              <a:t>feature selection from gene </a:t>
            </a:r>
            <a:r>
              <a:rPr lang="en-US" sz="2200" dirty="0"/>
              <a:t>expressions data </a:t>
            </a:r>
            <a:endParaRPr lang="en-US" altLang="en-US" sz="2200" dirty="0"/>
          </a:p>
        </p:txBody>
      </p:sp>
    </p:spTree>
    <p:extLst>
      <p:ext uri="{BB962C8B-B14F-4D97-AF65-F5344CB8AC3E}">
        <p14:creationId xmlns:p14="http://schemas.microsoft.com/office/powerpoint/2010/main" val="602912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/>
              <a:t>Isabelle Bichindaritz, SUNY Oswego</a:t>
            </a:r>
            <a:endParaRPr lang="en-US" altLang="en-US" sz="1400" dirty="0"/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F4DAEBF-EBC9-49F4-AD41-978B72A49882}" type="slidenum">
              <a:rPr lang="en-US" altLang="en-US" sz="1400"/>
              <a:pPr/>
              <a:t>42</a:t>
            </a:fld>
            <a:endParaRPr lang="en-US" altLang="en-US" sz="1400" dirty="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234950"/>
            <a:ext cx="7772400" cy="1143000"/>
          </a:xfrm>
        </p:spPr>
        <p:txBody>
          <a:bodyPr>
            <a:norm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Feature Selection with R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9539" y="1617307"/>
            <a:ext cx="8686800" cy="1200538"/>
          </a:xfrm>
        </p:spPr>
        <p:txBody>
          <a:bodyPr>
            <a:normAutofit/>
          </a:bodyPr>
          <a:lstStyle/>
          <a:p>
            <a:r>
              <a:rPr lang="en-US" altLang="en-US" dirty="0" smtClean="0"/>
              <a:t>Use R to select features.</a:t>
            </a:r>
          </a:p>
          <a:p>
            <a:r>
              <a:rPr lang="en-US" altLang="en-US" dirty="0" smtClean="0"/>
              <a:t>Overfitting considerations.</a:t>
            </a:r>
          </a:p>
        </p:txBody>
      </p:sp>
      <p:pic>
        <p:nvPicPr>
          <p:cNvPr id="7" name="Picture 2" descr="C:\Users\ibichindaritz\Laptop\UWTLaptop\Isabelle\research\papers\ICDM2010\Images\reed_warbler_cuckoo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1670" y="3187823"/>
            <a:ext cx="2289400" cy="3224507"/>
          </a:xfrm>
          <a:prstGeom prst="rect">
            <a:avLst/>
          </a:prstGeom>
          <a:noFill/>
        </p:spPr>
      </p:pic>
      <p:pic>
        <p:nvPicPr>
          <p:cNvPr id="8" name="Picture 2" descr="C:\Users\ibichindaritz\Laptop\UWTLaptop\Isabelle\research\papers\ICDM2010\Images\uglyduckling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68034" y="3513682"/>
            <a:ext cx="4027131" cy="2684754"/>
          </a:xfrm>
          <a:prstGeom prst="rect">
            <a:avLst/>
          </a:prstGeom>
          <a:noFill/>
        </p:spPr>
      </p:pic>
      <p:pic>
        <p:nvPicPr>
          <p:cNvPr id="9" name="Picture 2" descr="C:\Users\ibichindaritz\Laptop\UWTLaptop\Isabelle\research\papers\ICDM2010\Images\uglyduckling6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79635" y="3481994"/>
            <a:ext cx="4207721" cy="280514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98368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/>
              <a:t>Isabelle Bichindaritz, SUNY Oswego</a:t>
            </a:r>
            <a:endParaRPr lang="en-US" altLang="en-US" sz="1400" dirty="0"/>
          </a:p>
        </p:txBody>
      </p:sp>
      <p:sp>
        <p:nvSpPr>
          <p:cNvPr id="717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D716D28-8F6E-4A42-B856-7B86E1D7F3D1}" type="slidenum">
              <a:rPr lang="en-US" altLang="en-US" sz="1400"/>
              <a:pPr/>
              <a:t>43</a:t>
            </a:fld>
            <a:endParaRPr lang="en-US" altLang="en-US" sz="1400" dirty="0"/>
          </a:p>
        </p:txBody>
      </p:sp>
      <p:sp>
        <p:nvSpPr>
          <p:cNvPr id="401410" name="Rectangle 2"/>
          <p:cNvSpPr>
            <a:spLocks noGrp="1" noChangeArrowheads="1"/>
          </p:cNvSpPr>
          <p:nvPr>
            <p:ph type="title"/>
          </p:nvPr>
        </p:nvSpPr>
        <p:spPr>
          <a:xfrm>
            <a:off x="2133600" y="0"/>
            <a:ext cx="7772400" cy="1143000"/>
          </a:xfrm>
        </p:spPr>
        <p:txBody>
          <a:bodyPr vert="horz" lIns="92075" tIns="46038" rIns="92075" bIns="46038" rtlCol="0" anchor="b">
            <a:normAutofit/>
          </a:bodyPr>
          <a:lstStyle/>
          <a:p>
            <a:pPr>
              <a:defRPr/>
            </a:pPr>
            <a:r>
              <a:rPr lang="en-US" b="1" dirty="0" smtClean="0">
                <a:effectLst>
                  <a:outerShdw blurRad="38100" dist="38100" dir="2700000" algn="tl">
                    <a:srgbClr val="000000"/>
                  </a:outerShdw>
                </a:effectLst>
              </a:rPr>
              <a:t>Outline</a:t>
            </a: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33600" y="960437"/>
            <a:ext cx="7772400" cy="5578475"/>
          </a:xfrm>
          <a:noFill/>
        </p:spPr>
        <p:txBody>
          <a:bodyPr vert="horz" lIns="92075" tIns="46038" rIns="92075" bIns="46038" rtlCol="0">
            <a:normAutofit/>
          </a:bodyPr>
          <a:lstStyle/>
          <a:p>
            <a:endParaRPr lang="en-US" altLang="en-US" sz="2000" dirty="0" smtClean="0"/>
          </a:p>
          <a:p>
            <a:r>
              <a:rPr lang="en-US" altLang="en-US" sz="2200" dirty="0" smtClean="0"/>
              <a:t>Introduction </a:t>
            </a:r>
            <a:r>
              <a:rPr lang="en-US" altLang="en-US" sz="2200" dirty="0"/>
              <a:t>to </a:t>
            </a:r>
            <a:r>
              <a:rPr lang="en-US" altLang="en-US" sz="2200" dirty="0" smtClean="0"/>
              <a:t>module</a:t>
            </a:r>
            <a:endParaRPr lang="en-US" altLang="en-US" sz="2200" dirty="0"/>
          </a:p>
          <a:p>
            <a:r>
              <a:rPr lang="en-US" altLang="en-US" sz="2200" dirty="0" smtClean="0"/>
              <a:t>Feature selection methods</a:t>
            </a:r>
          </a:p>
          <a:p>
            <a:pPr lvl="1"/>
            <a:r>
              <a:rPr lang="en-US" sz="2200" dirty="0"/>
              <a:t>Overview of feature selection </a:t>
            </a:r>
            <a:r>
              <a:rPr lang="en-US" sz="2200" dirty="0" smtClean="0"/>
              <a:t>methods</a:t>
            </a:r>
          </a:p>
          <a:p>
            <a:pPr lvl="1"/>
            <a:r>
              <a:rPr lang="en-US" sz="2200" dirty="0" smtClean="0"/>
              <a:t>Filter methods</a:t>
            </a:r>
          </a:p>
          <a:p>
            <a:pPr lvl="1"/>
            <a:r>
              <a:rPr lang="en-US" sz="2200" dirty="0"/>
              <a:t>Wrapper </a:t>
            </a:r>
            <a:r>
              <a:rPr lang="en-US" sz="2200" dirty="0" smtClean="0"/>
              <a:t>methods</a:t>
            </a:r>
          </a:p>
          <a:p>
            <a:r>
              <a:rPr lang="en-US" altLang="en-US" sz="2200" dirty="0" smtClean="0"/>
              <a:t>Evaluation of feature selection methods</a:t>
            </a:r>
            <a:endParaRPr lang="en-US" altLang="en-US" sz="2200" dirty="0"/>
          </a:p>
          <a:p>
            <a:pPr lvl="1"/>
            <a:r>
              <a:rPr lang="en-US" altLang="en-US" sz="2200" dirty="0" smtClean="0"/>
              <a:t>Evaluation schemes</a:t>
            </a:r>
            <a:endParaRPr lang="en-US" altLang="en-US" sz="2200" dirty="0"/>
          </a:p>
          <a:p>
            <a:r>
              <a:rPr lang="en-US" sz="2200" dirty="0"/>
              <a:t>Feature selection </a:t>
            </a:r>
            <a:r>
              <a:rPr lang="en-US" sz="2200" dirty="0" smtClean="0"/>
              <a:t>for </a:t>
            </a:r>
            <a:r>
              <a:rPr lang="en-US" sz="2200" dirty="0"/>
              <a:t>gene expression </a:t>
            </a:r>
            <a:r>
              <a:rPr lang="en-US" sz="2200" dirty="0" smtClean="0"/>
              <a:t>data</a:t>
            </a:r>
          </a:p>
          <a:p>
            <a:pPr lvl="1"/>
            <a:r>
              <a:rPr lang="en-US" sz="2200" dirty="0" smtClean="0"/>
              <a:t>Selecting differentially expressed genes</a:t>
            </a:r>
          </a:p>
          <a:p>
            <a:r>
              <a:rPr lang="en-US" altLang="en-US" sz="2200" dirty="0" smtClean="0"/>
              <a:t>Heatmaps and visualizations</a:t>
            </a:r>
          </a:p>
          <a:p>
            <a:pPr lvl="1"/>
            <a:r>
              <a:rPr lang="en-US" altLang="en-US" sz="2200" dirty="0" smtClean="0"/>
              <a:t>Heatmaps</a:t>
            </a:r>
          </a:p>
          <a:p>
            <a:r>
              <a:rPr lang="en-US" altLang="en-US" sz="2200" dirty="0" smtClean="0"/>
              <a:t>Feature selection with R</a:t>
            </a:r>
            <a:endParaRPr lang="en-US" altLang="en-US" sz="2200" dirty="0"/>
          </a:p>
          <a:p>
            <a:pPr lvl="1"/>
            <a:r>
              <a:rPr lang="en-US" sz="2200" b="1" dirty="0">
                <a:solidFill>
                  <a:srgbClr val="FFFF00"/>
                </a:solidFill>
              </a:rPr>
              <a:t>R scripts for </a:t>
            </a:r>
            <a:r>
              <a:rPr lang="en-US" sz="2200" b="1" dirty="0" smtClean="0">
                <a:solidFill>
                  <a:srgbClr val="FFFF00"/>
                </a:solidFill>
              </a:rPr>
              <a:t>feature selection from gene </a:t>
            </a:r>
            <a:r>
              <a:rPr lang="en-US" sz="2200" b="1" dirty="0">
                <a:solidFill>
                  <a:srgbClr val="FFFF00"/>
                </a:solidFill>
              </a:rPr>
              <a:t>expressions data </a:t>
            </a:r>
            <a:endParaRPr lang="en-US" altLang="en-US" sz="22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500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400" dirty="0" smtClean="0"/>
              <a:t>Isabelle Bichindaritz, SUNY Oswego</a:t>
            </a:r>
            <a:endParaRPr lang="en-US" altLang="en-US" sz="1400" dirty="0"/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F4DAEBF-EBC9-49F4-AD41-978B72A49882}" type="slidenum">
              <a:rPr lang="en-US" altLang="en-US" sz="1400"/>
              <a:pPr/>
              <a:t>44</a:t>
            </a:fld>
            <a:endParaRPr lang="en-US" altLang="en-US" sz="1400" dirty="0"/>
          </a:p>
        </p:txBody>
      </p:sp>
      <p:sp>
        <p:nvSpPr>
          <p:cNvPr id="819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0" y="234950"/>
            <a:ext cx="7772400" cy="1143000"/>
          </a:xfrm>
        </p:spPr>
        <p:txBody>
          <a:bodyPr>
            <a:normAutofit/>
          </a:bodyPr>
          <a:lstStyle/>
          <a:p>
            <a:r>
              <a:rPr lang="en-US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 Scripts for Feature Selection</a:t>
            </a: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2600" y="2201636"/>
            <a:ext cx="8686800" cy="3322087"/>
          </a:xfrm>
        </p:spPr>
        <p:txBody>
          <a:bodyPr>
            <a:normAutofit/>
          </a:bodyPr>
          <a:lstStyle/>
          <a:p>
            <a:r>
              <a:rPr lang="en-US" altLang="en-US" dirty="0" smtClean="0"/>
              <a:t>Watch the video</a:t>
            </a:r>
          </a:p>
          <a:p>
            <a:endParaRPr lang="en-US" altLang="en-US" dirty="0"/>
          </a:p>
          <a:p>
            <a:r>
              <a:rPr lang="en-US" altLang="en-US" dirty="0" smtClean="0"/>
              <a:t>Start Jupyter notebook from the provided link</a:t>
            </a:r>
          </a:p>
        </p:txBody>
      </p:sp>
    </p:spTree>
    <p:extLst>
      <p:ext uri="{BB962C8B-B14F-4D97-AF65-F5344CB8AC3E}">
        <p14:creationId xmlns:p14="http://schemas.microsoft.com/office/powerpoint/2010/main" val="2251373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8754</TotalTime>
  <Words>2210</Words>
  <Application>Microsoft Office PowerPoint</Application>
  <PresentationFormat>Widescreen</PresentationFormat>
  <Paragraphs>520</Paragraphs>
  <Slides>44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Calibri</vt:lpstr>
      <vt:lpstr>Calibri Light</vt:lpstr>
      <vt:lpstr>Symbol</vt:lpstr>
      <vt:lpstr>Times New Roman</vt:lpstr>
      <vt:lpstr>Wingdings</vt:lpstr>
      <vt:lpstr>Wingdings 2</vt:lpstr>
      <vt:lpstr>HDOfficeLightV0</vt:lpstr>
      <vt:lpstr>Module 3</vt:lpstr>
      <vt:lpstr>Outline</vt:lpstr>
      <vt:lpstr>Learning Objectives</vt:lpstr>
      <vt:lpstr>Introduction to Module</vt:lpstr>
      <vt:lpstr>Outline</vt:lpstr>
      <vt:lpstr>Feature Selection Methods</vt:lpstr>
      <vt:lpstr>Feature Selection Methods</vt:lpstr>
      <vt:lpstr>Outline</vt:lpstr>
      <vt:lpstr>Overview of Feature Selection Methods</vt:lpstr>
      <vt:lpstr>Overview of Feature Selection Methods</vt:lpstr>
      <vt:lpstr>Overview of Feature Selection Methods</vt:lpstr>
      <vt:lpstr>Overview of Feature Selection Methods</vt:lpstr>
      <vt:lpstr>Overview of Feature Selection Methods</vt:lpstr>
      <vt:lpstr>Overview of Feature Selection Methods</vt:lpstr>
      <vt:lpstr>Overview of Feature Selection Methods</vt:lpstr>
      <vt:lpstr>Overview of Feature Selection Methods</vt:lpstr>
      <vt:lpstr>Overview of Feature Selection Methods</vt:lpstr>
      <vt:lpstr>Outline</vt:lpstr>
      <vt:lpstr>Filter Methods</vt:lpstr>
      <vt:lpstr>Filter Methods</vt:lpstr>
      <vt:lpstr>Filter Methods</vt:lpstr>
      <vt:lpstr>Outline</vt:lpstr>
      <vt:lpstr>Wrapper Methods</vt:lpstr>
      <vt:lpstr>Wrapper Methods</vt:lpstr>
      <vt:lpstr>Wrapper Methods</vt:lpstr>
      <vt:lpstr>Outline</vt:lpstr>
      <vt:lpstr>Evaluation of Feature Selection Methods</vt:lpstr>
      <vt:lpstr>Outline</vt:lpstr>
      <vt:lpstr>Evaluation Schemes</vt:lpstr>
      <vt:lpstr>Evaluation Schemes</vt:lpstr>
      <vt:lpstr>Evaluation Schemes</vt:lpstr>
      <vt:lpstr>Evaluation Schemes</vt:lpstr>
      <vt:lpstr>Outline</vt:lpstr>
      <vt:lpstr>Feature Selection for Gene Expression Data</vt:lpstr>
      <vt:lpstr>Outline</vt:lpstr>
      <vt:lpstr>Selecting Differentially Expressed Genes</vt:lpstr>
      <vt:lpstr>Outline</vt:lpstr>
      <vt:lpstr>Heatmaps and Visualizations</vt:lpstr>
      <vt:lpstr>Outline</vt:lpstr>
      <vt:lpstr>Heatmaps</vt:lpstr>
      <vt:lpstr>Outline</vt:lpstr>
      <vt:lpstr>Feature Selection with R</vt:lpstr>
      <vt:lpstr>Outline</vt:lpstr>
      <vt:lpstr>R Scripts for Feature Selection</vt:lpstr>
    </vt:vector>
  </TitlesOfParts>
  <Company>SUNY Oswego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</dc:title>
  <dc:creator>Isabelle Bichindaritz</dc:creator>
  <cp:lastModifiedBy>Isabelle Bichindaritz</cp:lastModifiedBy>
  <cp:revision>238</cp:revision>
  <cp:lastPrinted>2016-08-12T15:29:56Z</cp:lastPrinted>
  <dcterms:created xsi:type="dcterms:W3CDTF">2016-07-10T19:12:56Z</dcterms:created>
  <dcterms:modified xsi:type="dcterms:W3CDTF">2016-09-26T00:03:05Z</dcterms:modified>
</cp:coreProperties>
</file>