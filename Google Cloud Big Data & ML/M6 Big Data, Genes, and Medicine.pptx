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handoutMasterIdLst>
    <p:handoutMasterId r:id="rId58"/>
  </p:handoutMasterIdLst>
  <p:sldIdLst>
    <p:sldId id="256" r:id="rId2"/>
    <p:sldId id="261" r:id="rId3"/>
    <p:sldId id="262" r:id="rId4"/>
    <p:sldId id="257" r:id="rId5"/>
    <p:sldId id="312" r:id="rId6"/>
    <p:sldId id="311" r:id="rId7"/>
    <p:sldId id="352" r:id="rId8"/>
    <p:sldId id="313" r:id="rId9"/>
    <p:sldId id="336" r:id="rId10"/>
    <p:sldId id="337" r:id="rId11"/>
    <p:sldId id="314" r:id="rId12"/>
    <p:sldId id="315" r:id="rId13"/>
    <p:sldId id="339" r:id="rId14"/>
    <p:sldId id="316" r:id="rId15"/>
    <p:sldId id="353" r:id="rId16"/>
    <p:sldId id="354" r:id="rId17"/>
    <p:sldId id="355" r:id="rId18"/>
    <p:sldId id="317" r:id="rId19"/>
    <p:sldId id="318" r:id="rId20"/>
    <p:sldId id="319" r:id="rId21"/>
    <p:sldId id="320" r:id="rId22"/>
    <p:sldId id="340" r:id="rId23"/>
    <p:sldId id="356" r:id="rId24"/>
    <p:sldId id="341" r:id="rId25"/>
    <p:sldId id="357" r:id="rId26"/>
    <p:sldId id="358" r:id="rId27"/>
    <p:sldId id="321" r:id="rId28"/>
    <p:sldId id="322" r:id="rId29"/>
    <p:sldId id="359" r:id="rId30"/>
    <p:sldId id="323" r:id="rId31"/>
    <p:sldId id="324" r:id="rId32"/>
    <p:sldId id="344" r:id="rId33"/>
    <p:sldId id="345" r:id="rId34"/>
    <p:sldId id="325" r:id="rId35"/>
    <p:sldId id="326" r:id="rId36"/>
    <p:sldId id="360" r:id="rId37"/>
    <p:sldId id="327" r:id="rId38"/>
    <p:sldId id="328" r:id="rId39"/>
    <p:sldId id="363" r:id="rId40"/>
    <p:sldId id="346" r:id="rId41"/>
    <p:sldId id="347" r:id="rId42"/>
    <p:sldId id="361" r:id="rId43"/>
    <p:sldId id="329" r:id="rId44"/>
    <p:sldId id="330" r:id="rId45"/>
    <p:sldId id="348" r:id="rId46"/>
    <p:sldId id="349" r:id="rId47"/>
    <p:sldId id="362" r:id="rId48"/>
    <p:sldId id="331" r:id="rId49"/>
    <p:sldId id="332" r:id="rId50"/>
    <p:sldId id="364" r:id="rId51"/>
    <p:sldId id="350" r:id="rId52"/>
    <p:sldId id="333" r:id="rId53"/>
    <p:sldId id="334" r:id="rId54"/>
    <p:sldId id="335" r:id="rId55"/>
    <p:sldId id="310" r:id="rId5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84" y="43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1949-09AE-4832-AFCD-182852DD8F45}" type="doc">
      <dgm:prSet loTypeId="urn:microsoft.com/office/officeart/2005/8/layout/hierarchy6" loCatId="hierarchy" qsTypeId="urn:microsoft.com/office/officeart/2005/8/quickstyle/simple3" qsCatId="simple" csTypeId="urn:microsoft.com/office/officeart/2005/8/colors/colorful1" csCatId="colorful" phldr="1"/>
      <dgm:spPr/>
      <dgm:t>
        <a:bodyPr/>
        <a:lstStyle/>
        <a:p>
          <a:endParaRPr lang="en-US"/>
        </a:p>
      </dgm:t>
    </dgm:pt>
    <dgm:pt modelId="{720D50E5-9585-44BC-970B-F340F7177247}">
      <dgm:prSet phldrT="[Text]"/>
      <dgm:spPr/>
      <dgm:t>
        <a:bodyPr/>
        <a:lstStyle/>
        <a:p>
          <a:r>
            <a:rPr lang="en-US" dirty="0" smtClean="0"/>
            <a:t>Machine Learning</a:t>
          </a:r>
          <a:endParaRPr lang="en-US" dirty="0"/>
        </a:p>
      </dgm:t>
    </dgm:pt>
    <dgm:pt modelId="{B0A2D241-4234-4819-BBC9-212FBF3E091E}" type="parTrans" cxnId="{27D28EC7-579F-45B3-BBCF-46CA8D2A1A82}">
      <dgm:prSet/>
      <dgm:spPr/>
      <dgm:t>
        <a:bodyPr/>
        <a:lstStyle/>
        <a:p>
          <a:endParaRPr lang="en-US"/>
        </a:p>
      </dgm:t>
    </dgm:pt>
    <dgm:pt modelId="{937EC3FD-7798-4575-8181-9642B68E23A9}" type="sibTrans" cxnId="{27D28EC7-579F-45B3-BBCF-46CA8D2A1A82}">
      <dgm:prSet/>
      <dgm:spPr/>
      <dgm:t>
        <a:bodyPr/>
        <a:lstStyle/>
        <a:p>
          <a:endParaRPr lang="en-US"/>
        </a:p>
      </dgm:t>
    </dgm:pt>
    <dgm:pt modelId="{65552621-1702-479C-8889-DDE5DD13721A}" type="asst">
      <dgm:prSet phldrT="[Text]"/>
      <dgm:spPr/>
      <dgm:t>
        <a:bodyPr/>
        <a:lstStyle/>
        <a:p>
          <a:r>
            <a:rPr lang="en-US" dirty="0" smtClean="0"/>
            <a:t>Supervised Learning</a:t>
          </a:r>
          <a:endParaRPr lang="en-US" dirty="0"/>
        </a:p>
      </dgm:t>
    </dgm:pt>
    <dgm:pt modelId="{6E29CC1E-D689-4E0E-8BC7-716BD61974BC}" type="parTrans" cxnId="{6BCF7FFA-B3A8-4B44-9F9E-FAE5F409035E}">
      <dgm:prSet/>
      <dgm:spPr/>
      <dgm:t>
        <a:bodyPr/>
        <a:lstStyle/>
        <a:p>
          <a:endParaRPr lang="en-US"/>
        </a:p>
      </dgm:t>
    </dgm:pt>
    <dgm:pt modelId="{09EFA8C1-5BB1-4071-80AE-250DFB25DBDD}" type="sibTrans" cxnId="{6BCF7FFA-B3A8-4B44-9F9E-FAE5F409035E}">
      <dgm:prSet/>
      <dgm:spPr/>
      <dgm:t>
        <a:bodyPr/>
        <a:lstStyle/>
        <a:p>
          <a:endParaRPr lang="en-US"/>
        </a:p>
      </dgm:t>
    </dgm:pt>
    <dgm:pt modelId="{F5F8DE8D-E285-4F7B-80D9-5F569917F42A}" type="asst">
      <dgm:prSet phldrT="[Text]"/>
      <dgm:spPr/>
      <dgm:t>
        <a:bodyPr/>
        <a:lstStyle/>
        <a:p>
          <a:r>
            <a:rPr lang="en-US" dirty="0" smtClean="0"/>
            <a:t>Unsupervised Learning</a:t>
          </a:r>
          <a:endParaRPr lang="en-US" dirty="0"/>
        </a:p>
      </dgm:t>
    </dgm:pt>
    <dgm:pt modelId="{399F12EE-E519-47E4-BCE9-4192BE5AA529}" type="parTrans" cxnId="{1476756B-C48A-4EF3-BFB1-07EC1BE034F7}">
      <dgm:prSet/>
      <dgm:spPr/>
      <dgm:t>
        <a:bodyPr/>
        <a:lstStyle/>
        <a:p>
          <a:endParaRPr lang="en-US"/>
        </a:p>
      </dgm:t>
    </dgm:pt>
    <dgm:pt modelId="{18C2E6B0-6678-4DC3-A685-BA5F43D39CFC}" type="sibTrans" cxnId="{1476756B-C48A-4EF3-BFB1-07EC1BE034F7}">
      <dgm:prSet/>
      <dgm:spPr/>
      <dgm:t>
        <a:bodyPr/>
        <a:lstStyle/>
        <a:p>
          <a:endParaRPr lang="en-US"/>
        </a:p>
      </dgm:t>
    </dgm:pt>
    <dgm:pt modelId="{366363C9-2CBB-4B23-BF1A-F0B71A645028}" type="asst">
      <dgm:prSet phldrT="[Text]"/>
      <dgm:spPr/>
      <dgm:t>
        <a:bodyPr/>
        <a:lstStyle/>
        <a:p>
          <a:r>
            <a:rPr lang="en-US" dirty="0" smtClean="0"/>
            <a:t>Classification</a:t>
          </a:r>
          <a:endParaRPr lang="en-US" dirty="0"/>
        </a:p>
      </dgm:t>
    </dgm:pt>
    <dgm:pt modelId="{AFE5CC09-5EF8-401E-8776-C357AD6F5691}" type="parTrans" cxnId="{4E1F17BB-3EA5-49A7-BDA7-CAAE2B4F3B44}">
      <dgm:prSet/>
      <dgm:spPr/>
      <dgm:t>
        <a:bodyPr/>
        <a:lstStyle/>
        <a:p>
          <a:endParaRPr lang="en-US"/>
        </a:p>
      </dgm:t>
    </dgm:pt>
    <dgm:pt modelId="{8F654A49-0386-426D-BB23-A079A92B42F8}" type="sibTrans" cxnId="{4E1F17BB-3EA5-49A7-BDA7-CAAE2B4F3B44}">
      <dgm:prSet/>
      <dgm:spPr/>
      <dgm:t>
        <a:bodyPr/>
        <a:lstStyle/>
        <a:p>
          <a:endParaRPr lang="en-US"/>
        </a:p>
      </dgm:t>
    </dgm:pt>
    <dgm:pt modelId="{5F316174-458C-46AD-A4C7-47658FDC2673}" type="asst">
      <dgm:prSet phldrT="[Text]"/>
      <dgm:spPr/>
      <dgm:t>
        <a:bodyPr/>
        <a:lstStyle/>
        <a:p>
          <a:r>
            <a:rPr lang="en-US" dirty="0" smtClean="0"/>
            <a:t>Prediction</a:t>
          </a:r>
          <a:endParaRPr lang="en-US" dirty="0"/>
        </a:p>
      </dgm:t>
    </dgm:pt>
    <dgm:pt modelId="{44713971-0B25-40C6-BB3A-D046B4F60E49}" type="parTrans" cxnId="{A88BC3EF-0941-4CC6-A399-2705C352CA87}">
      <dgm:prSet/>
      <dgm:spPr/>
      <dgm:t>
        <a:bodyPr/>
        <a:lstStyle/>
        <a:p>
          <a:endParaRPr lang="en-US"/>
        </a:p>
      </dgm:t>
    </dgm:pt>
    <dgm:pt modelId="{2745460A-1B69-40BF-B2F7-4B1638DE0D04}" type="sibTrans" cxnId="{A88BC3EF-0941-4CC6-A399-2705C352CA87}">
      <dgm:prSet/>
      <dgm:spPr/>
      <dgm:t>
        <a:bodyPr/>
        <a:lstStyle/>
        <a:p>
          <a:endParaRPr lang="en-US"/>
        </a:p>
      </dgm:t>
    </dgm:pt>
    <dgm:pt modelId="{EBEF0909-6E0C-400D-8DE9-48BD89C8471D}" type="asst">
      <dgm:prSet phldrT="[Text]"/>
      <dgm:spPr/>
      <dgm:t>
        <a:bodyPr/>
        <a:lstStyle/>
        <a:p>
          <a:r>
            <a:rPr lang="en-US" dirty="0" smtClean="0"/>
            <a:t>Regression</a:t>
          </a:r>
          <a:endParaRPr lang="en-US" dirty="0"/>
        </a:p>
      </dgm:t>
    </dgm:pt>
    <dgm:pt modelId="{0325083E-FD6B-481B-AB89-8FFA7FECB7E4}" type="parTrans" cxnId="{FE86B800-AB7A-4E83-87AC-A5CC47538A46}">
      <dgm:prSet/>
      <dgm:spPr/>
      <dgm:t>
        <a:bodyPr/>
        <a:lstStyle/>
        <a:p>
          <a:endParaRPr lang="en-US"/>
        </a:p>
      </dgm:t>
    </dgm:pt>
    <dgm:pt modelId="{DDE5A7CB-23C4-4BDE-8302-EF20E65ADB66}" type="sibTrans" cxnId="{FE86B800-AB7A-4E83-87AC-A5CC47538A46}">
      <dgm:prSet/>
      <dgm:spPr/>
      <dgm:t>
        <a:bodyPr/>
        <a:lstStyle/>
        <a:p>
          <a:endParaRPr lang="en-US"/>
        </a:p>
      </dgm:t>
    </dgm:pt>
    <dgm:pt modelId="{46A88B0C-115D-4CE0-A3EA-B2585D81410C}" type="asst">
      <dgm:prSet phldrT="[Text]"/>
      <dgm:spPr/>
      <dgm:t>
        <a:bodyPr/>
        <a:lstStyle/>
        <a:p>
          <a:r>
            <a:rPr lang="en-US" dirty="0" smtClean="0"/>
            <a:t>SVM, ANN, kNN, DT, BN, …</a:t>
          </a:r>
          <a:endParaRPr lang="en-US" dirty="0"/>
        </a:p>
      </dgm:t>
    </dgm:pt>
    <dgm:pt modelId="{78012EDE-31D3-42E3-AA5B-72AF42B307A5}" type="parTrans" cxnId="{13796E3B-B4DC-479E-8E8C-AFB70FFFD670}">
      <dgm:prSet/>
      <dgm:spPr/>
      <dgm:t>
        <a:bodyPr/>
        <a:lstStyle/>
        <a:p>
          <a:endParaRPr lang="en-US"/>
        </a:p>
      </dgm:t>
    </dgm:pt>
    <dgm:pt modelId="{85740DD1-1C2C-404F-B1B7-CF5D1CF1B33F}" type="sibTrans" cxnId="{13796E3B-B4DC-479E-8E8C-AFB70FFFD670}">
      <dgm:prSet/>
      <dgm:spPr/>
      <dgm:t>
        <a:bodyPr/>
        <a:lstStyle/>
        <a:p>
          <a:endParaRPr lang="en-US"/>
        </a:p>
      </dgm:t>
    </dgm:pt>
    <dgm:pt modelId="{A0804B72-84AF-4CF1-BC52-3781005C28E8}" type="asst">
      <dgm:prSet phldrT="[Text]"/>
      <dgm:spPr/>
      <dgm:t>
        <a:bodyPr/>
        <a:lstStyle/>
        <a:p>
          <a:r>
            <a:rPr lang="en-US" dirty="0" smtClean="0"/>
            <a:t>SVM, ANN, kNN, DT, BN, …</a:t>
          </a:r>
          <a:endParaRPr lang="en-US" dirty="0"/>
        </a:p>
      </dgm:t>
    </dgm:pt>
    <dgm:pt modelId="{80058F85-D53A-400B-818B-2E7A82118591}" type="parTrans" cxnId="{F770393A-972D-4A7E-B86A-73243EC6D4A4}">
      <dgm:prSet/>
      <dgm:spPr/>
      <dgm:t>
        <a:bodyPr/>
        <a:lstStyle/>
        <a:p>
          <a:endParaRPr lang="en-US"/>
        </a:p>
      </dgm:t>
    </dgm:pt>
    <dgm:pt modelId="{93E032A6-12D0-4288-AE18-8E5E06F2DB17}" type="sibTrans" cxnId="{F770393A-972D-4A7E-B86A-73243EC6D4A4}">
      <dgm:prSet/>
      <dgm:spPr/>
      <dgm:t>
        <a:bodyPr/>
        <a:lstStyle/>
        <a:p>
          <a:endParaRPr lang="en-US"/>
        </a:p>
      </dgm:t>
    </dgm:pt>
    <dgm:pt modelId="{1703B147-8F19-4748-8206-AE69FEE540C8}" type="asst">
      <dgm:prSet phldrT="[Text]"/>
      <dgm:spPr/>
      <dgm:t>
        <a:bodyPr/>
        <a:lstStyle/>
        <a:p>
          <a:r>
            <a:rPr lang="en-US" dirty="0" smtClean="0"/>
            <a:t>Clustering</a:t>
          </a:r>
          <a:endParaRPr lang="en-US" dirty="0"/>
        </a:p>
      </dgm:t>
    </dgm:pt>
    <dgm:pt modelId="{5C3952E3-EC03-418F-A7D0-7CF5BD7D82B0}" type="parTrans" cxnId="{2BED8452-8DC0-4C67-AE07-F123F9224537}">
      <dgm:prSet/>
      <dgm:spPr/>
      <dgm:t>
        <a:bodyPr/>
        <a:lstStyle/>
        <a:p>
          <a:endParaRPr lang="en-US"/>
        </a:p>
      </dgm:t>
    </dgm:pt>
    <dgm:pt modelId="{BFD217B4-87FB-4505-A8BF-D6BAD2FE6F8C}" type="sibTrans" cxnId="{2BED8452-8DC0-4C67-AE07-F123F9224537}">
      <dgm:prSet/>
      <dgm:spPr/>
      <dgm:t>
        <a:bodyPr/>
        <a:lstStyle/>
        <a:p>
          <a:endParaRPr lang="en-US"/>
        </a:p>
      </dgm:t>
    </dgm:pt>
    <dgm:pt modelId="{0C5273EB-F272-418F-80D3-7EF65E166F47}" type="asst">
      <dgm:prSet phldrT="[Text]"/>
      <dgm:spPr/>
      <dgm:t>
        <a:bodyPr/>
        <a:lstStyle/>
        <a:p>
          <a:r>
            <a:rPr lang="en-US" dirty="0" smtClean="0"/>
            <a:t>Pathway Analysis</a:t>
          </a:r>
          <a:endParaRPr lang="en-US" dirty="0"/>
        </a:p>
      </dgm:t>
    </dgm:pt>
    <dgm:pt modelId="{26818B12-10E7-43A4-904C-4465336F40CB}" type="parTrans" cxnId="{9918D077-F4BE-499E-AC15-95D61F08AB35}">
      <dgm:prSet/>
      <dgm:spPr/>
      <dgm:t>
        <a:bodyPr/>
        <a:lstStyle/>
        <a:p>
          <a:endParaRPr lang="en-US"/>
        </a:p>
      </dgm:t>
    </dgm:pt>
    <dgm:pt modelId="{09E1B429-DB3C-4ADC-B9FE-9AD4A12B9FB8}" type="sibTrans" cxnId="{9918D077-F4BE-499E-AC15-95D61F08AB35}">
      <dgm:prSet/>
      <dgm:spPr/>
      <dgm:t>
        <a:bodyPr/>
        <a:lstStyle/>
        <a:p>
          <a:endParaRPr lang="en-US"/>
        </a:p>
      </dgm:t>
    </dgm:pt>
    <dgm:pt modelId="{3307C611-AF51-4D34-8D9D-A0D4BF161A8E}" type="pres">
      <dgm:prSet presAssocID="{87B31949-09AE-4832-AFCD-182852DD8F45}" presName="mainComposite" presStyleCnt="0">
        <dgm:presLayoutVars>
          <dgm:chPref val="1"/>
          <dgm:dir/>
          <dgm:animOne val="branch"/>
          <dgm:animLvl val="lvl"/>
          <dgm:resizeHandles val="exact"/>
        </dgm:presLayoutVars>
      </dgm:prSet>
      <dgm:spPr/>
      <dgm:t>
        <a:bodyPr/>
        <a:lstStyle/>
        <a:p>
          <a:endParaRPr lang="en-US"/>
        </a:p>
      </dgm:t>
    </dgm:pt>
    <dgm:pt modelId="{754DB3E5-D4FF-44FE-9E7E-E3BF80309C5C}" type="pres">
      <dgm:prSet presAssocID="{87B31949-09AE-4832-AFCD-182852DD8F45}" presName="hierFlow" presStyleCnt="0"/>
      <dgm:spPr/>
    </dgm:pt>
    <dgm:pt modelId="{49A8EA60-15AF-4CFB-91FB-31105811BD22}" type="pres">
      <dgm:prSet presAssocID="{87B31949-09AE-4832-AFCD-182852DD8F45}" presName="hierChild1" presStyleCnt="0">
        <dgm:presLayoutVars>
          <dgm:chPref val="1"/>
          <dgm:animOne val="branch"/>
          <dgm:animLvl val="lvl"/>
        </dgm:presLayoutVars>
      </dgm:prSet>
      <dgm:spPr/>
    </dgm:pt>
    <dgm:pt modelId="{60E7005A-E7D6-4EA7-8654-4A722138A497}" type="pres">
      <dgm:prSet presAssocID="{720D50E5-9585-44BC-970B-F340F7177247}" presName="Name14" presStyleCnt="0"/>
      <dgm:spPr/>
    </dgm:pt>
    <dgm:pt modelId="{DC450B3F-F948-4452-A421-D3BC0FBA8C7A}" type="pres">
      <dgm:prSet presAssocID="{720D50E5-9585-44BC-970B-F340F7177247}" presName="level1Shape" presStyleLbl="node0" presStyleIdx="0" presStyleCnt="1">
        <dgm:presLayoutVars>
          <dgm:chPref val="3"/>
        </dgm:presLayoutVars>
      </dgm:prSet>
      <dgm:spPr/>
      <dgm:t>
        <a:bodyPr/>
        <a:lstStyle/>
        <a:p>
          <a:endParaRPr lang="en-US"/>
        </a:p>
      </dgm:t>
    </dgm:pt>
    <dgm:pt modelId="{66845B4A-3721-448B-8A04-84B881B51729}" type="pres">
      <dgm:prSet presAssocID="{720D50E5-9585-44BC-970B-F340F7177247}" presName="hierChild2" presStyleCnt="0"/>
      <dgm:spPr/>
    </dgm:pt>
    <dgm:pt modelId="{1E7A25C3-5171-4F46-9B12-D04772F59DA0}" type="pres">
      <dgm:prSet presAssocID="{6E29CC1E-D689-4E0E-8BC7-716BD61974BC}" presName="Name19" presStyleLbl="parChTrans1D2" presStyleIdx="0" presStyleCnt="2"/>
      <dgm:spPr/>
      <dgm:t>
        <a:bodyPr/>
        <a:lstStyle/>
        <a:p>
          <a:endParaRPr lang="en-US"/>
        </a:p>
      </dgm:t>
    </dgm:pt>
    <dgm:pt modelId="{941AAAB1-C910-44EE-BB2F-61DCA61A40D5}" type="pres">
      <dgm:prSet presAssocID="{65552621-1702-479C-8889-DDE5DD13721A}" presName="Name21" presStyleCnt="0"/>
      <dgm:spPr/>
    </dgm:pt>
    <dgm:pt modelId="{F01DC937-15CC-4ABD-A320-775CADBCF5D6}" type="pres">
      <dgm:prSet presAssocID="{65552621-1702-479C-8889-DDE5DD13721A}" presName="level2Shape" presStyleLbl="asst1" presStyleIdx="0" presStyleCnt="9"/>
      <dgm:spPr/>
      <dgm:t>
        <a:bodyPr/>
        <a:lstStyle/>
        <a:p>
          <a:endParaRPr lang="en-US"/>
        </a:p>
      </dgm:t>
    </dgm:pt>
    <dgm:pt modelId="{A97297F1-5E6D-49E1-942B-0D5C05487931}" type="pres">
      <dgm:prSet presAssocID="{65552621-1702-479C-8889-DDE5DD13721A}" presName="hierChild3" presStyleCnt="0"/>
      <dgm:spPr/>
    </dgm:pt>
    <dgm:pt modelId="{4D27D10C-1FE8-4558-9FF8-7FDB61D53148}" type="pres">
      <dgm:prSet presAssocID="{AFE5CC09-5EF8-401E-8776-C357AD6F5691}" presName="Name19" presStyleLbl="parChTrans1D3" presStyleIdx="0" presStyleCnt="4"/>
      <dgm:spPr/>
      <dgm:t>
        <a:bodyPr/>
        <a:lstStyle/>
        <a:p>
          <a:endParaRPr lang="en-US"/>
        </a:p>
      </dgm:t>
    </dgm:pt>
    <dgm:pt modelId="{843829F5-D423-4C71-BDFD-4BA93F8990AF}" type="pres">
      <dgm:prSet presAssocID="{366363C9-2CBB-4B23-BF1A-F0B71A645028}" presName="Name21" presStyleCnt="0"/>
      <dgm:spPr/>
    </dgm:pt>
    <dgm:pt modelId="{97AB989E-537A-4CE3-A1B3-6B0F4A9B5399}" type="pres">
      <dgm:prSet presAssocID="{366363C9-2CBB-4B23-BF1A-F0B71A645028}" presName="level2Shape" presStyleLbl="asst1" presStyleIdx="1" presStyleCnt="9"/>
      <dgm:spPr/>
      <dgm:t>
        <a:bodyPr/>
        <a:lstStyle/>
        <a:p>
          <a:endParaRPr lang="en-US"/>
        </a:p>
      </dgm:t>
    </dgm:pt>
    <dgm:pt modelId="{F9978390-CC99-4287-91DC-5E963644B052}" type="pres">
      <dgm:prSet presAssocID="{366363C9-2CBB-4B23-BF1A-F0B71A645028}" presName="hierChild3" presStyleCnt="0"/>
      <dgm:spPr/>
    </dgm:pt>
    <dgm:pt modelId="{D7064CCE-5E1B-4982-AADF-5893DF56A22C}" type="pres">
      <dgm:prSet presAssocID="{80058F85-D53A-400B-818B-2E7A82118591}" presName="Name19" presStyleLbl="parChTrans1D4" presStyleIdx="0" presStyleCnt="3"/>
      <dgm:spPr/>
      <dgm:t>
        <a:bodyPr/>
        <a:lstStyle/>
        <a:p>
          <a:endParaRPr lang="en-US"/>
        </a:p>
      </dgm:t>
    </dgm:pt>
    <dgm:pt modelId="{41715EFD-7B58-4389-AAAE-CF6E3D209F2B}" type="pres">
      <dgm:prSet presAssocID="{A0804B72-84AF-4CF1-BC52-3781005C28E8}" presName="Name21" presStyleCnt="0"/>
      <dgm:spPr/>
    </dgm:pt>
    <dgm:pt modelId="{7A4E631C-3726-4210-8D70-AB9A2A5B8BB3}" type="pres">
      <dgm:prSet presAssocID="{A0804B72-84AF-4CF1-BC52-3781005C28E8}" presName="level2Shape" presStyleLbl="asst1" presStyleIdx="2" presStyleCnt="9"/>
      <dgm:spPr/>
      <dgm:t>
        <a:bodyPr/>
        <a:lstStyle/>
        <a:p>
          <a:endParaRPr lang="en-US"/>
        </a:p>
      </dgm:t>
    </dgm:pt>
    <dgm:pt modelId="{EBA88C18-3CF5-4888-AF12-39DAFD7B7AD1}" type="pres">
      <dgm:prSet presAssocID="{A0804B72-84AF-4CF1-BC52-3781005C28E8}" presName="hierChild3" presStyleCnt="0"/>
      <dgm:spPr/>
    </dgm:pt>
    <dgm:pt modelId="{7DF17C01-9735-403F-B29B-96966D5D0775}" type="pres">
      <dgm:prSet presAssocID="{44713971-0B25-40C6-BB3A-D046B4F60E49}" presName="Name19" presStyleLbl="parChTrans1D3" presStyleIdx="1" presStyleCnt="4"/>
      <dgm:spPr/>
      <dgm:t>
        <a:bodyPr/>
        <a:lstStyle/>
        <a:p>
          <a:endParaRPr lang="en-US"/>
        </a:p>
      </dgm:t>
    </dgm:pt>
    <dgm:pt modelId="{7E927801-4B3C-4DFE-9756-F10B083AE10F}" type="pres">
      <dgm:prSet presAssocID="{5F316174-458C-46AD-A4C7-47658FDC2673}" presName="Name21" presStyleCnt="0"/>
      <dgm:spPr/>
    </dgm:pt>
    <dgm:pt modelId="{3CD62B89-78FE-4BA1-84AF-301048C05A74}" type="pres">
      <dgm:prSet presAssocID="{5F316174-458C-46AD-A4C7-47658FDC2673}" presName="level2Shape" presStyleLbl="asst1" presStyleIdx="3" presStyleCnt="9"/>
      <dgm:spPr/>
      <dgm:t>
        <a:bodyPr/>
        <a:lstStyle/>
        <a:p>
          <a:endParaRPr lang="en-US"/>
        </a:p>
      </dgm:t>
    </dgm:pt>
    <dgm:pt modelId="{7ED0910C-C878-4C6C-AF6E-D837185C1DCC}" type="pres">
      <dgm:prSet presAssocID="{5F316174-458C-46AD-A4C7-47658FDC2673}" presName="hierChild3" presStyleCnt="0"/>
      <dgm:spPr/>
    </dgm:pt>
    <dgm:pt modelId="{5481AAB8-A451-4704-B70A-317ABDDEC6FA}" type="pres">
      <dgm:prSet presAssocID="{0325083E-FD6B-481B-AB89-8FFA7FECB7E4}" presName="Name19" presStyleLbl="parChTrans1D4" presStyleIdx="1" presStyleCnt="3"/>
      <dgm:spPr/>
      <dgm:t>
        <a:bodyPr/>
        <a:lstStyle/>
        <a:p>
          <a:endParaRPr lang="en-US"/>
        </a:p>
      </dgm:t>
    </dgm:pt>
    <dgm:pt modelId="{CA0D03A0-8509-4271-A0A8-BAF5877DDE5D}" type="pres">
      <dgm:prSet presAssocID="{EBEF0909-6E0C-400D-8DE9-48BD89C8471D}" presName="Name21" presStyleCnt="0"/>
      <dgm:spPr/>
    </dgm:pt>
    <dgm:pt modelId="{E5752885-0467-4B2F-9A53-BCA8E019CA03}" type="pres">
      <dgm:prSet presAssocID="{EBEF0909-6E0C-400D-8DE9-48BD89C8471D}" presName="level2Shape" presStyleLbl="asst1" presStyleIdx="4" presStyleCnt="9"/>
      <dgm:spPr/>
      <dgm:t>
        <a:bodyPr/>
        <a:lstStyle/>
        <a:p>
          <a:endParaRPr lang="en-US"/>
        </a:p>
      </dgm:t>
    </dgm:pt>
    <dgm:pt modelId="{257BC3B4-F4A2-4E3E-A3E1-DED5B86E5994}" type="pres">
      <dgm:prSet presAssocID="{EBEF0909-6E0C-400D-8DE9-48BD89C8471D}" presName="hierChild3" presStyleCnt="0"/>
      <dgm:spPr/>
    </dgm:pt>
    <dgm:pt modelId="{7C99C5CE-FCF4-48ED-89AF-3FA43449745E}" type="pres">
      <dgm:prSet presAssocID="{78012EDE-31D3-42E3-AA5B-72AF42B307A5}" presName="Name19" presStyleLbl="parChTrans1D4" presStyleIdx="2" presStyleCnt="3"/>
      <dgm:spPr/>
      <dgm:t>
        <a:bodyPr/>
        <a:lstStyle/>
        <a:p>
          <a:endParaRPr lang="en-US"/>
        </a:p>
      </dgm:t>
    </dgm:pt>
    <dgm:pt modelId="{D3F1DB45-34A9-4BB7-932A-E585BF3B4EC2}" type="pres">
      <dgm:prSet presAssocID="{46A88B0C-115D-4CE0-A3EA-B2585D81410C}" presName="Name21" presStyleCnt="0"/>
      <dgm:spPr/>
    </dgm:pt>
    <dgm:pt modelId="{13939CCC-3990-4AE2-9564-F7F0233FF3EF}" type="pres">
      <dgm:prSet presAssocID="{46A88B0C-115D-4CE0-A3EA-B2585D81410C}" presName="level2Shape" presStyleLbl="asst1" presStyleIdx="5" presStyleCnt="9"/>
      <dgm:spPr/>
      <dgm:t>
        <a:bodyPr/>
        <a:lstStyle/>
        <a:p>
          <a:endParaRPr lang="en-US"/>
        </a:p>
      </dgm:t>
    </dgm:pt>
    <dgm:pt modelId="{310F2A97-7C31-4176-A860-5F4ECEDCD748}" type="pres">
      <dgm:prSet presAssocID="{46A88B0C-115D-4CE0-A3EA-B2585D81410C}" presName="hierChild3" presStyleCnt="0"/>
      <dgm:spPr/>
    </dgm:pt>
    <dgm:pt modelId="{C34544D3-7718-486A-838E-9E568532369A}" type="pres">
      <dgm:prSet presAssocID="{399F12EE-E519-47E4-BCE9-4192BE5AA529}" presName="Name19" presStyleLbl="parChTrans1D2" presStyleIdx="1" presStyleCnt="2"/>
      <dgm:spPr/>
      <dgm:t>
        <a:bodyPr/>
        <a:lstStyle/>
        <a:p>
          <a:endParaRPr lang="en-US"/>
        </a:p>
      </dgm:t>
    </dgm:pt>
    <dgm:pt modelId="{D75D19F3-DF92-4FFB-9235-EB5693E185AC}" type="pres">
      <dgm:prSet presAssocID="{F5F8DE8D-E285-4F7B-80D9-5F569917F42A}" presName="Name21" presStyleCnt="0"/>
      <dgm:spPr/>
    </dgm:pt>
    <dgm:pt modelId="{23C77F9B-AD5C-43E0-A898-1D56B1A9E392}" type="pres">
      <dgm:prSet presAssocID="{F5F8DE8D-E285-4F7B-80D9-5F569917F42A}" presName="level2Shape" presStyleLbl="asst1" presStyleIdx="6" presStyleCnt="9"/>
      <dgm:spPr/>
      <dgm:t>
        <a:bodyPr/>
        <a:lstStyle/>
        <a:p>
          <a:endParaRPr lang="en-US"/>
        </a:p>
      </dgm:t>
    </dgm:pt>
    <dgm:pt modelId="{77483CB9-2910-498F-A6BC-506FE2AB4410}" type="pres">
      <dgm:prSet presAssocID="{F5F8DE8D-E285-4F7B-80D9-5F569917F42A}" presName="hierChild3" presStyleCnt="0"/>
      <dgm:spPr/>
    </dgm:pt>
    <dgm:pt modelId="{19DB676D-C480-4E98-AE7C-6FC7B53E1E1C}" type="pres">
      <dgm:prSet presAssocID="{5C3952E3-EC03-418F-A7D0-7CF5BD7D82B0}" presName="Name19" presStyleLbl="parChTrans1D3" presStyleIdx="2" presStyleCnt="4"/>
      <dgm:spPr/>
      <dgm:t>
        <a:bodyPr/>
        <a:lstStyle/>
        <a:p>
          <a:endParaRPr lang="en-US"/>
        </a:p>
      </dgm:t>
    </dgm:pt>
    <dgm:pt modelId="{675167E4-44CE-4A2D-A54A-AB57468D66A8}" type="pres">
      <dgm:prSet presAssocID="{1703B147-8F19-4748-8206-AE69FEE540C8}" presName="Name21" presStyleCnt="0"/>
      <dgm:spPr/>
    </dgm:pt>
    <dgm:pt modelId="{683BB759-C18D-4113-99DB-15E13B053278}" type="pres">
      <dgm:prSet presAssocID="{1703B147-8F19-4748-8206-AE69FEE540C8}" presName="level2Shape" presStyleLbl="asst1" presStyleIdx="7" presStyleCnt="9"/>
      <dgm:spPr/>
      <dgm:t>
        <a:bodyPr/>
        <a:lstStyle/>
        <a:p>
          <a:endParaRPr lang="en-US"/>
        </a:p>
      </dgm:t>
    </dgm:pt>
    <dgm:pt modelId="{C3874FC2-E649-4614-B6A1-B6B0E4083B46}" type="pres">
      <dgm:prSet presAssocID="{1703B147-8F19-4748-8206-AE69FEE540C8}" presName="hierChild3" presStyleCnt="0"/>
      <dgm:spPr/>
    </dgm:pt>
    <dgm:pt modelId="{973B2D09-2A3E-474E-A65A-67AA00D11D4C}" type="pres">
      <dgm:prSet presAssocID="{26818B12-10E7-43A4-904C-4465336F40CB}" presName="Name19" presStyleLbl="parChTrans1D3" presStyleIdx="3" presStyleCnt="4"/>
      <dgm:spPr/>
      <dgm:t>
        <a:bodyPr/>
        <a:lstStyle/>
        <a:p>
          <a:endParaRPr lang="en-US"/>
        </a:p>
      </dgm:t>
    </dgm:pt>
    <dgm:pt modelId="{2A29C3C6-69EE-4AE2-BD7A-B727AC2CF5D0}" type="pres">
      <dgm:prSet presAssocID="{0C5273EB-F272-418F-80D3-7EF65E166F47}" presName="Name21" presStyleCnt="0"/>
      <dgm:spPr/>
    </dgm:pt>
    <dgm:pt modelId="{EC85B480-D20F-4CE5-A5CD-DC3DB4AAC5B6}" type="pres">
      <dgm:prSet presAssocID="{0C5273EB-F272-418F-80D3-7EF65E166F47}" presName="level2Shape" presStyleLbl="asst1" presStyleIdx="8" presStyleCnt="9"/>
      <dgm:spPr/>
      <dgm:t>
        <a:bodyPr/>
        <a:lstStyle/>
        <a:p>
          <a:endParaRPr lang="en-US"/>
        </a:p>
      </dgm:t>
    </dgm:pt>
    <dgm:pt modelId="{085E59E1-0700-469C-BCE0-C60EB4A02120}" type="pres">
      <dgm:prSet presAssocID="{0C5273EB-F272-418F-80D3-7EF65E166F47}" presName="hierChild3" presStyleCnt="0"/>
      <dgm:spPr/>
    </dgm:pt>
    <dgm:pt modelId="{AA7DF3AB-5A8B-4C73-9414-982B0A16FE9D}" type="pres">
      <dgm:prSet presAssocID="{87B31949-09AE-4832-AFCD-182852DD8F45}" presName="bgShapesFlow" presStyleCnt="0"/>
      <dgm:spPr/>
    </dgm:pt>
  </dgm:ptLst>
  <dgm:cxnLst>
    <dgm:cxn modelId="{C9927246-7396-4B03-A1AF-8FAB0C6B5C2D}" type="presOf" srcId="{0C5273EB-F272-418F-80D3-7EF65E166F47}" destId="{EC85B480-D20F-4CE5-A5CD-DC3DB4AAC5B6}" srcOrd="0" destOrd="0" presId="urn:microsoft.com/office/officeart/2005/8/layout/hierarchy6"/>
    <dgm:cxn modelId="{5C868270-2DBE-4AE6-B8CB-9CCDD6258037}" type="presOf" srcId="{720D50E5-9585-44BC-970B-F340F7177247}" destId="{DC450B3F-F948-4452-A421-D3BC0FBA8C7A}" srcOrd="0" destOrd="0" presId="urn:microsoft.com/office/officeart/2005/8/layout/hierarchy6"/>
    <dgm:cxn modelId="{A68D4513-0857-425C-A38B-36752D5760F8}" type="presOf" srcId="{78012EDE-31D3-42E3-AA5B-72AF42B307A5}" destId="{7C99C5CE-FCF4-48ED-89AF-3FA43449745E}" srcOrd="0" destOrd="0" presId="urn:microsoft.com/office/officeart/2005/8/layout/hierarchy6"/>
    <dgm:cxn modelId="{25F53C84-944A-4D79-A7E9-063B4EC2D06F}" type="presOf" srcId="{26818B12-10E7-43A4-904C-4465336F40CB}" destId="{973B2D09-2A3E-474E-A65A-67AA00D11D4C}" srcOrd="0" destOrd="0" presId="urn:microsoft.com/office/officeart/2005/8/layout/hierarchy6"/>
    <dgm:cxn modelId="{5CF1EEBA-C175-47A5-984D-B8617FAD1499}" type="presOf" srcId="{EBEF0909-6E0C-400D-8DE9-48BD89C8471D}" destId="{E5752885-0467-4B2F-9A53-BCA8E019CA03}" srcOrd="0" destOrd="0" presId="urn:microsoft.com/office/officeart/2005/8/layout/hierarchy6"/>
    <dgm:cxn modelId="{0C78890A-618E-47B3-95E5-1F7AB4568E93}" type="presOf" srcId="{5F316174-458C-46AD-A4C7-47658FDC2673}" destId="{3CD62B89-78FE-4BA1-84AF-301048C05A74}" srcOrd="0" destOrd="0" presId="urn:microsoft.com/office/officeart/2005/8/layout/hierarchy6"/>
    <dgm:cxn modelId="{9BF39A05-95DE-4CBD-9FE4-51E7C250C0B4}" type="presOf" srcId="{399F12EE-E519-47E4-BCE9-4192BE5AA529}" destId="{C34544D3-7718-486A-838E-9E568532369A}" srcOrd="0" destOrd="0" presId="urn:microsoft.com/office/officeart/2005/8/layout/hierarchy6"/>
    <dgm:cxn modelId="{9918D077-F4BE-499E-AC15-95D61F08AB35}" srcId="{F5F8DE8D-E285-4F7B-80D9-5F569917F42A}" destId="{0C5273EB-F272-418F-80D3-7EF65E166F47}" srcOrd="1" destOrd="0" parTransId="{26818B12-10E7-43A4-904C-4465336F40CB}" sibTransId="{09E1B429-DB3C-4ADC-B9FE-9AD4A12B9FB8}"/>
    <dgm:cxn modelId="{13796E3B-B4DC-479E-8E8C-AFB70FFFD670}" srcId="{5F316174-458C-46AD-A4C7-47658FDC2673}" destId="{46A88B0C-115D-4CE0-A3EA-B2585D81410C}" srcOrd="1" destOrd="0" parTransId="{78012EDE-31D3-42E3-AA5B-72AF42B307A5}" sibTransId="{85740DD1-1C2C-404F-B1B7-CF5D1CF1B33F}"/>
    <dgm:cxn modelId="{30D5ADEF-1E23-4C96-8DB2-4547AB708A3A}" type="presOf" srcId="{80058F85-D53A-400B-818B-2E7A82118591}" destId="{D7064CCE-5E1B-4982-AADF-5893DF56A22C}" srcOrd="0" destOrd="0" presId="urn:microsoft.com/office/officeart/2005/8/layout/hierarchy6"/>
    <dgm:cxn modelId="{A88BC3EF-0941-4CC6-A399-2705C352CA87}" srcId="{65552621-1702-479C-8889-DDE5DD13721A}" destId="{5F316174-458C-46AD-A4C7-47658FDC2673}" srcOrd="1" destOrd="0" parTransId="{44713971-0B25-40C6-BB3A-D046B4F60E49}" sibTransId="{2745460A-1B69-40BF-B2F7-4B1638DE0D04}"/>
    <dgm:cxn modelId="{23167884-7E44-42FD-A78F-13B1B35B203F}" type="presOf" srcId="{A0804B72-84AF-4CF1-BC52-3781005C28E8}" destId="{7A4E631C-3726-4210-8D70-AB9A2A5B8BB3}" srcOrd="0" destOrd="0" presId="urn:microsoft.com/office/officeart/2005/8/layout/hierarchy6"/>
    <dgm:cxn modelId="{2BED8452-8DC0-4C67-AE07-F123F9224537}" srcId="{F5F8DE8D-E285-4F7B-80D9-5F569917F42A}" destId="{1703B147-8F19-4748-8206-AE69FEE540C8}" srcOrd="0" destOrd="0" parTransId="{5C3952E3-EC03-418F-A7D0-7CF5BD7D82B0}" sibTransId="{BFD217B4-87FB-4505-A8BF-D6BAD2FE6F8C}"/>
    <dgm:cxn modelId="{F0BE2DBD-F088-4588-8AA7-7F56AC9210AA}" type="presOf" srcId="{6E29CC1E-D689-4E0E-8BC7-716BD61974BC}" destId="{1E7A25C3-5171-4F46-9B12-D04772F59DA0}" srcOrd="0" destOrd="0" presId="urn:microsoft.com/office/officeart/2005/8/layout/hierarchy6"/>
    <dgm:cxn modelId="{48EF4AB2-9703-4E8D-ADB1-26F93CAAA933}" type="presOf" srcId="{366363C9-2CBB-4B23-BF1A-F0B71A645028}" destId="{97AB989E-537A-4CE3-A1B3-6B0F4A9B5399}" srcOrd="0" destOrd="0" presId="urn:microsoft.com/office/officeart/2005/8/layout/hierarchy6"/>
    <dgm:cxn modelId="{1476756B-C48A-4EF3-BFB1-07EC1BE034F7}" srcId="{720D50E5-9585-44BC-970B-F340F7177247}" destId="{F5F8DE8D-E285-4F7B-80D9-5F569917F42A}" srcOrd="1" destOrd="0" parTransId="{399F12EE-E519-47E4-BCE9-4192BE5AA529}" sibTransId="{18C2E6B0-6678-4DC3-A685-BA5F43D39CFC}"/>
    <dgm:cxn modelId="{0454F778-86DB-4119-9975-09E8F8F1F2C1}" type="presOf" srcId="{5C3952E3-EC03-418F-A7D0-7CF5BD7D82B0}" destId="{19DB676D-C480-4E98-AE7C-6FC7B53E1E1C}" srcOrd="0" destOrd="0" presId="urn:microsoft.com/office/officeart/2005/8/layout/hierarchy6"/>
    <dgm:cxn modelId="{6E676FBE-5BD3-4CA6-ADBE-78102BBA4082}" type="presOf" srcId="{46A88B0C-115D-4CE0-A3EA-B2585D81410C}" destId="{13939CCC-3990-4AE2-9564-F7F0233FF3EF}" srcOrd="0" destOrd="0" presId="urn:microsoft.com/office/officeart/2005/8/layout/hierarchy6"/>
    <dgm:cxn modelId="{7CF3DDC2-E150-4F7D-99B1-0BE8EE423136}" type="presOf" srcId="{0325083E-FD6B-481B-AB89-8FFA7FECB7E4}" destId="{5481AAB8-A451-4704-B70A-317ABDDEC6FA}" srcOrd="0" destOrd="0" presId="urn:microsoft.com/office/officeart/2005/8/layout/hierarchy6"/>
    <dgm:cxn modelId="{290F703C-52AC-415D-A49A-584E32EA4AD9}" type="presOf" srcId="{87B31949-09AE-4832-AFCD-182852DD8F45}" destId="{3307C611-AF51-4D34-8D9D-A0D4BF161A8E}" srcOrd="0" destOrd="0" presId="urn:microsoft.com/office/officeart/2005/8/layout/hierarchy6"/>
    <dgm:cxn modelId="{4645BD14-B367-4855-A927-86C1038BFDBC}" type="presOf" srcId="{44713971-0B25-40C6-BB3A-D046B4F60E49}" destId="{7DF17C01-9735-403F-B29B-96966D5D0775}" srcOrd="0" destOrd="0" presId="urn:microsoft.com/office/officeart/2005/8/layout/hierarchy6"/>
    <dgm:cxn modelId="{27D28EC7-579F-45B3-BBCF-46CA8D2A1A82}" srcId="{87B31949-09AE-4832-AFCD-182852DD8F45}" destId="{720D50E5-9585-44BC-970B-F340F7177247}" srcOrd="0" destOrd="0" parTransId="{B0A2D241-4234-4819-BBC9-212FBF3E091E}" sibTransId="{937EC3FD-7798-4575-8181-9642B68E23A9}"/>
    <dgm:cxn modelId="{1195F868-4580-43FA-8C80-944C0AF8D084}" type="presOf" srcId="{F5F8DE8D-E285-4F7B-80D9-5F569917F42A}" destId="{23C77F9B-AD5C-43E0-A898-1D56B1A9E392}" srcOrd="0" destOrd="0" presId="urn:microsoft.com/office/officeart/2005/8/layout/hierarchy6"/>
    <dgm:cxn modelId="{6BCF7FFA-B3A8-4B44-9F9E-FAE5F409035E}" srcId="{720D50E5-9585-44BC-970B-F340F7177247}" destId="{65552621-1702-479C-8889-DDE5DD13721A}" srcOrd="0" destOrd="0" parTransId="{6E29CC1E-D689-4E0E-8BC7-716BD61974BC}" sibTransId="{09EFA8C1-5BB1-4071-80AE-250DFB25DBDD}"/>
    <dgm:cxn modelId="{13AC8513-A75F-4FF9-AAEF-DE00F1C7BF80}" type="presOf" srcId="{1703B147-8F19-4748-8206-AE69FEE540C8}" destId="{683BB759-C18D-4113-99DB-15E13B053278}" srcOrd="0" destOrd="0" presId="urn:microsoft.com/office/officeart/2005/8/layout/hierarchy6"/>
    <dgm:cxn modelId="{FE86B800-AB7A-4E83-87AC-A5CC47538A46}" srcId="{5F316174-458C-46AD-A4C7-47658FDC2673}" destId="{EBEF0909-6E0C-400D-8DE9-48BD89C8471D}" srcOrd="0" destOrd="0" parTransId="{0325083E-FD6B-481B-AB89-8FFA7FECB7E4}" sibTransId="{DDE5A7CB-23C4-4BDE-8302-EF20E65ADB66}"/>
    <dgm:cxn modelId="{99BD1489-AA47-4C02-87E1-3E3E5628BDB2}" type="presOf" srcId="{AFE5CC09-5EF8-401E-8776-C357AD6F5691}" destId="{4D27D10C-1FE8-4558-9FF8-7FDB61D53148}" srcOrd="0" destOrd="0" presId="urn:microsoft.com/office/officeart/2005/8/layout/hierarchy6"/>
    <dgm:cxn modelId="{4E1F17BB-3EA5-49A7-BDA7-CAAE2B4F3B44}" srcId="{65552621-1702-479C-8889-DDE5DD13721A}" destId="{366363C9-2CBB-4B23-BF1A-F0B71A645028}" srcOrd="0" destOrd="0" parTransId="{AFE5CC09-5EF8-401E-8776-C357AD6F5691}" sibTransId="{8F654A49-0386-426D-BB23-A079A92B42F8}"/>
    <dgm:cxn modelId="{F770393A-972D-4A7E-B86A-73243EC6D4A4}" srcId="{366363C9-2CBB-4B23-BF1A-F0B71A645028}" destId="{A0804B72-84AF-4CF1-BC52-3781005C28E8}" srcOrd="0" destOrd="0" parTransId="{80058F85-D53A-400B-818B-2E7A82118591}" sibTransId="{93E032A6-12D0-4288-AE18-8E5E06F2DB17}"/>
    <dgm:cxn modelId="{8CE2D7E7-C05E-4306-94B3-7249F764D173}" type="presOf" srcId="{65552621-1702-479C-8889-DDE5DD13721A}" destId="{F01DC937-15CC-4ABD-A320-775CADBCF5D6}" srcOrd="0" destOrd="0" presId="urn:microsoft.com/office/officeart/2005/8/layout/hierarchy6"/>
    <dgm:cxn modelId="{32C2EF88-03AA-459F-919C-BBFE823A6025}" type="presParOf" srcId="{3307C611-AF51-4D34-8D9D-A0D4BF161A8E}" destId="{754DB3E5-D4FF-44FE-9E7E-E3BF80309C5C}" srcOrd="0" destOrd="0" presId="urn:microsoft.com/office/officeart/2005/8/layout/hierarchy6"/>
    <dgm:cxn modelId="{5BE440C2-1AAB-428A-BCEC-8CEBBCC54126}" type="presParOf" srcId="{754DB3E5-D4FF-44FE-9E7E-E3BF80309C5C}" destId="{49A8EA60-15AF-4CFB-91FB-31105811BD22}" srcOrd="0" destOrd="0" presId="urn:microsoft.com/office/officeart/2005/8/layout/hierarchy6"/>
    <dgm:cxn modelId="{EDB2A0AC-51E6-4AE6-B901-2C38C38A8A83}" type="presParOf" srcId="{49A8EA60-15AF-4CFB-91FB-31105811BD22}" destId="{60E7005A-E7D6-4EA7-8654-4A722138A497}" srcOrd="0" destOrd="0" presId="urn:microsoft.com/office/officeart/2005/8/layout/hierarchy6"/>
    <dgm:cxn modelId="{C74DDA7E-9F96-4517-90E9-223CEDBE33CD}" type="presParOf" srcId="{60E7005A-E7D6-4EA7-8654-4A722138A497}" destId="{DC450B3F-F948-4452-A421-D3BC0FBA8C7A}" srcOrd="0" destOrd="0" presId="urn:microsoft.com/office/officeart/2005/8/layout/hierarchy6"/>
    <dgm:cxn modelId="{5ABDFD63-B2B2-4EA5-8196-36640A2C80B5}" type="presParOf" srcId="{60E7005A-E7D6-4EA7-8654-4A722138A497}" destId="{66845B4A-3721-448B-8A04-84B881B51729}" srcOrd="1" destOrd="0" presId="urn:microsoft.com/office/officeart/2005/8/layout/hierarchy6"/>
    <dgm:cxn modelId="{0AF18F31-642F-4009-8216-E7DF7BB458F3}" type="presParOf" srcId="{66845B4A-3721-448B-8A04-84B881B51729}" destId="{1E7A25C3-5171-4F46-9B12-D04772F59DA0}" srcOrd="0" destOrd="0" presId="urn:microsoft.com/office/officeart/2005/8/layout/hierarchy6"/>
    <dgm:cxn modelId="{0B422ABA-3DF2-4BB8-B7AE-8CB6A418A3CC}" type="presParOf" srcId="{66845B4A-3721-448B-8A04-84B881B51729}" destId="{941AAAB1-C910-44EE-BB2F-61DCA61A40D5}" srcOrd="1" destOrd="0" presId="urn:microsoft.com/office/officeart/2005/8/layout/hierarchy6"/>
    <dgm:cxn modelId="{EBC60ED9-30FF-40B6-9DE8-0D05737FCCF4}" type="presParOf" srcId="{941AAAB1-C910-44EE-BB2F-61DCA61A40D5}" destId="{F01DC937-15CC-4ABD-A320-775CADBCF5D6}" srcOrd="0" destOrd="0" presId="urn:microsoft.com/office/officeart/2005/8/layout/hierarchy6"/>
    <dgm:cxn modelId="{95340D5F-6D39-454B-9728-A2A8E45BF49C}" type="presParOf" srcId="{941AAAB1-C910-44EE-BB2F-61DCA61A40D5}" destId="{A97297F1-5E6D-49E1-942B-0D5C05487931}" srcOrd="1" destOrd="0" presId="urn:microsoft.com/office/officeart/2005/8/layout/hierarchy6"/>
    <dgm:cxn modelId="{BC110652-2F5A-4288-8F93-4BB74003E0C8}" type="presParOf" srcId="{A97297F1-5E6D-49E1-942B-0D5C05487931}" destId="{4D27D10C-1FE8-4558-9FF8-7FDB61D53148}" srcOrd="0" destOrd="0" presId="urn:microsoft.com/office/officeart/2005/8/layout/hierarchy6"/>
    <dgm:cxn modelId="{457078A8-E1B3-404E-BE0B-34901397B3CA}" type="presParOf" srcId="{A97297F1-5E6D-49E1-942B-0D5C05487931}" destId="{843829F5-D423-4C71-BDFD-4BA93F8990AF}" srcOrd="1" destOrd="0" presId="urn:microsoft.com/office/officeart/2005/8/layout/hierarchy6"/>
    <dgm:cxn modelId="{DB447B04-834E-4E25-8622-11CF8D572B16}" type="presParOf" srcId="{843829F5-D423-4C71-BDFD-4BA93F8990AF}" destId="{97AB989E-537A-4CE3-A1B3-6B0F4A9B5399}" srcOrd="0" destOrd="0" presId="urn:microsoft.com/office/officeart/2005/8/layout/hierarchy6"/>
    <dgm:cxn modelId="{9FB380CD-CCA8-41AC-BC25-FDA9EB0F5022}" type="presParOf" srcId="{843829F5-D423-4C71-BDFD-4BA93F8990AF}" destId="{F9978390-CC99-4287-91DC-5E963644B052}" srcOrd="1" destOrd="0" presId="urn:microsoft.com/office/officeart/2005/8/layout/hierarchy6"/>
    <dgm:cxn modelId="{8C7360C3-20AB-4ACA-A3F0-D0ADC90D9CDA}" type="presParOf" srcId="{F9978390-CC99-4287-91DC-5E963644B052}" destId="{D7064CCE-5E1B-4982-AADF-5893DF56A22C}" srcOrd="0" destOrd="0" presId="urn:microsoft.com/office/officeart/2005/8/layout/hierarchy6"/>
    <dgm:cxn modelId="{E7FAAF39-B8B9-49EB-BB0B-8ECD082F92ED}" type="presParOf" srcId="{F9978390-CC99-4287-91DC-5E963644B052}" destId="{41715EFD-7B58-4389-AAAE-CF6E3D209F2B}" srcOrd="1" destOrd="0" presId="urn:microsoft.com/office/officeart/2005/8/layout/hierarchy6"/>
    <dgm:cxn modelId="{F70F54DA-C608-44FC-9556-C5A500BF4082}" type="presParOf" srcId="{41715EFD-7B58-4389-AAAE-CF6E3D209F2B}" destId="{7A4E631C-3726-4210-8D70-AB9A2A5B8BB3}" srcOrd="0" destOrd="0" presId="urn:microsoft.com/office/officeart/2005/8/layout/hierarchy6"/>
    <dgm:cxn modelId="{17F8E626-2483-43F2-AB53-5F54E29937DF}" type="presParOf" srcId="{41715EFD-7B58-4389-AAAE-CF6E3D209F2B}" destId="{EBA88C18-3CF5-4888-AF12-39DAFD7B7AD1}" srcOrd="1" destOrd="0" presId="urn:microsoft.com/office/officeart/2005/8/layout/hierarchy6"/>
    <dgm:cxn modelId="{109B0289-6F5C-4AD7-99CB-DC75871D5694}" type="presParOf" srcId="{A97297F1-5E6D-49E1-942B-0D5C05487931}" destId="{7DF17C01-9735-403F-B29B-96966D5D0775}" srcOrd="2" destOrd="0" presId="urn:microsoft.com/office/officeart/2005/8/layout/hierarchy6"/>
    <dgm:cxn modelId="{6B76A3AC-86D7-46DF-9EAF-642A6AF4F2D4}" type="presParOf" srcId="{A97297F1-5E6D-49E1-942B-0D5C05487931}" destId="{7E927801-4B3C-4DFE-9756-F10B083AE10F}" srcOrd="3" destOrd="0" presId="urn:microsoft.com/office/officeart/2005/8/layout/hierarchy6"/>
    <dgm:cxn modelId="{8C969204-CBA4-4AD6-8875-46C16DD8802B}" type="presParOf" srcId="{7E927801-4B3C-4DFE-9756-F10B083AE10F}" destId="{3CD62B89-78FE-4BA1-84AF-301048C05A74}" srcOrd="0" destOrd="0" presId="urn:microsoft.com/office/officeart/2005/8/layout/hierarchy6"/>
    <dgm:cxn modelId="{3FB08796-879D-477D-8E4E-C54DF4F25FBC}" type="presParOf" srcId="{7E927801-4B3C-4DFE-9756-F10B083AE10F}" destId="{7ED0910C-C878-4C6C-AF6E-D837185C1DCC}" srcOrd="1" destOrd="0" presId="urn:microsoft.com/office/officeart/2005/8/layout/hierarchy6"/>
    <dgm:cxn modelId="{110744DE-168C-461F-B015-E4C0887E327C}" type="presParOf" srcId="{7ED0910C-C878-4C6C-AF6E-D837185C1DCC}" destId="{5481AAB8-A451-4704-B70A-317ABDDEC6FA}" srcOrd="0" destOrd="0" presId="urn:microsoft.com/office/officeart/2005/8/layout/hierarchy6"/>
    <dgm:cxn modelId="{DA8DA9E3-AA53-4B6B-84A4-47432AAFF5A9}" type="presParOf" srcId="{7ED0910C-C878-4C6C-AF6E-D837185C1DCC}" destId="{CA0D03A0-8509-4271-A0A8-BAF5877DDE5D}" srcOrd="1" destOrd="0" presId="urn:microsoft.com/office/officeart/2005/8/layout/hierarchy6"/>
    <dgm:cxn modelId="{DDE9FBDE-21FC-4906-9379-37D836195636}" type="presParOf" srcId="{CA0D03A0-8509-4271-A0A8-BAF5877DDE5D}" destId="{E5752885-0467-4B2F-9A53-BCA8E019CA03}" srcOrd="0" destOrd="0" presId="urn:microsoft.com/office/officeart/2005/8/layout/hierarchy6"/>
    <dgm:cxn modelId="{01F1E3D4-1878-4609-A198-D5183DB61A3B}" type="presParOf" srcId="{CA0D03A0-8509-4271-A0A8-BAF5877DDE5D}" destId="{257BC3B4-F4A2-4E3E-A3E1-DED5B86E5994}" srcOrd="1" destOrd="0" presId="urn:microsoft.com/office/officeart/2005/8/layout/hierarchy6"/>
    <dgm:cxn modelId="{467F8837-AE2B-4438-A0B4-1FD48401321A}" type="presParOf" srcId="{7ED0910C-C878-4C6C-AF6E-D837185C1DCC}" destId="{7C99C5CE-FCF4-48ED-89AF-3FA43449745E}" srcOrd="2" destOrd="0" presId="urn:microsoft.com/office/officeart/2005/8/layout/hierarchy6"/>
    <dgm:cxn modelId="{F036EFB2-617D-4861-9660-493ABA286863}" type="presParOf" srcId="{7ED0910C-C878-4C6C-AF6E-D837185C1DCC}" destId="{D3F1DB45-34A9-4BB7-932A-E585BF3B4EC2}" srcOrd="3" destOrd="0" presId="urn:microsoft.com/office/officeart/2005/8/layout/hierarchy6"/>
    <dgm:cxn modelId="{0F29B807-791E-4E06-893A-2BBEE3397883}" type="presParOf" srcId="{D3F1DB45-34A9-4BB7-932A-E585BF3B4EC2}" destId="{13939CCC-3990-4AE2-9564-F7F0233FF3EF}" srcOrd="0" destOrd="0" presId="urn:microsoft.com/office/officeart/2005/8/layout/hierarchy6"/>
    <dgm:cxn modelId="{0B553F8C-8AC5-4C73-9BC2-D3AB098E4D7D}" type="presParOf" srcId="{D3F1DB45-34A9-4BB7-932A-E585BF3B4EC2}" destId="{310F2A97-7C31-4176-A860-5F4ECEDCD748}" srcOrd="1" destOrd="0" presId="urn:microsoft.com/office/officeart/2005/8/layout/hierarchy6"/>
    <dgm:cxn modelId="{B5CA42DE-CF6C-4D5C-90FE-BF8D028E71A5}" type="presParOf" srcId="{66845B4A-3721-448B-8A04-84B881B51729}" destId="{C34544D3-7718-486A-838E-9E568532369A}" srcOrd="2" destOrd="0" presId="urn:microsoft.com/office/officeart/2005/8/layout/hierarchy6"/>
    <dgm:cxn modelId="{824D1868-CF8F-4CEB-97EE-6B8F423D0793}" type="presParOf" srcId="{66845B4A-3721-448B-8A04-84B881B51729}" destId="{D75D19F3-DF92-4FFB-9235-EB5693E185AC}" srcOrd="3" destOrd="0" presId="urn:microsoft.com/office/officeart/2005/8/layout/hierarchy6"/>
    <dgm:cxn modelId="{56D23B54-11EE-446F-988E-86D3C725DA2C}" type="presParOf" srcId="{D75D19F3-DF92-4FFB-9235-EB5693E185AC}" destId="{23C77F9B-AD5C-43E0-A898-1D56B1A9E392}" srcOrd="0" destOrd="0" presId="urn:microsoft.com/office/officeart/2005/8/layout/hierarchy6"/>
    <dgm:cxn modelId="{B3B8F850-10AF-4CE0-9478-CDFF24CDC20A}" type="presParOf" srcId="{D75D19F3-DF92-4FFB-9235-EB5693E185AC}" destId="{77483CB9-2910-498F-A6BC-506FE2AB4410}" srcOrd="1" destOrd="0" presId="urn:microsoft.com/office/officeart/2005/8/layout/hierarchy6"/>
    <dgm:cxn modelId="{46517DBC-348A-49CD-BC42-4C6F6611184A}" type="presParOf" srcId="{77483CB9-2910-498F-A6BC-506FE2AB4410}" destId="{19DB676D-C480-4E98-AE7C-6FC7B53E1E1C}" srcOrd="0" destOrd="0" presId="urn:microsoft.com/office/officeart/2005/8/layout/hierarchy6"/>
    <dgm:cxn modelId="{C8BB7F02-4341-431B-AB6B-518021891CB6}" type="presParOf" srcId="{77483CB9-2910-498F-A6BC-506FE2AB4410}" destId="{675167E4-44CE-4A2D-A54A-AB57468D66A8}" srcOrd="1" destOrd="0" presId="urn:microsoft.com/office/officeart/2005/8/layout/hierarchy6"/>
    <dgm:cxn modelId="{DBB1CC00-4B4D-4F4B-96A3-EC031E95D2F7}" type="presParOf" srcId="{675167E4-44CE-4A2D-A54A-AB57468D66A8}" destId="{683BB759-C18D-4113-99DB-15E13B053278}" srcOrd="0" destOrd="0" presId="urn:microsoft.com/office/officeart/2005/8/layout/hierarchy6"/>
    <dgm:cxn modelId="{851CFB2C-F6DA-4D62-8A5C-D38DD5024EFF}" type="presParOf" srcId="{675167E4-44CE-4A2D-A54A-AB57468D66A8}" destId="{C3874FC2-E649-4614-B6A1-B6B0E4083B46}" srcOrd="1" destOrd="0" presId="urn:microsoft.com/office/officeart/2005/8/layout/hierarchy6"/>
    <dgm:cxn modelId="{DE915EBD-FFC4-4152-9E77-01ED786523C7}" type="presParOf" srcId="{77483CB9-2910-498F-A6BC-506FE2AB4410}" destId="{973B2D09-2A3E-474E-A65A-67AA00D11D4C}" srcOrd="2" destOrd="0" presId="urn:microsoft.com/office/officeart/2005/8/layout/hierarchy6"/>
    <dgm:cxn modelId="{86939C3D-D1D8-427A-8102-9106688E00AC}" type="presParOf" srcId="{77483CB9-2910-498F-A6BC-506FE2AB4410}" destId="{2A29C3C6-69EE-4AE2-BD7A-B727AC2CF5D0}" srcOrd="3" destOrd="0" presId="urn:microsoft.com/office/officeart/2005/8/layout/hierarchy6"/>
    <dgm:cxn modelId="{E381C1CC-6FA2-45AA-BDFA-09AF6252C1D4}" type="presParOf" srcId="{2A29C3C6-69EE-4AE2-BD7A-B727AC2CF5D0}" destId="{EC85B480-D20F-4CE5-A5CD-DC3DB4AAC5B6}" srcOrd="0" destOrd="0" presId="urn:microsoft.com/office/officeart/2005/8/layout/hierarchy6"/>
    <dgm:cxn modelId="{A4E087BA-4323-4204-9E43-D8D9E7AC6FD9}" type="presParOf" srcId="{2A29C3C6-69EE-4AE2-BD7A-B727AC2CF5D0}" destId="{085E59E1-0700-469C-BCE0-C60EB4A02120}" srcOrd="1" destOrd="0" presId="urn:microsoft.com/office/officeart/2005/8/layout/hierarchy6"/>
    <dgm:cxn modelId="{723A1BBD-630A-49F9-BB4E-76AB22F7D9C3}" type="presParOf" srcId="{3307C611-AF51-4D34-8D9D-A0D4BF161A8E}" destId="{AA7DF3AB-5A8B-4C73-9414-982B0A16FE9D}"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450B3F-F948-4452-A421-D3BC0FBA8C7A}">
      <dsp:nvSpPr>
        <dsp:cNvPr id="0" name=""/>
        <dsp:cNvSpPr/>
      </dsp:nvSpPr>
      <dsp:spPr>
        <a:xfrm>
          <a:off x="4761530" y="611"/>
          <a:ext cx="1425889" cy="950593"/>
        </a:xfrm>
        <a:prstGeom prst="roundRect">
          <a:avLst>
            <a:gd name="adj" fmla="val 10000"/>
          </a:avLst>
        </a:prstGeom>
        <a:gradFill rotWithShape="0">
          <a:gsLst>
            <a:gs pos="0">
              <a:schemeClr val="accent1">
                <a:hueOff val="0"/>
                <a:satOff val="0"/>
                <a:lumOff val="0"/>
                <a:alphaOff val="0"/>
                <a:tint val="67000"/>
                <a:satMod val="105000"/>
                <a:lumMod val="110000"/>
              </a:schemeClr>
            </a:gs>
            <a:gs pos="50000">
              <a:schemeClr val="accent1">
                <a:hueOff val="0"/>
                <a:satOff val="0"/>
                <a:lumOff val="0"/>
                <a:alphaOff val="0"/>
                <a:tint val="73000"/>
                <a:satMod val="103000"/>
                <a:lumMod val="105000"/>
              </a:schemeClr>
            </a:gs>
            <a:gs pos="100000">
              <a:schemeClr val="accent1">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Machine Learning</a:t>
          </a:r>
          <a:endParaRPr lang="en-US" sz="1700" kern="1200" dirty="0"/>
        </a:p>
      </dsp:txBody>
      <dsp:txXfrm>
        <a:off x="4789372" y="28453"/>
        <a:ext cx="1370205" cy="894909"/>
      </dsp:txXfrm>
    </dsp:sp>
    <dsp:sp modelId="{1E7A25C3-5171-4F46-9B12-D04772F59DA0}">
      <dsp:nvSpPr>
        <dsp:cNvPr id="0" name=""/>
        <dsp:cNvSpPr/>
      </dsp:nvSpPr>
      <dsp:spPr>
        <a:xfrm>
          <a:off x="3389111" y="951204"/>
          <a:ext cx="2085363" cy="380237"/>
        </a:xfrm>
        <a:custGeom>
          <a:avLst/>
          <a:gdLst/>
          <a:ahLst/>
          <a:cxnLst/>
          <a:rect l="0" t="0" r="0" b="0"/>
          <a:pathLst>
            <a:path>
              <a:moveTo>
                <a:pt x="2085363" y="0"/>
              </a:moveTo>
              <a:lnTo>
                <a:pt x="2085363" y="190118"/>
              </a:lnTo>
              <a:lnTo>
                <a:pt x="0" y="190118"/>
              </a:lnTo>
              <a:lnTo>
                <a:pt x="0" y="380237"/>
              </a:lnTo>
            </a:path>
          </a:pathLst>
        </a:custGeom>
        <a:noFill/>
        <a:ln w="127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1DC937-15CC-4ABD-A320-775CADBCF5D6}">
      <dsp:nvSpPr>
        <dsp:cNvPr id="0" name=""/>
        <dsp:cNvSpPr/>
      </dsp:nvSpPr>
      <dsp:spPr>
        <a:xfrm>
          <a:off x="2676166" y="133144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Supervised Learning</a:t>
          </a:r>
          <a:endParaRPr lang="en-US" sz="1700" kern="1200" dirty="0"/>
        </a:p>
      </dsp:txBody>
      <dsp:txXfrm>
        <a:off x="2704008" y="1359283"/>
        <a:ext cx="1370205" cy="894909"/>
      </dsp:txXfrm>
    </dsp:sp>
    <dsp:sp modelId="{4D27D10C-1FE8-4558-9FF8-7FDB61D53148}">
      <dsp:nvSpPr>
        <dsp:cNvPr id="0" name=""/>
        <dsp:cNvSpPr/>
      </dsp:nvSpPr>
      <dsp:spPr>
        <a:xfrm>
          <a:off x="1998869" y="2282034"/>
          <a:ext cx="1390242" cy="380237"/>
        </a:xfrm>
        <a:custGeom>
          <a:avLst/>
          <a:gdLst/>
          <a:ahLst/>
          <a:cxnLst/>
          <a:rect l="0" t="0" r="0" b="0"/>
          <a:pathLst>
            <a:path>
              <a:moveTo>
                <a:pt x="1390242" y="0"/>
              </a:moveTo>
              <a:lnTo>
                <a:pt x="1390242" y="190118"/>
              </a:lnTo>
              <a:lnTo>
                <a:pt x="0" y="190118"/>
              </a:lnTo>
              <a:lnTo>
                <a:pt x="0" y="380237"/>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AB989E-537A-4CE3-A1B3-6B0F4A9B5399}">
      <dsp:nvSpPr>
        <dsp:cNvPr id="0" name=""/>
        <dsp:cNvSpPr/>
      </dsp:nvSpPr>
      <dsp:spPr>
        <a:xfrm>
          <a:off x="1285924" y="266227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Classification</a:t>
          </a:r>
          <a:endParaRPr lang="en-US" sz="1700" kern="1200" dirty="0"/>
        </a:p>
      </dsp:txBody>
      <dsp:txXfrm>
        <a:off x="1313766" y="2690113"/>
        <a:ext cx="1370205" cy="894909"/>
      </dsp:txXfrm>
    </dsp:sp>
    <dsp:sp modelId="{D7064CCE-5E1B-4982-AADF-5893DF56A22C}">
      <dsp:nvSpPr>
        <dsp:cNvPr id="0" name=""/>
        <dsp:cNvSpPr/>
      </dsp:nvSpPr>
      <dsp:spPr>
        <a:xfrm>
          <a:off x="1953149" y="3612864"/>
          <a:ext cx="91440" cy="380237"/>
        </a:xfrm>
        <a:custGeom>
          <a:avLst/>
          <a:gdLst/>
          <a:ahLst/>
          <a:cxnLst/>
          <a:rect l="0" t="0" r="0" b="0"/>
          <a:pathLst>
            <a:path>
              <a:moveTo>
                <a:pt x="45720" y="0"/>
              </a:moveTo>
              <a:lnTo>
                <a:pt x="45720" y="380237"/>
              </a:lnTo>
            </a:path>
          </a:pathLst>
        </a:custGeom>
        <a:noFill/>
        <a:ln w="127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4E631C-3726-4210-8D70-AB9A2A5B8BB3}">
      <dsp:nvSpPr>
        <dsp:cNvPr id="0" name=""/>
        <dsp:cNvSpPr/>
      </dsp:nvSpPr>
      <dsp:spPr>
        <a:xfrm>
          <a:off x="1285924" y="399310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SVM, ANN, kNN, DT, BN, …</a:t>
          </a:r>
          <a:endParaRPr lang="en-US" sz="1700" kern="1200" dirty="0"/>
        </a:p>
      </dsp:txBody>
      <dsp:txXfrm>
        <a:off x="1313766" y="4020943"/>
        <a:ext cx="1370205" cy="894909"/>
      </dsp:txXfrm>
    </dsp:sp>
    <dsp:sp modelId="{7DF17C01-9735-403F-B29B-96966D5D0775}">
      <dsp:nvSpPr>
        <dsp:cNvPr id="0" name=""/>
        <dsp:cNvSpPr/>
      </dsp:nvSpPr>
      <dsp:spPr>
        <a:xfrm>
          <a:off x="3389111" y="2282034"/>
          <a:ext cx="1390242" cy="380237"/>
        </a:xfrm>
        <a:custGeom>
          <a:avLst/>
          <a:gdLst/>
          <a:ahLst/>
          <a:cxnLst/>
          <a:rect l="0" t="0" r="0" b="0"/>
          <a:pathLst>
            <a:path>
              <a:moveTo>
                <a:pt x="0" y="0"/>
              </a:moveTo>
              <a:lnTo>
                <a:pt x="0" y="190118"/>
              </a:lnTo>
              <a:lnTo>
                <a:pt x="1390242" y="190118"/>
              </a:lnTo>
              <a:lnTo>
                <a:pt x="1390242" y="380237"/>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D62B89-78FE-4BA1-84AF-301048C05A74}">
      <dsp:nvSpPr>
        <dsp:cNvPr id="0" name=""/>
        <dsp:cNvSpPr/>
      </dsp:nvSpPr>
      <dsp:spPr>
        <a:xfrm>
          <a:off x="4066409" y="266227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Prediction</a:t>
          </a:r>
          <a:endParaRPr lang="en-US" sz="1700" kern="1200" dirty="0"/>
        </a:p>
      </dsp:txBody>
      <dsp:txXfrm>
        <a:off x="4094251" y="2690113"/>
        <a:ext cx="1370205" cy="894909"/>
      </dsp:txXfrm>
    </dsp:sp>
    <dsp:sp modelId="{5481AAB8-A451-4704-B70A-317ABDDEC6FA}">
      <dsp:nvSpPr>
        <dsp:cNvPr id="0" name=""/>
        <dsp:cNvSpPr/>
      </dsp:nvSpPr>
      <dsp:spPr>
        <a:xfrm>
          <a:off x="3852525" y="3612864"/>
          <a:ext cx="926828" cy="380237"/>
        </a:xfrm>
        <a:custGeom>
          <a:avLst/>
          <a:gdLst/>
          <a:ahLst/>
          <a:cxnLst/>
          <a:rect l="0" t="0" r="0" b="0"/>
          <a:pathLst>
            <a:path>
              <a:moveTo>
                <a:pt x="926828" y="0"/>
              </a:moveTo>
              <a:lnTo>
                <a:pt x="926828" y="190118"/>
              </a:lnTo>
              <a:lnTo>
                <a:pt x="0" y="190118"/>
              </a:lnTo>
              <a:lnTo>
                <a:pt x="0" y="380237"/>
              </a:lnTo>
            </a:path>
          </a:pathLst>
        </a:custGeom>
        <a:noFill/>
        <a:ln w="127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752885-0467-4B2F-9A53-BCA8E019CA03}">
      <dsp:nvSpPr>
        <dsp:cNvPr id="0" name=""/>
        <dsp:cNvSpPr/>
      </dsp:nvSpPr>
      <dsp:spPr>
        <a:xfrm>
          <a:off x="3139580" y="399310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Regression</a:t>
          </a:r>
          <a:endParaRPr lang="en-US" sz="1700" kern="1200" dirty="0"/>
        </a:p>
      </dsp:txBody>
      <dsp:txXfrm>
        <a:off x="3167422" y="4020943"/>
        <a:ext cx="1370205" cy="894909"/>
      </dsp:txXfrm>
    </dsp:sp>
    <dsp:sp modelId="{7C99C5CE-FCF4-48ED-89AF-3FA43449745E}">
      <dsp:nvSpPr>
        <dsp:cNvPr id="0" name=""/>
        <dsp:cNvSpPr/>
      </dsp:nvSpPr>
      <dsp:spPr>
        <a:xfrm>
          <a:off x="4779353" y="3612864"/>
          <a:ext cx="926828" cy="380237"/>
        </a:xfrm>
        <a:custGeom>
          <a:avLst/>
          <a:gdLst/>
          <a:ahLst/>
          <a:cxnLst/>
          <a:rect l="0" t="0" r="0" b="0"/>
          <a:pathLst>
            <a:path>
              <a:moveTo>
                <a:pt x="0" y="0"/>
              </a:moveTo>
              <a:lnTo>
                <a:pt x="0" y="190118"/>
              </a:lnTo>
              <a:lnTo>
                <a:pt x="926828" y="190118"/>
              </a:lnTo>
              <a:lnTo>
                <a:pt x="926828" y="380237"/>
              </a:lnTo>
            </a:path>
          </a:pathLst>
        </a:custGeom>
        <a:noFill/>
        <a:ln w="127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939CCC-3990-4AE2-9564-F7F0233FF3EF}">
      <dsp:nvSpPr>
        <dsp:cNvPr id="0" name=""/>
        <dsp:cNvSpPr/>
      </dsp:nvSpPr>
      <dsp:spPr>
        <a:xfrm>
          <a:off x="4993237" y="399310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SVM, ANN, kNN, DT, BN, …</a:t>
          </a:r>
          <a:endParaRPr lang="en-US" sz="1700" kern="1200" dirty="0"/>
        </a:p>
      </dsp:txBody>
      <dsp:txXfrm>
        <a:off x="5021079" y="4020943"/>
        <a:ext cx="1370205" cy="894909"/>
      </dsp:txXfrm>
    </dsp:sp>
    <dsp:sp modelId="{C34544D3-7718-486A-838E-9E568532369A}">
      <dsp:nvSpPr>
        <dsp:cNvPr id="0" name=""/>
        <dsp:cNvSpPr/>
      </dsp:nvSpPr>
      <dsp:spPr>
        <a:xfrm>
          <a:off x="5474475" y="951204"/>
          <a:ext cx="2085363" cy="380237"/>
        </a:xfrm>
        <a:custGeom>
          <a:avLst/>
          <a:gdLst/>
          <a:ahLst/>
          <a:cxnLst/>
          <a:rect l="0" t="0" r="0" b="0"/>
          <a:pathLst>
            <a:path>
              <a:moveTo>
                <a:pt x="0" y="0"/>
              </a:moveTo>
              <a:lnTo>
                <a:pt x="0" y="190118"/>
              </a:lnTo>
              <a:lnTo>
                <a:pt x="2085363" y="190118"/>
              </a:lnTo>
              <a:lnTo>
                <a:pt x="2085363" y="380237"/>
              </a:lnTo>
            </a:path>
          </a:pathLst>
        </a:custGeom>
        <a:noFill/>
        <a:ln w="127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C77F9B-AD5C-43E0-A898-1D56B1A9E392}">
      <dsp:nvSpPr>
        <dsp:cNvPr id="0" name=""/>
        <dsp:cNvSpPr/>
      </dsp:nvSpPr>
      <dsp:spPr>
        <a:xfrm>
          <a:off x="6846893" y="133144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Unsupervised Learning</a:t>
          </a:r>
          <a:endParaRPr lang="en-US" sz="1700" kern="1200" dirty="0"/>
        </a:p>
      </dsp:txBody>
      <dsp:txXfrm>
        <a:off x="6874735" y="1359283"/>
        <a:ext cx="1370205" cy="894909"/>
      </dsp:txXfrm>
    </dsp:sp>
    <dsp:sp modelId="{19DB676D-C480-4E98-AE7C-6FC7B53E1E1C}">
      <dsp:nvSpPr>
        <dsp:cNvPr id="0" name=""/>
        <dsp:cNvSpPr/>
      </dsp:nvSpPr>
      <dsp:spPr>
        <a:xfrm>
          <a:off x="6633010" y="2282034"/>
          <a:ext cx="926828" cy="380237"/>
        </a:xfrm>
        <a:custGeom>
          <a:avLst/>
          <a:gdLst/>
          <a:ahLst/>
          <a:cxnLst/>
          <a:rect l="0" t="0" r="0" b="0"/>
          <a:pathLst>
            <a:path>
              <a:moveTo>
                <a:pt x="926828" y="0"/>
              </a:moveTo>
              <a:lnTo>
                <a:pt x="926828" y="190118"/>
              </a:lnTo>
              <a:lnTo>
                <a:pt x="0" y="190118"/>
              </a:lnTo>
              <a:lnTo>
                <a:pt x="0" y="380237"/>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3BB759-C18D-4113-99DB-15E13B053278}">
      <dsp:nvSpPr>
        <dsp:cNvPr id="0" name=""/>
        <dsp:cNvSpPr/>
      </dsp:nvSpPr>
      <dsp:spPr>
        <a:xfrm>
          <a:off x="5920065" y="266227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Clustering</a:t>
          </a:r>
          <a:endParaRPr lang="en-US" sz="1700" kern="1200" dirty="0"/>
        </a:p>
      </dsp:txBody>
      <dsp:txXfrm>
        <a:off x="5947907" y="2690113"/>
        <a:ext cx="1370205" cy="894909"/>
      </dsp:txXfrm>
    </dsp:sp>
    <dsp:sp modelId="{973B2D09-2A3E-474E-A65A-67AA00D11D4C}">
      <dsp:nvSpPr>
        <dsp:cNvPr id="0" name=""/>
        <dsp:cNvSpPr/>
      </dsp:nvSpPr>
      <dsp:spPr>
        <a:xfrm>
          <a:off x="7559838" y="2282034"/>
          <a:ext cx="926828" cy="380237"/>
        </a:xfrm>
        <a:custGeom>
          <a:avLst/>
          <a:gdLst/>
          <a:ahLst/>
          <a:cxnLst/>
          <a:rect l="0" t="0" r="0" b="0"/>
          <a:pathLst>
            <a:path>
              <a:moveTo>
                <a:pt x="0" y="0"/>
              </a:moveTo>
              <a:lnTo>
                <a:pt x="0" y="190118"/>
              </a:lnTo>
              <a:lnTo>
                <a:pt x="926828" y="190118"/>
              </a:lnTo>
              <a:lnTo>
                <a:pt x="926828" y="380237"/>
              </a:lnTo>
            </a:path>
          </a:pathLst>
        </a:custGeom>
        <a:noFill/>
        <a:ln w="127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85B480-D20F-4CE5-A5CD-DC3DB4AAC5B6}">
      <dsp:nvSpPr>
        <dsp:cNvPr id="0" name=""/>
        <dsp:cNvSpPr/>
      </dsp:nvSpPr>
      <dsp:spPr>
        <a:xfrm>
          <a:off x="7773721" y="2662271"/>
          <a:ext cx="1425889" cy="950593"/>
        </a:xfrm>
        <a:prstGeom prst="roundRect">
          <a:avLst>
            <a:gd name="adj" fmla="val 10000"/>
          </a:avLst>
        </a:prstGeom>
        <a:gradFill rotWithShape="0">
          <a:gsLst>
            <a:gs pos="0">
              <a:schemeClr val="accent2">
                <a:hueOff val="0"/>
                <a:satOff val="0"/>
                <a:lumOff val="0"/>
                <a:alphaOff val="0"/>
                <a:tint val="67000"/>
                <a:satMod val="105000"/>
                <a:lumMod val="110000"/>
              </a:schemeClr>
            </a:gs>
            <a:gs pos="50000">
              <a:schemeClr val="accent2">
                <a:hueOff val="0"/>
                <a:satOff val="0"/>
                <a:lumOff val="0"/>
                <a:alphaOff val="0"/>
                <a:tint val="73000"/>
                <a:satMod val="103000"/>
                <a:lumMod val="105000"/>
              </a:schemeClr>
            </a:gs>
            <a:gs pos="100000">
              <a:schemeClr val="accent2">
                <a:hueOff val="0"/>
                <a:satOff val="0"/>
                <a:lumOff val="0"/>
                <a:alphaOff val="0"/>
                <a:tint val="81000"/>
                <a:satMod val="109000"/>
                <a:lumMod val="105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US" sz="1700" kern="1200" dirty="0" smtClean="0"/>
            <a:t>Pathway Analysis</a:t>
          </a:r>
          <a:endParaRPr lang="en-US" sz="1700" kern="1200" dirty="0"/>
        </a:p>
      </dsp:txBody>
      <dsp:txXfrm>
        <a:off x="7801563" y="2690113"/>
        <a:ext cx="1370205" cy="89490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AD0B9E5-B1D5-447E-AED2-9C2502369584}" type="datetimeFigureOut">
              <a:rPr lang="en-US" smtClean="0"/>
              <a:t>9/22/2016</a:t>
            </a:fld>
            <a:endParaRPr lang="en-US" dirty="0"/>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F65190D-3304-4022-89CC-DB78F47C8B5B}" type="slidenum">
              <a:rPr lang="en-US" smtClean="0"/>
              <a:t>‹#›</a:t>
            </a:fld>
            <a:endParaRPr lang="en-US" dirty="0"/>
          </a:p>
        </p:txBody>
      </p:sp>
    </p:spTree>
    <p:extLst>
      <p:ext uri="{BB962C8B-B14F-4D97-AF65-F5344CB8AC3E}">
        <p14:creationId xmlns:p14="http://schemas.microsoft.com/office/powerpoint/2010/main" val="39268469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08481BC-C8FD-4874-AC97-BD3798764E27}" type="datetimeFigureOut">
              <a:rPr lang="en-US" smtClean="0"/>
              <a:t>9/22/2016</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ADF3B73-E173-45C2-B65F-B02BEF24A8B4}" type="slidenum">
              <a:rPr lang="en-US" smtClean="0"/>
              <a:t>‹#›</a:t>
            </a:fld>
            <a:endParaRPr lang="en-US" dirty="0"/>
          </a:p>
        </p:txBody>
      </p:sp>
    </p:spTree>
    <p:extLst>
      <p:ext uri="{BB962C8B-B14F-4D97-AF65-F5344CB8AC3E}">
        <p14:creationId xmlns:p14="http://schemas.microsoft.com/office/powerpoint/2010/main" val="101255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980003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036358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7868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8</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422977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12</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299180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18</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3604301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20</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132429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27</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2914392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30</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3118739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34</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3099419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37</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423132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43</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446019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48</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76655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52</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3540263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54</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406187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55</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968671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dirty="0" smtClean="0"/>
              <a:t>1/4/2010</a:t>
            </a:r>
            <a:endParaRPr lang="en-US" dirty="0"/>
          </a:p>
        </p:txBody>
      </p:sp>
      <p:sp>
        <p:nvSpPr>
          <p:cNvPr id="5" name="Footer Placeholder 4"/>
          <p:cNvSpPr>
            <a:spLocks noGrp="1"/>
          </p:cNvSpPr>
          <p:nvPr>
            <p:ph type="ftr" sz="quarter" idx="11"/>
          </p:nvPr>
        </p:nvSpPr>
        <p:spPr/>
        <p:txBody>
          <a:bodyPr/>
          <a:lstStyle/>
          <a:p>
            <a:r>
              <a:rPr lang="en-US" dirty="0" smtClean="0"/>
              <a:t>Isabelle Bichindaritz, SUNY Oswego</a:t>
            </a:r>
            <a:endParaRPr lang="en-US" dirty="0"/>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302999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dirty="0" smtClean="0"/>
              <a:t>1/4/2010</a:t>
            </a:r>
            <a:endParaRPr lang="en-US" dirty="0"/>
          </a:p>
        </p:txBody>
      </p:sp>
      <p:sp>
        <p:nvSpPr>
          <p:cNvPr id="5" name="Footer Placeholder 4"/>
          <p:cNvSpPr>
            <a:spLocks noGrp="1"/>
          </p:cNvSpPr>
          <p:nvPr>
            <p:ph type="ftr" sz="quarter" idx="11"/>
          </p:nvPr>
        </p:nvSpPr>
        <p:spPr/>
        <p:txBody>
          <a:bodyPr/>
          <a:lstStyle/>
          <a:p>
            <a:r>
              <a:rPr lang="en-US" dirty="0" smtClean="0"/>
              <a:t>Isabelle Bichindaritz, SUNY Oswego</a:t>
            </a:r>
            <a:endParaRPr lang="en-US" dirty="0"/>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2945169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dirty="0" smtClean="0"/>
              <a:t>1/4/2010</a:t>
            </a:r>
            <a:endParaRPr lang="en-US" dirty="0"/>
          </a:p>
        </p:txBody>
      </p:sp>
      <p:sp>
        <p:nvSpPr>
          <p:cNvPr id="5" name="Footer Placeholder 4"/>
          <p:cNvSpPr>
            <a:spLocks noGrp="1"/>
          </p:cNvSpPr>
          <p:nvPr>
            <p:ph type="ftr" sz="quarter" idx="11"/>
          </p:nvPr>
        </p:nvSpPr>
        <p:spPr/>
        <p:txBody>
          <a:bodyPr/>
          <a:lstStyle/>
          <a:p>
            <a:r>
              <a:rPr lang="en-US" dirty="0" smtClean="0"/>
              <a:t>Isabelle Bichindaritz, SUNY Oswego</a:t>
            </a:r>
            <a:endParaRPr lang="en-US" dirty="0"/>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3384263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dirty="0" smtClean="0"/>
              <a:t>1/4/2010</a:t>
            </a:r>
            <a:endParaRPr lang="en-US" dirty="0"/>
          </a:p>
        </p:txBody>
      </p:sp>
      <p:sp>
        <p:nvSpPr>
          <p:cNvPr id="6" name="Footer Placeholder 5"/>
          <p:cNvSpPr>
            <a:spLocks noGrp="1"/>
          </p:cNvSpPr>
          <p:nvPr>
            <p:ph type="ftr" sz="quarter" idx="11"/>
          </p:nvPr>
        </p:nvSpPr>
        <p:spPr/>
        <p:txBody>
          <a:bodyPr/>
          <a:lstStyle/>
          <a:p>
            <a:r>
              <a:rPr lang="en-US" dirty="0" smtClean="0"/>
              <a:t>Isabelle Bichindaritz, SUNY Oswego</a:t>
            </a:r>
            <a:endParaRPr lang="en-US" dirty="0"/>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3182884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5127" y="2507550"/>
            <a:ext cx="5156200"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7550"/>
            <a:ext cx="5181601"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dirty="0" smtClean="0"/>
              <a:t>1/4/2010</a:t>
            </a:r>
            <a:endParaRPr lang="en-US" dirty="0"/>
          </a:p>
        </p:txBody>
      </p:sp>
      <p:sp>
        <p:nvSpPr>
          <p:cNvPr id="8" name="Footer Placeholder 7"/>
          <p:cNvSpPr>
            <a:spLocks noGrp="1"/>
          </p:cNvSpPr>
          <p:nvPr>
            <p:ph type="ftr" sz="quarter" idx="11"/>
          </p:nvPr>
        </p:nvSpPr>
        <p:spPr/>
        <p:txBody>
          <a:bodyPr/>
          <a:lstStyle/>
          <a:p>
            <a:r>
              <a:rPr lang="en-US" dirty="0" smtClean="0"/>
              <a:t>Isabelle Bichindaritz, SUNY Oswego</a:t>
            </a:r>
            <a:endParaRPr lang="en-US" dirty="0"/>
          </a:p>
        </p:txBody>
      </p:sp>
      <p:sp>
        <p:nvSpPr>
          <p:cNvPr id="9" name="Slide Number Placeholder 8"/>
          <p:cNvSpPr>
            <a:spLocks noGrp="1"/>
          </p:cNvSpPr>
          <p:nvPr>
            <p:ph type="sldNum" sz="quarter" idx="12"/>
          </p:nvPr>
        </p:nvSpPr>
        <p:spPr/>
        <p:txBody>
          <a:bodyPr/>
          <a:lstStyle/>
          <a:p>
            <a:fld id="{CC28588C-1661-40F2-A5C9-AAE089DDE36E}" type="slidenum">
              <a:rPr lang="en-US" smtClean="0"/>
              <a:t>‹#›</a:t>
            </a:fld>
            <a:endParaRPr lang="en-US" dirty="0"/>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68988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dirty="0" smtClean="0"/>
              <a:t>1/4/2010</a:t>
            </a:r>
            <a:endParaRPr lang="en-US" dirty="0"/>
          </a:p>
        </p:txBody>
      </p:sp>
      <p:sp>
        <p:nvSpPr>
          <p:cNvPr id="4" name="Footer Placeholder 3"/>
          <p:cNvSpPr>
            <a:spLocks noGrp="1"/>
          </p:cNvSpPr>
          <p:nvPr>
            <p:ph type="ftr" sz="quarter" idx="11"/>
          </p:nvPr>
        </p:nvSpPr>
        <p:spPr/>
        <p:txBody>
          <a:bodyPr/>
          <a:lstStyle/>
          <a:p>
            <a:r>
              <a:rPr lang="en-US" dirty="0" smtClean="0"/>
              <a:t>Isabelle Bichindaritz, SUNY Oswego</a:t>
            </a:r>
            <a:endParaRPr lang="en-US" dirty="0"/>
          </a:p>
        </p:txBody>
      </p:sp>
      <p:sp>
        <p:nvSpPr>
          <p:cNvPr id="5" name="Slide Number Placeholder 4"/>
          <p:cNvSpPr>
            <a:spLocks noGrp="1"/>
          </p:cNvSpPr>
          <p:nvPr>
            <p:ph type="sldNum" sz="quarter" idx="12"/>
          </p:nvPr>
        </p:nvSpPr>
        <p:spPr/>
        <p:txBody>
          <a:bodyPr/>
          <a:lstStyle/>
          <a:p>
            <a:fld id="{CC28588C-1661-40F2-A5C9-AAE089DDE36E}" type="slidenum">
              <a:rPr lang="en-US" smtClean="0"/>
              <a:t>‹#›</a:t>
            </a:fld>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68919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smtClean="0"/>
              <a:t>1/4/2010</a:t>
            </a:r>
            <a:endParaRPr lang="en-US" dirty="0"/>
          </a:p>
        </p:txBody>
      </p:sp>
      <p:sp>
        <p:nvSpPr>
          <p:cNvPr id="3" name="Footer Placeholder 2"/>
          <p:cNvSpPr>
            <a:spLocks noGrp="1"/>
          </p:cNvSpPr>
          <p:nvPr>
            <p:ph type="ftr" sz="quarter" idx="11"/>
          </p:nvPr>
        </p:nvSpPr>
        <p:spPr/>
        <p:txBody>
          <a:bodyPr/>
          <a:lstStyle/>
          <a:p>
            <a:r>
              <a:rPr lang="en-US" dirty="0" smtClean="0"/>
              <a:t>Isabelle Bichindaritz, SUNY Oswego</a:t>
            </a:r>
            <a:endParaRPr lang="en-US" dirty="0"/>
          </a:p>
        </p:txBody>
      </p:sp>
      <p:sp>
        <p:nvSpPr>
          <p:cNvPr id="4" name="Slide Number Placeholder 3"/>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2524609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dirty="0" smtClean="0"/>
              <a:t>1/4/2010</a:t>
            </a:r>
            <a:endParaRPr lang="en-US" dirty="0"/>
          </a:p>
        </p:txBody>
      </p:sp>
      <p:sp>
        <p:nvSpPr>
          <p:cNvPr id="6" name="Footer Placeholder 5"/>
          <p:cNvSpPr>
            <a:spLocks noGrp="1"/>
          </p:cNvSpPr>
          <p:nvPr>
            <p:ph type="ftr" sz="quarter" idx="11"/>
          </p:nvPr>
        </p:nvSpPr>
        <p:spPr/>
        <p:txBody>
          <a:bodyPr/>
          <a:lstStyle/>
          <a:p>
            <a:r>
              <a:rPr lang="en-US" dirty="0" smtClean="0"/>
              <a:t>Isabelle Bichindaritz, SUNY Oswego</a:t>
            </a:r>
            <a:endParaRPr lang="en-US" dirty="0"/>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310700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dirty="0" smtClean="0"/>
              <a:t>1/4/2010</a:t>
            </a:r>
            <a:endParaRPr lang="en-US" dirty="0"/>
          </a:p>
        </p:txBody>
      </p:sp>
      <p:sp>
        <p:nvSpPr>
          <p:cNvPr id="6" name="Footer Placeholder 5"/>
          <p:cNvSpPr>
            <a:spLocks noGrp="1"/>
          </p:cNvSpPr>
          <p:nvPr>
            <p:ph type="ftr" sz="quarter" idx="11"/>
          </p:nvPr>
        </p:nvSpPr>
        <p:spPr/>
        <p:txBody>
          <a:bodyPr/>
          <a:lstStyle/>
          <a:p>
            <a:r>
              <a:rPr lang="en-US" dirty="0" smtClean="0"/>
              <a:t>Isabelle Bichindaritz, SUNY Oswego</a:t>
            </a:r>
            <a:endParaRPr lang="en-US" dirty="0"/>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147435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dirty="0" smtClean="0"/>
              <a:t>1/4/2010</a:t>
            </a:r>
            <a:endParaRPr lang="en-US" dirty="0"/>
          </a:p>
        </p:txBody>
      </p:sp>
      <p:sp>
        <p:nvSpPr>
          <p:cNvPr id="5" name="Footer Placeholder 4"/>
          <p:cNvSpPr>
            <a:spLocks noGrp="1"/>
          </p:cNvSpPr>
          <p:nvPr>
            <p:ph type="ftr" sz="quarter" idx="11"/>
          </p:nvPr>
        </p:nvSpPr>
        <p:spPr/>
        <p:txBody>
          <a:bodyPr/>
          <a:lstStyle/>
          <a:p>
            <a:r>
              <a:rPr lang="en-US" dirty="0" smtClean="0"/>
              <a:t>Isabelle Bichindaritz, SUNY Oswego</a:t>
            </a:r>
            <a:endParaRPr lang="en-US" dirty="0"/>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156027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dirty="0" smtClean="0"/>
              <a:t>1/4/2010</a:t>
            </a:r>
            <a:endParaRPr lang="en-US" dirty="0"/>
          </a:p>
        </p:txBody>
      </p:sp>
      <p:sp>
        <p:nvSpPr>
          <p:cNvPr id="5" name="Footer Placeholder 4"/>
          <p:cNvSpPr>
            <a:spLocks noGrp="1"/>
          </p:cNvSpPr>
          <p:nvPr>
            <p:ph type="ftr" sz="quarter" idx="11"/>
          </p:nvPr>
        </p:nvSpPr>
        <p:spPr/>
        <p:txBody>
          <a:bodyPr/>
          <a:lstStyle/>
          <a:p>
            <a:r>
              <a:rPr lang="en-US" dirty="0" smtClean="0"/>
              <a:t>Isabelle Bichindaritz, SUNY Oswego</a:t>
            </a:r>
            <a:endParaRPr lang="en-US" dirty="0"/>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dirty="0"/>
          </a:p>
        </p:txBody>
      </p:sp>
    </p:spTree>
    <p:extLst>
      <p:ext uri="{BB962C8B-B14F-4D97-AF65-F5344CB8AC3E}">
        <p14:creationId xmlns:p14="http://schemas.microsoft.com/office/powerpoint/2010/main" val="50164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dirty="0" smtClean="0"/>
              <a:t>1/4/2010</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r>
              <a:rPr lang="en-US" dirty="0" smtClean="0"/>
              <a:t>Isabelle Bichindaritz, SUNY Oswego</a:t>
            </a:r>
            <a:endParaRPr lang="en-US" dirty="0"/>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CC28588C-1661-40F2-A5C9-AAE089DDE36E}" type="slidenum">
              <a:rPr lang="en-US" smtClean="0"/>
              <a:t>‹#›</a:t>
            </a:fld>
            <a:endParaRPr lang="en-US" dirty="0"/>
          </a:p>
        </p:txBody>
      </p:sp>
    </p:spTree>
    <p:extLst>
      <p:ext uri="{BB962C8B-B14F-4D97-AF65-F5344CB8AC3E}">
        <p14:creationId xmlns:p14="http://schemas.microsoft.com/office/powerpoint/2010/main" val="2627561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emf"/><Relationship Id="rId5" Type="http://schemas.openxmlformats.org/officeDocument/2006/relationships/oleObject" Target="../embeddings/oleObject7.bin"/><Relationship Id="rId4" Type="http://schemas.openxmlformats.org/officeDocument/2006/relationships/image" Target="../media/image11.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genome.jp/kegg/"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phil.cmu.edu/tetrad/"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www.cbioportal.org/"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www.cytoscape.org/"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bioconductor.org/packages/release/BiocViews.html#___Pathways" TargetMode="External"/><Relationship Id="rId2" Type="http://schemas.openxmlformats.org/officeDocument/2006/relationships/hyperlink" Target="https://cran.r-project.org/web/views/Cluster.html" TargetMode="Externa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6</a:t>
            </a:r>
            <a:endParaRPr lang="en-US" dirty="0"/>
          </a:p>
        </p:txBody>
      </p:sp>
      <p:sp>
        <p:nvSpPr>
          <p:cNvPr id="3" name="Subtitle 2"/>
          <p:cNvSpPr>
            <a:spLocks noGrp="1"/>
          </p:cNvSpPr>
          <p:nvPr>
            <p:ph type="subTitle" idx="1"/>
          </p:nvPr>
        </p:nvSpPr>
        <p:spPr/>
        <p:txBody>
          <a:bodyPr/>
          <a:lstStyle/>
          <a:p>
            <a:r>
              <a:rPr lang="en-US" dirty="0" smtClean="0"/>
              <a:t>Clustering and Pathway Analysis</a:t>
            </a:r>
            <a:endParaRPr lang="en-US" dirty="0"/>
          </a:p>
        </p:txBody>
      </p:sp>
      <p:sp>
        <p:nvSpPr>
          <p:cNvPr id="4" name="Footer Placeholder 3"/>
          <p:cNvSpPr>
            <a:spLocks noGrp="1"/>
          </p:cNvSpPr>
          <p:nvPr>
            <p:ph type="ftr" sz="quarter" idx="11"/>
          </p:nvPr>
        </p:nvSpPr>
        <p:spPr/>
        <p:txBody>
          <a:bodyPr/>
          <a:lstStyle/>
          <a:p>
            <a:r>
              <a:rPr lang="en-US" dirty="0" smtClean="0"/>
              <a:t>Isabelle Bichindaritz, SUNY Oswego</a:t>
            </a:r>
            <a:endParaRPr lang="en-US" dirty="0"/>
          </a:p>
        </p:txBody>
      </p:sp>
      <p:sp>
        <p:nvSpPr>
          <p:cNvPr id="5" name="Slide Number Placeholder 4"/>
          <p:cNvSpPr>
            <a:spLocks noGrp="1"/>
          </p:cNvSpPr>
          <p:nvPr>
            <p:ph type="sldNum" sz="quarter" idx="12"/>
          </p:nvPr>
        </p:nvSpPr>
        <p:spPr/>
        <p:txBody>
          <a:bodyPr/>
          <a:lstStyle/>
          <a:p>
            <a:fld id="{CC28588C-1661-40F2-A5C9-AAE089DDE36E}" type="slidenum">
              <a:rPr lang="en-US" smtClean="0"/>
              <a:t>1</a:t>
            </a:fld>
            <a:endParaRPr lang="en-US" dirty="0"/>
          </a:p>
        </p:txBody>
      </p:sp>
    </p:spTree>
    <p:extLst>
      <p:ext uri="{BB962C8B-B14F-4D97-AF65-F5344CB8AC3E}">
        <p14:creationId xmlns:p14="http://schemas.microsoft.com/office/powerpoint/2010/main" val="6381884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12437467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Learning Objectives</a:t>
            </a:r>
          </a:p>
        </p:txBody>
      </p:sp>
      <p:sp>
        <p:nvSpPr>
          <p:cNvPr id="7174" name="Rectangle 3"/>
          <p:cNvSpPr>
            <a:spLocks noGrp="1" noChangeArrowheads="1"/>
          </p:cNvSpPr>
          <p:nvPr>
            <p:ph type="body" idx="1"/>
          </p:nvPr>
        </p:nvSpPr>
        <p:spPr>
          <a:xfrm>
            <a:off x="1549111" y="1913255"/>
            <a:ext cx="9074727" cy="3649345"/>
          </a:xfrm>
          <a:noFill/>
        </p:spPr>
        <p:txBody>
          <a:bodyPr vert="horz" lIns="92075" tIns="46038" rIns="92075" bIns="46038" rtlCol="0">
            <a:normAutofit/>
          </a:bodyPr>
          <a:lstStyle/>
          <a:p>
            <a:pPr>
              <a:lnSpc>
                <a:spcPct val="90000"/>
              </a:lnSpc>
            </a:pPr>
            <a:endParaRPr lang="en-US" altLang="en-US" dirty="0"/>
          </a:p>
          <a:p>
            <a:pPr marL="514350" indent="-514350">
              <a:buAutoNum type="arabicPeriod"/>
            </a:pPr>
            <a:r>
              <a:rPr lang="en-US" dirty="0" smtClean="0"/>
              <a:t>Find clusters in biomedical data involving genes.</a:t>
            </a:r>
          </a:p>
          <a:p>
            <a:pPr marL="514350" indent="-514350">
              <a:buAutoNum type="arabicPeriod"/>
            </a:pPr>
            <a:endParaRPr lang="en-US" dirty="0"/>
          </a:p>
          <a:p>
            <a:pPr marL="514350" indent="-514350">
              <a:buAutoNum type="arabicPeriod"/>
            </a:pPr>
            <a:r>
              <a:rPr lang="en-US" dirty="0" smtClean="0"/>
              <a:t>Analyze and visualize biological pathways.</a:t>
            </a:r>
          </a:p>
          <a:p>
            <a:pPr marL="0" indent="0">
              <a:buNone/>
            </a:pPr>
            <a:endParaRPr lang="en-US" dirty="0"/>
          </a:p>
          <a:p>
            <a:pPr marL="0" indent="0">
              <a:buNone/>
            </a:pPr>
            <a:r>
              <a:rPr lang="en-US" dirty="0"/>
              <a:t>2. Write R scripts </a:t>
            </a:r>
            <a:r>
              <a:rPr lang="en-US" dirty="0" smtClean="0"/>
              <a:t>for clustering and for pathway analysis.</a:t>
            </a:r>
            <a:endParaRPr lang="en-US" dirty="0"/>
          </a:p>
          <a:p>
            <a:pPr marL="0" indent="0">
              <a:lnSpc>
                <a:spcPct val="90000"/>
              </a:lnSpc>
              <a:buNone/>
            </a:pPr>
            <a:endParaRPr lang="en-US" altLang="en-US" dirty="0"/>
          </a:p>
        </p:txBody>
      </p:sp>
    </p:spTree>
    <p:extLst>
      <p:ext uri="{BB962C8B-B14F-4D97-AF65-F5344CB8AC3E}">
        <p14:creationId xmlns:p14="http://schemas.microsoft.com/office/powerpoint/2010/main" val="29986549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Introduction to Module</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This module studies the most important topic of gene clustering and pathway analysis.</a:t>
            </a:r>
          </a:p>
          <a:p>
            <a:r>
              <a:rPr lang="en-US" altLang="en-US" dirty="0" smtClean="0"/>
              <a:t>Given the vast amounts of genetic data available, it is particularly interesting to summarize them, find homogeneous subgroups, called clusters, and learn the biological pathways underlying regulatory networks.</a:t>
            </a:r>
          </a:p>
          <a:p>
            <a:r>
              <a:rPr lang="en-US" altLang="en-US" dirty="0" smtClean="0"/>
              <a:t>We will study different ways to find clusters in genetic data and will see some examples of pathway analysis.</a:t>
            </a:r>
          </a:p>
          <a:p>
            <a:r>
              <a:rPr lang="en-US" altLang="en-US" dirty="0" smtClean="0"/>
              <a:t>R provides many useful functions for clustering and pathway analysis.</a:t>
            </a:r>
          </a:p>
        </p:txBody>
      </p:sp>
    </p:spTree>
    <p:extLst>
      <p:ext uri="{BB962C8B-B14F-4D97-AF65-F5344CB8AC3E}">
        <p14:creationId xmlns:p14="http://schemas.microsoft.com/office/powerpoint/2010/main" val="6975581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b="1" dirty="0" smtClean="0">
                <a:solidFill>
                  <a:srgbClr val="FFFF00"/>
                </a:solidFill>
              </a:rPr>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3829951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Overview</a:t>
            </a:r>
          </a:p>
        </p:txBody>
      </p:sp>
      <p:sp>
        <p:nvSpPr>
          <p:cNvPr id="8198" name="Rectangle 3"/>
          <p:cNvSpPr>
            <a:spLocks noGrp="1" noChangeArrowheads="1"/>
          </p:cNvSpPr>
          <p:nvPr>
            <p:ph type="body" idx="1"/>
          </p:nvPr>
        </p:nvSpPr>
        <p:spPr>
          <a:xfrm>
            <a:off x="297025" y="1572683"/>
            <a:ext cx="9220200" cy="4588933"/>
          </a:xfrm>
        </p:spPr>
        <p:txBody>
          <a:bodyPr>
            <a:normAutofit lnSpcReduction="10000"/>
          </a:bodyPr>
          <a:lstStyle/>
          <a:p>
            <a:r>
              <a:rPr lang="en-US" altLang="en-US" dirty="0" smtClean="0"/>
              <a:t>A cluster is a group of data within a dataset. </a:t>
            </a:r>
          </a:p>
          <a:p>
            <a:endParaRPr lang="en-US" altLang="en-US" dirty="0"/>
          </a:p>
          <a:p>
            <a:r>
              <a:rPr lang="en-US" altLang="en-US" dirty="0" smtClean="0"/>
              <a:t>Clustering analysis is closely related to pattern recognition.</a:t>
            </a:r>
            <a:endParaRPr lang="en-US" altLang="en-US" dirty="0"/>
          </a:p>
          <a:p>
            <a:endParaRPr lang="en-US" altLang="en-US" dirty="0" smtClean="0"/>
          </a:p>
          <a:p>
            <a:r>
              <a:rPr lang="en-US" altLang="en-US" dirty="0" smtClean="0"/>
              <a:t>Clustering aims at finding clusters in which the objects are</a:t>
            </a:r>
          </a:p>
          <a:p>
            <a:pPr lvl="1"/>
            <a:r>
              <a:rPr lang="en-US" altLang="en-US" dirty="0" smtClean="0"/>
              <a:t>As similar as possible to other objects in the same cluster.</a:t>
            </a:r>
          </a:p>
          <a:p>
            <a:pPr lvl="1"/>
            <a:r>
              <a:rPr lang="en-US" altLang="en-US" dirty="0" smtClean="0"/>
              <a:t>As different as possible to objects in the other clusters.</a:t>
            </a:r>
          </a:p>
          <a:p>
            <a:pPr lvl="1"/>
            <a:endParaRPr lang="en-US" altLang="en-US" dirty="0"/>
          </a:p>
          <a:p>
            <a:r>
              <a:rPr lang="en-US" altLang="en-US" dirty="0" smtClean="0"/>
              <a:t>Clustering is an unsupervised data analytics task because the clusters are not known in advance – they have to be discovered automatically.</a:t>
            </a:r>
          </a:p>
        </p:txBody>
      </p:sp>
      <p:pic>
        <p:nvPicPr>
          <p:cNvPr id="3" name="Picture 2"/>
          <p:cNvPicPr>
            <a:picLocks noChangeAspect="1"/>
          </p:cNvPicPr>
          <p:nvPr/>
        </p:nvPicPr>
        <p:blipFill>
          <a:blip r:embed="rId2"/>
          <a:stretch>
            <a:fillRect/>
          </a:stretch>
        </p:blipFill>
        <p:spPr>
          <a:xfrm rot="5400000">
            <a:off x="7915322" y="2390442"/>
            <a:ext cx="5687428" cy="2078853"/>
          </a:xfrm>
          <a:prstGeom prst="rect">
            <a:avLst/>
          </a:prstGeom>
        </p:spPr>
      </p:pic>
    </p:spTree>
    <p:extLst>
      <p:ext uri="{BB962C8B-B14F-4D97-AF65-F5344CB8AC3E}">
        <p14:creationId xmlns:p14="http://schemas.microsoft.com/office/powerpoint/2010/main" val="22442668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a:t>
            </a:fld>
            <a:endParaRPr lang="en-US" altLang="en-US" sz="1400" dirty="0"/>
          </a:p>
        </p:txBody>
      </p:sp>
      <p:sp>
        <p:nvSpPr>
          <p:cNvPr id="8197" name="Rectangle 2"/>
          <p:cNvSpPr>
            <a:spLocks noGrp="1" noChangeArrowheads="1"/>
          </p:cNvSpPr>
          <p:nvPr>
            <p:ph type="title"/>
          </p:nvPr>
        </p:nvSpPr>
        <p:spPr>
          <a:xfrm>
            <a:off x="1611307" y="39158"/>
            <a:ext cx="7772400" cy="1143000"/>
          </a:xfrm>
        </p:spPr>
        <p:txBody>
          <a:bodyPr/>
          <a:lstStyle/>
          <a:p>
            <a:r>
              <a:rPr lang="en-US" altLang="en-US" b="1" dirty="0" smtClean="0">
                <a:effectLst>
                  <a:outerShdw blurRad="38100" dist="38100" dir="2700000" algn="tl">
                    <a:srgbClr val="000000">
                      <a:alpha val="43137"/>
                    </a:srgbClr>
                  </a:outerShdw>
                </a:effectLst>
              </a:rPr>
              <a:t>Clustering Overview</a:t>
            </a:r>
          </a:p>
        </p:txBody>
      </p:sp>
      <p:graphicFrame>
        <p:nvGraphicFramePr>
          <p:cNvPr id="3" name="Diagram 2"/>
          <p:cNvGraphicFramePr/>
          <p:nvPr>
            <p:extLst>
              <p:ext uri="{D42A27DB-BD31-4B8C-83A1-F6EECF244321}">
                <p14:modId xmlns:p14="http://schemas.microsoft.com/office/powerpoint/2010/main" val="129663313"/>
              </p:ext>
            </p:extLst>
          </p:nvPr>
        </p:nvGraphicFramePr>
        <p:xfrm>
          <a:off x="875191" y="1182158"/>
          <a:ext cx="10485536" cy="4944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5789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8</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b="1" dirty="0" smtClean="0">
                <a:solidFill>
                  <a:srgbClr val="FFFF00"/>
                </a:solidFill>
              </a:rPr>
              <a:t>Overview </a:t>
            </a:r>
            <a:r>
              <a:rPr lang="en-US" b="1" dirty="0">
                <a:solidFill>
                  <a:srgbClr val="FFFF00"/>
                </a:solidFill>
              </a:rPr>
              <a:t>of </a:t>
            </a:r>
            <a:r>
              <a:rPr lang="en-US" b="1" dirty="0" smtClean="0">
                <a:solidFill>
                  <a:srgbClr val="FFFF00"/>
                </a:solidFill>
              </a:rPr>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31102773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Clustering Methods</a:t>
            </a:r>
          </a:p>
        </p:txBody>
      </p:sp>
      <p:sp>
        <p:nvSpPr>
          <p:cNvPr id="8198" name="Rectangle 3"/>
          <p:cNvSpPr>
            <a:spLocks noGrp="1" noChangeArrowheads="1"/>
          </p:cNvSpPr>
          <p:nvPr>
            <p:ph type="body" idx="1"/>
          </p:nvPr>
        </p:nvSpPr>
        <p:spPr>
          <a:xfrm>
            <a:off x="875522" y="1457735"/>
            <a:ext cx="8686800" cy="4588933"/>
          </a:xfrm>
        </p:spPr>
        <p:txBody>
          <a:bodyPr>
            <a:normAutofit/>
          </a:bodyPr>
          <a:lstStyle/>
          <a:p>
            <a:r>
              <a:rPr lang="en-US" altLang="en-US" dirty="0" smtClean="0"/>
              <a:t>Clustering is a search problem aiming at finding homogeneous subgroups of objects, aiming at:</a:t>
            </a:r>
          </a:p>
          <a:p>
            <a:endParaRPr lang="en-US" altLang="en-US" dirty="0"/>
          </a:p>
          <a:p>
            <a:pPr lvl="1"/>
            <a:r>
              <a:rPr lang="en-US" altLang="en-US" dirty="0" smtClean="0"/>
              <a:t>Maximizing the overall similarity of objects within </a:t>
            </a:r>
            <a:br>
              <a:rPr lang="en-US" altLang="en-US" dirty="0" smtClean="0"/>
            </a:br>
            <a:r>
              <a:rPr lang="en-US" altLang="en-US" dirty="0" smtClean="0"/>
              <a:t>each cluster –  intra-class similarity.</a:t>
            </a:r>
          </a:p>
          <a:p>
            <a:pPr lvl="1"/>
            <a:endParaRPr lang="en-US" altLang="en-US" dirty="0"/>
          </a:p>
          <a:p>
            <a:pPr lvl="1"/>
            <a:r>
              <a:rPr lang="en-US" altLang="en-US" dirty="0" smtClean="0"/>
              <a:t>Minimizing the overall similarity of objects between </a:t>
            </a:r>
            <a:br>
              <a:rPr lang="en-US" altLang="en-US" dirty="0" smtClean="0"/>
            </a:br>
            <a:r>
              <a:rPr lang="en-US" altLang="en-US" dirty="0" smtClean="0"/>
              <a:t>clusters – called inter-class similarity.</a:t>
            </a:r>
          </a:p>
          <a:p>
            <a:pPr lvl="1"/>
            <a:endParaRPr lang="en-US" altLang="en-US" dirty="0"/>
          </a:p>
          <a:p>
            <a:pPr lvl="1"/>
            <a:r>
              <a:rPr lang="en-US" altLang="en-US" dirty="0" smtClean="0"/>
              <a:t>One way to calculate these similarities is to add individual distances in each category after squaring them.</a:t>
            </a:r>
          </a:p>
          <a:p>
            <a:pPr marL="457200" lvl="1" indent="0">
              <a:buNone/>
            </a:pPr>
            <a:endParaRPr lang="en-US" altLang="en-US" dirty="0" smtClean="0"/>
          </a:p>
        </p:txBody>
      </p:sp>
      <p:pic>
        <p:nvPicPr>
          <p:cNvPr id="2" name="Picture 1"/>
          <p:cNvPicPr>
            <a:picLocks noChangeAspect="1"/>
          </p:cNvPicPr>
          <p:nvPr/>
        </p:nvPicPr>
        <p:blipFill>
          <a:blip r:embed="rId2"/>
          <a:stretch>
            <a:fillRect/>
          </a:stretch>
        </p:blipFill>
        <p:spPr>
          <a:xfrm>
            <a:off x="8153400" y="2211235"/>
            <a:ext cx="4038600" cy="2692400"/>
          </a:xfrm>
          <a:prstGeom prst="rect">
            <a:avLst/>
          </a:prstGeom>
        </p:spPr>
      </p:pic>
    </p:spTree>
    <p:extLst>
      <p:ext uri="{BB962C8B-B14F-4D97-AF65-F5344CB8AC3E}">
        <p14:creationId xmlns:p14="http://schemas.microsoft.com/office/powerpoint/2010/main" val="37343596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10</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Clustering Methods</a:t>
            </a:r>
          </a:p>
        </p:txBody>
      </p:sp>
      <p:sp>
        <p:nvSpPr>
          <p:cNvPr id="8198" name="Rectangle 3"/>
          <p:cNvSpPr>
            <a:spLocks noGrp="1" noChangeArrowheads="1"/>
          </p:cNvSpPr>
          <p:nvPr>
            <p:ph type="body" idx="1"/>
          </p:nvPr>
        </p:nvSpPr>
        <p:spPr>
          <a:xfrm>
            <a:off x="614265" y="1377950"/>
            <a:ext cx="8686800" cy="4588933"/>
          </a:xfrm>
        </p:spPr>
        <p:txBody>
          <a:bodyPr>
            <a:normAutofit/>
          </a:bodyPr>
          <a:lstStyle/>
          <a:p>
            <a:r>
              <a:rPr lang="en-US" altLang="en-US" dirty="0" smtClean="0"/>
              <a:t>Clustering performance measures:</a:t>
            </a:r>
          </a:p>
          <a:p>
            <a:endParaRPr lang="en-US" altLang="en-US" dirty="0"/>
          </a:p>
          <a:p>
            <a:pPr lvl="1"/>
            <a:r>
              <a:rPr lang="en-US" altLang="en-US" dirty="0" smtClean="0"/>
              <a:t>Understandability.</a:t>
            </a:r>
          </a:p>
          <a:p>
            <a:pPr lvl="1"/>
            <a:r>
              <a:rPr lang="en-US" altLang="en-US" dirty="0" smtClean="0"/>
              <a:t>Scalability.</a:t>
            </a:r>
          </a:p>
          <a:p>
            <a:pPr lvl="1"/>
            <a:r>
              <a:rPr lang="en-US" altLang="en-US" dirty="0" smtClean="0"/>
              <a:t>Ability to discover clusters of any shape (not only circular).</a:t>
            </a:r>
          </a:p>
          <a:p>
            <a:pPr lvl="1"/>
            <a:r>
              <a:rPr lang="en-US" altLang="en-US" dirty="0" smtClean="0"/>
              <a:t>Ability to cluster heterogeneous data (of different types).</a:t>
            </a:r>
          </a:p>
          <a:p>
            <a:pPr lvl="1"/>
            <a:r>
              <a:rPr lang="en-US" altLang="en-US" dirty="0" smtClean="0"/>
              <a:t>Robustness to noise.</a:t>
            </a:r>
          </a:p>
          <a:p>
            <a:pPr lvl="1"/>
            <a:r>
              <a:rPr lang="en-US" altLang="en-US" dirty="0" smtClean="0"/>
              <a:t>Robustness to outliers.</a:t>
            </a:r>
          </a:p>
          <a:p>
            <a:pPr lvl="1"/>
            <a:r>
              <a:rPr lang="en-US" altLang="en-US" dirty="0"/>
              <a:t>e</a:t>
            </a:r>
            <a:r>
              <a:rPr lang="en-US" altLang="en-US" dirty="0" smtClean="0"/>
              <a:t>tc.</a:t>
            </a:r>
          </a:p>
          <a:p>
            <a:pPr lvl="1"/>
            <a:endParaRPr lang="en-US" altLang="en-US" dirty="0" smtClean="0"/>
          </a:p>
          <a:p>
            <a:pPr lvl="1"/>
            <a:endParaRPr lang="en-US" altLang="en-US" dirty="0" smtClean="0"/>
          </a:p>
        </p:txBody>
      </p:sp>
      <p:pic>
        <p:nvPicPr>
          <p:cNvPr id="2" name="Picture 1"/>
          <p:cNvPicPr>
            <a:picLocks noChangeAspect="1"/>
          </p:cNvPicPr>
          <p:nvPr/>
        </p:nvPicPr>
        <p:blipFill>
          <a:blip r:embed="rId2"/>
          <a:stretch>
            <a:fillRect/>
          </a:stretch>
        </p:blipFill>
        <p:spPr>
          <a:xfrm>
            <a:off x="8560611" y="2668555"/>
            <a:ext cx="3594067" cy="2011859"/>
          </a:xfrm>
          <a:prstGeom prst="rect">
            <a:avLst/>
          </a:prstGeom>
        </p:spPr>
      </p:pic>
    </p:spTree>
    <p:extLst>
      <p:ext uri="{BB962C8B-B14F-4D97-AF65-F5344CB8AC3E}">
        <p14:creationId xmlns:p14="http://schemas.microsoft.com/office/powerpoint/2010/main" val="15493734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11</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Overview of Clustering Methods</a:t>
            </a:r>
          </a:p>
        </p:txBody>
      </p:sp>
      <p:sp>
        <p:nvSpPr>
          <p:cNvPr id="8198" name="Rectangle 3"/>
          <p:cNvSpPr>
            <a:spLocks noGrp="1" noChangeArrowheads="1"/>
          </p:cNvSpPr>
          <p:nvPr>
            <p:ph type="body" idx="1"/>
          </p:nvPr>
        </p:nvSpPr>
        <p:spPr>
          <a:xfrm>
            <a:off x="149289" y="1289844"/>
            <a:ext cx="8686800" cy="4588933"/>
          </a:xfrm>
        </p:spPr>
        <p:txBody>
          <a:bodyPr>
            <a:normAutofit lnSpcReduction="10000"/>
          </a:bodyPr>
          <a:lstStyle/>
          <a:p>
            <a:r>
              <a:rPr lang="en-US" altLang="en-US" dirty="0" smtClean="0"/>
              <a:t>Clustering examples in bioinformatics:</a:t>
            </a:r>
          </a:p>
          <a:p>
            <a:pPr lvl="1">
              <a:lnSpc>
                <a:spcPct val="140000"/>
              </a:lnSpc>
            </a:pPr>
            <a:r>
              <a:rPr lang="en-US" dirty="0"/>
              <a:t>Cluster gene expressions to find groups of people with </a:t>
            </a:r>
            <a:r>
              <a:rPr lang="en-US" dirty="0" smtClean="0"/>
              <a:t/>
            </a:r>
            <a:br>
              <a:rPr lang="en-US" dirty="0" smtClean="0"/>
            </a:br>
            <a:r>
              <a:rPr lang="en-US" dirty="0" smtClean="0"/>
              <a:t>similar </a:t>
            </a:r>
            <a:r>
              <a:rPr lang="en-US" dirty="0"/>
              <a:t>profiles – then compare with diagnostic categories or other data in these people’s files.</a:t>
            </a:r>
          </a:p>
          <a:p>
            <a:pPr lvl="1">
              <a:lnSpc>
                <a:spcPct val="140000"/>
              </a:lnSpc>
            </a:pPr>
            <a:r>
              <a:rPr lang="en-US" dirty="0"/>
              <a:t>Within a diagnostic category, group patients into subgroups.</a:t>
            </a:r>
          </a:p>
          <a:p>
            <a:pPr lvl="1">
              <a:lnSpc>
                <a:spcPct val="140000"/>
              </a:lnSpc>
            </a:pPr>
            <a:r>
              <a:rPr lang="en-US" dirty="0"/>
              <a:t>Detect patterns of evolution  in the genome – between species, and within individuals of the same species. Connect these patterns with characteristics of species / individuals /patients.</a:t>
            </a:r>
          </a:p>
          <a:p>
            <a:pPr>
              <a:lnSpc>
                <a:spcPct val="140000"/>
              </a:lnSpc>
            </a:pPr>
            <a:endParaRPr lang="en-US" dirty="0"/>
          </a:p>
          <a:p>
            <a:endParaRPr lang="en-US" altLang="en-US" dirty="0" smtClean="0"/>
          </a:p>
        </p:txBody>
      </p:sp>
      <p:pic>
        <p:nvPicPr>
          <p:cNvPr id="2" name="Picture 1"/>
          <p:cNvPicPr>
            <a:picLocks noChangeAspect="1"/>
          </p:cNvPicPr>
          <p:nvPr/>
        </p:nvPicPr>
        <p:blipFill>
          <a:blip r:embed="rId2"/>
          <a:stretch>
            <a:fillRect/>
          </a:stretch>
        </p:blipFill>
        <p:spPr>
          <a:xfrm>
            <a:off x="8486775" y="1943629"/>
            <a:ext cx="3705225" cy="3457575"/>
          </a:xfrm>
          <a:prstGeom prst="rect">
            <a:avLst/>
          </a:prstGeom>
        </p:spPr>
      </p:pic>
    </p:spTree>
    <p:extLst>
      <p:ext uri="{BB962C8B-B14F-4D97-AF65-F5344CB8AC3E}">
        <p14:creationId xmlns:p14="http://schemas.microsoft.com/office/powerpoint/2010/main" val="37530849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12</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b="1" dirty="0" smtClean="0">
                <a:solidFill>
                  <a:srgbClr val="FFFF00"/>
                </a:solidFill>
              </a:rPr>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234400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13</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Similarity Assessment</a:t>
            </a:r>
          </a:p>
        </p:txBody>
      </p:sp>
      <p:sp>
        <p:nvSpPr>
          <p:cNvPr id="8198" name="Rectangle 3"/>
          <p:cNvSpPr>
            <a:spLocks noGrp="1" noChangeArrowheads="1"/>
          </p:cNvSpPr>
          <p:nvPr>
            <p:ph type="body" idx="1"/>
          </p:nvPr>
        </p:nvSpPr>
        <p:spPr>
          <a:xfrm>
            <a:off x="1752600" y="1523999"/>
            <a:ext cx="8686800" cy="4588933"/>
          </a:xfrm>
        </p:spPr>
        <p:txBody>
          <a:bodyPr>
            <a:normAutofit fontScale="85000" lnSpcReduction="20000"/>
          </a:bodyPr>
          <a:lstStyle/>
          <a:p>
            <a:r>
              <a:rPr lang="en-US" altLang="en-US" dirty="0" smtClean="0"/>
              <a:t>Similarity measures the opposite of distance:</a:t>
            </a:r>
            <a:br>
              <a:rPr lang="en-US" altLang="en-US" dirty="0" smtClean="0"/>
            </a:br>
            <a:r>
              <a:rPr lang="en-US" altLang="en-US" dirty="0" smtClean="0"/>
              <a:t>high similarity = low distance</a:t>
            </a:r>
            <a:br>
              <a:rPr lang="en-US" altLang="en-US" dirty="0" smtClean="0"/>
            </a:br>
            <a:r>
              <a:rPr lang="en-US" altLang="en-US" dirty="0" smtClean="0"/>
              <a:t>low similarity = high distance.</a:t>
            </a:r>
          </a:p>
          <a:p>
            <a:endParaRPr lang="en-US" altLang="en-US" dirty="0"/>
          </a:p>
          <a:p>
            <a:r>
              <a:rPr lang="en-US" altLang="en-US" dirty="0" smtClean="0"/>
              <a:t>Normalization is usually applied </a:t>
            </a:r>
            <a:br>
              <a:rPr lang="en-US" altLang="en-US" dirty="0" smtClean="0"/>
            </a:br>
            <a:r>
              <a:rPr lang="en-US" altLang="en-US" dirty="0" smtClean="0"/>
              <a:t>before calculating similarity so </a:t>
            </a:r>
            <a:br>
              <a:rPr lang="en-US" altLang="en-US" dirty="0" smtClean="0"/>
            </a:br>
            <a:r>
              <a:rPr lang="en-US" altLang="en-US" dirty="0" smtClean="0"/>
              <a:t>that variables are within the same </a:t>
            </a:r>
            <a:br>
              <a:rPr lang="en-US" altLang="en-US" dirty="0" smtClean="0"/>
            </a:br>
            <a:r>
              <a:rPr lang="en-US" altLang="en-US" dirty="0" smtClean="0"/>
              <a:t>scale.</a:t>
            </a:r>
          </a:p>
          <a:p>
            <a:endParaRPr lang="en-US" altLang="en-US" dirty="0"/>
          </a:p>
          <a:p>
            <a:r>
              <a:rPr lang="en-US" altLang="en-US" dirty="0"/>
              <a:t>D</a:t>
            </a:r>
            <a:r>
              <a:rPr lang="en-US" altLang="en-US" dirty="0" smtClean="0"/>
              <a:t>istance between:</a:t>
            </a:r>
            <a:br>
              <a:rPr lang="en-US" altLang="en-US" dirty="0" smtClean="0"/>
            </a:br>
            <a:endParaRPr lang="en-US" altLang="en-US" dirty="0" smtClean="0"/>
          </a:p>
          <a:p>
            <a:pPr lvl="1"/>
            <a:r>
              <a:rPr lang="en-US" altLang="en-US" dirty="0"/>
              <a:t>n</a:t>
            </a:r>
            <a:r>
              <a:rPr lang="en-US" altLang="en-US" dirty="0" smtClean="0"/>
              <a:t>umeric variables</a:t>
            </a:r>
          </a:p>
          <a:p>
            <a:pPr lvl="1"/>
            <a:r>
              <a:rPr lang="en-US" altLang="en-US" dirty="0"/>
              <a:t>n</a:t>
            </a:r>
            <a:r>
              <a:rPr lang="en-US" altLang="en-US" dirty="0" smtClean="0"/>
              <a:t>ominal variables</a:t>
            </a:r>
          </a:p>
          <a:p>
            <a:pPr lvl="1"/>
            <a:r>
              <a:rPr lang="en-US" altLang="en-US" dirty="0"/>
              <a:t>o</a:t>
            </a:r>
            <a:r>
              <a:rPr lang="en-US" altLang="en-US" dirty="0" smtClean="0"/>
              <a:t>rdinal variables</a:t>
            </a:r>
          </a:p>
          <a:p>
            <a:pPr lvl="1"/>
            <a:r>
              <a:rPr lang="en-US" altLang="en-US" dirty="0"/>
              <a:t>m</a:t>
            </a:r>
            <a:r>
              <a:rPr lang="en-US" altLang="en-US" dirty="0" smtClean="0"/>
              <a:t>ixed types of variables.</a:t>
            </a:r>
          </a:p>
          <a:p>
            <a:pPr lvl="1"/>
            <a:endParaRPr lang="en-US" altLang="en-US" dirty="0" smtClean="0"/>
          </a:p>
        </p:txBody>
      </p:sp>
      <p:pic>
        <p:nvPicPr>
          <p:cNvPr id="2" name="Picture 1"/>
          <p:cNvPicPr>
            <a:picLocks noChangeAspect="1"/>
          </p:cNvPicPr>
          <p:nvPr/>
        </p:nvPicPr>
        <p:blipFill>
          <a:blip r:embed="rId2"/>
          <a:stretch>
            <a:fillRect/>
          </a:stretch>
        </p:blipFill>
        <p:spPr>
          <a:xfrm>
            <a:off x="6902823" y="2559984"/>
            <a:ext cx="4572000" cy="3028950"/>
          </a:xfrm>
          <a:prstGeom prst="rect">
            <a:avLst/>
          </a:prstGeom>
        </p:spPr>
      </p:pic>
    </p:spTree>
    <p:extLst>
      <p:ext uri="{BB962C8B-B14F-4D97-AF65-F5344CB8AC3E}">
        <p14:creationId xmlns:p14="http://schemas.microsoft.com/office/powerpoint/2010/main" val="10241909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14</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Similarity Assessment</a:t>
            </a:r>
          </a:p>
        </p:txBody>
      </p:sp>
      <p:sp>
        <p:nvSpPr>
          <p:cNvPr id="8198" name="Rectangle 3"/>
          <p:cNvSpPr>
            <a:spLocks noGrp="1" noChangeArrowheads="1"/>
          </p:cNvSpPr>
          <p:nvPr>
            <p:ph type="body" idx="1"/>
          </p:nvPr>
        </p:nvSpPr>
        <p:spPr>
          <a:xfrm>
            <a:off x="107176" y="1377950"/>
            <a:ext cx="8686800" cy="4588933"/>
          </a:xfrm>
        </p:spPr>
        <p:txBody>
          <a:bodyPr>
            <a:normAutofit fontScale="92500" lnSpcReduction="10000"/>
          </a:bodyPr>
          <a:lstStyle/>
          <a:p>
            <a:r>
              <a:rPr lang="en-US" altLang="en-US" dirty="0" smtClean="0"/>
              <a:t>Distance between numeric variables:</a:t>
            </a:r>
            <a:endParaRPr lang="en-US" altLang="en-US" dirty="0"/>
          </a:p>
          <a:p>
            <a:pPr lvl="1"/>
            <a:r>
              <a:rPr lang="en-US" altLang="en-US" dirty="0" smtClean="0"/>
              <a:t>Euclidean distance</a:t>
            </a:r>
          </a:p>
          <a:p>
            <a:pPr marL="457200" lvl="1" indent="0">
              <a:buNone/>
            </a:pPr>
            <a:endParaRPr lang="en-US" altLang="en-US" dirty="0"/>
          </a:p>
          <a:p>
            <a:pPr lvl="1">
              <a:lnSpc>
                <a:spcPct val="110000"/>
              </a:lnSpc>
            </a:pPr>
            <a:r>
              <a:rPr lang="en-US" dirty="0" smtClean="0"/>
              <a:t>Any distance function can be used </a:t>
            </a:r>
            <a:br>
              <a:rPr lang="en-US" dirty="0" smtClean="0"/>
            </a:br>
            <a:r>
              <a:rPr lang="en-US" dirty="0" smtClean="0"/>
              <a:t>  (a distance is a mathematical function with following properties:</a:t>
            </a:r>
            <a:endParaRPr lang="en-US" dirty="0"/>
          </a:p>
          <a:p>
            <a:pPr lvl="2">
              <a:lnSpc>
                <a:spcPct val="110000"/>
              </a:lnSpc>
            </a:pPr>
            <a:r>
              <a:rPr lang="en-US" i="1" dirty="0"/>
              <a:t>d(i,j)</a:t>
            </a:r>
            <a:r>
              <a:rPr lang="en-US" dirty="0"/>
              <a:t> </a:t>
            </a:r>
            <a:r>
              <a:rPr lang="en-US" dirty="0">
                <a:sym typeface="Symbol" pitchFamily="18" charset="2"/>
              </a:rPr>
              <a:t> 0</a:t>
            </a:r>
            <a:endParaRPr lang="en-US" dirty="0"/>
          </a:p>
          <a:p>
            <a:pPr lvl="2">
              <a:lnSpc>
                <a:spcPct val="110000"/>
              </a:lnSpc>
            </a:pPr>
            <a:r>
              <a:rPr lang="en-US" i="1" dirty="0"/>
              <a:t>d(i,i)</a:t>
            </a:r>
            <a:r>
              <a:rPr lang="en-US" dirty="0"/>
              <a:t> </a:t>
            </a:r>
            <a:r>
              <a:rPr lang="en-US" dirty="0">
                <a:sym typeface="Symbol" pitchFamily="18" charset="2"/>
              </a:rPr>
              <a:t>= 0</a:t>
            </a:r>
            <a:endParaRPr lang="en-US" dirty="0"/>
          </a:p>
          <a:p>
            <a:pPr lvl="2">
              <a:lnSpc>
                <a:spcPct val="110000"/>
              </a:lnSpc>
            </a:pPr>
            <a:r>
              <a:rPr lang="en-US" i="1" dirty="0"/>
              <a:t>d(i,j)</a:t>
            </a:r>
            <a:r>
              <a:rPr lang="en-US" dirty="0"/>
              <a:t> </a:t>
            </a:r>
            <a:r>
              <a:rPr lang="en-US" dirty="0">
                <a:sym typeface="Symbol" pitchFamily="18" charset="2"/>
              </a:rPr>
              <a:t>= </a:t>
            </a:r>
            <a:r>
              <a:rPr lang="en-US" i="1" dirty="0"/>
              <a:t>d(j,i)</a:t>
            </a:r>
            <a:endParaRPr lang="en-US" dirty="0"/>
          </a:p>
          <a:p>
            <a:pPr lvl="2">
              <a:lnSpc>
                <a:spcPct val="110000"/>
              </a:lnSpc>
            </a:pPr>
            <a:r>
              <a:rPr lang="en-US" i="1" dirty="0"/>
              <a:t>d(i,j)</a:t>
            </a:r>
            <a:r>
              <a:rPr lang="en-US" dirty="0"/>
              <a:t> </a:t>
            </a:r>
            <a:r>
              <a:rPr lang="en-US" dirty="0">
                <a:sym typeface="Symbol" pitchFamily="18" charset="2"/>
              </a:rPr>
              <a:t> </a:t>
            </a:r>
            <a:r>
              <a:rPr lang="en-US" i="1" dirty="0"/>
              <a:t>d(i,k)</a:t>
            </a:r>
            <a:r>
              <a:rPr lang="en-US" dirty="0"/>
              <a:t> </a:t>
            </a:r>
            <a:r>
              <a:rPr lang="en-US" dirty="0">
                <a:sym typeface="Symbol" pitchFamily="18" charset="2"/>
              </a:rPr>
              <a:t>+ </a:t>
            </a:r>
            <a:r>
              <a:rPr lang="en-US" i="1" dirty="0"/>
              <a:t>d(k,j</a:t>
            </a:r>
            <a:r>
              <a:rPr lang="en-US" i="1" dirty="0" smtClean="0"/>
              <a:t>) (Pythagorean theorem)</a:t>
            </a:r>
            <a:endParaRPr lang="en-US" i="1" dirty="0"/>
          </a:p>
          <a:p>
            <a:pPr marL="914400" lvl="2" indent="0">
              <a:lnSpc>
                <a:spcPct val="110000"/>
              </a:lnSpc>
              <a:buNone/>
            </a:pPr>
            <a:r>
              <a:rPr lang="en-US" dirty="0" smtClean="0"/>
              <a:t>).</a:t>
            </a:r>
            <a:endParaRPr lang="en-US" dirty="0">
              <a:sym typeface="Symbol" pitchFamily="18" charset="2"/>
            </a:endParaRPr>
          </a:p>
          <a:p>
            <a:pPr>
              <a:lnSpc>
                <a:spcPct val="110000"/>
              </a:lnSpc>
            </a:pPr>
            <a:r>
              <a:rPr lang="en-US" dirty="0" smtClean="0"/>
              <a:t>We can also use correlation coefficient </a:t>
            </a:r>
            <a:r>
              <a:rPr lang="en-US" dirty="0"/>
              <a:t>or </a:t>
            </a:r>
            <a:r>
              <a:rPr lang="en-US" dirty="0" smtClean="0"/>
              <a:t>any other measure of </a:t>
            </a:r>
            <a:r>
              <a:rPr lang="en-US" dirty="0"/>
              <a:t>dissimilarity</a:t>
            </a:r>
            <a:r>
              <a:rPr lang="en-US" dirty="0" smtClean="0"/>
              <a:t>.</a:t>
            </a:r>
            <a:endParaRPr lang="en-US" dirty="0"/>
          </a:p>
          <a:p>
            <a:pPr marL="457200" lvl="1" indent="0">
              <a:buNone/>
            </a:pPr>
            <a:endParaRPr lang="en-US" altLang="en-US" dirty="0" smtClean="0"/>
          </a:p>
        </p:txBody>
      </p:sp>
      <p:graphicFrame>
        <p:nvGraphicFramePr>
          <p:cNvPr id="6" name="Object 2"/>
          <p:cNvGraphicFramePr>
            <a:graphicFrameLocks noChangeAspect="1"/>
          </p:cNvGraphicFramePr>
          <p:nvPr>
            <p:extLst>
              <p:ext uri="{D42A27DB-BD31-4B8C-83A1-F6EECF244321}">
                <p14:modId xmlns:p14="http://schemas.microsoft.com/office/powerpoint/2010/main" val="3283880489"/>
              </p:ext>
            </p:extLst>
          </p:nvPr>
        </p:nvGraphicFramePr>
        <p:xfrm>
          <a:off x="3341357" y="1767417"/>
          <a:ext cx="5867400" cy="660400"/>
        </p:xfrm>
        <a:graphic>
          <a:graphicData uri="http://schemas.openxmlformats.org/presentationml/2006/ole">
            <mc:AlternateContent xmlns:mc="http://schemas.openxmlformats.org/markup-compatibility/2006">
              <mc:Choice xmlns:v="urn:schemas-microsoft-com:vml" Requires="v">
                <p:oleObj spid="_x0000_s2107" name="Equation" r:id="rId3" imgW="5168880" imgH="583920" progId="Equation.3">
                  <p:embed/>
                </p:oleObj>
              </mc:Choice>
              <mc:Fallback>
                <p:oleObj name="Equation" r:id="rId3" imgW="5168880" imgH="5839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1357" y="1767417"/>
                        <a:ext cx="5867400" cy="660400"/>
                      </a:xfrm>
                      <a:prstGeom prst="rect">
                        <a:avLst/>
                      </a:prstGeom>
                      <a:noFill/>
                      <a:ln>
                        <a:noFill/>
                      </a:ln>
                      <a:effectLst/>
                    </p:spPr>
                  </p:pic>
                </p:oleObj>
              </mc:Fallback>
            </mc:AlternateContent>
          </a:graphicData>
        </a:graphic>
      </p:graphicFrame>
      <p:grpSp>
        <p:nvGrpSpPr>
          <p:cNvPr id="21" name="Canvas 1"/>
          <p:cNvGrpSpPr/>
          <p:nvPr/>
        </p:nvGrpSpPr>
        <p:grpSpPr>
          <a:xfrm>
            <a:off x="7695097" y="2958353"/>
            <a:ext cx="4235636" cy="2603624"/>
            <a:chOff x="0" y="0"/>
            <a:chExt cx="3493770" cy="2286000"/>
          </a:xfrm>
        </p:grpSpPr>
        <p:sp>
          <p:nvSpPr>
            <p:cNvPr id="22" name="Rectangle 21"/>
            <p:cNvSpPr/>
            <p:nvPr/>
          </p:nvSpPr>
          <p:spPr>
            <a:xfrm>
              <a:off x="0" y="0"/>
              <a:ext cx="3493770" cy="2286000"/>
            </a:xfrm>
            <a:prstGeom prst="rect">
              <a:avLst/>
            </a:prstGeom>
          </p:spPr>
        </p:sp>
        <p:cxnSp>
          <p:nvCxnSpPr>
            <p:cNvPr id="23" name="Straight Arrow Connector 22"/>
            <p:cNvCxnSpPr/>
            <p:nvPr/>
          </p:nvCxnSpPr>
          <p:spPr>
            <a:xfrm>
              <a:off x="619125" y="1733551"/>
              <a:ext cx="2762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628651" y="295276"/>
              <a:ext cx="19049" cy="14382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 Box 4"/>
            <p:cNvSpPr txBox="1"/>
            <p:nvPr/>
          </p:nvSpPr>
          <p:spPr>
            <a:xfrm>
              <a:off x="847725" y="904876"/>
              <a:ext cx="789305"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dirty="0">
                  <a:effectLst/>
                  <a:ea typeface="Calibri" panose="020F0502020204030204" pitchFamily="34" charset="0"/>
                  <a:cs typeface="Times New Roman" panose="02020603050405020304" pitchFamily="18" charset="0"/>
                </a:rPr>
                <a:t>I (x</a:t>
              </a:r>
              <a:r>
                <a:rPr lang="en-US" sz="1400" baseline="-25000" dirty="0">
                  <a:effectLst/>
                  <a:ea typeface="Calibri" panose="020F0502020204030204" pitchFamily="34" charset="0"/>
                  <a:cs typeface="Times New Roman" panose="02020603050405020304" pitchFamily="18" charset="0"/>
                </a:rPr>
                <a:t>i1</a:t>
              </a:r>
              <a:r>
                <a:rPr lang="en-US" sz="1400" dirty="0">
                  <a:effectLst/>
                  <a:ea typeface="Calibri" panose="020F0502020204030204" pitchFamily="34" charset="0"/>
                  <a:cs typeface="Times New Roman" panose="02020603050405020304" pitchFamily="18" charset="0"/>
                </a:rPr>
                <a:t>, x</a:t>
              </a:r>
              <a:r>
                <a:rPr lang="en-US" sz="1400" baseline="-25000" dirty="0">
                  <a:effectLst/>
                  <a:ea typeface="Calibri" panose="020F0502020204030204" pitchFamily="34" charset="0"/>
                  <a:cs typeface="Times New Roman" panose="02020603050405020304" pitchFamily="18" charset="0"/>
                </a:rPr>
                <a:t>i2</a:t>
              </a:r>
              <a:r>
                <a:rPr lang="en-US" sz="1400" dirty="0">
                  <a:effectLst/>
                  <a:ea typeface="Calibri" panose="020F0502020204030204" pitchFamily="34" charset="0"/>
                  <a:cs typeface="Times New Roman" panose="02020603050405020304" pitchFamily="18" charset="0"/>
                </a:rPr>
                <a:t>)</a:t>
              </a:r>
              <a:endParaRPr lang="en-US" sz="1100" dirty="0">
                <a:effectLst/>
                <a:ea typeface="Calibri" panose="020F0502020204030204" pitchFamily="34" charset="0"/>
                <a:cs typeface="Times New Roman" panose="02020603050405020304" pitchFamily="18" charset="0"/>
              </a:endParaRPr>
            </a:p>
          </p:txBody>
        </p:sp>
        <p:sp>
          <p:nvSpPr>
            <p:cNvPr id="26" name="Text Box 4"/>
            <p:cNvSpPr txBox="1"/>
            <p:nvPr/>
          </p:nvSpPr>
          <p:spPr>
            <a:xfrm>
              <a:off x="2132625" y="465751"/>
              <a:ext cx="803275"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nSpc>
                  <a:spcPct val="106000"/>
                </a:lnSpc>
                <a:spcBef>
                  <a:spcPts val="0"/>
                </a:spcBef>
                <a:spcAft>
                  <a:spcPts val="800"/>
                </a:spcAft>
              </a:pPr>
              <a:r>
                <a:rPr lang="en-US" sz="1400" dirty="0">
                  <a:effectLst/>
                  <a:ea typeface="Calibri" panose="020F0502020204030204" pitchFamily="34" charset="0"/>
                </a:rPr>
                <a:t>J (x</a:t>
              </a:r>
              <a:r>
                <a:rPr lang="en-US" sz="1400" baseline="-25000" dirty="0">
                  <a:effectLst/>
                  <a:ea typeface="Calibri" panose="020F0502020204030204" pitchFamily="34" charset="0"/>
                </a:rPr>
                <a:t>j1</a:t>
              </a:r>
              <a:r>
                <a:rPr lang="en-US" sz="1400" dirty="0">
                  <a:effectLst/>
                  <a:ea typeface="Calibri" panose="020F0502020204030204" pitchFamily="34" charset="0"/>
                </a:rPr>
                <a:t>, x</a:t>
              </a:r>
              <a:r>
                <a:rPr lang="en-US" sz="1400" baseline="-25000" dirty="0">
                  <a:effectLst/>
                  <a:ea typeface="Calibri" panose="020F0502020204030204" pitchFamily="34" charset="0"/>
                </a:rPr>
                <a:t>j2</a:t>
              </a:r>
              <a:r>
                <a:rPr lang="en-US" sz="1400" dirty="0">
                  <a:effectLst/>
                  <a:ea typeface="Calibri" panose="020F0502020204030204" pitchFamily="34" charset="0"/>
                </a:rPr>
                <a:t>)</a:t>
              </a:r>
              <a:endParaRPr lang="en-US" sz="1200" dirty="0">
                <a:effectLst/>
                <a:latin typeface="Times New Roman" panose="02020603050405020304" pitchFamily="18" charset="0"/>
                <a:ea typeface="Times New Roman" panose="02020603050405020304" pitchFamily="18" charset="0"/>
              </a:endParaRPr>
            </a:p>
          </p:txBody>
        </p:sp>
        <p:sp>
          <p:nvSpPr>
            <p:cNvPr id="27" name="Oval 26"/>
            <p:cNvSpPr/>
            <p:nvPr/>
          </p:nvSpPr>
          <p:spPr>
            <a:xfrm>
              <a:off x="1485900" y="1219201"/>
              <a:ext cx="104776" cy="95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8" name="Oval 27"/>
            <p:cNvSpPr/>
            <p:nvPr/>
          </p:nvSpPr>
          <p:spPr>
            <a:xfrm>
              <a:off x="2218350" y="742951"/>
              <a:ext cx="96225" cy="9524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cxnSp>
          <p:nvCxnSpPr>
            <p:cNvPr id="29" name="Straight Connector 28"/>
            <p:cNvCxnSpPr/>
            <p:nvPr/>
          </p:nvCxnSpPr>
          <p:spPr>
            <a:xfrm flipV="1">
              <a:off x="1590676" y="805201"/>
              <a:ext cx="641766" cy="442575"/>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 Box 16"/>
            <p:cNvSpPr txBox="1"/>
            <p:nvPr/>
          </p:nvSpPr>
          <p:spPr>
            <a:xfrm>
              <a:off x="1971674" y="1028702"/>
              <a:ext cx="283210" cy="342900"/>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non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400" dirty="0">
                  <a:solidFill>
                    <a:srgbClr val="5B9BD5"/>
                  </a:solidFill>
                  <a:effectLst/>
                  <a:ea typeface="Calibri" panose="020F0502020204030204" pitchFamily="34" charset="0"/>
                  <a:cs typeface="Times New Roman" panose="02020603050405020304" pitchFamily="18" charset="0"/>
                </a:rPr>
                <a:t>d</a:t>
              </a:r>
              <a:endParaRPr lang="en-US" sz="1100" dirty="0">
                <a:effectLst/>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1403947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15</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Similarity Assessment</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Distance between nominal variables:</a:t>
            </a:r>
          </a:p>
          <a:p>
            <a:pPr lvl="1"/>
            <a:r>
              <a:rPr lang="en-US" altLang="en-US" dirty="0" smtClean="0"/>
              <a:t>For binary variables: </a:t>
            </a:r>
            <a:br>
              <a:rPr lang="en-US" altLang="en-US" dirty="0" smtClean="0"/>
            </a:br>
            <a:r>
              <a:rPr lang="en-US" altLang="en-US" dirty="0" smtClean="0"/>
              <a:t/>
            </a:r>
            <a:br>
              <a:rPr lang="en-US" altLang="en-US" dirty="0" smtClean="0"/>
            </a:br>
            <a:r>
              <a:rPr lang="en-US" altLang="en-US" dirty="0" smtClean="0"/>
              <a:t>if symmetric binary variables</a:t>
            </a:r>
          </a:p>
          <a:p>
            <a:pPr lvl="1"/>
            <a:endParaRPr lang="en-US" altLang="en-US" dirty="0"/>
          </a:p>
          <a:p>
            <a:pPr lvl="1"/>
            <a:endParaRPr lang="en-US" altLang="en-US" dirty="0" smtClean="0"/>
          </a:p>
          <a:p>
            <a:pPr marL="457200" lvl="1" indent="0">
              <a:buNone/>
            </a:pPr>
            <a:r>
              <a:rPr lang="en-US" altLang="en-US" dirty="0"/>
              <a:t> </a:t>
            </a:r>
            <a:r>
              <a:rPr lang="en-US" altLang="en-US" dirty="0" smtClean="0"/>
              <a:t>  </a:t>
            </a:r>
            <a:br>
              <a:rPr lang="en-US" altLang="en-US" dirty="0" smtClean="0"/>
            </a:br>
            <a:r>
              <a:rPr lang="en-US" altLang="en-US" dirty="0" smtClean="0"/>
              <a:t>  if asymmetric binary variables (Jaccard coefficient)</a:t>
            </a:r>
            <a:br>
              <a:rPr lang="en-US" altLang="en-US" dirty="0" smtClean="0"/>
            </a:br>
            <a:endParaRPr lang="en-US" altLang="en-US" dirty="0" smtClean="0"/>
          </a:p>
          <a:p>
            <a:pPr marL="457200" lvl="1" indent="0">
              <a:buNone/>
            </a:pPr>
            <a:endParaRPr lang="en-US" altLang="en-US" dirty="0"/>
          </a:p>
          <a:p>
            <a:pPr marL="457200" lvl="1" indent="0">
              <a:buNone/>
            </a:pPr>
            <a:endParaRPr lang="en-US" altLang="en-US" dirty="0" smtClean="0"/>
          </a:p>
          <a:p>
            <a:pPr lvl="1"/>
            <a:r>
              <a:rPr lang="en-US" altLang="en-US" dirty="0" smtClean="0"/>
              <a:t>For non-binary, d(I, j) = #mismatches / #variables</a:t>
            </a:r>
          </a:p>
        </p:txBody>
      </p:sp>
      <p:grpSp>
        <p:nvGrpSpPr>
          <p:cNvPr id="6" name="Group 6"/>
          <p:cNvGrpSpPr>
            <a:grpSpLocks/>
          </p:cNvGrpSpPr>
          <p:nvPr/>
        </p:nvGrpSpPr>
        <p:grpSpPr bwMode="auto">
          <a:xfrm>
            <a:off x="6973601" y="2097881"/>
            <a:ext cx="4876800" cy="2195512"/>
            <a:chOff x="1200" y="1209"/>
            <a:chExt cx="3072" cy="1383"/>
          </a:xfrm>
        </p:grpSpPr>
        <p:sp>
          <p:nvSpPr>
            <p:cNvPr id="7" name="Line 7"/>
            <p:cNvSpPr>
              <a:spLocks noChangeShapeType="1"/>
            </p:cNvSpPr>
            <p:nvPr/>
          </p:nvSpPr>
          <p:spPr bwMode="auto">
            <a:xfrm>
              <a:off x="1200" y="1632"/>
              <a:ext cx="30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grpSp>
          <p:nvGrpSpPr>
            <p:cNvPr id="8" name="Group 8"/>
            <p:cNvGrpSpPr>
              <a:grpSpLocks/>
            </p:cNvGrpSpPr>
            <p:nvPr/>
          </p:nvGrpSpPr>
          <p:grpSpPr bwMode="auto">
            <a:xfrm>
              <a:off x="1248" y="1209"/>
              <a:ext cx="2400" cy="1383"/>
              <a:chOff x="1248" y="1209"/>
              <a:chExt cx="2400" cy="1383"/>
            </a:xfrm>
          </p:grpSpPr>
          <p:graphicFrame>
            <p:nvGraphicFramePr>
              <p:cNvPr id="9" name="Object 5"/>
              <p:cNvGraphicFramePr>
                <a:graphicFrameLocks noChangeAspect="1"/>
              </p:cNvGraphicFramePr>
              <p:nvPr/>
            </p:nvGraphicFramePr>
            <p:xfrm>
              <a:off x="1824" y="1440"/>
              <a:ext cx="1824" cy="1040"/>
            </p:xfrm>
            <a:graphic>
              <a:graphicData uri="http://schemas.openxmlformats.org/presentationml/2006/ole">
                <mc:AlternateContent xmlns:mc="http://schemas.openxmlformats.org/markup-compatibility/2006">
                  <mc:Choice xmlns:v="urn:schemas-microsoft-com:vml" Requires="v">
                    <p:oleObj spid="_x0000_s3230" name="Equation" r:id="rId3" imgW="2539800" imgH="1447560" progId="Equation.3">
                      <p:embed/>
                    </p:oleObj>
                  </mc:Choice>
                  <mc:Fallback>
                    <p:oleObj name="Equation" r:id="rId3" imgW="2539800" imgH="1447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 y="1440"/>
                            <a:ext cx="1824" cy="1040"/>
                          </a:xfrm>
                          <a:prstGeom prst="rect">
                            <a:avLst/>
                          </a:prstGeom>
                          <a:solidFill>
                            <a:schemeClr val="accent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Line 10"/>
              <p:cNvSpPr>
                <a:spLocks noChangeShapeType="1"/>
              </p:cNvSpPr>
              <p:nvPr/>
            </p:nvSpPr>
            <p:spPr bwMode="auto">
              <a:xfrm>
                <a:off x="2160" y="1344"/>
                <a:ext cx="0" cy="1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11" name="Text Box 11"/>
              <p:cNvSpPr txBox="1">
                <a:spLocks noChangeArrowheads="1"/>
              </p:cNvSpPr>
              <p:nvPr/>
            </p:nvSpPr>
            <p:spPr bwMode="auto">
              <a:xfrm>
                <a:off x="1248" y="1833"/>
                <a:ext cx="672" cy="231"/>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sz="1800" b="1" dirty="0"/>
                  <a:t>Object </a:t>
                </a:r>
                <a:r>
                  <a:rPr lang="en-US" sz="1800" b="1" i="1" dirty="0"/>
                  <a:t>i</a:t>
                </a:r>
                <a:endParaRPr lang="en-US" sz="1800" b="1" dirty="0"/>
              </a:p>
            </p:txBody>
          </p:sp>
          <p:sp>
            <p:nvSpPr>
              <p:cNvPr id="12" name="Text Box 12"/>
              <p:cNvSpPr txBox="1">
                <a:spLocks noChangeArrowheads="1"/>
              </p:cNvSpPr>
              <p:nvPr/>
            </p:nvSpPr>
            <p:spPr bwMode="auto">
              <a:xfrm>
                <a:off x="2400" y="1209"/>
                <a:ext cx="768" cy="231"/>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sz="1800" b="1" dirty="0"/>
                  <a:t>Object  </a:t>
                </a:r>
                <a:r>
                  <a:rPr lang="en-US" sz="1800" b="1" i="1" dirty="0"/>
                  <a:t>j</a:t>
                </a:r>
              </a:p>
            </p:txBody>
          </p:sp>
        </p:grpSp>
      </p:grpSp>
      <p:graphicFrame>
        <p:nvGraphicFramePr>
          <p:cNvPr id="13" name="Object 2"/>
          <p:cNvGraphicFramePr>
            <a:graphicFrameLocks noChangeAspect="1"/>
          </p:cNvGraphicFramePr>
          <p:nvPr>
            <p:extLst>
              <p:ext uri="{D42A27DB-BD31-4B8C-83A1-F6EECF244321}">
                <p14:modId xmlns:p14="http://schemas.microsoft.com/office/powerpoint/2010/main" val="2262098169"/>
              </p:ext>
            </p:extLst>
          </p:nvPr>
        </p:nvGraphicFramePr>
        <p:xfrm>
          <a:off x="2523693" y="3195637"/>
          <a:ext cx="3810000" cy="695325"/>
        </p:xfrm>
        <a:graphic>
          <a:graphicData uri="http://schemas.openxmlformats.org/presentationml/2006/ole">
            <mc:AlternateContent xmlns:mc="http://schemas.openxmlformats.org/markup-compatibility/2006">
              <mc:Choice xmlns:v="urn:schemas-microsoft-com:vml" Requires="v">
                <p:oleObj spid="_x0000_s3231" name="Equation" r:id="rId5" imgW="2044440" imgH="482400" progId="Equation.3">
                  <p:embed/>
                </p:oleObj>
              </mc:Choice>
              <mc:Fallback>
                <p:oleObj name="Equation" r:id="rId5" imgW="2044440" imgH="482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3693" y="3195637"/>
                        <a:ext cx="3810000" cy="695325"/>
                      </a:xfrm>
                      <a:prstGeom prst="rect">
                        <a:avLst/>
                      </a:prstGeom>
                      <a:noFill/>
                      <a:ln>
                        <a:noFill/>
                      </a:ln>
                      <a:effectLst/>
                    </p:spPr>
                  </p:pic>
                </p:oleObj>
              </mc:Fallback>
            </mc:AlternateContent>
          </a:graphicData>
        </a:graphic>
      </p:graphicFrame>
      <p:graphicFrame>
        <p:nvGraphicFramePr>
          <p:cNvPr id="14" name="Object 4"/>
          <p:cNvGraphicFramePr>
            <a:graphicFrameLocks noChangeAspect="1"/>
          </p:cNvGraphicFramePr>
          <p:nvPr>
            <p:extLst>
              <p:ext uri="{D42A27DB-BD31-4B8C-83A1-F6EECF244321}">
                <p14:modId xmlns:p14="http://schemas.microsoft.com/office/powerpoint/2010/main" val="3460129959"/>
              </p:ext>
            </p:extLst>
          </p:nvPr>
        </p:nvGraphicFramePr>
        <p:xfrm>
          <a:off x="2523693" y="4818590"/>
          <a:ext cx="5984875" cy="704850"/>
        </p:xfrm>
        <a:graphic>
          <a:graphicData uri="http://schemas.openxmlformats.org/presentationml/2006/ole">
            <mc:AlternateContent xmlns:mc="http://schemas.openxmlformats.org/markup-compatibility/2006">
              <mc:Choice xmlns:v="urn:schemas-microsoft-com:vml" Requires="v">
                <p:oleObj spid="_x0000_s3232" name="Equation" r:id="rId7" imgW="3606480" imgH="482400" progId="Equation.3">
                  <p:embed/>
                </p:oleObj>
              </mc:Choice>
              <mc:Fallback>
                <p:oleObj name="Equation" r:id="rId7" imgW="3606480" imgH="482400" progId="Equation.3">
                  <p:embed/>
                  <p:pic>
                    <p:nvPicPr>
                      <p:cNvPr id="0" name=""/>
                      <p:cNvPicPr>
                        <a:picLocks noChangeAspect="1" noChangeArrowheads="1"/>
                      </p:cNvPicPr>
                      <p:nvPr/>
                    </p:nvPicPr>
                    <p:blipFill>
                      <a:blip r:embed="rId8"/>
                      <a:srcRect/>
                      <a:stretch>
                        <a:fillRect/>
                      </a:stretch>
                    </p:blipFill>
                    <p:spPr bwMode="auto">
                      <a:xfrm>
                        <a:off x="2523693" y="4818590"/>
                        <a:ext cx="5984875" cy="7048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0576450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Similarity Assessment</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Distance between ordinal variables:</a:t>
            </a:r>
          </a:p>
          <a:p>
            <a:endParaRPr lang="en-US" altLang="en-US" dirty="0"/>
          </a:p>
          <a:p>
            <a:pPr lvl="1"/>
            <a:r>
              <a:rPr lang="en-US" altLang="en-US" dirty="0" smtClean="0"/>
              <a:t>Ordinal variables can be processed as</a:t>
            </a:r>
          </a:p>
          <a:p>
            <a:pPr lvl="1"/>
            <a:endParaRPr lang="en-US" altLang="en-US" dirty="0"/>
          </a:p>
          <a:p>
            <a:pPr lvl="2"/>
            <a:r>
              <a:rPr lang="en-US" altLang="en-US" sz="2800" dirty="0" smtClean="0"/>
              <a:t>first map each value into a number: a </a:t>
            </a:r>
            <a:r>
              <a:rPr lang="en-US" altLang="en-US" sz="2800" dirty="0" smtClean="0">
                <a:sym typeface="Wingdings" panose="05000000000000000000" pitchFamily="2" charset="2"/>
              </a:rPr>
              <a:t> 1, b  2, etc.</a:t>
            </a:r>
            <a:endParaRPr lang="en-US" altLang="en-US" sz="2800" dirty="0"/>
          </a:p>
          <a:p>
            <a:pPr lvl="2"/>
            <a:endParaRPr lang="en-US" altLang="en-US" sz="2800" dirty="0" smtClean="0"/>
          </a:p>
          <a:p>
            <a:pPr lvl="2"/>
            <a:r>
              <a:rPr lang="en-US" altLang="en-US" sz="2800" dirty="0"/>
              <a:t>t</a:t>
            </a:r>
            <a:r>
              <a:rPr lang="en-US" altLang="en-US" sz="2800" dirty="0" smtClean="0"/>
              <a:t>hen calculate distance as for a  numeric variable (1 &lt; 2 &lt; 3 …).</a:t>
            </a:r>
            <a:endParaRPr lang="en-US" altLang="en-US" sz="2800" dirty="0"/>
          </a:p>
          <a:p>
            <a:pPr lvl="2"/>
            <a:endParaRPr lang="en-US" altLang="en-US" dirty="0" smtClean="0"/>
          </a:p>
          <a:p>
            <a:endParaRPr lang="en-US" altLang="en-US" dirty="0"/>
          </a:p>
          <a:p>
            <a:pPr lvl="1"/>
            <a:endParaRPr lang="en-US" altLang="en-US" dirty="0" smtClean="0"/>
          </a:p>
        </p:txBody>
      </p:sp>
    </p:spTree>
    <p:extLst>
      <p:ext uri="{BB962C8B-B14F-4D97-AF65-F5344CB8AC3E}">
        <p14:creationId xmlns:p14="http://schemas.microsoft.com/office/powerpoint/2010/main" val="27144402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17</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Similarity Assessment</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Distance between mixed types variables:</a:t>
            </a:r>
          </a:p>
          <a:p>
            <a:endParaRPr lang="en-US" altLang="en-US" dirty="0"/>
          </a:p>
          <a:p>
            <a:pPr lvl="1"/>
            <a:r>
              <a:rPr lang="en-US" altLang="en-US" dirty="0" smtClean="0"/>
              <a:t>Add all the respective distances according to the types present in the object.</a:t>
            </a:r>
          </a:p>
          <a:p>
            <a:pPr lvl="1"/>
            <a:endParaRPr lang="en-US" altLang="en-US" dirty="0"/>
          </a:p>
          <a:p>
            <a:pPr lvl="1"/>
            <a:r>
              <a:rPr lang="en-US" altLang="en-US" dirty="0" smtClean="0"/>
              <a:t>Ultimately a final distance is calculated over all the objects.</a:t>
            </a:r>
          </a:p>
          <a:p>
            <a:pPr lvl="1"/>
            <a:endParaRPr lang="en-US" altLang="en-US" dirty="0"/>
          </a:p>
          <a:p>
            <a:pPr lvl="1"/>
            <a:endParaRPr lang="en-US" altLang="en-US" dirty="0" smtClean="0"/>
          </a:p>
        </p:txBody>
      </p:sp>
    </p:spTree>
    <p:extLst>
      <p:ext uri="{BB962C8B-B14F-4D97-AF65-F5344CB8AC3E}">
        <p14:creationId xmlns:p14="http://schemas.microsoft.com/office/powerpoint/2010/main" val="1283432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18</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b="1" dirty="0" smtClean="0">
                <a:solidFill>
                  <a:srgbClr val="FFFF00"/>
                </a:solidFill>
              </a:rPr>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31234557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Methods</a:t>
            </a:r>
          </a:p>
        </p:txBody>
      </p:sp>
      <p:sp>
        <p:nvSpPr>
          <p:cNvPr id="8198" name="Rectangle 3"/>
          <p:cNvSpPr>
            <a:spLocks noGrp="1" noChangeArrowheads="1"/>
          </p:cNvSpPr>
          <p:nvPr>
            <p:ph type="body" idx="1"/>
          </p:nvPr>
        </p:nvSpPr>
        <p:spPr>
          <a:xfrm>
            <a:off x="1752600" y="1523999"/>
            <a:ext cx="8686800" cy="4588933"/>
          </a:xfrm>
        </p:spPr>
        <p:txBody>
          <a:bodyPr>
            <a:normAutofit lnSpcReduction="10000"/>
          </a:bodyPr>
          <a:lstStyle/>
          <a:p>
            <a:pPr>
              <a:lnSpc>
                <a:spcPct val="130000"/>
              </a:lnSpc>
            </a:pPr>
            <a:r>
              <a:rPr lang="en-US" sz="2000" dirty="0"/>
              <a:t>Partitioning approach: </a:t>
            </a:r>
          </a:p>
          <a:p>
            <a:pPr lvl="1">
              <a:lnSpc>
                <a:spcPct val="130000"/>
              </a:lnSpc>
            </a:pPr>
            <a:r>
              <a:rPr lang="en-US" sz="1800" dirty="0"/>
              <a:t>Construct various partitions and then evaluate them by some criterion, e.g., minimizing the sum of square errors</a:t>
            </a:r>
          </a:p>
          <a:p>
            <a:pPr lvl="1">
              <a:lnSpc>
                <a:spcPct val="130000"/>
              </a:lnSpc>
            </a:pPr>
            <a:r>
              <a:rPr lang="en-US" sz="1800" dirty="0"/>
              <a:t>Typical </a:t>
            </a:r>
            <a:r>
              <a:rPr lang="en-US" sz="1800" dirty="0" smtClean="0"/>
              <a:t>method: KMeans</a:t>
            </a:r>
            <a:r>
              <a:rPr lang="en-US" sz="1800" dirty="0"/>
              <a:t>.</a:t>
            </a:r>
          </a:p>
          <a:p>
            <a:pPr>
              <a:lnSpc>
                <a:spcPct val="130000"/>
              </a:lnSpc>
            </a:pPr>
            <a:r>
              <a:rPr lang="en-US" sz="2000" dirty="0"/>
              <a:t>Density-based approach: </a:t>
            </a:r>
          </a:p>
          <a:p>
            <a:pPr lvl="1">
              <a:lnSpc>
                <a:spcPct val="130000"/>
              </a:lnSpc>
            </a:pPr>
            <a:r>
              <a:rPr lang="en-US" sz="1800" dirty="0"/>
              <a:t>Based on connectivity and density functions</a:t>
            </a:r>
          </a:p>
          <a:p>
            <a:pPr lvl="1">
              <a:lnSpc>
                <a:spcPct val="130000"/>
              </a:lnSpc>
            </a:pPr>
            <a:r>
              <a:rPr lang="en-US" sz="1800" dirty="0"/>
              <a:t>Typical method: </a:t>
            </a:r>
            <a:r>
              <a:rPr lang="en-US" sz="1800" dirty="0" smtClean="0"/>
              <a:t>DBSCAN.</a:t>
            </a:r>
            <a:endParaRPr lang="en-US" sz="1800" dirty="0"/>
          </a:p>
          <a:p>
            <a:pPr>
              <a:lnSpc>
                <a:spcPct val="130000"/>
              </a:lnSpc>
            </a:pPr>
            <a:r>
              <a:rPr lang="en-US" sz="2000" dirty="0" smtClean="0"/>
              <a:t>Hierarchical </a:t>
            </a:r>
            <a:r>
              <a:rPr lang="en-US" sz="2000" dirty="0"/>
              <a:t>approach: </a:t>
            </a:r>
          </a:p>
          <a:p>
            <a:pPr lvl="1">
              <a:lnSpc>
                <a:spcPct val="130000"/>
              </a:lnSpc>
            </a:pPr>
            <a:r>
              <a:rPr lang="en-US" sz="1800" dirty="0"/>
              <a:t>Create a hierarchical decomposition of the set of data (or objects) using some criterion</a:t>
            </a:r>
          </a:p>
          <a:p>
            <a:pPr lvl="1">
              <a:lnSpc>
                <a:spcPct val="130000"/>
              </a:lnSpc>
            </a:pPr>
            <a:r>
              <a:rPr lang="en-US" sz="1800" dirty="0"/>
              <a:t>Typical </a:t>
            </a:r>
            <a:r>
              <a:rPr lang="en-US" sz="1800" dirty="0" smtClean="0"/>
              <a:t>method: DIANA.</a:t>
            </a:r>
            <a:endParaRPr lang="en-US" sz="1800" dirty="0"/>
          </a:p>
          <a:p>
            <a:endParaRPr lang="en-US" altLang="en-US" dirty="0" smtClean="0"/>
          </a:p>
        </p:txBody>
      </p:sp>
    </p:spTree>
    <p:extLst>
      <p:ext uri="{BB962C8B-B14F-4D97-AF65-F5344CB8AC3E}">
        <p14:creationId xmlns:p14="http://schemas.microsoft.com/office/powerpoint/2010/main" val="36556372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20</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b="1" dirty="0" smtClean="0">
                <a:solidFill>
                  <a:srgbClr val="FFFF00"/>
                </a:solidFill>
              </a:rPr>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4979846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xfrm>
            <a:off x="3500767" y="6276975"/>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21</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793678" y="1385480"/>
            <a:ext cx="10608641" cy="4588933"/>
          </a:xfrm>
        </p:spPr>
        <p:txBody>
          <a:bodyPr>
            <a:normAutofit/>
          </a:bodyPr>
          <a:lstStyle/>
          <a:p>
            <a:r>
              <a:rPr lang="en-US" altLang="en-US" dirty="0" smtClean="0"/>
              <a:t>Algorithm proceeds in several steps.</a:t>
            </a:r>
            <a:br>
              <a:rPr lang="en-US" altLang="en-US" dirty="0" smtClean="0"/>
            </a:br>
            <a:r>
              <a:rPr lang="en-US" altLang="en-US" dirty="0" smtClean="0"/>
              <a:t>Suppose that we want to create 2 clusters. </a:t>
            </a:r>
          </a:p>
          <a:p>
            <a:r>
              <a:rPr lang="en-US" altLang="en-US" dirty="0" smtClean="0"/>
              <a:t>Step 1: </a:t>
            </a:r>
            <a:br>
              <a:rPr lang="en-US" altLang="en-US" dirty="0" smtClean="0"/>
            </a:br>
            <a:r>
              <a:rPr lang="en-US" altLang="en-US" dirty="0" smtClean="0"/>
              <a:t>We first create two separate clusters and assign arbitrarily a center object (red point) – called centroid.</a:t>
            </a:r>
            <a:br>
              <a:rPr lang="en-US" altLang="en-US" dirty="0" smtClean="0"/>
            </a:br>
            <a:r>
              <a:rPr lang="en-US" altLang="en-US" dirty="0" smtClean="0"/>
              <a:t/>
            </a:r>
            <a:br>
              <a:rPr lang="en-US" altLang="en-US" dirty="0" smtClean="0"/>
            </a:br>
            <a:r>
              <a:rPr lang="en-US" altLang="en-US" dirty="0" smtClean="0"/>
              <a:t/>
            </a:r>
            <a:br>
              <a:rPr lang="en-US" altLang="en-US" dirty="0" smtClean="0"/>
            </a:br>
            <a:r>
              <a:rPr lang="en-US" altLang="en-US" dirty="0" smtClean="0"/>
              <a:t/>
            </a:r>
            <a:br>
              <a:rPr lang="en-US" altLang="en-US" dirty="0" smtClean="0"/>
            </a:br>
            <a:r>
              <a:rPr lang="en-US" altLang="en-US" dirty="0" smtClean="0"/>
              <a:t/>
            </a:r>
            <a:br>
              <a:rPr lang="en-US" altLang="en-US" dirty="0" smtClean="0"/>
            </a:br>
            <a:r>
              <a:rPr lang="en-US" altLang="en-US" dirty="0" smtClean="0"/>
              <a:t>                                                                                From Han and Kamber</a:t>
            </a:r>
          </a:p>
        </p:txBody>
      </p:sp>
      <p:sp>
        <p:nvSpPr>
          <p:cNvPr id="88" name="Rectangle 103"/>
          <p:cNvSpPr>
            <a:spLocks noChangeArrowheads="1"/>
          </p:cNvSpPr>
          <p:nvPr/>
        </p:nvSpPr>
        <p:spPr bwMode="auto">
          <a:xfrm>
            <a:off x="4106041" y="3499397"/>
            <a:ext cx="3177628" cy="2777578"/>
          </a:xfrm>
          <a:prstGeom prst="rect">
            <a:avLst/>
          </a:prstGeom>
          <a:solidFill>
            <a:srgbClr val="FFFFFF"/>
          </a:solidFill>
          <a:ln w="0">
            <a:solidFill>
              <a:srgbClr val="000000"/>
            </a:solidFill>
            <a:miter lim="800000"/>
            <a:headEnd/>
            <a:tailEnd/>
          </a:ln>
        </p:spPr>
        <p:txBody>
          <a:bodyPr/>
          <a:lstStyle/>
          <a:p>
            <a:endParaRPr lang="en-US" dirty="0"/>
          </a:p>
        </p:txBody>
      </p:sp>
      <p:sp>
        <p:nvSpPr>
          <p:cNvPr id="89" name="Rectangle 104"/>
          <p:cNvSpPr>
            <a:spLocks noChangeArrowheads="1"/>
          </p:cNvSpPr>
          <p:nvPr/>
        </p:nvSpPr>
        <p:spPr bwMode="auto">
          <a:xfrm>
            <a:off x="4318766" y="3792533"/>
            <a:ext cx="2725951" cy="224155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0" name="Line 105"/>
          <p:cNvSpPr>
            <a:spLocks noChangeShapeType="1"/>
          </p:cNvSpPr>
          <p:nvPr/>
        </p:nvSpPr>
        <p:spPr bwMode="auto">
          <a:xfrm>
            <a:off x="4318766" y="5871534"/>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1" name="Line 106"/>
          <p:cNvSpPr>
            <a:spLocks noChangeShapeType="1"/>
          </p:cNvSpPr>
          <p:nvPr/>
        </p:nvSpPr>
        <p:spPr bwMode="auto">
          <a:xfrm>
            <a:off x="4318766" y="5711198"/>
            <a:ext cx="2725951"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2" name="Line 107"/>
          <p:cNvSpPr>
            <a:spLocks noChangeShapeType="1"/>
          </p:cNvSpPr>
          <p:nvPr/>
        </p:nvSpPr>
        <p:spPr bwMode="auto">
          <a:xfrm>
            <a:off x="4318766" y="5549273"/>
            <a:ext cx="2725951"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3" name="Line 108"/>
          <p:cNvSpPr>
            <a:spLocks noChangeShapeType="1"/>
          </p:cNvSpPr>
          <p:nvPr/>
        </p:nvSpPr>
        <p:spPr bwMode="auto">
          <a:xfrm>
            <a:off x="4318766" y="5388934"/>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4" name="Line 109"/>
          <p:cNvSpPr>
            <a:spLocks noChangeShapeType="1"/>
          </p:cNvSpPr>
          <p:nvPr/>
        </p:nvSpPr>
        <p:spPr bwMode="auto">
          <a:xfrm>
            <a:off x="4318766" y="5227009"/>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5" name="Line 110"/>
          <p:cNvSpPr>
            <a:spLocks noChangeShapeType="1"/>
          </p:cNvSpPr>
          <p:nvPr/>
        </p:nvSpPr>
        <p:spPr bwMode="auto">
          <a:xfrm>
            <a:off x="4318766" y="5071434"/>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6" name="Line 111"/>
          <p:cNvSpPr>
            <a:spLocks noChangeShapeType="1"/>
          </p:cNvSpPr>
          <p:nvPr/>
        </p:nvSpPr>
        <p:spPr bwMode="auto">
          <a:xfrm>
            <a:off x="4318766" y="4911098"/>
            <a:ext cx="2725951"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7" name="Line 112"/>
          <p:cNvSpPr>
            <a:spLocks noChangeShapeType="1"/>
          </p:cNvSpPr>
          <p:nvPr/>
        </p:nvSpPr>
        <p:spPr bwMode="auto">
          <a:xfrm>
            <a:off x="4318766" y="4749173"/>
            <a:ext cx="2725951"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8" name="Line 113"/>
          <p:cNvSpPr>
            <a:spLocks noChangeShapeType="1"/>
          </p:cNvSpPr>
          <p:nvPr/>
        </p:nvSpPr>
        <p:spPr bwMode="auto">
          <a:xfrm>
            <a:off x="4318766" y="4588834"/>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99" name="Line 114"/>
          <p:cNvSpPr>
            <a:spLocks noChangeShapeType="1"/>
          </p:cNvSpPr>
          <p:nvPr/>
        </p:nvSpPr>
        <p:spPr bwMode="auto">
          <a:xfrm>
            <a:off x="4318766" y="4426909"/>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0" name="Line 115"/>
          <p:cNvSpPr>
            <a:spLocks noChangeShapeType="1"/>
          </p:cNvSpPr>
          <p:nvPr/>
        </p:nvSpPr>
        <p:spPr bwMode="auto">
          <a:xfrm>
            <a:off x="4510855" y="3792533"/>
            <a:ext cx="2269"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1" name="Line 116"/>
          <p:cNvSpPr>
            <a:spLocks noChangeShapeType="1"/>
          </p:cNvSpPr>
          <p:nvPr/>
        </p:nvSpPr>
        <p:spPr bwMode="auto">
          <a:xfrm>
            <a:off x="4696592"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2" name="Line 117"/>
          <p:cNvSpPr>
            <a:spLocks noChangeShapeType="1"/>
          </p:cNvSpPr>
          <p:nvPr/>
        </p:nvSpPr>
        <p:spPr bwMode="auto">
          <a:xfrm>
            <a:off x="4890267"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3" name="Line 118"/>
          <p:cNvSpPr>
            <a:spLocks noChangeShapeType="1"/>
          </p:cNvSpPr>
          <p:nvPr/>
        </p:nvSpPr>
        <p:spPr bwMode="auto">
          <a:xfrm>
            <a:off x="5082355" y="3792533"/>
            <a:ext cx="2269"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4" name="Line 119"/>
          <p:cNvSpPr>
            <a:spLocks noChangeShapeType="1"/>
          </p:cNvSpPr>
          <p:nvPr/>
        </p:nvSpPr>
        <p:spPr bwMode="auto">
          <a:xfrm>
            <a:off x="5274442"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5" name="Line 120"/>
          <p:cNvSpPr>
            <a:spLocks noChangeShapeType="1"/>
          </p:cNvSpPr>
          <p:nvPr/>
        </p:nvSpPr>
        <p:spPr bwMode="auto">
          <a:xfrm>
            <a:off x="5461767"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6" name="Line 121"/>
          <p:cNvSpPr>
            <a:spLocks noChangeShapeType="1"/>
          </p:cNvSpPr>
          <p:nvPr/>
        </p:nvSpPr>
        <p:spPr bwMode="auto">
          <a:xfrm>
            <a:off x="5653855" y="3792533"/>
            <a:ext cx="2269"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7" name="Line 122"/>
          <p:cNvSpPr>
            <a:spLocks noChangeShapeType="1"/>
          </p:cNvSpPr>
          <p:nvPr/>
        </p:nvSpPr>
        <p:spPr bwMode="auto">
          <a:xfrm>
            <a:off x="5845942"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8" name="Line 123"/>
          <p:cNvSpPr>
            <a:spLocks noChangeShapeType="1"/>
          </p:cNvSpPr>
          <p:nvPr/>
        </p:nvSpPr>
        <p:spPr bwMode="auto">
          <a:xfrm>
            <a:off x="6033267"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9" name="Line 124"/>
          <p:cNvSpPr>
            <a:spLocks noChangeShapeType="1"/>
          </p:cNvSpPr>
          <p:nvPr/>
        </p:nvSpPr>
        <p:spPr bwMode="auto">
          <a:xfrm>
            <a:off x="6225355" y="3792533"/>
            <a:ext cx="2269"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0" name="Rectangle 125"/>
          <p:cNvSpPr>
            <a:spLocks noChangeArrowheads="1"/>
          </p:cNvSpPr>
          <p:nvPr/>
        </p:nvSpPr>
        <p:spPr bwMode="auto">
          <a:xfrm>
            <a:off x="4318766" y="3792533"/>
            <a:ext cx="2725951" cy="2241554"/>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11" name="Line 126"/>
          <p:cNvSpPr>
            <a:spLocks noChangeShapeType="1"/>
          </p:cNvSpPr>
          <p:nvPr/>
        </p:nvSpPr>
        <p:spPr bwMode="auto">
          <a:xfrm>
            <a:off x="4318767" y="3792533"/>
            <a:ext cx="2270" cy="22415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2" name="Line 127"/>
          <p:cNvSpPr>
            <a:spLocks noChangeShapeType="1"/>
          </p:cNvSpPr>
          <p:nvPr/>
        </p:nvSpPr>
        <p:spPr bwMode="auto">
          <a:xfrm>
            <a:off x="4299716" y="6033459"/>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3" name="Line 128"/>
          <p:cNvSpPr>
            <a:spLocks noChangeShapeType="1"/>
          </p:cNvSpPr>
          <p:nvPr/>
        </p:nvSpPr>
        <p:spPr bwMode="auto">
          <a:xfrm>
            <a:off x="4299716" y="5871534"/>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4" name="Line 129"/>
          <p:cNvSpPr>
            <a:spLocks noChangeShapeType="1"/>
          </p:cNvSpPr>
          <p:nvPr/>
        </p:nvSpPr>
        <p:spPr bwMode="auto">
          <a:xfrm>
            <a:off x="4299716" y="5711198"/>
            <a:ext cx="27237"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5" name="Line 130"/>
          <p:cNvSpPr>
            <a:spLocks noChangeShapeType="1"/>
          </p:cNvSpPr>
          <p:nvPr/>
        </p:nvSpPr>
        <p:spPr bwMode="auto">
          <a:xfrm>
            <a:off x="4299716" y="5549273"/>
            <a:ext cx="27237"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6" name="Line 131"/>
          <p:cNvSpPr>
            <a:spLocks noChangeShapeType="1"/>
          </p:cNvSpPr>
          <p:nvPr/>
        </p:nvSpPr>
        <p:spPr bwMode="auto">
          <a:xfrm>
            <a:off x="4299716" y="5388934"/>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7" name="Line 132"/>
          <p:cNvSpPr>
            <a:spLocks noChangeShapeType="1"/>
          </p:cNvSpPr>
          <p:nvPr/>
        </p:nvSpPr>
        <p:spPr bwMode="auto">
          <a:xfrm>
            <a:off x="4299716" y="5227009"/>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8" name="Line 133"/>
          <p:cNvSpPr>
            <a:spLocks noChangeShapeType="1"/>
          </p:cNvSpPr>
          <p:nvPr/>
        </p:nvSpPr>
        <p:spPr bwMode="auto">
          <a:xfrm>
            <a:off x="4299716" y="5071434"/>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9" name="Line 134"/>
          <p:cNvSpPr>
            <a:spLocks noChangeShapeType="1"/>
          </p:cNvSpPr>
          <p:nvPr/>
        </p:nvSpPr>
        <p:spPr bwMode="auto">
          <a:xfrm>
            <a:off x="4299716" y="4911098"/>
            <a:ext cx="27237"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0" name="Line 135"/>
          <p:cNvSpPr>
            <a:spLocks noChangeShapeType="1"/>
          </p:cNvSpPr>
          <p:nvPr/>
        </p:nvSpPr>
        <p:spPr bwMode="auto">
          <a:xfrm>
            <a:off x="4299716" y="4749173"/>
            <a:ext cx="27237" cy="22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1" name="Line 136"/>
          <p:cNvSpPr>
            <a:spLocks noChangeShapeType="1"/>
          </p:cNvSpPr>
          <p:nvPr/>
        </p:nvSpPr>
        <p:spPr bwMode="auto">
          <a:xfrm>
            <a:off x="4299716" y="4588834"/>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2" name="Line 137"/>
          <p:cNvSpPr>
            <a:spLocks noChangeShapeType="1"/>
          </p:cNvSpPr>
          <p:nvPr/>
        </p:nvSpPr>
        <p:spPr bwMode="auto">
          <a:xfrm>
            <a:off x="4299716" y="4426909"/>
            <a:ext cx="27237"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3" name="Line 138"/>
          <p:cNvSpPr>
            <a:spLocks noChangeShapeType="1"/>
          </p:cNvSpPr>
          <p:nvPr/>
        </p:nvSpPr>
        <p:spPr bwMode="auto">
          <a:xfrm>
            <a:off x="4318766" y="6033459"/>
            <a:ext cx="2725951" cy="221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4" name="Line 139"/>
          <p:cNvSpPr>
            <a:spLocks noChangeShapeType="1"/>
          </p:cNvSpPr>
          <p:nvPr/>
        </p:nvSpPr>
        <p:spPr bwMode="auto">
          <a:xfrm flipV="1">
            <a:off x="4318767"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5" name="Line 140"/>
          <p:cNvSpPr>
            <a:spLocks noChangeShapeType="1"/>
          </p:cNvSpPr>
          <p:nvPr/>
        </p:nvSpPr>
        <p:spPr bwMode="auto">
          <a:xfrm flipV="1">
            <a:off x="4510855" y="6025929"/>
            <a:ext cx="2269"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6" name="Line 141"/>
          <p:cNvSpPr>
            <a:spLocks noChangeShapeType="1"/>
          </p:cNvSpPr>
          <p:nvPr/>
        </p:nvSpPr>
        <p:spPr bwMode="auto">
          <a:xfrm flipV="1">
            <a:off x="4696592"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7" name="Line 142"/>
          <p:cNvSpPr>
            <a:spLocks noChangeShapeType="1"/>
          </p:cNvSpPr>
          <p:nvPr/>
        </p:nvSpPr>
        <p:spPr bwMode="auto">
          <a:xfrm flipV="1">
            <a:off x="4890267"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8" name="Line 143"/>
          <p:cNvSpPr>
            <a:spLocks noChangeShapeType="1"/>
          </p:cNvSpPr>
          <p:nvPr/>
        </p:nvSpPr>
        <p:spPr bwMode="auto">
          <a:xfrm flipV="1">
            <a:off x="5082355" y="6025929"/>
            <a:ext cx="2269"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9" name="Line 144"/>
          <p:cNvSpPr>
            <a:spLocks noChangeShapeType="1"/>
          </p:cNvSpPr>
          <p:nvPr/>
        </p:nvSpPr>
        <p:spPr bwMode="auto">
          <a:xfrm flipV="1">
            <a:off x="5274442"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0" name="Line 145"/>
          <p:cNvSpPr>
            <a:spLocks noChangeShapeType="1"/>
          </p:cNvSpPr>
          <p:nvPr/>
        </p:nvSpPr>
        <p:spPr bwMode="auto">
          <a:xfrm flipV="1">
            <a:off x="5461767"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1" name="Line 146"/>
          <p:cNvSpPr>
            <a:spLocks noChangeShapeType="1"/>
          </p:cNvSpPr>
          <p:nvPr/>
        </p:nvSpPr>
        <p:spPr bwMode="auto">
          <a:xfrm flipV="1">
            <a:off x="5653855" y="6025929"/>
            <a:ext cx="2269"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2" name="Line 147"/>
          <p:cNvSpPr>
            <a:spLocks noChangeShapeType="1"/>
          </p:cNvSpPr>
          <p:nvPr/>
        </p:nvSpPr>
        <p:spPr bwMode="auto">
          <a:xfrm flipV="1">
            <a:off x="5845942"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3" name="Line 148"/>
          <p:cNvSpPr>
            <a:spLocks noChangeShapeType="1"/>
          </p:cNvSpPr>
          <p:nvPr/>
        </p:nvSpPr>
        <p:spPr bwMode="auto">
          <a:xfrm flipV="1">
            <a:off x="6033267" y="6025929"/>
            <a:ext cx="2270"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4" name="Line 149"/>
          <p:cNvSpPr>
            <a:spLocks noChangeShapeType="1"/>
          </p:cNvSpPr>
          <p:nvPr/>
        </p:nvSpPr>
        <p:spPr bwMode="auto">
          <a:xfrm flipV="1">
            <a:off x="6225355" y="6025929"/>
            <a:ext cx="2269" cy="2879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5" name="Freeform 150"/>
          <p:cNvSpPr>
            <a:spLocks/>
          </p:cNvSpPr>
          <p:nvPr/>
        </p:nvSpPr>
        <p:spPr bwMode="auto">
          <a:xfrm>
            <a:off x="4844230" y="4989004"/>
            <a:ext cx="129374" cy="130682"/>
          </a:xfrm>
          <a:custGeom>
            <a:avLst/>
            <a:gdLst>
              <a:gd name="T0" fmla="*/ 46037 w 57"/>
              <a:gd name="T1" fmla="*/ 0 h 59"/>
              <a:gd name="T2" fmla="*/ 90487 w 57"/>
              <a:gd name="T3" fmla="*/ 46037 h 59"/>
              <a:gd name="T4" fmla="*/ 46037 w 57"/>
              <a:gd name="T5" fmla="*/ 93662 h 59"/>
              <a:gd name="T6" fmla="*/ 0 w 57"/>
              <a:gd name="T7" fmla="*/ 46037 h 59"/>
              <a:gd name="T8" fmla="*/ 46037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headEnd/>
            <a:tailEnd/>
          </a:ln>
        </p:spPr>
        <p:txBody>
          <a:bodyPr/>
          <a:lstStyle/>
          <a:p>
            <a:endParaRPr lang="en-US" dirty="0"/>
          </a:p>
        </p:txBody>
      </p:sp>
      <p:sp>
        <p:nvSpPr>
          <p:cNvPr id="136" name="Freeform 151"/>
          <p:cNvSpPr>
            <a:spLocks/>
          </p:cNvSpPr>
          <p:nvPr/>
        </p:nvSpPr>
        <p:spPr bwMode="auto">
          <a:xfrm>
            <a:off x="5609404" y="5466840"/>
            <a:ext cx="127105" cy="130685"/>
          </a:xfrm>
          <a:custGeom>
            <a:avLst/>
            <a:gdLst>
              <a:gd name="T0" fmla="*/ 44450 w 56"/>
              <a:gd name="T1" fmla="*/ 0 h 59"/>
              <a:gd name="T2" fmla="*/ 88900 w 56"/>
              <a:gd name="T3" fmla="*/ 46038 h 59"/>
              <a:gd name="T4" fmla="*/ 44450 w 56"/>
              <a:gd name="T5" fmla="*/ 93663 h 59"/>
              <a:gd name="T6" fmla="*/ 0 w 56"/>
              <a:gd name="T7" fmla="*/ 46038 h 59"/>
              <a:gd name="T8" fmla="*/ 44450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29"/>
                </a:lnTo>
                <a:lnTo>
                  <a:pt x="28" y="59"/>
                </a:lnTo>
                <a:lnTo>
                  <a:pt x="0" y="29"/>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137" name="Freeform 152"/>
          <p:cNvSpPr>
            <a:spLocks/>
          </p:cNvSpPr>
          <p:nvPr/>
        </p:nvSpPr>
        <p:spPr bwMode="auto">
          <a:xfrm>
            <a:off x="5037904" y="4827079"/>
            <a:ext cx="127105" cy="130682"/>
          </a:xfrm>
          <a:custGeom>
            <a:avLst/>
            <a:gdLst>
              <a:gd name="T0" fmla="*/ 44450 w 56"/>
              <a:gd name="T1" fmla="*/ 0 h 59"/>
              <a:gd name="T2" fmla="*/ 88900 w 56"/>
              <a:gd name="T3" fmla="*/ 47625 h 59"/>
              <a:gd name="T4" fmla="*/ 44450 w 56"/>
              <a:gd name="T5" fmla="*/ 93662 h 59"/>
              <a:gd name="T6" fmla="*/ 0 w 56"/>
              <a:gd name="T7" fmla="*/ 47625 h 59"/>
              <a:gd name="T8" fmla="*/ 44450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30"/>
                </a:lnTo>
                <a:lnTo>
                  <a:pt x="28" y="59"/>
                </a:lnTo>
                <a:lnTo>
                  <a:pt x="0" y="30"/>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138" name="Freeform 153"/>
          <p:cNvSpPr>
            <a:spLocks/>
          </p:cNvSpPr>
          <p:nvPr/>
        </p:nvSpPr>
        <p:spPr bwMode="auto">
          <a:xfrm>
            <a:off x="4844230" y="4666740"/>
            <a:ext cx="129374" cy="130685"/>
          </a:xfrm>
          <a:custGeom>
            <a:avLst/>
            <a:gdLst>
              <a:gd name="T0" fmla="*/ 46037 w 57"/>
              <a:gd name="T1" fmla="*/ 0 h 59"/>
              <a:gd name="T2" fmla="*/ 90487 w 57"/>
              <a:gd name="T3" fmla="*/ 46038 h 59"/>
              <a:gd name="T4" fmla="*/ 46037 w 57"/>
              <a:gd name="T5" fmla="*/ 93663 h 59"/>
              <a:gd name="T6" fmla="*/ 0 w 57"/>
              <a:gd name="T7" fmla="*/ 46038 h 59"/>
              <a:gd name="T8" fmla="*/ 46037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headEnd/>
            <a:tailEnd/>
          </a:ln>
        </p:spPr>
        <p:txBody>
          <a:bodyPr/>
          <a:lstStyle/>
          <a:p>
            <a:endParaRPr lang="en-US" dirty="0"/>
          </a:p>
        </p:txBody>
      </p:sp>
      <p:sp>
        <p:nvSpPr>
          <p:cNvPr id="139" name="Freeform 154"/>
          <p:cNvSpPr>
            <a:spLocks/>
          </p:cNvSpPr>
          <p:nvPr/>
        </p:nvSpPr>
        <p:spPr bwMode="auto">
          <a:xfrm>
            <a:off x="5801491" y="5148712"/>
            <a:ext cx="129376" cy="132899"/>
          </a:xfrm>
          <a:custGeom>
            <a:avLst/>
            <a:gdLst>
              <a:gd name="T0" fmla="*/ 44450 w 57"/>
              <a:gd name="T1" fmla="*/ 0 h 60"/>
              <a:gd name="T2" fmla="*/ 90488 w 57"/>
              <a:gd name="T3" fmla="*/ 47625 h 60"/>
              <a:gd name="T4" fmla="*/ 44450 w 57"/>
              <a:gd name="T5" fmla="*/ 95250 h 60"/>
              <a:gd name="T6" fmla="*/ 0 w 57"/>
              <a:gd name="T7" fmla="*/ 47625 h 60"/>
              <a:gd name="T8" fmla="*/ 44450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140" name="Freeform 155"/>
          <p:cNvSpPr>
            <a:spLocks/>
          </p:cNvSpPr>
          <p:nvPr/>
        </p:nvSpPr>
        <p:spPr bwMode="auto">
          <a:xfrm>
            <a:off x="5037904" y="5148712"/>
            <a:ext cx="127105" cy="132899"/>
          </a:xfrm>
          <a:custGeom>
            <a:avLst/>
            <a:gdLst>
              <a:gd name="T0" fmla="*/ 44450 w 56"/>
              <a:gd name="T1" fmla="*/ 0 h 60"/>
              <a:gd name="T2" fmla="*/ 88900 w 56"/>
              <a:gd name="T3" fmla="*/ 47625 h 60"/>
              <a:gd name="T4" fmla="*/ 44450 w 56"/>
              <a:gd name="T5" fmla="*/ 95250 h 60"/>
              <a:gd name="T6" fmla="*/ 0 w 56"/>
              <a:gd name="T7" fmla="*/ 47625 h 60"/>
              <a:gd name="T8" fmla="*/ 44450 w 56"/>
              <a:gd name="T9" fmla="*/ 0 h 60"/>
              <a:gd name="T10" fmla="*/ 0 60000 65536"/>
              <a:gd name="T11" fmla="*/ 0 60000 65536"/>
              <a:gd name="T12" fmla="*/ 0 60000 65536"/>
              <a:gd name="T13" fmla="*/ 0 60000 65536"/>
              <a:gd name="T14" fmla="*/ 0 60000 65536"/>
              <a:gd name="T15" fmla="*/ 0 w 56"/>
              <a:gd name="T16" fmla="*/ 0 h 60"/>
              <a:gd name="T17" fmla="*/ 56 w 56"/>
              <a:gd name="T18" fmla="*/ 60 h 60"/>
            </a:gdLst>
            <a:ahLst/>
            <a:cxnLst>
              <a:cxn ang="T10">
                <a:pos x="T0" y="T1"/>
              </a:cxn>
              <a:cxn ang="T11">
                <a:pos x="T2" y="T3"/>
              </a:cxn>
              <a:cxn ang="T12">
                <a:pos x="T4" y="T5"/>
              </a:cxn>
              <a:cxn ang="T13">
                <a:pos x="T6" y="T7"/>
              </a:cxn>
              <a:cxn ang="T14">
                <a:pos x="T8" y="T9"/>
              </a:cxn>
            </a:cxnLst>
            <a:rect l="T15" t="T16" r="T17" b="T18"/>
            <a:pathLst>
              <a:path w="56" h="60">
                <a:moveTo>
                  <a:pt x="28" y="0"/>
                </a:moveTo>
                <a:lnTo>
                  <a:pt x="56" y="30"/>
                </a:lnTo>
                <a:lnTo>
                  <a:pt x="28" y="60"/>
                </a:lnTo>
                <a:lnTo>
                  <a:pt x="0" y="30"/>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141" name="Freeform 156"/>
          <p:cNvSpPr>
            <a:spLocks/>
          </p:cNvSpPr>
          <p:nvPr/>
        </p:nvSpPr>
        <p:spPr bwMode="auto">
          <a:xfrm>
            <a:off x="5229991" y="5789104"/>
            <a:ext cx="129376" cy="130682"/>
          </a:xfrm>
          <a:custGeom>
            <a:avLst/>
            <a:gdLst>
              <a:gd name="T0" fmla="*/ 44450 w 57"/>
              <a:gd name="T1" fmla="*/ 0 h 59"/>
              <a:gd name="T2" fmla="*/ 90488 w 57"/>
              <a:gd name="T3" fmla="*/ 46037 h 59"/>
              <a:gd name="T4" fmla="*/ 44450 w 57"/>
              <a:gd name="T5" fmla="*/ 93662 h 59"/>
              <a:gd name="T6" fmla="*/ 0 w 57"/>
              <a:gd name="T7" fmla="*/ 46037 h 59"/>
              <a:gd name="T8" fmla="*/ 44450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8" y="0"/>
                </a:moveTo>
                <a:lnTo>
                  <a:pt x="57" y="29"/>
                </a:lnTo>
                <a:lnTo>
                  <a:pt x="28" y="59"/>
                </a:lnTo>
                <a:lnTo>
                  <a:pt x="0" y="29"/>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142" name="Freeform 157"/>
          <p:cNvSpPr>
            <a:spLocks/>
          </p:cNvSpPr>
          <p:nvPr/>
        </p:nvSpPr>
        <p:spPr bwMode="auto">
          <a:xfrm>
            <a:off x="5229991" y="5148712"/>
            <a:ext cx="129376" cy="132899"/>
          </a:xfrm>
          <a:custGeom>
            <a:avLst/>
            <a:gdLst>
              <a:gd name="T0" fmla="*/ 44450 w 57"/>
              <a:gd name="T1" fmla="*/ 0 h 60"/>
              <a:gd name="T2" fmla="*/ 90488 w 57"/>
              <a:gd name="T3" fmla="*/ 47625 h 60"/>
              <a:gd name="T4" fmla="*/ 44450 w 57"/>
              <a:gd name="T5" fmla="*/ 95250 h 60"/>
              <a:gd name="T6" fmla="*/ 0 w 57"/>
              <a:gd name="T7" fmla="*/ 47625 h 60"/>
              <a:gd name="T8" fmla="*/ 44450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143" name="Rectangle 158"/>
          <p:cNvSpPr>
            <a:spLocks noChangeArrowheads="1"/>
          </p:cNvSpPr>
          <p:nvPr/>
        </p:nvSpPr>
        <p:spPr bwMode="auto">
          <a:xfrm>
            <a:off x="4228279" y="594915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0</a:t>
            </a:r>
            <a:endParaRPr lang="ko-KR" altLang="en-US">
              <a:latin typeface="Tahoma" pitchFamily="34" charset="0"/>
              <a:ea typeface="Gulim" pitchFamily="34" charset="-127"/>
            </a:endParaRPr>
          </a:p>
        </p:txBody>
      </p:sp>
      <p:sp>
        <p:nvSpPr>
          <p:cNvPr id="144" name="Rectangle 159"/>
          <p:cNvSpPr>
            <a:spLocks noChangeArrowheads="1"/>
          </p:cNvSpPr>
          <p:nvPr/>
        </p:nvSpPr>
        <p:spPr bwMode="auto">
          <a:xfrm>
            <a:off x="4228279" y="5788817"/>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1</a:t>
            </a:r>
            <a:endParaRPr lang="ko-KR" altLang="en-US">
              <a:latin typeface="Tahoma" pitchFamily="34" charset="0"/>
              <a:ea typeface="Gulim" pitchFamily="34" charset="-127"/>
            </a:endParaRPr>
          </a:p>
        </p:txBody>
      </p:sp>
      <p:sp>
        <p:nvSpPr>
          <p:cNvPr id="145" name="Rectangle 160"/>
          <p:cNvSpPr>
            <a:spLocks noChangeArrowheads="1"/>
          </p:cNvSpPr>
          <p:nvPr/>
        </p:nvSpPr>
        <p:spPr bwMode="auto">
          <a:xfrm>
            <a:off x="4228279" y="5626892"/>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2</a:t>
            </a:r>
            <a:endParaRPr lang="ko-KR" altLang="en-US">
              <a:latin typeface="Tahoma" pitchFamily="34" charset="0"/>
              <a:ea typeface="Gulim" pitchFamily="34" charset="-127"/>
            </a:endParaRPr>
          </a:p>
        </p:txBody>
      </p:sp>
      <p:sp>
        <p:nvSpPr>
          <p:cNvPr id="146" name="Rectangle 161"/>
          <p:cNvSpPr>
            <a:spLocks noChangeArrowheads="1"/>
          </p:cNvSpPr>
          <p:nvPr/>
        </p:nvSpPr>
        <p:spPr bwMode="auto">
          <a:xfrm>
            <a:off x="4228279" y="546655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3</a:t>
            </a:r>
            <a:endParaRPr lang="ko-KR" altLang="en-US">
              <a:latin typeface="Tahoma" pitchFamily="34" charset="0"/>
              <a:ea typeface="Gulim" pitchFamily="34" charset="-127"/>
            </a:endParaRPr>
          </a:p>
        </p:txBody>
      </p:sp>
      <p:sp>
        <p:nvSpPr>
          <p:cNvPr id="147" name="Rectangle 162"/>
          <p:cNvSpPr>
            <a:spLocks noChangeArrowheads="1"/>
          </p:cNvSpPr>
          <p:nvPr/>
        </p:nvSpPr>
        <p:spPr bwMode="auto">
          <a:xfrm>
            <a:off x="4228279" y="5304629"/>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4</a:t>
            </a:r>
            <a:endParaRPr lang="ko-KR" altLang="en-US">
              <a:latin typeface="Tahoma" pitchFamily="34" charset="0"/>
              <a:ea typeface="Gulim" pitchFamily="34" charset="-127"/>
            </a:endParaRPr>
          </a:p>
        </p:txBody>
      </p:sp>
      <p:sp>
        <p:nvSpPr>
          <p:cNvPr id="148" name="Rectangle 163"/>
          <p:cNvSpPr>
            <a:spLocks noChangeArrowheads="1"/>
          </p:cNvSpPr>
          <p:nvPr/>
        </p:nvSpPr>
        <p:spPr bwMode="auto">
          <a:xfrm>
            <a:off x="4228279" y="51427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5</a:t>
            </a:r>
            <a:endParaRPr lang="ko-KR" altLang="en-US">
              <a:latin typeface="Tahoma" pitchFamily="34" charset="0"/>
              <a:ea typeface="Gulim" pitchFamily="34" charset="-127"/>
            </a:endParaRPr>
          </a:p>
        </p:txBody>
      </p:sp>
      <p:sp>
        <p:nvSpPr>
          <p:cNvPr id="149" name="Rectangle 164"/>
          <p:cNvSpPr>
            <a:spLocks noChangeArrowheads="1"/>
          </p:cNvSpPr>
          <p:nvPr/>
        </p:nvSpPr>
        <p:spPr bwMode="auto">
          <a:xfrm>
            <a:off x="4228279" y="4988717"/>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6</a:t>
            </a:r>
            <a:endParaRPr lang="ko-KR" altLang="en-US">
              <a:latin typeface="Tahoma" pitchFamily="34" charset="0"/>
              <a:ea typeface="Gulim" pitchFamily="34" charset="-127"/>
            </a:endParaRPr>
          </a:p>
        </p:txBody>
      </p:sp>
      <p:sp>
        <p:nvSpPr>
          <p:cNvPr id="150" name="Rectangle 165"/>
          <p:cNvSpPr>
            <a:spLocks noChangeArrowheads="1"/>
          </p:cNvSpPr>
          <p:nvPr/>
        </p:nvSpPr>
        <p:spPr bwMode="auto">
          <a:xfrm>
            <a:off x="4228279" y="4826792"/>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7</a:t>
            </a:r>
            <a:endParaRPr lang="ko-KR" altLang="en-US">
              <a:latin typeface="Tahoma" pitchFamily="34" charset="0"/>
              <a:ea typeface="Gulim" pitchFamily="34" charset="-127"/>
            </a:endParaRPr>
          </a:p>
        </p:txBody>
      </p:sp>
      <p:sp>
        <p:nvSpPr>
          <p:cNvPr id="151" name="Rectangle 166"/>
          <p:cNvSpPr>
            <a:spLocks noChangeArrowheads="1"/>
          </p:cNvSpPr>
          <p:nvPr/>
        </p:nvSpPr>
        <p:spPr bwMode="auto">
          <a:xfrm>
            <a:off x="4228279" y="466645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8</a:t>
            </a:r>
            <a:endParaRPr lang="ko-KR" altLang="en-US">
              <a:latin typeface="Tahoma" pitchFamily="34" charset="0"/>
              <a:ea typeface="Gulim" pitchFamily="34" charset="-127"/>
            </a:endParaRPr>
          </a:p>
        </p:txBody>
      </p:sp>
      <p:sp>
        <p:nvSpPr>
          <p:cNvPr id="152" name="Rectangle 167"/>
          <p:cNvSpPr>
            <a:spLocks noChangeArrowheads="1"/>
          </p:cNvSpPr>
          <p:nvPr/>
        </p:nvSpPr>
        <p:spPr bwMode="auto">
          <a:xfrm>
            <a:off x="4228279" y="4504529"/>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9</a:t>
            </a:r>
            <a:endParaRPr lang="ko-KR" altLang="en-US">
              <a:latin typeface="Tahoma" pitchFamily="34" charset="0"/>
              <a:ea typeface="Gulim" pitchFamily="34" charset="-127"/>
            </a:endParaRPr>
          </a:p>
        </p:txBody>
      </p:sp>
      <p:sp>
        <p:nvSpPr>
          <p:cNvPr id="153" name="Rectangle 168"/>
          <p:cNvSpPr>
            <a:spLocks noChangeArrowheads="1"/>
          </p:cNvSpPr>
          <p:nvPr/>
        </p:nvSpPr>
        <p:spPr bwMode="auto">
          <a:xfrm>
            <a:off x="4190180" y="4342604"/>
            <a:ext cx="165690"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10</a:t>
            </a:r>
            <a:endParaRPr lang="ko-KR" altLang="en-US">
              <a:latin typeface="Tahoma" pitchFamily="34" charset="0"/>
              <a:ea typeface="Gulim" pitchFamily="34" charset="-127"/>
            </a:endParaRPr>
          </a:p>
        </p:txBody>
      </p:sp>
      <p:sp>
        <p:nvSpPr>
          <p:cNvPr id="154" name="Rectangle 169"/>
          <p:cNvSpPr>
            <a:spLocks noChangeArrowheads="1"/>
          </p:cNvSpPr>
          <p:nvPr/>
        </p:nvSpPr>
        <p:spPr bwMode="auto">
          <a:xfrm>
            <a:off x="4299716"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0</a:t>
            </a:r>
            <a:endParaRPr lang="ko-KR" altLang="en-US">
              <a:latin typeface="Tahoma" pitchFamily="34" charset="0"/>
              <a:ea typeface="Gulim" pitchFamily="34" charset="-127"/>
            </a:endParaRPr>
          </a:p>
        </p:txBody>
      </p:sp>
      <p:sp>
        <p:nvSpPr>
          <p:cNvPr id="155" name="Rectangle 170"/>
          <p:cNvSpPr>
            <a:spLocks noChangeArrowheads="1"/>
          </p:cNvSpPr>
          <p:nvPr/>
        </p:nvSpPr>
        <p:spPr bwMode="auto">
          <a:xfrm>
            <a:off x="4491804"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1</a:t>
            </a:r>
            <a:endParaRPr lang="ko-KR" altLang="en-US">
              <a:latin typeface="Tahoma" pitchFamily="34" charset="0"/>
              <a:ea typeface="Gulim" pitchFamily="34" charset="-127"/>
            </a:endParaRPr>
          </a:p>
        </p:txBody>
      </p:sp>
      <p:sp>
        <p:nvSpPr>
          <p:cNvPr id="156" name="Rectangle 171"/>
          <p:cNvSpPr>
            <a:spLocks noChangeArrowheads="1"/>
          </p:cNvSpPr>
          <p:nvPr/>
        </p:nvSpPr>
        <p:spPr bwMode="auto">
          <a:xfrm>
            <a:off x="4677541"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2</a:t>
            </a:r>
            <a:endParaRPr lang="ko-KR" altLang="en-US">
              <a:latin typeface="Tahoma" pitchFamily="34" charset="0"/>
              <a:ea typeface="Gulim" pitchFamily="34" charset="-127"/>
            </a:endParaRPr>
          </a:p>
        </p:txBody>
      </p:sp>
      <p:sp>
        <p:nvSpPr>
          <p:cNvPr id="157" name="Rectangle 172"/>
          <p:cNvSpPr>
            <a:spLocks noChangeArrowheads="1"/>
          </p:cNvSpPr>
          <p:nvPr/>
        </p:nvSpPr>
        <p:spPr bwMode="auto">
          <a:xfrm>
            <a:off x="4871216"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3</a:t>
            </a:r>
            <a:endParaRPr lang="ko-KR" altLang="en-US">
              <a:latin typeface="Tahoma" pitchFamily="34" charset="0"/>
              <a:ea typeface="Gulim" pitchFamily="34" charset="-127"/>
            </a:endParaRPr>
          </a:p>
        </p:txBody>
      </p:sp>
      <p:sp>
        <p:nvSpPr>
          <p:cNvPr id="158" name="Rectangle 173"/>
          <p:cNvSpPr>
            <a:spLocks noChangeArrowheads="1"/>
          </p:cNvSpPr>
          <p:nvPr/>
        </p:nvSpPr>
        <p:spPr bwMode="auto">
          <a:xfrm>
            <a:off x="5063304"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4</a:t>
            </a:r>
            <a:endParaRPr lang="ko-KR" altLang="en-US">
              <a:latin typeface="Tahoma" pitchFamily="34" charset="0"/>
              <a:ea typeface="Gulim" pitchFamily="34" charset="-127"/>
            </a:endParaRPr>
          </a:p>
        </p:txBody>
      </p:sp>
      <p:sp>
        <p:nvSpPr>
          <p:cNvPr id="159" name="Rectangle 174"/>
          <p:cNvSpPr>
            <a:spLocks noChangeArrowheads="1"/>
          </p:cNvSpPr>
          <p:nvPr/>
        </p:nvSpPr>
        <p:spPr bwMode="auto">
          <a:xfrm>
            <a:off x="5255391"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5</a:t>
            </a:r>
            <a:endParaRPr lang="ko-KR" altLang="en-US">
              <a:latin typeface="Tahoma" pitchFamily="34" charset="0"/>
              <a:ea typeface="Gulim" pitchFamily="34" charset="-127"/>
            </a:endParaRPr>
          </a:p>
        </p:txBody>
      </p:sp>
      <p:sp>
        <p:nvSpPr>
          <p:cNvPr id="160" name="Rectangle 175"/>
          <p:cNvSpPr>
            <a:spLocks noChangeArrowheads="1"/>
          </p:cNvSpPr>
          <p:nvPr/>
        </p:nvSpPr>
        <p:spPr bwMode="auto">
          <a:xfrm>
            <a:off x="5442716"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6</a:t>
            </a:r>
            <a:endParaRPr lang="ko-KR" altLang="en-US">
              <a:latin typeface="Tahoma" pitchFamily="34" charset="0"/>
              <a:ea typeface="Gulim" pitchFamily="34" charset="-127"/>
            </a:endParaRPr>
          </a:p>
        </p:txBody>
      </p:sp>
      <p:sp>
        <p:nvSpPr>
          <p:cNvPr id="161" name="Rectangle 176"/>
          <p:cNvSpPr>
            <a:spLocks noChangeArrowheads="1"/>
          </p:cNvSpPr>
          <p:nvPr/>
        </p:nvSpPr>
        <p:spPr bwMode="auto">
          <a:xfrm>
            <a:off x="5634804"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7</a:t>
            </a:r>
            <a:endParaRPr lang="ko-KR" altLang="en-US">
              <a:latin typeface="Tahoma" pitchFamily="34" charset="0"/>
              <a:ea typeface="Gulim" pitchFamily="34" charset="-127"/>
            </a:endParaRPr>
          </a:p>
        </p:txBody>
      </p:sp>
      <p:sp>
        <p:nvSpPr>
          <p:cNvPr id="162" name="Rectangle 177"/>
          <p:cNvSpPr>
            <a:spLocks noChangeArrowheads="1"/>
          </p:cNvSpPr>
          <p:nvPr/>
        </p:nvSpPr>
        <p:spPr bwMode="auto">
          <a:xfrm>
            <a:off x="5826891"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8</a:t>
            </a:r>
            <a:endParaRPr lang="ko-KR" altLang="en-US">
              <a:latin typeface="Tahoma" pitchFamily="34" charset="0"/>
              <a:ea typeface="Gulim" pitchFamily="34" charset="-127"/>
            </a:endParaRPr>
          </a:p>
        </p:txBody>
      </p:sp>
      <p:sp>
        <p:nvSpPr>
          <p:cNvPr id="163" name="Rectangle 178"/>
          <p:cNvSpPr>
            <a:spLocks noChangeArrowheads="1"/>
          </p:cNvSpPr>
          <p:nvPr/>
        </p:nvSpPr>
        <p:spPr bwMode="auto">
          <a:xfrm>
            <a:off x="6014216" y="6057104"/>
            <a:ext cx="9986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9</a:t>
            </a:r>
            <a:endParaRPr lang="ko-KR" altLang="en-US">
              <a:latin typeface="Tahoma" pitchFamily="34" charset="0"/>
              <a:ea typeface="Gulim" pitchFamily="34" charset="-127"/>
            </a:endParaRPr>
          </a:p>
        </p:txBody>
      </p:sp>
      <p:sp>
        <p:nvSpPr>
          <p:cNvPr id="164" name="Rectangle 179"/>
          <p:cNvSpPr>
            <a:spLocks noChangeArrowheads="1"/>
          </p:cNvSpPr>
          <p:nvPr/>
        </p:nvSpPr>
        <p:spPr bwMode="auto">
          <a:xfrm>
            <a:off x="6187255" y="6057104"/>
            <a:ext cx="165690"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eaLnBrk="1" hangingPunct="1"/>
            <a:r>
              <a:rPr lang="ko-KR" altLang="en-US" sz="600">
                <a:solidFill>
                  <a:srgbClr val="000000"/>
                </a:solidFill>
                <a:latin typeface="Arial" pitchFamily="34" charset="0"/>
                <a:ea typeface="Gulim" pitchFamily="34" charset="-127"/>
              </a:rPr>
              <a:t>10</a:t>
            </a:r>
            <a:endParaRPr lang="ko-KR" altLang="en-US">
              <a:latin typeface="Tahoma" pitchFamily="34" charset="0"/>
              <a:ea typeface="Gulim" pitchFamily="34" charset="-127"/>
            </a:endParaRPr>
          </a:p>
        </p:txBody>
      </p:sp>
      <p:sp>
        <p:nvSpPr>
          <p:cNvPr id="165" name="Rectangle 180"/>
          <p:cNvSpPr>
            <a:spLocks noChangeArrowheads="1"/>
          </p:cNvSpPr>
          <p:nvPr/>
        </p:nvSpPr>
        <p:spPr bwMode="auto">
          <a:xfrm>
            <a:off x="4238077" y="3530336"/>
            <a:ext cx="3177628" cy="2777578"/>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66" name="Freeform 186"/>
          <p:cNvSpPr>
            <a:spLocks/>
          </p:cNvSpPr>
          <p:nvPr/>
        </p:nvSpPr>
        <p:spPr bwMode="auto">
          <a:xfrm>
            <a:off x="4842641" y="5301112"/>
            <a:ext cx="127105" cy="132899"/>
          </a:xfrm>
          <a:custGeom>
            <a:avLst/>
            <a:gdLst>
              <a:gd name="T0" fmla="*/ 44450 w 56"/>
              <a:gd name="T1" fmla="*/ 0 h 60"/>
              <a:gd name="T2" fmla="*/ 88900 w 56"/>
              <a:gd name="T3" fmla="*/ 47625 h 60"/>
              <a:gd name="T4" fmla="*/ 44450 w 56"/>
              <a:gd name="T5" fmla="*/ 95250 h 60"/>
              <a:gd name="T6" fmla="*/ 0 w 56"/>
              <a:gd name="T7" fmla="*/ 47625 h 60"/>
              <a:gd name="T8" fmla="*/ 44450 w 56"/>
              <a:gd name="T9" fmla="*/ 0 h 60"/>
              <a:gd name="T10" fmla="*/ 0 60000 65536"/>
              <a:gd name="T11" fmla="*/ 0 60000 65536"/>
              <a:gd name="T12" fmla="*/ 0 60000 65536"/>
              <a:gd name="T13" fmla="*/ 0 60000 65536"/>
              <a:gd name="T14" fmla="*/ 0 60000 65536"/>
              <a:gd name="T15" fmla="*/ 0 w 56"/>
              <a:gd name="T16" fmla="*/ 0 h 60"/>
              <a:gd name="T17" fmla="*/ 56 w 56"/>
              <a:gd name="T18" fmla="*/ 60 h 60"/>
            </a:gdLst>
            <a:ahLst/>
            <a:cxnLst>
              <a:cxn ang="T10">
                <a:pos x="T0" y="T1"/>
              </a:cxn>
              <a:cxn ang="T11">
                <a:pos x="T2" y="T3"/>
              </a:cxn>
              <a:cxn ang="T12">
                <a:pos x="T4" y="T5"/>
              </a:cxn>
              <a:cxn ang="T13">
                <a:pos x="T6" y="T7"/>
              </a:cxn>
              <a:cxn ang="T14">
                <a:pos x="T8" y="T9"/>
              </a:cxn>
            </a:cxnLst>
            <a:rect l="T15" t="T16" r="T17" b="T18"/>
            <a:pathLst>
              <a:path w="56" h="60">
                <a:moveTo>
                  <a:pt x="28" y="0"/>
                </a:moveTo>
                <a:lnTo>
                  <a:pt x="56" y="30"/>
                </a:lnTo>
                <a:lnTo>
                  <a:pt x="28" y="60"/>
                </a:lnTo>
                <a:lnTo>
                  <a:pt x="0" y="30"/>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167" name="Freeform 187"/>
          <p:cNvSpPr>
            <a:spLocks/>
          </p:cNvSpPr>
          <p:nvPr/>
        </p:nvSpPr>
        <p:spPr bwMode="auto">
          <a:xfrm>
            <a:off x="5604641" y="5136640"/>
            <a:ext cx="127105" cy="130685"/>
          </a:xfrm>
          <a:custGeom>
            <a:avLst/>
            <a:gdLst>
              <a:gd name="T0" fmla="*/ 44450 w 56"/>
              <a:gd name="T1" fmla="*/ 0 h 59"/>
              <a:gd name="T2" fmla="*/ 88900 w 56"/>
              <a:gd name="T3" fmla="*/ 46038 h 59"/>
              <a:gd name="T4" fmla="*/ 44450 w 56"/>
              <a:gd name="T5" fmla="*/ 93663 h 59"/>
              <a:gd name="T6" fmla="*/ 0 w 56"/>
              <a:gd name="T7" fmla="*/ 46038 h 59"/>
              <a:gd name="T8" fmla="*/ 44450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29"/>
                </a:lnTo>
                <a:lnTo>
                  <a:pt x="28" y="59"/>
                </a:lnTo>
                <a:lnTo>
                  <a:pt x="0" y="29"/>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168" name="Oval 188"/>
          <p:cNvSpPr>
            <a:spLocks noChangeArrowheads="1"/>
          </p:cNvSpPr>
          <p:nvPr/>
        </p:nvSpPr>
        <p:spPr bwMode="auto">
          <a:xfrm>
            <a:off x="4461641" y="5432838"/>
            <a:ext cx="120297" cy="121823"/>
          </a:xfrm>
          <a:prstGeom prst="ellipse">
            <a:avLst/>
          </a:prstGeom>
          <a:solidFill>
            <a:srgbClr val="FF0000"/>
          </a:solidFill>
          <a:ln w="6350">
            <a:solidFill>
              <a:srgbClr val="FF0000"/>
            </a:solidFill>
            <a:round/>
            <a:headEnd/>
            <a:tailEnd/>
          </a:ln>
        </p:spPr>
        <p:txBody>
          <a:bodyPr/>
          <a:lstStyle/>
          <a:p>
            <a:endParaRPr lang="en-US" dirty="0"/>
          </a:p>
        </p:txBody>
      </p:sp>
      <p:sp>
        <p:nvSpPr>
          <p:cNvPr id="169" name="Oval 189"/>
          <p:cNvSpPr>
            <a:spLocks noChangeArrowheads="1"/>
          </p:cNvSpPr>
          <p:nvPr/>
        </p:nvSpPr>
        <p:spPr bwMode="auto">
          <a:xfrm>
            <a:off x="5977704" y="5280438"/>
            <a:ext cx="120295" cy="121823"/>
          </a:xfrm>
          <a:prstGeom prst="ellipse">
            <a:avLst/>
          </a:prstGeom>
          <a:solidFill>
            <a:srgbClr val="FF0000"/>
          </a:solidFill>
          <a:ln w="6350">
            <a:solidFill>
              <a:srgbClr val="FF0000"/>
            </a:solidFill>
            <a:round/>
            <a:headEnd/>
            <a:tailEnd/>
          </a:ln>
        </p:spPr>
        <p:txBody>
          <a:bodyPr/>
          <a:lstStyle/>
          <a:p>
            <a:endParaRPr lang="en-US" dirty="0"/>
          </a:p>
        </p:txBody>
      </p:sp>
    </p:spTree>
    <p:extLst>
      <p:ext uri="{BB962C8B-B14F-4D97-AF65-F5344CB8AC3E}">
        <p14:creationId xmlns:p14="http://schemas.microsoft.com/office/powerpoint/2010/main" val="23948281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22</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a:t>Step </a:t>
            </a:r>
            <a:r>
              <a:rPr lang="en-US" altLang="en-US" dirty="0" smtClean="0"/>
              <a:t>2: </a:t>
            </a:r>
            <a:r>
              <a:rPr lang="en-US" altLang="en-US" dirty="0"/>
              <a:t/>
            </a:r>
            <a:br>
              <a:rPr lang="en-US" altLang="en-US" dirty="0"/>
            </a:br>
            <a:r>
              <a:rPr lang="en-US" altLang="en-US" dirty="0"/>
              <a:t>We </a:t>
            </a:r>
            <a:r>
              <a:rPr lang="en-US" altLang="en-US" dirty="0" smtClean="0"/>
              <a:t>assign each object to the cluster formed around each centroid. </a:t>
            </a:r>
            <a:endParaRPr lang="en-US" altLang="en-US" dirty="0"/>
          </a:p>
          <a:p>
            <a:endParaRPr lang="en-US" altLang="en-US" dirty="0" smtClean="0"/>
          </a:p>
        </p:txBody>
      </p:sp>
      <p:grpSp>
        <p:nvGrpSpPr>
          <p:cNvPr id="6" name="Group 4"/>
          <p:cNvGrpSpPr>
            <a:grpSpLocks/>
          </p:cNvGrpSpPr>
          <p:nvPr/>
        </p:nvGrpSpPr>
        <p:grpSpPr bwMode="auto">
          <a:xfrm>
            <a:off x="4396209" y="2605460"/>
            <a:ext cx="3919403" cy="3439510"/>
            <a:chOff x="363" y="268"/>
            <a:chExt cx="2142" cy="1872"/>
          </a:xfrm>
        </p:grpSpPr>
        <p:graphicFrame>
          <p:nvGraphicFramePr>
            <p:cNvPr id="7" name="Object 4"/>
            <p:cNvGraphicFramePr>
              <a:graphicFrameLocks noChangeAspect="1"/>
            </p:cNvGraphicFramePr>
            <p:nvPr>
              <p:extLst>
                <p:ext uri="{D42A27DB-BD31-4B8C-83A1-F6EECF244321}">
                  <p14:modId xmlns:p14="http://schemas.microsoft.com/office/powerpoint/2010/main" val="2165734017"/>
                </p:ext>
              </p:extLst>
            </p:nvPr>
          </p:nvGraphicFramePr>
          <p:xfrm>
            <a:off x="363" y="268"/>
            <a:ext cx="2142" cy="1872"/>
          </p:xfrm>
          <a:graphic>
            <a:graphicData uri="http://schemas.openxmlformats.org/presentationml/2006/ole">
              <mc:AlternateContent xmlns:mc="http://schemas.openxmlformats.org/markup-compatibility/2006">
                <mc:Choice xmlns:v="urn:schemas-microsoft-com:vml" Requires="v">
                  <p:oleObj spid="_x0000_s4139" name="Worksheet" r:id="rId3" imgW="3400654" imgH="2915107" progId="Excel.Sheet.8">
                    <p:embed/>
                  </p:oleObj>
                </mc:Choice>
                <mc:Fallback>
                  <p:oleObj name="Worksheet" r:id="rId3" imgW="3400654" imgH="2915107" progId="Excel.Sheet.8">
                    <p:embed/>
                    <p:pic>
                      <p:nvPicPr>
                        <p:cNvPr id="0" name=""/>
                        <p:cNvPicPr>
                          <a:picLocks noRot="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 y="268"/>
                          <a:ext cx="2142" cy="187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9" name="Freeform 7"/>
            <p:cNvSpPr>
              <a:spLocks/>
            </p:cNvSpPr>
            <p:nvPr/>
          </p:nvSpPr>
          <p:spPr bwMode="auto">
            <a:xfrm>
              <a:off x="1360" y="910"/>
              <a:ext cx="768" cy="630"/>
            </a:xfrm>
            <a:custGeom>
              <a:avLst/>
              <a:gdLst>
                <a:gd name="T0" fmla="*/ 183 w 768"/>
                <a:gd name="T1" fmla="*/ 67 h 630"/>
                <a:gd name="T2" fmla="*/ 72 w 768"/>
                <a:gd name="T3" fmla="*/ 74 h 630"/>
                <a:gd name="T4" fmla="*/ 5 w 768"/>
                <a:gd name="T5" fmla="*/ 170 h 630"/>
                <a:gd name="T6" fmla="*/ 13 w 768"/>
                <a:gd name="T7" fmla="*/ 311 h 630"/>
                <a:gd name="T8" fmla="*/ 57 w 768"/>
                <a:gd name="T9" fmla="*/ 356 h 630"/>
                <a:gd name="T10" fmla="*/ 109 w 768"/>
                <a:gd name="T11" fmla="*/ 415 h 630"/>
                <a:gd name="T12" fmla="*/ 235 w 768"/>
                <a:gd name="T13" fmla="*/ 548 h 630"/>
                <a:gd name="T14" fmla="*/ 257 w 768"/>
                <a:gd name="T15" fmla="*/ 570 h 630"/>
                <a:gd name="T16" fmla="*/ 331 w 768"/>
                <a:gd name="T17" fmla="*/ 593 h 630"/>
                <a:gd name="T18" fmla="*/ 450 w 768"/>
                <a:gd name="T19" fmla="*/ 630 h 630"/>
                <a:gd name="T20" fmla="*/ 598 w 768"/>
                <a:gd name="T21" fmla="*/ 607 h 630"/>
                <a:gd name="T22" fmla="*/ 657 w 768"/>
                <a:gd name="T23" fmla="*/ 585 h 630"/>
                <a:gd name="T24" fmla="*/ 687 w 768"/>
                <a:gd name="T25" fmla="*/ 533 h 630"/>
                <a:gd name="T26" fmla="*/ 717 w 768"/>
                <a:gd name="T27" fmla="*/ 474 h 630"/>
                <a:gd name="T28" fmla="*/ 724 w 768"/>
                <a:gd name="T29" fmla="*/ 437 h 630"/>
                <a:gd name="T30" fmla="*/ 739 w 768"/>
                <a:gd name="T31" fmla="*/ 415 h 630"/>
                <a:gd name="T32" fmla="*/ 768 w 768"/>
                <a:gd name="T33" fmla="*/ 296 h 630"/>
                <a:gd name="T34" fmla="*/ 761 w 768"/>
                <a:gd name="T35" fmla="*/ 178 h 630"/>
                <a:gd name="T36" fmla="*/ 724 w 768"/>
                <a:gd name="T37" fmla="*/ 111 h 630"/>
                <a:gd name="T38" fmla="*/ 465 w 768"/>
                <a:gd name="T39" fmla="*/ 0 h 630"/>
                <a:gd name="T40" fmla="*/ 205 w 768"/>
                <a:gd name="T41" fmla="*/ 30 h 630"/>
                <a:gd name="T42" fmla="*/ 183 w 768"/>
                <a:gd name="T43" fmla="*/ 67 h 6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8"/>
                <a:gd name="T67" fmla="*/ 0 h 630"/>
                <a:gd name="T68" fmla="*/ 768 w 768"/>
                <a:gd name="T69" fmla="*/ 630 h 6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dirty="0"/>
            </a:p>
          </p:txBody>
        </p:sp>
      </p:grpSp>
      <p:sp>
        <p:nvSpPr>
          <p:cNvPr id="10" name="Freeform 194"/>
          <p:cNvSpPr>
            <a:spLocks/>
          </p:cNvSpPr>
          <p:nvPr/>
        </p:nvSpPr>
        <p:spPr bwMode="auto">
          <a:xfrm>
            <a:off x="5228349" y="3333562"/>
            <a:ext cx="1431670" cy="2372625"/>
          </a:xfrm>
          <a:custGeom>
            <a:avLst/>
            <a:gdLst>
              <a:gd name="T0" fmla="*/ 57150 w 526"/>
              <a:gd name="T1" fmla="*/ 4763 h 894"/>
              <a:gd name="T2" fmla="*/ 376237 w 526"/>
              <a:gd name="T3" fmla="*/ 19050 h 894"/>
              <a:gd name="T4" fmla="*/ 392112 w 526"/>
              <a:gd name="T5" fmla="*/ 63500 h 894"/>
              <a:gd name="T6" fmla="*/ 434975 w 526"/>
              <a:gd name="T7" fmla="*/ 92075 h 894"/>
              <a:gd name="T8" fmla="*/ 536575 w 526"/>
              <a:gd name="T9" fmla="*/ 250825 h 894"/>
              <a:gd name="T10" fmla="*/ 652462 w 526"/>
              <a:gd name="T11" fmla="*/ 860425 h 894"/>
              <a:gd name="T12" fmla="*/ 739775 w 526"/>
              <a:gd name="T13" fmla="*/ 919163 h 894"/>
              <a:gd name="T14" fmla="*/ 768350 w 526"/>
              <a:gd name="T15" fmla="*/ 1006475 h 894"/>
              <a:gd name="T16" fmla="*/ 782637 w 526"/>
              <a:gd name="T17" fmla="*/ 1136650 h 894"/>
              <a:gd name="T18" fmla="*/ 812800 w 526"/>
              <a:gd name="T19" fmla="*/ 1165225 h 894"/>
              <a:gd name="T20" fmla="*/ 798512 w 526"/>
              <a:gd name="T21" fmla="*/ 1384300 h 894"/>
              <a:gd name="T22" fmla="*/ 681037 w 526"/>
              <a:gd name="T23" fmla="*/ 1398588 h 894"/>
              <a:gd name="T24" fmla="*/ 361950 w 526"/>
              <a:gd name="T25" fmla="*/ 1384300 h 894"/>
              <a:gd name="T26" fmla="*/ 115887 w 526"/>
              <a:gd name="T27" fmla="*/ 1165225 h 894"/>
              <a:gd name="T28" fmla="*/ 71437 w 526"/>
              <a:gd name="T29" fmla="*/ 1049338 h 894"/>
              <a:gd name="T30" fmla="*/ 0 w 526"/>
              <a:gd name="T31" fmla="*/ 846138 h 894"/>
              <a:gd name="T32" fmla="*/ 14287 w 526"/>
              <a:gd name="T33" fmla="*/ 149225 h 894"/>
              <a:gd name="T34" fmla="*/ 57150 w 526"/>
              <a:gd name="T35" fmla="*/ 4763 h 89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26"/>
              <a:gd name="T55" fmla="*/ 0 h 894"/>
              <a:gd name="T56" fmla="*/ 526 w 526"/>
              <a:gd name="T57" fmla="*/ 894 h 89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26" h="894">
                <a:moveTo>
                  <a:pt x="36" y="3"/>
                </a:moveTo>
                <a:cubicBezTo>
                  <a:pt x="103" y="6"/>
                  <a:pt x="171" y="0"/>
                  <a:pt x="237" y="12"/>
                </a:cubicBezTo>
                <a:cubicBezTo>
                  <a:pt x="247" y="14"/>
                  <a:pt x="241" y="32"/>
                  <a:pt x="247" y="40"/>
                </a:cubicBezTo>
                <a:cubicBezTo>
                  <a:pt x="254" y="48"/>
                  <a:pt x="265" y="52"/>
                  <a:pt x="274" y="58"/>
                </a:cubicBezTo>
                <a:cubicBezTo>
                  <a:pt x="287" y="108"/>
                  <a:pt x="310" y="117"/>
                  <a:pt x="338" y="158"/>
                </a:cubicBezTo>
                <a:cubicBezTo>
                  <a:pt x="380" y="289"/>
                  <a:pt x="264" y="493"/>
                  <a:pt x="411" y="542"/>
                </a:cubicBezTo>
                <a:cubicBezTo>
                  <a:pt x="429" y="554"/>
                  <a:pt x="459" y="558"/>
                  <a:pt x="466" y="579"/>
                </a:cubicBezTo>
                <a:cubicBezTo>
                  <a:pt x="472" y="597"/>
                  <a:pt x="484" y="634"/>
                  <a:pt x="484" y="634"/>
                </a:cubicBezTo>
                <a:cubicBezTo>
                  <a:pt x="487" y="661"/>
                  <a:pt x="486" y="690"/>
                  <a:pt x="493" y="716"/>
                </a:cubicBezTo>
                <a:cubicBezTo>
                  <a:pt x="495" y="724"/>
                  <a:pt x="511" y="725"/>
                  <a:pt x="512" y="734"/>
                </a:cubicBezTo>
                <a:cubicBezTo>
                  <a:pt x="515" y="780"/>
                  <a:pt x="526" y="832"/>
                  <a:pt x="503" y="872"/>
                </a:cubicBezTo>
                <a:cubicBezTo>
                  <a:pt x="491" y="894"/>
                  <a:pt x="454" y="878"/>
                  <a:pt x="429" y="881"/>
                </a:cubicBezTo>
                <a:cubicBezTo>
                  <a:pt x="362" y="878"/>
                  <a:pt x="294" y="886"/>
                  <a:pt x="228" y="872"/>
                </a:cubicBezTo>
                <a:cubicBezTo>
                  <a:pt x="183" y="863"/>
                  <a:pt x="101" y="772"/>
                  <a:pt x="73" y="734"/>
                </a:cubicBezTo>
                <a:cubicBezTo>
                  <a:pt x="53" y="653"/>
                  <a:pt x="78" y="744"/>
                  <a:pt x="45" y="661"/>
                </a:cubicBezTo>
                <a:cubicBezTo>
                  <a:pt x="27" y="617"/>
                  <a:pt x="21" y="575"/>
                  <a:pt x="0" y="533"/>
                </a:cubicBezTo>
                <a:cubicBezTo>
                  <a:pt x="3" y="387"/>
                  <a:pt x="3" y="240"/>
                  <a:pt x="9" y="94"/>
                </a:cubicBezTo>
                <a:cubicBezTo>
                  <a:pt x="11" y="32"/>
                  <a:pt x="52" y="68"/>
                  <a:pt x="36" y="3"/>
                </a:cubicBezTo>
                <a:close/>
              </a:path>
            </a:pathLst>
          </a:cu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Tree>
    <p:extLst>
      <p:ext uri="{BB962C8B-B14F-4D97-AF65-F5344CB8AC3E}">
        <p14:creationId xmlns:p14="http://schemas.microsoft.com/office/powerpoint/2010/main" val="31487562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23</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Repeat Step 1: </a:t>
            </a:r>
            <a:r>
              <a:rPr lang="en-US" altLang="en-US" dirty="0"/>
              <a:t/>
            </a:r>
            <a:br>
              <a:rPr lang="en-US" altLang="en-US" dirty="0"/>
            </a:br>
            <a:r>
              <a:rPr lang="en-US" altLang="en-US" dirty="0"/>
              <a:t>We </a:t>
            </a:r>
            <a:r>
              <a:rPr lang="en-US" altLang="en-US" dirty="0" smtClean="0"/>
              <a:t>calculate </a:t>
            </a:r>
            <a:r>
              <a:rPr lang="en-US" altLang="en-US" dirty="0"/>
              <a:t>the </a:t>
            </a:r>
            <a:r>
              <a:rPr lang="en-US" altLang="en-US" dirty="0" smtClean="0"/>
              <a:t>centroid </a:t>
            </a:r>
            <a:r>
              <a:rPr lang="en-US" altLang="en-US" dirty="0"/>
              <a:t>in each </a:t>
            </a:r>
            <a:r>
              <a:rPr lang="en-US" altLang="en-US" dirty="0" smtClean="0"/>
              <a:t>cluster.</a:t>
            </a:r>
            <a:endParaRPr lang="en-US" altLang="en-US" dirty="0"/>
          </a:p>
          <a:p>
            <a:endParaRPr lang="en-US" altLang="en-US" dirty="0" smtClean="0"/>
          </a:p>
        </p:txBody>
      </p:sp>
      <p:grpSp>
        <p:nvGrpSpPr>
          <p:cNvPr id="6" name="Group 8"/>
          <p:cNvGrpSpPr>
            <a:grpSpLocks/>
          </p:cNvGrpSpPr>
          <p:nvPr/>
        </p:nvGrpSpPr>
        <p:grpSpPr bwMode="auto">
          <a:xfrm>
            <a:off x="3961744" y="2664372"/>
            <a:ext cx="3503886" cy="3216166"/>
            <a:chOff x="4144" y="1265"/>
            <a:chExt cx="1400" cy="1254"/>
          </a:xfrm>
        </p:grpSpPr>
        <p:sp>
          <p:nvSpPr>
            <p:cNvPr id="7" name="Rectangle 9"/>
            <p:cNvSpPr>
              <a:spLocks noChangeArrowheads="1"/>
            </p:cNvSpPr>
            <p:nvPr/>
          </p:nvSpPr>
          <p:spPr bwMode="auto">
            <a:xfrm>
              <a:off x="4144" y="1265"/>
              <a:ext cx="1400" cy="1254"/>
            </a:xfrm>
            <a:prstGeom prst="rect">
              <a:avLst/>
            </a:prstGeom>
            <a:solidFill>
              <a:srgbClr val="FFFFFF"/>
            </a:solidFill>
            <a:ln w="0">
              <a:solidFill>
                <a:srgbClr val="000000"/>
              </a:solidFill>
              <a:miter lim="800000"/>
              <a:headEnd/>
              <a:tailEnd/>
            </a:ln>
          </p:spPr>
          <p:txBody>
            <a:bodyPr/>
            <a:lstStyle/>
            <a:p>
              <a:endParaRPr lang="en-US" dirty="0"/>
            </a:p>
          </p:txBody>
        </p:sp>
        <p:sp>
          <p:nvSpPr>
            <p:cNvPr id="8" name="Rectangle 10"/>
            <p:cNvSpPr>
              <a:spLocks noChangeArrowheads="1"/>
            </p:cNvSpPr>
            <p:nvPr/>
          </p:nvSpPr>
          <p:spPr bwMode="auto">
            <a:xfrm>
              <a:off x="4278" y="1354"/>
              <a:ext cx="1201" cy="10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9" name="Line 11"/>
            <p:cNvSpPr>
              <a:spLocks noChangeShapeType="1"/>
            </p:cNvSpPr>
            <p:nvPr/>
          </p:nvSpPr>
          <p:spPr bwMode="auto">
            <a:xfrm>
              <a:off x="4278" y="2264"/>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0" name="Line 12"/>
            <p:cNvSpPr>
              <a:spLocks noChangeShapeType="1"/>
            </p:cNvSpPr>
            <p:nvPr/>
          </p:nvSpPr>
          <p:spPr bwMode="auto">
            <a:xfrm>
              <a:off x="4278" y="2163"/>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1" name="Line 13"/>
            <p:cNvSpPr>
              <a:spLocks noChangeShapeType="1"/>
            </p:cNvSpPr>
            <p:nvPr/>
          </p:nvSpPr>
          <p:spPr bwMode="auto">
            <a:xfrm>
              <a:off x="4278" y="2061"/>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2" name="Line 14"/>
            <p:cNvSpPr>
              <a:spLocks noChangeShapeType="1"/>
            </p:cNvSpPr>
            <p:nvPr/>
          </p:nvSpPr>
          <p:spPr bwMode="auto">
            <a:xfrm>
              <a:off x="4278" y="1960"/>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3" name="Line 15"/>
            <p:cNvSpPr>
              <a:spLocks noChangeShapeType="1"/>
            </p:cNvSpPr>
            <p:nvPr/>
          </p:nvSpPr>
          <p:spPr bwMode="auto">
            <a:xfrm>
              <a:off x="4278" y="1858"/>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4" name="Line 16"/>
            <p:cNvSpPr>
              <a:spLocks noChangeShapeType="1"/>
            </p:cNvSpPr>
            <p:nvPr/>
          </p:nvSpPr>
          <p:spPr bwMode="auto">
            <a:xfrm>
              <a:off x="4278" y="1760"/>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 name="Line 17"/>
            <p:cNvSpPr>
              <a:spLocks noChangeShapeType="1"/>
            </p:cNvSpPr>
            <p:nvPr/>
          </p:nvSpPr>
          <p:spPr bwMode="auto">
            <a:xfrm>
              <a:off x="4278" y="1659"/>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6" name="Line 18"/>
            <p:cNvSpPr>
              <a:spLocks noChangeShapeType="1"/>
            </p:cNvSpPr>
            <p:nvPr/>
          </p:nvSpPr>
          <p:spPr bwMode="auto">
            <a:xfrm>
              <a:off x="4278" y="1557"/>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 name="Line 19"/>
            <p:cNvSpPr>
              <a:spLocks noChangeShapeType="1"/>
            </p:cNvSpPr>
            <p:nvPr/>
          </p:nvSpPr>
          <p:spPr bwMode="auto">
            <a:xfrm>
              <a:off x="4278" y="1456"/>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8" name="Line 20"/>
            <p:cNvSpPr>
              <a:spLocks noChangeShapeType="1"/>
            </p:cNvSpPr>
            <p:nvPr/>
          </p:nvSpPr>
          <p:spPr bwMode="auto">
            <a:xfrm>
              <a:off x="4278" y="1354"/>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9" name="Line 21"/>
            <p:cNvSpPr>
              <a:spLocks noChangeShapeType="1"/>
            </p:cNvSpPr>
            <p:nvPr/>
          </p:nvSpPr>
          <p:spPr bwMode="auto">
            <a:xfrm>
              <a:off x="4399"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0" name="Line 22"/>
            <p:cNvSpPr>
              <a:spLocks noChangeShapeType="1"/>
            </p:cNvSpPr>
            <p:nvPr/>
          </p:nvSpPr>
          <p:spPr bwMode="auto">
            <a:xfrm>
              <a:off x="4516"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1" name="Line 23"/>
            <p:cNvSpPr>
              <a:spLocks noChangeShapeType="1"/>
            </p:cNvSpPr>
            <p:nvPr/>
          </p:nvSpPr>
          <p:spPr bwMode="auto">
            <a:xfrm>
              <a:off x="4638"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2" name="Line 24"/>
            <p:cNvSpPr>
              <a:spLocks noChangeShapeType="1"/>
            </p:cNvSpPr>
            <p:nvPr/>
          </p:nvSpPr>
          <p:spPr bwMode="auto">
            <a:xfrm>
              <a:off x="4759"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3" name="Line 25"/>
            <p:cNvSpPr>
              <a:spLocks noChangeShapeType="1"/>
            </p:cNvSpPr>
            <p:nvPr/>
          </p:nvSpPr>
          <p:spPr bwMode="auto">
            <a:xfrm>
              <a:off x="4880"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4" name="Line 26"/>
            <p:cNvSpPr>
              <a:spLocks noChangeShapeType="1"/>
            </p:cNvSpPr>
            <p:nvPr/>
          </p:nvSpPr>
          <p:spPr bwMode="auto">
            <a:xfrm>
              <a:off x="4998"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5" name="Line 27"/>
            <p:cNvSpPr>
              <a:spLocks noChangeShapeType="1"/>
            </p:cNvSpPr>
            <p:nvPr/>
          </p:nvSpPr>
          <p:spPr bwMode="auto">
            <a:xfrm>
              <a:off x="5119"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6" name="Line 28"/>
            <p:cNvSpPr>
              <a:spLocks noChangeShapeType="1"/>
            </p:cNvSpPr>
            <p:nvPr/>
          </p:nvSpPr>
          <p:spPr bwMode="auto">
            <a:xfrm>
              <a:off x="5240"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7" name="Line 29"/>
            <p:cNvSpPr>
              <a:spLocks noChangeShapeType="1"/>
            </p:cNvSpPr>
            <p:nvPr/>
          </p:nvSpPr>
          <p:spPr bwMode="auto">
            <a:xfrm>
              <a:off x="5358"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8" name="Line 30"/>
            <p:cNvSpPr>
              <a:spLocks noChangeShapeType="1"/>
            </p:cNvSpPr>
            <p:nvPr/>
          </p:nvSpPr>
          <p:spPr bwMode="auto">
            <a:xfrm>
              <a:off x="5479"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9" name="Rectangle 31"/>
            <p:cNvSpPr>
              <a:spLocks noChangeArrowheads="1"/>
            </p:cNvSpPr>
            <p:nvPr/>
          </p:nvSpPr>
          <p:spPr bwMode="auto">
            <a:xfrm>
              <a:off x="4278" y="1354"/>
              <a:ext cx="1201" cy="1012"/>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30" name="Line 32"/>
            <p:cNvSpPr>
              <a:spLocks noChangeShapeType="1"/>
            </p:cNvSpPr>
            <p:nvPr/>
          </p:nvSpPr>
          <p:spPr bwMode="auto">
            <a:xfrm>
              <a:off x="4278" y="1354"/>
              <a:ext cx="1" cy="1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1" name="Line 33"/>
            <p:cNvSpPr>
              <a:spLocks noChangeShapeType="1"/>
            </p:cNvSpPr>
            <p:nvPr/>
          </p:nvSpPr>
          <p:spPr bwMode="auto">
            <a:xfrm>
              <a:off x="4266" y="236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2" name="Line 34"/>
            <p:cNvSpPr>
              <a:spLocks noChangeShapeType="1"/>
            </p:cNvSpPr>
            <p:nvPr/>
          </p:nvSpPr>
          <p:spPr bwMode="auto">
            <a:xfrm>
              <a:off x="4266" y="226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3" name="Line 35"/>
            <p:cNvSpPr>
              <a:spLocks noChangeShapeType="1"/>
            </p:cNvSpPr>
            <p:nvPr/>
          </p:nvSpPr>
          <p:spPr bwMode="auto">
            <a:xfrm>
              <a:off x="4266" y="216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4" name="Line 36"/>
            <p:cNvSpPr>
              <a:spLocks noChangeShapeType="1"/>
            </p:cNvSpPr>
            <p:nvPr/>
          </p:nvSpPr>
          <p:spPr bwMode="auto">
            <a:xfrm>
              <a:off x="4266" y="206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5" name="Line 37"/>
            <p:cNvSpPr>
              <a:spLocks noChangeShapeType="1"/>
            </p:cNvSpPr>
            <p:nvPr/>
          </p:nvSpPr>
          <p:spPr bwMode="auto">
            <a:xfrm>
              <a:off x="4266" y="196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6" name="Line 38"/>
            <p:cNvSpPr>
              <a:spLocks noChangeShapeType="1"/>
            </p:cNvSpPr>
            <p:nvPr/>
          </p:nvSpPr>
          <p:spPr bwMode="auto">
            <a:xfrm>
              <a:off x="4266" y="185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7" name="Line 39"/>
            <p:cNvSpPr>
              <a:spLocks noChangeShapeType="1"/>
            </p:cNvSpPr>
            <p:nvPr/>
          </p:nvSpPr>
          <p:spPr bwMode="auto">
            <a:xfrm>
              <a:off x="4266" y="176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8" name="Line 40"/>
            <p:cNvSpPr>
              <a:spLocks noChangeShapeType="1"/>
            </p:cNvSpPr>
            <p:nvPr/>
          </p:nvSpPr>
          <p:spPr bwMode="auto">
            <a:xfrm>
              <a:off x="4266" y="16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39" name="Line 41"/>
            <p:cNvSpPr>
              <a:spLocks noChangeShapeType="1"/>
            </p:cNvSpPr>
            <p:nvPr/>
          </p:nvSpPr>
          <p:spPr bwMode="auto">
            <a:xfrm>
              <a:off x="4266" y="155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0" name="Line 42"/>
            <p:cNvSpPr>
              <a:spLocks noChangeShapeType="1"/>
            </p:cNvSpPr>
            <p:nvPr/>
          </p:nvSpPr>
          <p:spPr bwMode="auto">
            <a:xfrm>
              <a:off x="4266" y="145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1" name="Line 43"/>
            <p:cNvSpPr>
              <a:spLocks noChangeShapeType="1"/>
            </p:cNvSpPr>
            <p:nvPr/>
          </p:nvSpPr>
          <p:spPr bwMode="auto">
            <a:xfrm>
              <a:off x="4266" y="135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2" name="Line 44"/>
            <p:cNvSpPr>
              <a:spLocks noChangeShapeType="1"/>
            </p:cNvSpPr>
            <p:nvPr/>
          </p:nvSpPr>
          <p:spPr bwMode="auto">
            <a:xfrm>
              <a:off x="4278" y="2366"/>
              <a:ext cx="120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3" name="Line 45"/>
            <p:cNvSpPr>
              <a:spLocks noChangeShapeType="1"/>
            </p:cNvSpPr>
            <p:nvPr/>
          </p:nvSpPr>
          <p:spPr bwMode="auto">
            <a:xfrm flipV="1">
              <a:off x="4278"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4" name="Line 46"/>
            <p:cNvSpPr>
              <a:spLocks noChangeShapeType="1"/>
            </p:cNvSpPr>
            <p:nvPr/>
          </p:nvSpPr>
          <p:spPr bwMode="auto">
            <a:xfrm flipV="1">
              <a:off x="4399"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5" name="Line 47"/>
            <p:cNvSpPr>
              <a:spLocks noChangeShapeType="1"/>
            </p:cNvSpPr>
            <p:nvPr/>
          </p:nvSpPr>
          <p:spPr bwMode="auto">
            <a:xfrm flipV="1">
              <a:off x="4516"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6" name="Line 48"/>
            <p:cNvSpPr>
              <a:spLocks noChangeShapeType="1"/>
            </p:cNvSpPr>
            <p:nvPr/>
          </p:nvSpPr>
          <p:spPr bwMode="auto">
            <a:xfrm flipV="1">
              <a:off x="4638"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7" name="Line 49"/>
            <p:cNvSpPr>
              <a:spLocks noChangeShapeType="1"/>
            </p:cNvSpPr>
            <p:nvPr/>
          </p:nvSpPr>
          <p:spPr bwMode="auto">
            <a:xfrm flipV="1">
              <a:off x="4759"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8" name="Line 50"/>
            <p:cNvSpPr>
              <a:spLocks noChangeShapeType="1"/>
            </p:cNvSpPr>
            <p:nvPr/>
          </p:nvSpPr>
          <p:spPr bwMode="auto">
            <a:xfrm flipV="1">
              <a:off x="4880"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49" name="Line 51"/>
            <p:cNvSpPr>
              <a:spLocks noChangeShapeType="1"/>
            </p:cNvSpPr>
            <p:nvPr/>
          </p:nvSpPr>
          <p:spPr bwMode="auto">
            <a:xfrm flipV="1">
              <a:off x="4998"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0" name="Line 52"/>
            <p:cNvSpPr>
              <a:spLocks noChangeShapeType="1"/>
            </p:cNvSpPr>
            <p:nvPr/>
          </p:nvSpPr>
          <p:spPr bwMode="auto">
            <a:xfrm flipV="1">
              <a:off x="5119"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1" name="Line 53"/>
            <p:cNvSpPr>
              <a:spLocks noChangeShapeType="1"/>
            </p:cNvSpPr>
            <p:nvPr/>
          </p:nvSpPr>
          <p:spPr bwMode="auto">
            <a:xfrm flipV="1">
              <a:off x="5240"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2" name="Line 54"/>
            <p:cNvSpPr>
              <a:spLocks noChangeShapeType="1"/>
            </p:cNvSpPr>
            <p:nvPr/>
          </p:nvSpPr>
          <p:spPr bwMode="auto">
            <a:xfrm flipV="1">
              <a:off x="5358"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3" name="Line 55"/>
            <p:cNvSpPr>
              <a:spLocks noChangeShapeType="1"/>
            </p:cNvSpPr>
            <p:nvPr/>
          </p:nvSpPr>
          <p:spPr bwMode="auto">
            <a:xfrm flipV="1">
              <a:off x="5479" y="2366"/>
              <a:ext cx="1" cy="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54" name="Freeform 56"/>
            <p:cNvSpPr>
              <a:spLocks/>
            </p:cNvSpPr>
            <p:nvPr/>
          </p:nvSpPr>
          <p:spPr bwMode="auto">
            <a:xfrm>
              <a:off x="4609" y="1930"/>
              <a:ext cx="57" cy="59"/>
            </a:xfrm>
            <a:custGeom>
              <a:avLst/>
              <a:gdLst>
                <a:gd name="T0" fmla="*/ 29 w 57"/>
                <a:gd name="T1" fmla="*/ 0 h 59"/>
                <a:gd name="T2" fmla="*/ 57 w 57"/>
                <a:gd name="T3" fmla="*/ 30 h 59"/>
                <a:gd name="T4" fmla="*/ 29 w 57"/>
                <a:gd name="T5" fmla="*/ 59 h 59"/>
                <a:gd name="T6" fmla="*/ 0 w 57"/>
                <a:gd name="T7" fmla="*/ 30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30"/>
                  </a:lnTo>
                  <a:lnTo>
                    <a:pt x="29" y="59"/>
                  </a:lnTo>
                  <a:lnTo>
                    <a:pt x="0" y="30"/>
                  </a:lnTo>
                  <a:lnTo>
                    <a:pt x="29" y="0"/>
                  </a:lnTo>
                  <a:close/>
                </a:path>
              </a:pathLst>
            </a:custGeom>
            <a:solidFill>
              <a:srgbClr val="00FFFF"/>
            </a:solidFill>
            <a:ln w="6350">
              <a:solidFill>
                <a:srgbClr val="000080"/>
              </a:solidFill>
              <a:round/>
              <a:headEnd/>
              <a:tailEnd/>
            </a:ln>
          </p:spPr>
          <p:txBody>
            <a:bodyPr/>
            <a:lstStyle/>
            <a:p>
              <a:endParaRPr lang="en-US" dirty="0"/>
            </a:p>
          </p:txBody>
        </p:sp>
        <p:sp>
          <p:nvSpPr>
            <p:cNvPr id="55" name="Freeform 57"/>
            <p:cNvSpPr>
              <a:spLocks/>
            </p:cNvSpPr>
            <p:nvPr/>
          </p:nvSpPr>
          <p:spPr bwMode="auto">
            <a:xfrm>
              <a:off x="4609" y="1731"/>
              <a:ext cx="57" cy="59"/>
            </a:xfrm>
            <a:custGeom>
              <a:avLst/>
              <a:gdLst>
                <a:gd name="T0" fmla="*/ 29 w 57"/>
                <a:gd name="T1" fmla="*/ 0 h 59"/>
                <a:gd name="T2" fmla="*/ 57 w 57"/>
                <a:gd name="T3" fmla="*/ 29 h 59"/>
                <a:gd name="T4" fmla="*/ 29 w 57"/>
                <a:gd name="T5" fmla="*/ 59 h 59"/>
                <a:gd name="T6" fmla="*/ 0 w 57"/>
                <a:gd name="T7" fmla="*/ 29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headEnd/>
              <a:tailEnd/>
            </a:ln>
          </p:spPr>
          <p:txBody>
            <a:bodyPr/>
            <a:lstStyle/>
            <a:p>
              <a:endParaRPr lang="en-US" dirty="0"/>
            </a:p>
          </p:txBody>
        </p:sp>
        <p:sp>
          <p:nvSpPr>
            <p:cNvPr id="56" name="Freeform 58"/>
            <p:cNvSpPr>
              <a:spLocks/>
            </p:cNvSpPr>
            <p:nvPr/>
          </p:nvSpPr>
          <p:spPr bwMode="auto">
            <a:xfrm>
              <a:off x="5091" y="2032"/>
              <a:ext cx="56" cy="59"/>
            </a:xfrm>
            <a:custGeom>
              <a:avLst/>
              <a:gdLst>
                <a:gd name="T0" fmla="*/ 28 w 56"/>
                <a:gd name="T1" fmla="*/ 0 h 59"/>
                <a:gd name="T2" fmla="*/ 56 w 56"/>
                <a:gd name="T3" fmla="*/ 29 h 59"/>
                <a:gd name="T4" fmla="*/ 28 w 56"/>
                <a:gd name="T5" fmla="*/ 59 h 59"/>
                <a:gd name="T6" fmla="*/ 0 w 56"/>
                <a:gd name="T7" fmla="*/ 29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29"/>
                  </a:lnTo>
                  <a:lnTo>
                    <a:pt x="28" y="59"/>
                  </a:lnTo>
                  <a:lnTo>
                    <a:pt x="0" y="29"/>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57" name="Freeform 59"/>
            <p:cNvSpPr>
              <a:spLocks/>
            </p:cNvSpPr>
            <p:nvPr/>
          </p:nvSpPr>
          <p:spPr bwMode="auto">
            <a:xfrm>
              <a:off x="4731" y="1629"/>
              <a:ext cx="56" cy="59"/>
            </a:xfrm>
            <a:custGeom>
              <a:avLst/>
              <a:gdLst>
                <a:gd name="T0" fmla="*/ 28 w 56"/>
                <a:gd name="T1" fmla="*/ 0 h 59"/>
                <a:gd name="T2" fmla="*/ 56 w 56"/>
                <a:gd name="T3" fmla="*/ 30 h 59"/>
                <a:gd name="T4" fmla="*/ 28 w 56"/>
                <a:gd name="T5" fmla="*/ 59 h 59"/>
                <a:gd name="T6" fmla="*/ 0 w 56"/>
                <a:gd name="T7" fmla="*/ 30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30"/>
                  </a:lnTo>
                  <a:lnTo>
                    <a:pt x="28" y="59"/>
                  </a:lnTo>
                  <a:lnTo>
                    <a:pt x="0" y="30"/>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58" name="Freeform 60"/>
            <p:cNvSpPr>
              <a:spLocks/>
            </p:cNvSpPr>
            <p:nvPr/>
          </p:nvSpPr>
          <p:spPr bwMode="auto">
            <a:xfrm>
              <a:off x="4609" y="1528"/>
              <a:ext cx="57" cy="59"/>
            </a:xfrm>
            <a:custGeom>
              <a:avLst/>
              <a:gdLst>
                <a:gd name="T0" fmla="*/ 29 w 57"/>
                <a:gd name="T1" fmla="*/ 0 h 59"/>
                <a:gd name="T2" fmla="*/ 57 w 57"/>
                <a:gd name="T3" fmla="*/ 29 h 59"/>
                <a:gd name="T4" fmla="*/ 29 w 57"/>
                <a:gd name="T5" fmla="*/ 59 h 59"/>
                <a:gd name="T6" fmla="*/ 0 w 57"/>
                <a:gd name="T7" fmla="*/ 29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headEnd/>
              <a:tailEnd/>
            </a:ln>
          </p:spPr>
          <p:txBody>
            <a:bodyPr/>
            <a:lstStyle/>
            <a:p>
              <a:endParaRPr lang="en-US" dirty="0"/>
            </a:p>
          </p:txBody>
        </p:sp>
        <p:sp>
          <p:nvSpPr>
            <p:cNvPr id="59" name="Freeform 61"/>
            <p:cNvSpPr>
              <a:spLocks/>
            </p:cNvSpPr>
            <p:nvPr/>
          </p:nvSpPr>
          <p:spPr bwMode="auto">
            <a:xfrm>
              <a:off x="5212" y="1832"/>
              <a:ext cx="57" cy="60"/>
            </a:xfrm>
            <a:custGeom>
              <a:avLst/>
              <a:gdLst>
                <a:gd name="T0" fmla="*/ 28 w 57"/>
                <a:gd name="T1" fmla="*/ 0 h 60"/>
                <a:gd name="T2" fmla="*/ 57 w 57"/>
                <a:gd name="T3" fmla="*/ 30 h 60"/>
                <a:gd name="T4" fmla="*/ 28 w 57"/>
                <a:gd name="T5" fmla="*/ 60 h 60"/>
                <a:gd name="T6" fmla="*/ 0 w 57"/>
                <a:gd name="T7" fmla="*/ 30 h 60"/>
                <a:gd name="T8" fmla="*/ 28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60" name="Freeform 62"/>
            <p:cNvSpPr>
              <a:spLocks/>
            </p:cNvSpPr>
            <p:nvPr/>
          </p:nvSpPr>
          <p:spPr bwMode="auto">
            <a:xfrm>
              <a:off x="4731" y="1832"/>
              <a:ext cx="56" cy="60"/>
            </a:xfrm>
            <a:custGeom>
              <a:avLst/>
              <a:gdLst>
                <a:gd name="T0" fmla="*/ 28 w 56"/>
                <a:gd name="T1" fmla="*/ 0 h 60"/>
                <a:gd name="T2" fmla="*/ 56 w 56"/>
                <a:gd name="T3" fmla="*/ 30 h 60"/>
                <a:gd name="T4" fmla="*/ 28 w 56"/>
                <a:gd name="T5" fmla="*/ 60 h 60"/>
                <a:gd name="T6" fmla="*/ 0 w 56"/>
                <a:gd name="T7" fmla="*/ 30 h 60"/>
                <a:gd name="T8" fmla="*/ 28 w 56"/>
                <a:gd name="T9" fmla="*/ 0 h 60"/>
                <a:gd name="T10" fmla="*/ 0 60000 65536"/>
                <a:gd name="T11" fmla="*/ 0 60000 65536"/>
                <a:gd name="T12" fmla="*/ 0 60000 65536"/>
                <a:gd name="T13" fmla="*/ 0 60000 65536"/>
                <a:gd name="T14" fmla="*/ 0 60000 65536"/>
                <a:gd name="T15" fmla="*/ 0 w 56"/>
                <a:gd name="T16" fmla="*/ 0 h 60"/>
                <a:gd name="T17" fmla="*/ 56 w 56"/>
                <a:gd name="T18" fmla="*/ 60 h 60"/>
              </a:gdLst>
              <a:ahLst/>
              <a:cxnLst>
                <a:cxn ang="T10">
                  <a:pos x="T0" y="T1"/>
                </a:cxn>
                <a:cxn ang="T11">
                  <a:pos x="T2" y="T3"/>
                </a:cxn>
                <a:cxn ang="T12">
                  <a:pos x="T4" y="T5"/>
                </a:cxn>
                <a:cxn ang="T13">
                  <a:pos x="T6" y="T7"/>
                </a:cxn>
                <a:cxn ang="T14">
                  <a:pos x="T8" y="T9"/>
                </a:cxn>
              </a:cxnLst>
              <a:rect l="T15" t="T16" r="T17" b="T18"/>
              <a:pathLst>
                <a:path w="56" h="60">
                  <a:moveTo>
                    <a:pt x="28" y="0"/>
                  </a:moveTo>
                  <a:lnTo>
                    <a:pt x="56" y="30"/>
                  </a:lnTo>
                  <a:lnTo>
                    <a:pt x="28" y="60"/>
                  </a:lnTo>
                  <a:lnTo>
                    <a:pt x="0" y="30"/>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61" name="Freeform 63"/>
            <p:cNvSpPr>
              <a:spLocks/>
            </p:cNvSpPr>
            <p:nvPr/>
          </p:nvSpPr>
          <p:spPr bwMode="auto">
            <a:xfrm>
              <a:off x="4852" y="2235"/>
              <a:ext cx="57" cy="59"/>
            </a:xfrm>
            <a:custGeom>
              <a:avLst/>
              <a:gdLst>
                <a:gd name="T0" fmla="*/ 28 w 57"/>
                <a:gd name="T1" fmla="*/ 0 h 59"/>
                <a:gd name="T2" fmla="*/ 57 w 57"/>
                <a:gd name="T3" fmla="*/ 29 h 59"/>
                <a:gd name="T4" fmla="*/ 28 w 57"/>
                <a:gd name="T5" fmla="*/ 59 h 59"/>
                <a:gd name="T6" fmla="*/ 0 w 57"/>
                <a:gd name="T7" fmla="*/ 29 h 59"/>
                <a:gd name="T8" fmla="*/ 28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8" y="0"/>
                  </a:moveTo>
                  <a:lnTo>
                    <a:pt x="57" y="29"/>
                  </a:lnTo>
                  <a:lnTo>
                    <a:pt x="28" y="59"/>
                  </a:lnTo>
                  <a:lnTo>
                    <a:pt x="0" y="29"/>
                  </a:lnTo>
                  <a:lnTo>
                    <a:pt x="28" y="0"/>
                  </a:lnTo>
                  <a:close/>
                </a:path>
              </a:pathLst>
            </a:custGeom>
            <a:solidFill>
              <a:srgbClr val="00FFFF"/>
            </a:solidFill>
            <a:ln w="6350">
              <a:solidFill>
                <a:srgbClr val="000080"/>
              </a:solidFill>
              <a:round/>
              <a:headEnd/>
              <a:tailEnd/>
            </a:ln>
          </p:spPr>
          <p:txBody>
            <a:bodyPr/>
            <a:lstStyle/>
            <a:p>
              <a:endParaRPr lang="en-US" dirty="0"/>
            </a:p>
          </p:txBody>
        </p:sp>
        <p:sp>
          <p:nvSpPr>
            <p:cNvPr id="62" name="Freeform 64"/>
            <p:cNvSpPr>
              <a:spLocks/>
            </p:cNvSpPr>
            <p:nvPr/>
          </p:nvSpPr>
          <p:spPr bwMode="auto">
            <a:xfrm>
              <a:off x="5091" y="1930"/>
              <a:ext cx="56" cy="59"/>
            </a:xfrm>
            <a:custGeom>
              <a:avLst/>
              <a:gdLst>
                <a:gd name="T0" fmla="*/ 28 w 56"/>
                <a:gd name="T1" fmla="*/ 0 h 59"/>
                <a:gd name="T2" fmla="*/ 56 w 56"/>
                <a:gd name="T3" fmla="*/ 30 h 59"/>
                <a:gd name="T4" fmla="*/ 28 w 56"/>
                <a:gd name="T5" fmla="*/ 59 h 59"/>
                <a:gd name="T6" fmla="*/ 0 w 56"/>
                <a:gd name="T7" fmla="*/ 30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30"/>
                  </a:lnTo>
                  <a:lnTo>
                    <a:pt x="28" y="59"/>
                  </a:lnTo>
                  <a:lnTo>
                    <a:pt x="0" y="30"/>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63" name="Freeform 65"/>
            <p:cNvSpPr>
              <a:spLocks/>
            </p:cNvSpPr>
            <p:nvPr/>
          </p:nvSpPr>
          <p:spPr bwMode="auto">
            <a:xfrm>
              <a:off x="4852" y="1832"/>
              <a:ext cx="57" cy="60"/>
            </a:xfrm>
            <a:custGeom>
              <a:avLst/>
              <a:gdLst>
                <a:gd name="T0" fmla="*/ 28 w 57"/>
                <a:gd name="T1" fmla="*/ 0 h 60"/>
                <a:gd name="T2" fmla="*/ 57 w 57"/>
                <a:gd name="T3" fmla="*/ 30 h 60"/>
                <a:gd name="T4" fmla="*/ 28 w 57"/>
                <a:gd name="T5" fmla="*/ 60 h 60"/>
                <a:gd name="T6" fmla="*/ 0 w 57"/>
                <a:gd name="T7" fmla="*/ 30 h 60"/>
                <a:gd name="T8" fmla="*/ 28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headEnd/>
              <a:tailEnd/>
            </a:ln>
          </p:spPr>
          <p:txBody>
            <a:bodyPr/>
            <a:lstStyle/>
            <a:p>
              <a:endParaRPr lang="en-US" dirty="0"/>
            </a:p>
          </p:txBody>
        </p:sp>
        <p:sp>
          <p:nvSpPr>
            <p:cNvPr id="64" name="Oval 66"/>
            <p:cNvSpPr>
              <a:spLocks noChangeArrowheads="1"/>
            </p:cNvSpPr>
            <p:nvPr/>
          </p:nvSpPr>
          <p:spPr bwMode="auto">
            <a:xfrm>
              <a:off x="4686" y="1811"/>
              <a:ext cx="53" cy="55"/>
            </a:xfrm>
            <a:prstGeom prst="ellipse">
              <a:avLst/>
            </a:prstGeom>
            <a:solidFill>
              <a:srgbClr val="FF0000"/>
            </a:solidFill>
            <a:ln w="6350">
              <a:solidFill>
                <a:srgbClr val="FF0000"/>
              </a:solidFill>
              <a:round/>
              <a:headEnd/>
              <a:tailEnd/>
            </a:ln>
          </p:spPr>
          <p:txBody>
            <a:bodyPr/>
            <a:lstStyle/>
            <a:p>
              <a:endParaRPr lang="en-US" dirty="0"/>
            </a:p>
          </p:txBody>
        </p:sp>
        <p:sp>
          <p:nvSpPr>
            <p:cNvPr id="65" name="Oval 67"/>
            <p:cNvSpPr>
              <a:spLocks noChangeArrowheads="1"/>
            </p:cNvSpPr>
            <p:nvPr/>
          </p:nvSpPr>
          <p:spPr bwMode="auto">
            <a:xfrm>
              <a:off x="5054" y="1900"/>
              <a:ext cx="53" cy="55"/>
            </a:xfrm>
            <a:prstGeom prst="ellipse">
              <a:avLst/>
            </a:prstGeom>
            <a:solidFill>
              <a:srgbClr val="FF0000"/>
            </a:solidFill>
            <a:ln w="6350">
              <a:solidFill>
                <a:srgbClr val="FF0000"/>
              </a:solidFill>
              <a:round/>
              <a:headEnd/>
              <a:tailEnd/>
            </a:ln>
          </p:spPr>
          <p:txBody>
            <a:bodyPr/>
            <a:lstStyle/>
            <a:p>
              <a:endParaRPr lang="en-US" dirty="0"/>
            </a:p>
          </p:txBody>
        </p:sp>
        <p:sp>
          <p:nvSpPr>
            <p:cNvPr id="66" name="Rectangle 68"/>
            <p:cNvSpPr>
              <a:spLocks noChangeArrowheads="1"/>
            </p:cNvSpPr>
            <p:nvPr/>
          </p:nvSpPr>
          <p:spPr bwMode="auto">
            <a:xfrm>
              <a:off x="4221" y="2336"/>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0</a:t>
              </a:r>
              <a:endParaRPr lang="ko-KR" altLang="en-US">
                <a:latin typeface="Tahoma" pitchFamily="34" charset="0"/>
                <a:ea typeface="Gulim" pitchFamily="34" charset="-127"/>
              </a:endParaRPr>
            </a:p>
          </p:txBody>
        </p:sp>
        <p:sp>
          <p:nvSpPr>
            <p:cNvPr id="67" name="Rectangle 69"/>
            <p:cNvSpPr>
              <a:spLocks noChangeArrowheads="1"/>
            </p:cNvSpPr>
            <p:nvPr/>
          </p:nvSpPr>
          <p:spPr bwMode="auto">
            <a:xfrm>
              <a:off x="4221" y="2235"/>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1</a:t>
              </a:r>
              <a:endParaRPr lang="ko-KR" altLang="en-US">
                <a:latin typeface="Tahoma" pitchFamily="34" charset="0"/>
                <a:ea typeface="Gulim" pitchFamily="34" charset="-127"/>
              </a:endParaRPr>
            </a:p>
          </p:txBody>
        </p:sp>
        <p:sp>
          <p:nvSpPr>
            <p:cNvPr id="68" name="Rectangle 70"/>
            <p:cNvSpPr>
              <a:spLocks noChangeArrowheads="1"/>
            </p:cNvSpPr>
            <p:nvPr/>
          </p:nvSpPr>
          <p:spPr bwMode="auto">
            <a:xfrm>
              <a:off x="4221" y="2133"/>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2</a:t>
              </a:r>
              <a:endParaRPr lang="ko-KR" altLang="en-US">
                <a:latin typeface="Tahoma" pitchFamily="34" charset="0"/>
                <a:ea typeface="Gulim" pitchFamily="34" charset="-127"/>
              </a:endParaRPr>
            </a:p>
          </p:txBody>
        </p:sp>
        <p:sp>
          <p:nvSpPr>
            <p:cNvPr id="69" name="Rectangle 71"/>
            <p:cNvSpPr>
              <a:spLocks noChangeArrowheads="1"/>
            </p:cNvSpPr>
            <p:nvPr/>
          </p:nvSpPr>
          <p:spPr bwMode="auto">
            <a:xfrm>
              <a:off x="4221" y="2032"/>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3</a:t>
              </a:r>
              <a:endParaRPr lang="ko-KR" altLang="en-US">
                <a:latin typeface="Tahoma" pitchFamily="34" charset="0"/>
                <a:ea typeface="Gulim" pitchFamily="34" charset="-127"/>
              </a:endParaRPr>
            </a:p>
          </p:txBody>
        </p:sp>
        <p:sp>
          <p:nvSpPr>
            <p:cNvPr id="70" name="Rectangle 72"/>
            <p:cNvSpPr>
              <a:spLocks noChangeArrowheads="1"/>
            </p:cNvSpPr>
            <p:nvPr/>
          </p:nvSpPr>
          <p:spPr bwMode="auto">
            <a:xfrm>
              <a:off x="4221" y="1930"/>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4</a:t>
              </a:r>
              <a:endParaRPr lang="ko-KR" altLang="en-US">
                <a:latin typeface="Tahoma" pitchFamily="34" charset="0"/>
                <a:ea typeface="Gulim" pitchFamily="34" charset="-127"/>
              </a:endParaRPr>
            </a:p>
          </p:txBody>
        </p:sp>
        <p:sp>
          <p:nvSpPr>
            <p:cNvPr id="71" name="Rectangle 73"/>
            <p:cNvSpPr>
              <a:spLocks noChangeArrowheads="1"/>
            </p:cNvSpPr>
            <p:nvPr/>
          </p:nvSpPr>
          <p:spPr bwMode="auto">
            <a:xfrm>
              <a:off x="4221" y="1828"/>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5</a:t>
              </a:r>
              <a:endParaRPr lang="ko-KR" altLang="en-US">
                <a:latin typeface="Tahoma" pitchFamily="34" charset="0"/>
                <a:ea typeface="Gulim" pitchFamily="34" charset="-127"/>
              </a:endParaRPr>
            </a:p>
          </p:txBody>
        </p:sp>
        <p:sp>
          <p:nvSpPr>
            <p:cNvPr id="72" name="Rectangle 74"/>
            <p:cNvSpPr>
              <a:spLocks noChangeArrowheads="1"/>
            </p:cNvSpPr>
            <p:nvPr/>
          </p:nvSpPr>
          <p:spPr bwMode="auto">
            <a:xfrm>
              <a:off x="4221" y="1731"/>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6</a:t>
              </a:r>
              <a:endParaRPr lang="ko-KR" altLang="en-US">
                <a:latin typeface="Tahoma" pitchFamily="34" charset="0"/>
                <a:ea typeface="Gulim" pitchFamily="34" charset="-127"/>
              </a:endParaRPr>
            </a:p>
          </p:txBody>
        </p:sp>
        <p:sp>
          <p:nvSpPr>
            <p:cNvPr id="73" name="Rectangle 75"/>
            <p:cNvSpPr>
              <a:spLocks noChangeArrowheads="1"/>
            </p:cNvSpPr>
            <p:nvPr/>
          </p:nvSpPr>
          <p:spPr bwMode="auto">
            <a:xfrm>
              <a:off x="4221" y="1629"/>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7</a:t>
              </a:r>
              <a:endParaRPr lang="ko-KR" altLang="en-US">
                <a:latin typeface="Tahoma" pitchFamily="34" charset="0"/>
                <a:ea typeface="Gulim" pitchFamily="34" charset="-127"/>
              </a:endParaRPr>
            </a:p>
          </p:txBody>
        </p:sp>
        <p:sp>
          <p:nvSpPr>
            <p:cNvPr id="74" name="Rectangle 76"/>
            <p:cNvSpPr>
              <a:spLocks noChangeArrowheads="1"/>
            </p:cNvSpPr>
            <p:nvPr/>
          </p:nvSpPr>
          <p:spPr bwMode="auto">
            <a:xfrm>
              <a:off x="4221" y="1528"/>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8</a:t>
              </a:r>
              <a:endParaRPr lang="ko-KR" altLang="en-US">
                <a:latin typeface="Tahoma" pitchFamily="34" charset="0"/>
                <a:ea typeface="Gulim" pitchFamily="34" charset="-127"/>
              </a:endParaRPr>
            </a:p>
          </p:txBody>
        </p:sp>
        <p:sp>
          <p:nvSpPr>
            <p:cNvPr id="75" name="Rectangle 77"/>
            <p:cNvSpPr>
              <a:spLocks noChangeArrowheads="1"/>
            </p:cNvSpPr>
            <p:nvPr/>
          </p:nvSpPr>
          <p:spPr bwMode="auto">
            <a:xfrm>
              <a:off x="4221" y="1426"/>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9</a:t>
              </a:r>
              <a:endParaRPr lang="ko-KR" altLang="en-US">
                <a:latin typeface="Tahoma" pitchFamily="34" charset="0"/>
                <a:ea typeface="Gulim" pitchFamily="34" charset="-127"/>
              </a:endParaRPr>
            </a:p>
          </p:txBody>
        </p:sp>
        <p:sp>
          <p:nvSpPr>
            <p:cNvPr id="76" name="Rectangle 78"/>
            <p:cNvSpPr>
              <a:spLocks noChangeArrowheads="1"/>
            </p:cNvSpPr>
            <p:nvPr/>
          </p:nvSpPr>
          <p:spPr bwMode="auto">
            <a:xfrm>
              <a:off x="4197" y="1324"/>
              <a:ext cx="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10</a:t>
              </a:r>
              <a:endParaRPr lang="ko-KR" altLang="en-US">
                <a:latin typeface="Tahoma" pitchFamily="34" charset="0"/>
                <a:ea typeface="Gulim" pitchFamily="34" charset="-127"/>
              </a:endParaRPr>
            </a:p>
          </p:txBody>
        </p:sp>
        <p:sp>
          <p:nvSpPr>
            <p:cNvPr id="77" name="Rectangle 79"/>
            <p:cNvSpPr>
              <a:spLocks noChangeArrowheads="1"/>
            </p:cNvSpPr>
            <p:nvPr/>
          </p:nvSpPr>
          <p:spPr bwMode="auto">
            <a:xfrm>
              <a:off x="426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0</a:t>
              </a:r>
              <a:endParaRPr lang="ko-KR" altLang="en-US">
                <a:latin typeface="Tahoma" pitchFamily="34" charset="0"/>
                <a:ea typeface="Gulim" pitchFamily="34" charset="-127"/>
              </a:endParaRPr>
            </a:p>
          </p:txBody>
        </p:sp>
        <p:sp>
          <p:nvSpPr>
            <p:cNvPr id="78" name="Rectangle 80"/>
            <p:cNvSpPr>
              <a:spLocks noChangeArrowheads="1"/>
            </p:cNvSpPr>
            <p:nvPr/>
          </p:nvSpPr>
          <p:spPr bwMode="auto">
            <a:xfrm>
              <a:off x="438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1</a:t>
              </a:r>
              <a:endParaRPr lang="ko-KR" altLang="en-US">
                <a:latin typeface="Tahoma" pitchFamily="34" charset="0"/>
                <a:ea typeface="Gulim" pitchFamily="34" charset="-127"/>
              </a:endParaRPr>
            </a:p>
          </p:txBody>
        </p:sp>
        <p:sp>
          <p:nvSpPr>
            <p:cNvPr id="79" name="Rectangle 81"/>
            <p:cNvSpPr>
              <a:spLocks noChangeArrowheads="1"/>
            </p:cNvSpPr>
            <p:nvPr/>
          </p:nvSpPr>
          <p:spPr bwMode="auto">
            <a:xfrm>
              <a:off x="4504"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2</a:t>
              </a:r>
              <a:endParaRPr lang="ko-KR" altLang="en-US">
                <a:latin typeface="Tahoma" pitchFamily="34" charset="0"/>
                <a:ea typeface="Gulim" pitchFamily="34" charset="-127"/>
              </a:endParaRPr>
            </a:p>
          </p:txBody>
        </p:sp>
        <p:sp>
          <p:nvSpPr>
            <p:cNvPr id="80" name="Rectangle 82"/>
            <p:cNvSpPr>
              <a:spLocks noChangeArrowheads="1"/>
            </p:cNvSpPr>
            <p:nvPr/>
          </p:nvSpPr>
          <p:spPr bwMode="auto">
            <a:xfrm>
              <a:off x="462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3</a:t>
              </a:r>
              <a:endParaRPr lang="ko-KR" altLang="en-US">
                <a:latin typeface="Tahoma" pitchFamily="34" charset="0"/>
                <a:ea typeface="Gulim" pitchFamily="34" charset="-127"/>
              </a:endParaRPr>
            </a:p>
          </p:txBody>
        </p:sp>
        <p:sp>
          <p:nvSpPr>
            <p:cNvPr id="81" name="Rectangle 83"/>
            <p:cNvSpPr>
              <a:spLocks noChangeArrowheads="1"/>
            </p:cNvSpPr>
            <p:nvPr/>
          </p:nvSpPr>
          <p:spPr bwMode="auto">
            <a:xfrm>
              <a:off x="474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4</a:t>
              </a:r>
              <a:endParaRPr lang="ko-KR" altLang="en-US">
                <a:latin typeface="Tahoma" pitchFamily="34" charset="0"/>
                <a:ea typeface="Gulim" pitchFamily="34" charset="-127"/>
              </a:endParaRPr>
            </a:p>
          </p:txBody>
        </p:sp>
        <p:sp>
          <p:nvSpPr>
            <p:cNvPr id="82" name="Rectangle 84"/>
            <p:cNvSpPr>
              <a:spLocks noChangeArrowheads="1"/>
            </p:cNvSpPr>
            <p:nvPr/>
          </p:nvSpPr>
          <p:spPr bwMode="auto">
            <a:xfrm>
              <a:off x="4868"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5</a:t>
              </a:r>
              <a:endParaRPr lang="ko-KR" altLang="en-US">
                <a:latin typeface="Tahoma" pitchFamily="34" charset="0"/>
                <a:ea typeface="Gulim" pitchFamily="34" charset="-127"/>
              </a:endParaRPr>
            </a:p>
          </p:txBody>
        </p:sp>
        <p:sp>
          <p:nvSpPr>
            <p:cNvPr id="83" name="Rectangle 85"/>
            <p:cNvSpPr>
              <a:spLocks noChangeArrowheads="1"/>
            </p:cNvSpPr>
            <p:nvPr/>
          </p:nvSpPr>
          <p:spPr bwMode="auto">
            <a:xfrm>
              <a:off x="498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6</a:t>
              </a:r>
              <a:endParaRPr lang="ko-KR" altLang="en-US">
                <a:latin typeface="Tahoma" pitchFamily="34" charset="0"/>
                <a:ea typeface="Gulim" pitchFamily="34" charset="-127"/>
              </a:endParaRPr>
            </a:p>
          </p:txBody>
        </p:sp>
        <p:sp>
          <p:nvSpPr>
            <p:cNvPr id="84" name="Rectangle 86"/>
            <p:cNvSpPr>
              <a:spLocks noChangeArrowheads="1"/>
            </p:cNvSpPr>
            <p:nvPr/>
          </p:nvSpPr>
          <p:spPr bwMode="auto">
            <a:xfrm>
              <a:off x="510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7</a:t>
              </a:r>
              <a:endParaRPr lang="ko-KR" altLang="en-US">
                <a:latin typeface="Tahoma" pitchFamily="34" charset="0"/>
                <a:ea typeface="Gulim" pitchFamily="34" charset="-127"/>
              </a:endParaRPr>
            </a:p>
          </p:txBody>
        </p:sp>
        <p:sp>
          <p:nvSpPr>
            <p:cNvPr id="85" name="Rectangle 87"/>
            <p:cNvSpPr>
              <a:spLocks noChangeArrowheads="1"/>
            </p:cNvSpPr>
            <p:nvPr/>
          </p:nvSpPr>
          <p:spPr bwMode="auto">
            <a:xfrm>
              <a:off x="5228"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8</a:t>
              </a:r>
              <a:endParaRPr lang="ko-KR" altLang="en-US">
                <a:latin typeface="Tahoma" pitchFamily="34" charset="0"/>
                <a:ea typeface="Gulim" pitchFamily="34" charset="-127"/>
              </a:endParaRPr>
            </a:p>
          </p:txBody>
        </p:sp>
        <p:sp>
          <p:nvSpPr>
            <p:cNvPr id="86" name="Rectangle 88"/>
            <p:cNvSpPr>
              <a:spLocks noChangeArrowheads="1"/>
            </p:cNvSpPr>
            <p:nvPr/>
          </p:nvSpPr>
          <p:spPr bwMode="auto">
            <a:xfrm>
              <a:off x="534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9</a:t>
              </a:r>
              <a:endParaRPr lang="ko-KR" altLang="en-US">
                <a:latin typeface="Tahoma" pitchFamily="34" charset="0"/>
                <a:ea typeface="Gulim" pitchFamily="34" charset="-127"/>
              </a:endParaRPr>
            </a:p>
          </p:txBody>
        </p:sp>
        <p:sp>
          <p:nvSpPr>
            <p:cNvPr id="87" name="Rectangle 89"/>
            <p:cNvSpPr>
              <a:spLocks noChangeArrowheads="1"/>
            </p:cNvSpPr>
            <p:nvPr/>
          </p:nvSpPr>
          <p:spPr bwMode="auto">
            <a:xfrm>
              <a:off x="5455" y="2404"/>
              <a:ext cx="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eaLnBrk="1" hangingPunct="1"/>
              <a:r>
                <a:rPr lang="ko-KR" altLang="en-US" sz="600">
                  <a:solidFill>
                    <a:srgbClr val="000000"/>
                  </a:solidFill>
                  <a:latin typeface="Arial" pitchFamily="34" charset="0"/>
                  <a:ea typeface="Gulim" pitchFamily="34" charset="-127"/>
                </a:rPr>
                <a:t>10</a:t>
              </a:r>
              <a:endParaRPr lang="ko-KR" altLang="en-US">
                <a:latin typeface="Tahoma" pitchFamily="34" charset="0"/>
                <a:ea typeface="Gulim" pitchFamily="34" charset="-127"/>
              </a:endParaRPr>
            </a:p>
          </p:txBody>
        </p:sp>
        <p:sp>
          <p:nvSpPr>
            <p:cNvPr id="88" name="Rectangle 90"/>
            <p:cNvSpPr>
              <a:spLocks noChangeArrowheads="1"/>
            </p:cNvSpPr>
            <p:nvPr/>
          </p:nvSpPr>
          <p:spPr bwMode="auto">
            <a:xfrm>
              <a:off x="4144" y="1265"/>
              <a:ext cx="1400" cy="1254"/>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89" name="Freeform 91"/>
            <p:cNvSpPr>
              <a:spLocks/>
            </p:cNvSpPr>
            <p:nvPr/>
          </p:nvSpPr>
          <p:spPr bwMode="auto">
            <a:xfrm>
              <a:off x="4426" y="1447"/>
              <a:ext cx="573" cy="873"/>
            </a:xfrm>
            <a:custGeom>
              <a:avLst/>
              <a:gdLst>
                <a:gd name="T0" fmla="*/ 348 w 852"/>
                <a:gd name="T1" fmla="*/ 194 h 1260"/>
                <a:gd name="T2" fmla="*/ 264 w 852"/>
                <a:gd name="T3" fmla="*/ 25 h 1260"/>
                <a:gd name="T4" fmla="*/ 159 w 852"/>
                <a:gd name="T5" fmla="*/ 15 h 1260"/>
                <a:gd name="T6" fmla="*/ 89 w 852"/>
                <a:gd name="T7" fmla="*/ 51 h 1260"/>
                <a:gd name="T8" fmla="*/ 0 w 852"/>
                <a:gd name="T9" fmla="*/ 256 h 1260"/>
                <a:gd name="T10" fmla="*/ 30 w 852"/>
                <a:gd name="T11" fmla="*/ 477 h 1260"/>
                <a:gd name="T12" fmla="*/ 243 w 852"/>
                <a:gd name="T13" fmla="*/ 774 h 1260"/>
                <a:gd name="T14" fmla="*/ 289 w 852"/>
                <a:gd name="T15" fmla="*/ 789 h 1260"/>
                <a:gd name="T16" fmla="*/ 303 w 852"/>
                <a:gd name="T17" fmla="*/ 800 h 1260"/>
                <a:gd name="T18" fmla="*/ 353 w 852"/>
                <a:gd name="T19" fmla="*/ 815 h 1260"/>
                <a:gd name="T20" fmla="*/ 418 w 852"/>
                <a:gd name="T21" fmla="*/ 851 h 1260"/>
                <a:gd name="T22" fmla="*/ 533 w 852"/>
                <a:gd name="T23" fmla="*/ 861 h 1260"/>
                <a:gd name="T24" fmla="*/ 528 w 852"/>
                <a:gd name="T25" fmla="*/ 707 h 1260"/>
                <a:gd name="T26" fmla="*/ 503 w 852"/>
                <a:gd name="T27" fmla="*/ 661 h 1260"/>
                <a:gd name="T28" fmla="*/ 463 w 852"/>
                <a:gd name="T29" fmla="*/ 594 h 1260"/>
                <a:gd name="T30" fmla="*/ 418 w 852"/>
                <a:gd name="T31" fmla="*/ 528 h 1260"/>
                <a:gd name="T32" fmla="*/ 408 w 852"/>
                <a:gd name="T33" fmla="*/ 507 h 1260"/>
                <a:gd name="T34" fmla="*/ 398 w 852"/>
                <a:gd name="T35" fmla="*/ 492 h 1260"/>
                <a:gd name="T36" fmla="*/ 373 w 852"/>
                <a:gd name="T37" fmla="*/ 446 h 1260"/>
                <a:gd name="T38" fmla="*/ 363 w 852"/>
                <a:gd name="T39" fmla="*/ 430 h 1260"/>
                <a:gd name="T40" fmla="*/ 348 w 852"/>
                <a:gd name="T41" fmla="*/ 194 h 12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2"/>
                <a:gd name="T64" fmla="*/ 0 h 1260"/>
                <a:gd name="T65" fmla="*/ 852 w 852"/>
                <a:gd name="T66" fmla="*/ 1260 h 12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2" h="1260">
                  <a:moveTo>
                    <a:pt x="518" y="280"/>
                  </a:moveTo>
                  <a:cubicBezTo>
                    <a:pt x="509" y="187"/>
                    <a:pt x="497" y="69"/>
                    <a:pt x="392" y="36"/>
                  </a:cubicBezTo>
                  <a:cubicBezTo>
                    <a:pt x="339" y="0"/>
                    <a:pt x="309" y="15"/>
                    <a:pt x="237" y="21"/>
                  </a:cubicBezTo>
                  <a:cubicBezTo>
                    <a:pt x="194" y="31"/>
                    <a:pt x="168" y="45"/>
                    <a:pt x="133" y="73"/>
                  </a:cubicBezTo>
                  <a:cubicBezTo>
                    <a:pt x="84" y="168"/>
                    <a:pt x="20" y="262"/>
                    <a:pt x="0" y="369"/>
                  </a:cubicBezTo>
                  <a:cubicBezTo>
                    <a:pt x="5" y="481"/>
                    <a:pt x="3" y="584"/>
                    <a:pt x="44" y="688"/>
                  </a:cubicBezTo>
                  <a:cubicBezTo>
                    <a:pt x="78" y="870"/>
                    <a:pt x="173" y="1057"/>
                    <a:pt x="362" y="1117"/>
                  </a:cubicBezTo>
                  <a:cubicBezTo>
                    <a:pt x="415" y="1152"/>
                    <a:pt x="347" y="1112"/>
                    <a:pt x="429" y="1139"/>
                  </a:cubicBezTo>
                  <a:cubicBezTo>
                    <a:pt x="437" y="1142"/>
                    <a:pt x="443" y="1150"/>
                    <a:pt x="451" y="1154"/>
                  </a:cubicBezTo>
                  <a:cubicBezTo>
                    <a:pt x="473" y="1165"/>
                    <a:pt x="501" y="1168"/>
                    <a:pt x="525" y="1176"/>
                  </a:cubicBezTo>
                  <a:cubicBezTo>
                    <a:pt x="562" y="1201"/>
                    <a:pt x="581" y="1218"/>
                    <a:pt x="622" y="1228"/>
                  </a:cubicBezTo>
                  <a:cubicBezTo>
                    <a:pt x="684" y="1260"/>
                    <a:pt x="714" y="1249"/>
                    <a:pt x="792" y="1243"/>
                  </a:cubicBezTo>
                  <a:cubicBezTo>
                    <a:pt x="852" y="1183"/>
                    <a:pt x="819" y="1088"/>
                    <a:pt x="785" y="1021"/>
                  </a:cubicBezTo>
                  <a:cubicBezTo>
                    <a:pt x="770" y="992"/>
                    <a:pt x="773" y="979"/>
                    <a:pt x="748" y="954"/>
                  </a:cubicBezTo>
                  <a:cubicBezTo>
                    <a:pt x="735" y="917"/>
                    <a:pt x="711" y="888"/>
                    <a:pt x="688" y="858"/>
                  </a:cubicBezTo>
                  <a:cubicBezTo>
                    <a:pt x="676" y="821"/>
                    <a:pt x="643" y="795"/>
                    <a:pt x="622" y="762"/>
                  </a:cubicBezTo>
                  <a:cubicBezTo>
                    <a:pt x="616" y="753"/>
                    <a:pt x="613" y="742"/>
                    <a:pt x="607" y="732"/>
                  </a:cubicBezTo>
                  <a:cubicBezTo>
                    <a:pt x="603" y="724"/>
                    <a:pt x="597" y="717"/>
                    <a:pt x="592" y="710"/>
                  </a:cubicBezTo>
                  <a:cubicBezTo>
                    <a:pt x="580" y="671"/>
                    <a:pt x="589" y="694"/>
                    <a:pt x="555" y="643"/>
                  </a:cubicBezTo>
                  <a:cubicBezTo>
                    <a:pt x="550" y="636"/>
                    <a:pt x="540" y="621"/>
                    <a:pt x="540" y="621"/>
                  </a:cubicBezTo>
                  <a:cubicBezTo>
                    <a:pt x="519" y="510"/>
                    <a:pt x="518" y="392"/>
                    <a:pt x="518" y="280"/>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dirty="0"/>
            </a:p>
          </p:txBody>
        </p:sp>
        <p:sp>
          <p:nvSpPr>
            <p:cNvPr id="90" name="Freeform 92"/>
            <p:cNvSpPr>
              <a:spLocks/>
            </p:cNvSpPr>
            <p:nvPr/>
          </p:nvSpPr>
          <p:spPr bwMode="auto">
            <a:xfrm>
              <a:off x="4846" y="1713"/>
              <a:ext cx="516" cy="436"/>
            </a:xfrm>
            <a:custGeom>
              <a:avLst/>
              <a:gdLst>
                <a:gd name="T0" fmla="*/ 123 w 768"/>
                <a:gd name="T1" fmla="*/ 46 h 630"/>
                <a:gd name="T2" fmla="*/ 48 w 768"/>
                <a:gd name="T3" fmla="*/ 51 h 630"/>
                <a:gd name="T4" fmla="*/ 3 w 768"/>
                <a:gd name="T5" fmla="*/ 118 h 630"/>
                <a:gd name="T6" fmla="*/ 9 w 768"/>
                <a:gd name="T7" fmla="*/ 215 h 630"/>
                <a:gd name="T8" fmla="*/ 38 w 768"/>
                <a:gd name="T9" fmla="*/ 246 h 630"/>
                <a:gd name="T10" fmla="*/ 73 w 768"/>
                <a:gd name="T11" fmla="*/ 287 h 630"/>
                <a:gd name="T12" fmla="*/ 158 w 768"/>
                <a:gd name="T13" fmla="*/ 379 h 630"/>
                <a:gd name="T14" fmla="*/ 173 w 768"/>
                <a:gd name="T15" fmla="*/ 394 h 630"/>
                <a:gd name="T16" fmla="*/ 222 w 768"/>
                <a:gd name="T17" fmla="*/ 410 h 630"/>
                <a:gd name="T18" fmla="*/ 302 w 768"/>
                <a:gd name="T19" fmla="*/ 436 h 630"/>
                <a:gd name="T20" fmla="*/ 402 w 768"/>
                <a:gd name="T21" fmla="*/ 420 h 630"/>
                <a:gd name="T22" fmla="*/ 441 w 768"/>
                <a:gd name="T23" fmla="*/ 405 h 630"/>
                <a:gd name="T24" fmla="*/ 462 w 768"/>
                <a:gd name="T25" fmla="*/ 369 h 630"/>
                <a:gd name="T26" fmla="*/ 482 w 768"/>
                <a:gd name="T27" fmla="*/ 328 h 630"/>
                <a:gd name="T28" fmla="*/ 486 w 768"/>
                <a:gd name="T29" fmla="*/ 302 h 630"/>
                <a:gd name="T30" fmla="*/ 497 w 768"/>
                <a:gd name="T31" fmla="*/ 287 h 630"/>
                <a:gd name="T32" fmla="*/ 516 w 768"/>
                <a:gd name="T33" fmla="*/ 205 h 630"/>
                <a:gd name="T34" fmla="*/ 511 w 768"/>
                <a:gd name="T35" fmla="*/ 123 h 630"/>
                <a:gd name="T36" fmla="*/ 486 w 768"/>
                <a:gd name="T37" fmla="*/ 77 h 630"/>
                <a:gd name="T38" fmla="*/ 312 w 768"/>
                <a:gd name="T39" fmla="*/ 0 h 630"/>
                <a:gd name="T40" fmla="*/ 138 w 768"/>
                <a:gd name="T41" fmla="*/ 21 h 630"/>
                <a:gd name="T42" fmla="*/ 123 w 768"/>
                <a:gd name="T43" fmla="*/ 46 h 6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8"/>
                <a:gd name="T67" fmla="*/ 0 h 630"/>
                <a:gd name="T68" fmla="*/ 768 w 768"/>
                <a:gd name="T69" fmla="*/ 630 h 6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dirty="0"/>
            </a:p>
          </p:txBody>
        </p:sp>
      </p:grpSp>
      <p:sp>
        <p:nvSpPr>
          <p:cNvPr id="91" name="Freeform 196"/>
          <p:cNvSpPr>
            <a:spLocks/>
          </p:cNvSpPr>
          <p:nvPr/>
        </p:nvSpPr>
        <p:spPr bwMode="auto">
          <a:xfrm>
            <a:off x="4972491" y="3084244"/>
            <a:ext cx="1421577" cy="2141546"/>
          </a:xfrm>
          <a:custGeom>
            <a:avLst/>
            <a:gdLst>
              <a:gd name="T0" fmla="*/ 117475 w 568"/>
              <a:gd name="T1" fmla="*/ 77788 h 835"/>
              <a:gd name="T2" fmla="*/ 1588 w 568"/>
              <a:gd name="T3" fmla="*/ 339725 h 835"/>
              <a:gd name="T4" fmla="*/ 88900 w 568"/>
              <a:gd name="T5" fmla="*/ 876300 h 835"/>
              <a:gd name="T6" fmla="*/ 204788 w 568"/>
              <a:gd name="T7" fmla="*/ 963613 h 835"/>
              <a:gd name="T8" fmla="*/ 277812 w 568"/>
              <a:gd name="T9" fmla="*/ 1036638 h 835"/>
              <a:gd name="T10" fmla="*/ 292100 w 568"/>
              <a:gd name="T11" fmla="*/ 1079500 h 835"/>
              <a:gd name="T12" fmla="*/ 365125 w 568"/>
              <a:gd name="T13" fmla="*/ 1152525 h 835"/>
              <a:gd name="T14" fmla="*/ 422275 w 568"/>
              <a:gd name="T15" fmla="*/ 1223963 h 835"/>
              <a:gd name="T16" fmla="*/ 495300 w 568"/>
              <a:gd name="T17" fmla="*/ 1296988 h 835"/>
              <a:gd name="T18" fmla="*/ 611187 w 568"/>
              <a:gd name="T19" fmla="*/ 1325563 h 835"/>
              <a:gd name="T20" fmla="*/ 873125 w 568"/>
              <a:gd name="T21" fmla="*/ 1296988 h 835"/>
              <a:gd name="T22" fmla="*/ 887413 w 568"/>
              <a:gd name="T23" fmla="*/ 1254125 h 835"/>
              <a:gd name="T24" fmla="*/ 873125 w 568"/>
              <a:gd name="T25" fmla="*/ 992188 h 835"/>
              <a:gd name="T26" fmla="*/ 785812 w 568"/>
              <a:gd name="T27" fmla="*/ 963613 h 835"/>
              <a:gd name="T28" fmla="*/ 684212 w 568"/>
              <a:gd name="T29" fmla="*/ 862013 h 835"/>
              <a:gd name="T30" fmla="*/ 625475 w 568"/>
              <a:gd name="T31" fmla="*/ 788988 h 835"/>
              <a:gd name="T32" fmla="*/ 568325 w 568"/>
              <a:gd name="T33" fmla="*/ 701675 h 835"/>
              <a:gd name="T34" fmla="*/ 582612 w 568"/>
              <a:gd name="T35" fmla="*/ 280988 h 835"/>
              <a:gd name="T36" fmla="*/ 568325 w 568"/>
              <a:gd name="T37" fmla="*/ 165100 h 835"/>
              <a:gd name="T38" fmla="*/ 263525 w 568"/>
              <a:gd name="T39" fmla="*/ 4763 h 835"/>
              <a:gd name="T40" fmla="*/ 161925 w 568"/>
              <a:gd name="T41" fmla="*/ 20638 h 835"/>
              <a:gd name="T42" fmla="*/ 147637 w 568"/>
              <a:gd name="T43" fmla="*/ 92075 h 835"/>
              <a:gd name="T44" fmla="*/ 103188 w 568"/>
              <a:gd name="T45" fmla="*/ 106363 h 835"/>
              <a:gd name="T46" fmla="*/ 117475 w 568"/>
              <a:gd name="T47" fmla="*/ 77788 h 83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8"/>
              <a:gd name="T73" fmla="*/ 0 h 835"/>
              <a:gd name="T74" fmla="*/ 568 w 568"/>
              <a:gd name="T75" fmla="*/ 835 h 83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8" h="835">
                <a:moveTo>
                  <a:pt x="74" y="49"/>
                </a:moveTo>
                <a:cubicBezTo>
                  <a:pt x="39" y="103"/>
                  <a:pt x="20" y="153"/>
                  <a:pt x="1" y="214"/>
                </a:cubicBezTo>
                <a:cubicBezTo>
                  <a:pt x="6" y="342"/>
                  <a:pt x="0" y="441"/>
                  <a:pt x="56" y="552"/>
                </a:cubicBezTo>
                <a:cubicBezTo>
                  <a:pt x="74" y="589"/>
                  <a:pt x="100" y="582"/>
                  <a:pt x="129" y="607"/>
                </a:cubicBezTo>
                <a:cubicBezTo>
                  <a:pt x="145" y="621"/>
                  <a:pt x="175" y="653"/>
                  <a:pt x="175" y="653"/>
                </a:cubicBezTo>
                <a:cubicBezTo>
                  <a:pt x="178" y="662"/>
                  <a:pt x="178" y="672"/>
                  <a:pt x="184" y="680"/>
                </a:cubicBezTo>
                <a:cubicBezTo>
                  <a:pt x="197" y="697"/>
                  <a:pt x="230" y="726"/>
                  <a:pt x="230" y="726"/>
                </a:cubicBezTo>
                <a:cubicBezTo>
                  <a:pt x="245" y="772"/>
                  <a:pt x="228" y="737"/>
                  <a:pt x="266" y="771"/>
                </a:cubicBezTo>
                <a:cubicBezTo>
                  <a:pt x="282" y="785"/>
                  <a:pt x="297" y="802"/>
                  <a:pt x="312" y="817"/>
                </a:cubicBezTo>
                <a:cubicBezTo>
                  <a:pt x="330" y="835"/>
                  <a:pt x="361" y="827"/>
                  <a:pt x="385" y="835"/>
                </a:cubicBezTo>
                <a:cubicBezTo>
                  <a:pt x="440" y="829"/>
                  <a:pt x="496" y="831"/>
                  <a:pt x="550" y="817"/>
                </a:cubicBezTo>
                <a:cubicBezTo>
                  <a:pt x="559" y="815"/>
                  <a:pt x="559" y="799"/>
                  <a:pt x="559" y="790"/>
                </a:cubicBezTo>
                <a:cubicBezTo>
                  <a:pt x="559" y="735"/>
                  <a:pt x="568" y="677"/>
                  <a:pt x="550" y="625"/>
                </a:cubicBezTo>
                <a:cubicBezTo>
                  <a:pt x="544" y="607"/>
                  <a:pt x="495" y="607"/>
                  <a:pt x="495" y="607"/>
                </a:cubicBezTo>
                <a:cubicBezTo>
                  <a:pt x="475" y="577"/>
                  <a:pt x="461" y="563"/>
                  <a:pt x="431" y="543"/>
                </a:cubicBezTo>
                <a:cubicBezTo>
                  <a:pt x="411" y="479"/>
                  <a:pt x="439" y="549"/>
                  <a:pt x="394" y="497"/>
                </a:cubicBezTo>
                <a:cubicBezTo>
                  <a:pt x="380" y="481"/>
                  <a:pt x="358" y="442"/>
                  <a:pt x="358" y="442"/>
                </a:cubicBezTo>
                <a:cubicBezTo>
                  <a:pt x="361" y="354"/>
                  <a:pt x="367" y="265"/>
                  <a:pt x="367" y="177"/>
                </a:cubicBezTo>
                <a:cubicBezTo>
                  <a:pt x="367" y="152"/>
                  <a:pt x="368" y="126"/>
                  <a:pt x="358" y="104"/>
                </a:cubicBezTo>
                <a:cubicBezTo>
                  <a:pt x="326" y="34"/>
                  <a:pt x="229" y="12"/>
                  <a:pt x="166" y="3"/>
                </a:cubicBezTo>
                <a:cubicBezTo>
                  <a:pt x="145" y="6"/>
                  <a:pt x="119" y="0"/>
                  <a:pt x="102" y="13"/>
                </a:cubicBezTo>
                <a:cubicBezTo>
                  <a:pt x="90" y="22"/>
                  <a:pt x="102" y="45"/>
                  <a:pt x="93" y="58"/>
                </a:cubicBezTo>
                <a:cubicBezTo>
                  <a:pt x="87" y="66"/>
                  <a:pt x="74" y="71"/>
                  <a:pt x="65" y="67"/>
                </a:cubicBezTo>
                <a:cubicBezTo>
                  <a:pt x="59" y="64"/>
                  <a:pt x="71" y="55"/>
                  <a:pt x="74" y="49"/>
                </a:cubicBezTo>
                <a:close/>
              </a:path>
            </a:pathLst>
          </a:custGeom>
          <a:noFill/>
          <a:ln w="9525">
            <a:solidFill>
              <a:srgbClr val="33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92" name="Freeform 197"/>
          <p:cNvSpPr>
            <a:spLocks/>
          </p:cNvSpPr>
          <p:nvPr/>
        </p:nvSpPr>
        <p:spPr bwMode="auto">
          <a:xfrm>
            <a:off x="5507995" y="3599059"/>
            <a:ext cx="1541710" cy="1223373"/>
          </a:xfrm>
          <a:custGeom>
            <a:avLst/>
            <a:gdLst>
              <a:gd name="T0" fmla="*/ 265112 w 616"/>
              <a:gd name="T1" fmla="*/ 87312 h 477"/>
              <a:gd name="T2" fmla="*/ 31750 w 616"/>
              <a:gd name="T3" fmla="*/ 101600 h 477"/>
              <a:gd name="T4" fmla="*/ 3175 w 616"/>
              <a:gd name="T5" fmla="*/ 146050 h 477"/>
              <a:gd name="T6" fmla="*/ 17462 w 616"/>
              <a:gd name="T7" fmla="*/ 349250 h 477"/>
              <a:gd name="T8" fmla="*/ 147637 w 616"/>
              <a:gd name="T9" fmla="*/ 420687 h 477"/>
              <a:gd name="T10" fmla="*/ 409575 w 616"/>
              <a:gd name="T11" fmla="*/ 522287 h 477"/>
              <a:gd name="T12" fmla="*/ 468313 w 616"/>
              <a:gd name="T13" fmla="*/ 755650 h 477"/>
              <a:gd name="T14" fmla="*/ 671512 w 616"/>
              <a:gd name="T15" fmla="*/ 739775 h 477"/>
              <a:gd name="T16" fmla="*/ 685800 w 616"/>
              <a:gd name="T17" fmla="*/ 696912 h 477"/>
              <a:gd name="T18" fmla="*/ 714375 w 616"/>
              <a:gd name="T19" fmla="*/ 654050 h 477"/>
              <a:gd name="T20" fmla="*/ 903288 w 616"/>
              <a:gd name="T21" fmla="*/ 465137 h 477"/>
              <a:gd name="T22" fmla="*/ 858838 w 616"/>
              <a:gd name="T23" fmla="*/ 174625 h 477"/>
              <a:gd name="T24" fmla="*/ 714375 w 616"/>
              <a:gd name="T25" fmla="*/ 73025 h 477"/>
              <a:gd name="T26" fmla="*/ 671512 w 616"/>
              <a:gd name="T27" fmla="*/ 28575 h 477"/>
              <a:gd name="T28" fmla="*/ 584200 w 616"/>
              <a:gd name="T29" fmla="*/ 0 h 477"/>
              <a:gd name="T30" fmla="*/ 423863 w 616"/>
              <a:gd name="T31" fmla="*/ 14287 h 477"/>
              <a:gd name="T32" fmla="*/ 350837 w 616"/>
              <a:gd name="T33" fmla="*/ 58737 h 477"/>
              <a:gd name="T34" fmla="*/ 265112 w 616"/>
              <a:gd name="T35" fmla="*/ 87312 h 4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16"/>
              <a:gd name="T55" fmla="*/ 0 h 477"/>
              <a:gd name="T56" fmla="*/ 616 w 616"/>
              <a:gd name="T57" fmla="*/ 477 h 47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16" h="477">
                <a:moveTo>
                  <a:pt x="167" y="55"/>
                </a:moveTo>
                <a:cubicBezTo>
                  <a:pt x="118" y="58"/>
                  <a:pt x="68" y="53"/>
                  <a:pt x="20" y="64"/>
                </a:cubicBezTo>
                <a:cubicBezTo>
                  <a:pt x="9" y="66"/>
                  <a:pt x="3" y="81"/>
                  <a:pt x="2" y="92"/>
                </a:cubicBezTo>
                <a:cubicBezTo>
                  <a:pt x="0" y="135"/>
                  <a:pt x="0" y="179"/>
                  <a:pt x="11" y="220"/>
                </a:cubicBezTo>
                <a:cubicBezTo>
                  <a:pt x="14" y="233"/>
                  <a:pt x="82" y="257"/>
                  <a:pt x="93" y="265"/>
                </a:cubicBezTo>
                <a:cubicBezTo>
                  <a:pt x="118" y="335"/>
                  <a:pt x="193" y="323"/>
                  <a:pt x="258" y="329"/>
                </a:cubicBezTo>
                <a:cubicBezTo>
                  <a:pt x="275" y="380"/>
                  <a:pt x="255" y="436"/>
                  <a:pt x="295" y="476"/>
                </a:cubicBezTo>
                <a:cubicBezTo>
                  <a:pt x="338" y="473"/>
                  <a:pt x="382" y="477"/>
                  <a:pt x="423" y="466"/>
                </a:cubicBezTo>
                <a:cubicBezTo>
                  <a:pt x="432" y="464"/>
                  <a:pt x="428" y="447"/>
                  <a:pt x="432" y="439"/>
                </a:cubicBezTo>
                <a:cubicBezTo>
                  <a:pt x="437" y="429"/>
                  <a:pt x="442" y="420"/>
                  <a:pt x="450" y="412"/>
                </a:cubicBezTo>
                <a:cubicBezTo>
                  <a:pt x="489" y="372"/>
                  <a:pt x="537" y="341"/>
                  <a:pt x="569" y="293"/>
                </a:cubicBezTo>
                <a:cubicBezTo>
                  <a:pt x="589" y="229"/>
                  <a:pt x="616" y="134"/>
                  <a:pt x="541" y="110"/>
                </a:cubicBezTo>
                <a:cubicBezTo>
                  <a:pt x="513" y="81"/>
                  <a:pt x="489" y="59"/>
                  <a:pt x="450" y="46"/>
                </a:cubicBezTo>
                <a:cubicBezTo>
                  <a:pt x="441" y="37"/>
                  <a:pt x="434" y="24"/>
                  <a:pt x="423" y="18"/>
                </a:cubicBezTo>
                <a:cubicBezTo>
                  <a:pt x="406" y="9"/>
                  <a:pt x="368" y="0"/>
                  <a:pt x="368" y="0"/>
                </a:cubicBezTo>
                <a:cubicBezTo>
                  <a:pt x="334" y="3"/>
                  <a:pt x="300" y="4"/>
                  <a:pt x="267" y="9"/>
                </a:cubicBezTo>
                <a:cubicBezTo>
                  <a:pt x="214" y="17"/>
                  <a:pt x="264" y="15"/>
                  <a:pt x="221" y="37"/>
                </a:cubicBezTo>
                <a:cubicBezTo>
                  <a:pt x="204" y="46"/>
                  <a:pt x="185" y="49"/>
                  <a:pt x="167" y="55"/>
                </a:cubicBezTo>
                <a:close/>
              </a:path>
            </a:pathLst>
          </a:custGeom>
          <a:noFill/>
          <a:ln w="9525">
            <a:solidFill>
              <a:srgbClr val="33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Tree>
    <p:extLst>
      <p:ext uri="{BB962C8B-B14F-4D97-AF65-F5344CB8AC3E}">
        <p14:creationId xmlns:p14="http://schemas.microsoft.com/office/powerpoint/2010/main" val="68634942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24</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Repeat Step 2: </a:t>
            </a:r>
            <a:r>
              <a:rPr lang="en-US" altLang="en-US" dirty="0"/>
              <a:t/>
            </a:r>
            <a:br>
              <a:rPr lang="en-US" altLang="en-US" dirty="0"/>
            </a:br>
            <a:r>
              <a:rPr lang="en-US" altLang="en-US" dirty="0"/>
              <a:t>We assign each object to the cluster formed around each centroid. </a:t>
            </a:r>
            <a:r>
              <a:rPr lang="en-US" altLang="en-US" dirty="0" smtClean="0"/>
              <a:t>We continue until the clusters do not change.</a:t>
            </a:r>
            <a:endParaRPr lang="en-US" altLang="en-US" dirty="0"/>
          </a:p>
          <a:p>
            <a:pPr marL="0" indent="0">
              <a:buNone/>
            </a:pPr>
            <a:endParaRPr lang="en-US" altLang="en-US" dirty="0" smtClean="0"/>
          </a:p>
        </p:txBody>
      </p:sp>
      <p:graphicFrame>
        <p:nvGraphicFramePr>
          <p:cNvPr id="7" name="Object 3"/>
          <p:cNvGraphicFramePr>
            <a:graphicFrameLocks noChangeAspect="1"/>
          </p:cNvGraphicFramePr>
          <p:nvPr>
            <p:extLst>
              <p:ext uri="{D42A27DB-BD31-4B8C-83A1-F6EECF244321}">
                <p14:modId xmlns:p14="http://schemas.microsoft.com/office/powerpoint/2010/main" val="4222348729"/>
              </p:ext>
            </p:extLst>
          </p:nvPr>
        </p:nvGraphicFramePr>
        <p:xfrm>
          <a:off x="1883822" y="2894247"/>
          <a:ext cx="3984892" cy="3446452"/>
        </p:xfrm>
        <a:graphic>
          <a:graphicData uri="http://schemas.openxmlformats.org/presentationml/2006/ole">
            <mc:AlternateContent xmlns:mc="http://schemas.openxmlformats.org/markup-compatibility/2006">
              <mc:Choice xmlns:v="urn:schemas-microsoft-com:vml" Requires="v">
                <p:oleObj spid="_x0000_s5206" name="Worksheet" r:id="rId3" imgW="3419856" imgH="2934005" progId="Excel.Sheet.8">
                  <p:embed/>
                </p:oleObj>
              </mc:Choice>
              <mc:Fallback>
                <p:oleObj name="Worksheet" r:id="rId3" imgW="3419856" imgH="2934005"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3822" y="2894247"/>
                        <a:ext cx="3984892" cy="3446452"/>
                      </a:xfrm>
                      <a:prstGeom prst="rect">
                        <a:avLst/>
                      </a:prstGeom>
                      <a:noFill/>
                      <a:ln>
                        <a:noFill/>
                      </a:ln>
                      <a:effectLst/>
                      <a:extLst/>
                    </p:spPr>
                  </p:pic>
                </p:oleObj>
              </mc:Fallback>
            </mc:AlternateContent>
          </a:graphicData>
        </a:graphic>
      </p:graphicFrame>
      <p:grpSp>
        <p:nvGrpSpPr>
          <p:cNvPr id="10" name="Group 98"/>
          <p:cNvGrpSpPr>
            <a:grpSpLocks/>
          </p:cNvGrpSpPr>
          <p:nvPr/>
        </p:nvGrpSpPr>
        <p:grpSpPr bwMode="auto">
          <a:xfrm>
            <a:off x="6525608" y="2867232"/>
            <a:ext cx="3684251" cy="3428263"/>
            <a:chOff x="3108" y="2256"/>
            <a:chExt cx="2148" cy="1872"/>
          </a:xfrm>
        </p:grpSpPr>
        <p:graphicFrame>
          <p:nvGraphicFramePr>
            <p:cNvPr id="12" name="Object 2"/>
            <p:cNvGraphicFramePr>
              <a:graphicFrameLocks noChangeAspect="1"/>
            </p:cNvGraphicFramePr>
            <p:nvPr/>
          </p:nvGraphicFramePr>
          <p:xfrm>
            <a:off x="3108" y="2256"/>
            <a:ext cx="2148" cy="1872"/>
          </p:xfrm>
          <a:graphic>
            <a:graphicData uri="http://schemas.openxmlformats.org/presentationml/2006/ole">
              <mc:AlternateContent xmlns:mc="http://schemas.openxmlformats.org/markup-compatibility/2006">
                <mc:Choice xmlns:v="urn:schemas-microsoft-com:vml" Requires="v">
                  <p:oleObj spid="_x0000_s5207" name="Worksheet" r:id="rId5" imgW="3410407" imgH="2924556" progId="Excel.Sheet.8">
                    <p:embed/>
                  </p:oleObj>
                </mc:Choice>
                <mc:Fallback>
                  <p:oleObj name="Worksheet" r:id="rId5" imgW="3410407" imgH="2924556" progId="Excel.Shee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 y="2256"/>
                          <a:ext cx="2148" cy="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Freeform 100"/>
            <p:cNvSpPr>
              <a:spLocks/>
            </p:cNvSpPr>
            <p:nvPr/>
          </p:nvSpPr>
          <p:spPr bwMode="auto">
            <a:xfrm>
              <a:off x="3638" y="2571"/>
              <a:ext cx="728" cy="896"/>
            </a:xfrm>
            <a:custGeom>
              <a:avLst/>
              <a:gdLst>
                <a:gd name="T0" fmla="*/ 199 w 728"/>
                <a:gd name="T1" fmla="*/ 7 h 896"/>
                <a:gd name="T2" fmla="*/ 110 w 728"/>
                <a:gd name="T3" fmla="*/ 96 h 896"/>
                <a:gd name="T4" fmla="*/ 80 w 728"/>
                <a:gd name="T5" fmla="*/ 140 h 896"/>
                <a:gd name="T6" fmla="*/ 65 w 728"/>
                <a:gd name="T7" fmla="*/ 162 h 896"/>
                <a:gd name="T8" fmla="*/ 21 w 728"/>
                <a:gd name="T9" fmla="*/ 303 h 896"/>
                <a:gd name="T10" fmla="*/ 65 w 728"/>
                <a:gd name="T11" fmla="*/ 703 h 896"/>
                <a:gd name="T12" fmla="*/ 110 w 728"/>
                <a:gd name="T13" fmla="*/ 763 h 896"/>
                <a:gd name="T14" fmla="*/ 332 w 728"/>
                <a:gd name="T15" fmla="*/ 896 h 896"/>
                <a:gd name="T16" fmla="*/ 495 w 728"/>
                <a:gd name="T17" fmla="*/ 851 h 896"/>
                <a:gd name="T18" fmla="*/ 636 w 728"/>
                <a:gd name="T19" fmla="*/ 711 h 896"/>
                <a:gd name="T20" fmla="*/ 688 w 728"/>
                <a:gd name="T21" fmla="*/ 607 h 896"/>
                <a:gd name="T22" fmla="*/ 702 w 728"/>
                <a:gd name="T23" fmla="*/ 563 h 896"/>
                <a:gd name="T24" fmla="*/ 710 w 728"/>
                <a:gd name="T25" fmla="*/ 540 h 896"/>
                <a:gd name="T26" fmla="*/ 680 w 728"/>
                <a:gd name="T27" fmla="*/ 296 h 896"/>
                <a:gd name="T28" fmla="*/ 569 w 728"/>
                <a:gd name="T29" fmla="*/ 133 h 896"/>
                <a:gd name="T30" fmla="*/ 510 w 728"/>
                <a:gd name="T31" fmla="*/ 88 h 896"/>
                <a:gd name="T32" fmla="*/ 465 w 728"/>
                <a:gd name="T33" fmla="*/ 59 h 896"/>
                <a:gd name="T34" fmla="*/ 295 w 728"/>
                <a:gd name="T35" fmla="*/ 0 h 896"/>
                <a:gd name="T36" fmla="*/ 206 w 728"/>
                <a:gd name="T37" fmla="*/ 7 h 896"/>
                <a:gd name="T38" fmla="*/ 184 w 728"/>
                <a:gd name="T39" fmla="*/ 14 h 896"/>
                <a:gd name="T40" fmla="*/ 199 w 728"/>
                <a:gd name="T41" fmla="*/ 7 h 8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8"/>
                <a:gd name="T64" fmla="*/ 0 h 896"/>
                <a:gd name="T65" fmla="*/ 728 w 728"/>
                <a:gd name="T66" fmla="*/ 896 h 8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dirty="0"/>
            </a:p>
          </p:txBody>
        </p:sp>
        <p:sp>
          <p:nvSpPr>
            <p:cNvPr id="14" name="Freeform 101"/>
            <p:cNvSpPr>
              <a:spLocks/>
            </p:cNvSpPr>
            <p:nvPr/>
          </p:nvSpPr>
          <p:spPr bwMode="auto">
            <a:xfrm>
              <a:off x="4090" y="2934"/>
              <a:ext cx="802" cy="889"/>
            </a:xfrm>
            <a:custGeom>
              <a:avLst/>
              <a:gdLst>
                <a:gd name="T0" fmla="*/ 510 w 802"/>
                <a:gd name="T1" fmla="*/ 44 h 889"/>
                <a:gd name="T2" fmla="*/ 376 w 802"/>
                <a:gd name="T3" fmla="*/ 177 h 889"/>
                <a:gd name="T4" fmla="*/ 236 w 802"/>
                <a:gd name="T5" fmla="*/ 296 h 889"/>
                <a:gd name="T6" fmla="*/ 221 w 802"/>
                <a:gd name="T7" fmla="*/ 318 h 889"/>
                <a:gd name="T8" fmla="*/ 199 w 802"/>
                <a:gd name="T9" fmla="*/ 333 h 889"/>
                <a:gd name="T10" fmla="*/ 191 w 802"/>
                <a:gd name="T11" fmla="*/ 355 h 889"/>
                <a:gd name="T12" fmla="*/ 169 w 802"/>
                <a:gd name="T13" fmla="*/ 385 h 889"/>
                <a:gd name="T14" fmla="*/ 132 w 802"/>
                <a:gd name="T15" fmla="*/ 496 h 889"/>
                <a:gd name="T16" fmla="*/ 110 w 802"/>
                <a:gd name="T17" fmla="*/ 518 h 889"/>
                <a:gd name="T18" fmla="*/ 80 w 802"/>
                <a:gd name="T19" fmla="*/ 562 h 889"/>
                <a:gd name="T20" fmla="*/ 43 w 802"/>
                <a:gd name="T21" fmla="*/ 629 h 889"/>
                <a:gd name="T22" fmla="*/ 13 w 802"/>
                <a:gd name="T23" fmla="*/ 703 h 889"/>
                <a:gd name="T24" fmla="*/ 36 w 802"/>
                <a:gd name="T25" fmla="*/ 844 h 889"/>
                <a:gd name="T26" fmla="*/ 80 w 802"/>
                <a:gd name="T27" fmla="*/ 874 h 889"/>
                <a:gd name="T28" fmla="*/ 124 w 802"/>
                <a:gd name="T29" fmla="*/ 888 h 889"/>
                <a:gd name="T30" fmla="*/ 354 w 802"/>
                <a:gd name="T31" fmla="*/ 874 h 889"/>
                <a:gd name="T32" fmla="*/ 517 w 802"/>
                <a:gd name="T33" fmla="*/ 822 h 889"/>
                <a:gd name="T34" fmla="*/ 569 w 802"/>
                <a:gd name="T35" fmla="*/ 792 h 889"/>
                <a:gd name="T36" fmla="*/ 673 w 802"/>
                <a:gd name="T37" fmla="*/ 651 h 889"/>
                <a:gd name="T38" fmla="*/ 695 w 802"/>
                <a:gd name="T39" fmla="*/ 600 h 889"/>
                <a:gd name="T40" fmla="*/ 747 w 802"/>
                <a:gd name="T41" fmla="*/ 533 h 889"/>
                <a:gd name="T42" fmla="*/ 784 w 802"/>
                <a:gd name="T43" fmla="*/ 451 h 889"/>
                <a:gd name="T44" fmla="*/ 798 w 802"/>
                <a:gd name="T45" fmla="*/ 385 h 889"/>
                <a:gd name="T46" fmla="*/ 650 w 802"/>
                <a:gd name="T47" fmla="*/ 0 h 889"/>
                <a:gd name="T48" fmla="*/ 532 w 802"/>
                <a:gd name="T49" fmla="*/ 22 h 889"/>
                <a:gd name="T50" fmla="*/ 510 w 802"/>
                <a:gd name="T51" fmla="*/ 44 h 88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2"/>
                <a:gd name="T79" fmla="*/ 0 h 889"/>
                <a:gd name="T80" fmla="*/ 802 w 802"/>
                <a:gd name="T81" fmla="*/ 889 h 88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en-US" dirty="0"/>
            </a:p>
          </p:txBody>
        </p:sp>
      </p:grpSp>
    </p:spTree>
    <p:extLst>
      <p:ext uri="{BB962C8B-B14F-4D97-AF65-F5344CB8AC3E}">
        <p14:creationId xmlns:p14="http://schemas.microsoft.com/office/powerpoint/2010/main" val="16267660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25</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Advantage</a:t>
            </a:r>
            <a:br>
              <a:rPr lang="en-US" altLang="en-US" dirty="0" smtClean="0"/>
            </a:br>
            <a:endParaRPr lang="en-US" altLang="en-US" dirty="0" smtClean="0"/>
          </a:p>
          <a:p>
            <a:pPr lvl="1"/>
            <a:r>
              <a:rPr lang="en-US" altLang="en-US" dirty="0" smtClean="0"/>
              <a:t>Efficient method.</a:t>
            </a:r>
          </a:p>
          <a:p>
            <a:pPr lvl="1"/>
            <a:r>
              <a:rPr lang="en-US" altLang="en-US" dirty="0" smtClean="0"/>
              <a:t>Improved by Partitioning Around Medoids (PAM).</a:t>
            </a:r>
          </a:p>
          <a:p>
            <a:pPr marL="457200" lvl="1" indent="0">
              <a:buNone/>
            </a:pPr>
            <a:endParaRPr lang="en-US" altLang="en-US" dirty="0"/>
          </a:p>
          <a:p>
            <a:r>
              <a:rPr lang="en-US" altLang="en-US" dirty="0" smtClean="0"/>
              <a:t>Drawbacks</a:t>
            </a:r>
          </a:p>
          <a:p>
            <a:pPr marL="0" indent="0">
              <a:buNone/>
            </a:pPr>
            <a:endParaRPr lang="en-US" altLang="en-US" dirty="0" smtClean="0"/>
          </a:p>
          <a:p>
            <a:pPr lvl="1"/>
            <a:r>
              <a:rPr lang="en-US" altLang="en-US" dirty="0" smtClean="0"/>
              <a:t>The number of clusters is fixed – however there are methods that find this number automatically.</a:t>
            </a:r>
          </a:p>
          <a:p>
            <a:pPr lvl="1"/>
            <a:r>
              <a:rPr lang="en-US" altLang="en-US" dirty="0" smtClean="0"/>
              <a:t>Clusters have convex shape.</a:t>
            </a:r>
          </a:p>
          <a:p>
            <a:pPr lvl="1"/>
            <a:r>
              <a:rPr lang="en-US" altLang="en-US" dirty="0" smtClean="0"/>
              <a:t>It is sensitive to outliers.</a:t>
            </a:r>
            <a:endParaRPr lang="en-US" altLang="en-US" dirty="0"/>
          </a:p>
          <a:p>
            <a:pPr marL="0" indent="0">
              <a:buNone/>
            </a:pPr>
            <a:endParaRPr lang="en-US" altLang="en-US" dirty="0" smtClean="0"/>
          </a:p>
        </p:txBody>
      </p:sp>
    </p:spTree>
    <p:extLst>
      <p:ext uri="{BB962C8B-B14F-4D97-AF65-F5344CB8AC3E}">
        <p14:creationId xmlns:p14="http://schemas.microsoft.com/office/powerpoint/2010/main" val="25989616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Clustering with KMeans</a:t>
            </a:r>
          </a:p>
        </p:txBody>
      </p:sp>
      <p:sp>
        <p:nvSpPr>
          <p:cNvPr id="8198" name="Rectangle 3"/>
          <p:cNvSpPr>
            <a:spLocks noGrp="1" noChangeArrowheads="1"/>
          </p:cNvSpPr>
          <p:nvPr>
            <p:ph type="body" idx="1"/>
          </p:nvPr>
        </p:nvSpPr>
        <p:spPr>
          <a:xfrm>
            <a:off x="794657" y="1181403"/>
            <a:ext cx="8686800" cy="4588933"/>
          </a:xfrm>
        </p:spPr>
        <p:txBody>
          <a:bodyPr>
            <a:normAutofit/>
          </a:bodyPr>
          <a:lstStyle/>
          <a:p>
            <a:r>
              <a:rPr lang="en-US" dirty="0"/>
              <a:t>The Ward algorithm determines the optimal number of clusters by choosing the first value of K where the Cubic Clustering Criterion (CCC) goes from increasing to decreasing.</a:t>
            </a:r>
            <a:endParaRPr lang="en-US" altLang="en-US" dirty="0" smtClean="0"/>
          </a:p>
        </p:txBody>
      </p:sp>
      <p:pic>
        <p:nvPicPr>
          <p:cNvPr id="3" name="Picture 2"/>
          <p:cNvPicPr>
            <a:picLocks noChangeAspect="1"/>
          </p:cNvPicPr>
          <p:nvPr/>
        </p:nvPicPr>
        <p:blipFill>
          <a:blip r:embed="rId2"/>
          <a:stretch>
            <a:fillRect/>
          </a:stretch>
        </p:blipFill>
        <p:spPr>
          <a:xfrm>
            <a:off x="4123706" y="2549978"/>
            <a:ext cx="3784600" cy="3835916"/>
          </a:xfrm>
          <a:prstGeom prst="rect">
            <a:avLst/>
          </a:prstGeom>
        </p:spPr>
      </p:pic>
    </p:spTree>
    <p:extLst>
      <p:ext uri="{BB962C8B-B14F-4D97-AF65-F5344CB8AC3E}">
        <p14:creationId xmlns:p14="http://schemas.microsoft.com/office/powerpoint/2010/main" val="26271708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27</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b="1" dirty="0" smtClean="0">
                <a:solidFill>
                  <a:srgbClr val="FFFF00"/>
                </a:solidFill>
              </a:rPr>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165865977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28</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Density Based Clustering</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Density-based clustering forms clusters according to the density of objects in regions.</a:t>
            </a:r>
          </a:p>
          <a:p>
            <a:endParaRPr lang="en-US" altLang="en-US" dirty="0"/>
          </a:p>
          <a:p>
            <a:r>
              <a:rPr lang="en-US" altLang="en-US" dirty="0" smtClean="0"/>
              <a:t>DBSCAN is the most famous example.</a:t>
            </a:r>
          </a:p>
          <a:p>
            <a:endParaRPr lang="en-US" altLang="en-US" dirty="0"/>
          </a:p>
          <a:p>
            <a:r>
              <a:rPr lang="en-US" altLang="en-US" dirty="0" smtClean="0"/>
              <a:t>Advantage: </a:t>
            </a:r>
          </a:p>
          <a:p>
            <a:pPr lvl="1"/>
            <a:r>
              <a:rPr lang="en-US" altLang="en-US" dirty="0" smtClean="0"/>
              <a:t>It looks for clusters of any shape.</a:t>
            </a:r>
          </a:p>
          <a:p>
            <a:pPr lvl="1"/>
            <a:r>
              <a:rPr lang="en-US" altLang="en-US" dirty="0" smtClean="0"/>
              <a:t>It is little sensitive to outliers or noise.</a:t>
            </a:r>
          </a:p>
          <a:p>
            <a:pPr lvl="1"/>
            <a:r>
              <a:rPr lang="en-US" altLang="en-US" dirty="0" smtClean="0"/>
              <a:t>It is efficient.</a:t>
            </a:r>
          </a:p>
          <a:p>
            <a:pPr marL="457200" lvl="1" indent="0">
              <a:buNone/>
            </a:pPr>
            <a:endParaRPr lang="en-US" altLang="en-US" dirty="0" smtClean="0"/>
          </a:p>
          <a:p>
            <a:endParaRPr lang="en-US" altLang="en-US" dirty="0"/>
          </a:p>
          <a:p>
            <a:endParaRPr lang="en-US" altLang="en-US" dirty="0" smtClean="0"/>
          </a:p>
        </p:txBody>
      </p:sp>
      <p:pic>
        <p:nvPicPr>
          <p:cNvPr id="6146" name="Picture 2" descr="https://upload.wikimedia.org/wikipedia/commons/thumb/8/8a/OPTICS-Gaussian-data.svg/186px-OPTICS-Gaussian-data.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658" y="1621368"/>
            <a:ext cx="4580514" cy="4925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6447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Density Based Clustering</a:t>
            </a:r>
          </a:p>
        </p:txBody>
      </p:sp>
      <p:grpSp>
        <p:nvGrpSpPr>
          <p:cNvPr id="8" name="Group 4"/>
          <p:cNvGrpSpPr>
            <a:grpSpLocks/>
          </p:cNvGrpSpPr>
          <p:nvPr/>
        </p:nvGrpSpPr>
        <p:grpSpPr bwMode="auto">
          <a:xfrm>
            <a:off x="3162300" y="2228850"/>
            <a:ext cx="6324600" cy="2743200"/>
            <a:chOff x="672" y="1824"/>
            <a:chExt cx="4608" cy="2112"/>
          </a:xfrm>
        </p:grpSpPr>
        <p:sp>
          <p:nvSpPr>
            <p:cNvPr id="9"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0"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1"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2"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3" name="Oval 9"/>
            <p:cNvSpPr>
              <a:spLocks noChangeArrowheads="1"/>
            </p:cNvSpPr>
            <p:nvPr/>
          </p:nvSpPr>
          <p:spPr bwMode="auto">
            <a:xfrm>
              <a:off x="2256" y="2928"/>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4"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5"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6"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7"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8"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19"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0"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1"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2"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3"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4"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5"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6" name="Rectangle 22"/>
            <p:cNvSpPr>
              <a:spLocks noChangeArrowheads="1"/>
            </p:cNvSpPr>
            <p:nvPr/>
          </p:nvSpPr>
          <p:spPr bwMode="auto">
            <a:xfrm>
              <a:off x="1392" y="1824"/>
              <a:ext cx="2448" cy="2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7" name="Oval 23"/>
            <p:cNvSpPr>
              <a:spLocks noChangeArrowheads="1"/>
            </p:cNvSpPr>
            <p:nvPr/>
          </p:nvSpPr>
          <p:spPr bwMode="auto">
            <a:xfrm>
              <a:off x="1584" y="2304"/>
              <a:ext cx="576" cy="624"/>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8" name="Oval 24"/>
            <p:cNvSpPr>
              <a:spLocks noChangeArrowheads="1"/>
            </p:cNvSpPr>
            <p:nvPr/>
          </p:nvSpPr>
          <p:spPr bwMode="auto">
            <a:xfrm>
              <a:off x="1872" y="2880"/>
              <a:ext cx="576" cy="624"/>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29" name="Oval 25"/>
            <p:cNvSpPr>
              <a:spLocks noChangeArrowheads="1"/>
            </p:cNvSpPr>
            <p:nvPr/>
          </p:nvSpPr>
          <p:spPr bwMode="auto">
            <a:xfrm>
              <a:off x="2688" y="1824"/>
              <a:ext cx="576" cy="624"/>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30" name="AutoShape 26"/>
            <p:cNvSpPr>
              <a:spLocks/>
            </p:cNvSpPr>
            <p:nvPr/>
          </p:nvSpPr>
          <p:spPr bwMode="auto">
            <a:xfrm>
              <a:off x="1094" y="3124"/>
              <a:ext cx="576" cy="360"/>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ea typeface="SimSun" panose="02010600030101010101" pitchFamily="2" charset="-122"/>
                </a:rPr>
                <a:t>Core</a:t>
              </a:r>
            </a:p>
          </p:txBody>
        </p:sp>
        <p:sp>
          <p:nvSpPr>
            <p:cNvPr id="31" name="AutoShape 27"/>
            <p:cNvSpPr>
              <a:spLocks/>
            </p:cNvSpPr>
            <p:nvPr/>
          </p:nvSpPr>
          <p:spPr bwMode="auto">
            <a:xfrm>
              <a:off x="672" y="2523"/>
              <a:ext cx="817" cy="359"/>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ea typeface="SimSun" panose="02010600030101010101" pitchFamily="2" charset="-122"/>
                </a:rPr>
                <a:t>Border</a:t>
              </a:r>
            </a:p>
          </p:txBody>
        </p:sp>
        <p:sp>
          <p:nvSpPr>
            <p:cNvPr id="32" name="AutoShape 28"/>
            <p:cNvSpPr>
              <a:spLocks/>
            </p:cNvSpPr>
            <p:nvPr/>
          </p:nvSpPr>
          <p:spPr bwMode="auto">
            <a:xfrm>
              <a:off x="3697" y="1921"/>
              <a:ext cx="824" cy="359"/>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dirty="0">
                  <a:ea typeface="SimSun" panose="02010600030101010101" pitchFamily="2" charset="-122"/>
                </a:rPr>
                <a:t>Outlier</a:t>
              </a:r>
            </a:p>
          </p:txBody>
        </p:sp>
        <p:sp>
          <p:nvSpPr>
            <p:cNvPr id="33" name="Text Box 29"/>
            <p:cNvSpPr txBox="1">
              <a:spLocks noChangeArrowheads="1"/>
            </p:cNvSpPr>
            <p:nvPr/>
          </p:nvSpPr>
          <p:spPr bwMode="auto">
            <a:xfrm>
              <a:off x="4081" y="2736"/>
              <a:ext cx="1199" cy="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dirty="0">
                  <a:ea typeface="SimSun" panose="02010600030101010101" pitchFamily="2" charset="-122"/>
                </a:rPr>
                <a:t>Eps = 1cm</a:t>
              </a:r>
            </a:p>
            <a:p>
              <a:pPr algn="l">
                <a:spcBef>
                  <a:spcPct val="50000"/>
                </a:spcBef>
              </a:pPr>
              <a:r>
                <a:rPr lang="en-US" altLang="zh-CN" dirty="0">
                  <a:ea typeface="SimSun" panose="02010600030101010101" pitchFamily="2" charset="-122"/>
                </a:rPr>
                <a:t>MinPts = 5</a:t>
              </a:r>
            </a:p>
          </p:txBody>
        </p:sp>
        <p:sp>
          <p:nvSpPr>
            <p:cNvPr id="34"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3" name="Rectangle 2"/>
          <p:cNvSpPr/>
          <p:nvPr/>
        </p:nvSpPr>
        <p:spPr>
          <a:xfrm>
            <a:off x="4912916" y="5514231"/>
            <a:ext cx="2291461" cy="369332"/>
          </a:xfrm>
          <a:prstGeom prst="rect">
            <a:avLst/>
          </a:prstGeom>
        </p:spPr>
        <p:txBody>
          <a:bodyPr wrap="none">
            <a:spAutoFit/>
          </a:bodyPr>
          <a:lstStyle/>
          <a:p>
            <a:r>
              <a:rPr lang="en-US" altLang="en-US" dirty="0"/>
              <a:t>From Han and Kamber</a:t>
            </a:r>
          </a:p>
        </p:txBody>
      </p:sp>
    </p:spTree>
    <p:extLst>
      <p:ext uri="{BB962C8B-B14F-4D97-AF65-F5344CB8AC3E}">
        <p14:creationId xmlns:p14="http://schemas.microsoft.com/office/powerpoint/2010/main" val="11729631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30</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b="1" dirty="0" smtClean="0">
                <a:solidFill>
                  <a:srgbClr val="FFFF00"/>
                </a:solidFill>
              </a:rPr>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10650125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31</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Hierarchical Clustering</a:t>
            </a:r>
          </a:p>
        </p:txBody>
      </p:sp>
      <p:sp>
        <p:nvSpPr>
          <p:cNvPr id="8198" name="Rectangle 3"/>
          <p:cNvSpPr>
            <a:spLocks noGrp="1" noChangeArrowheads="1"/>
          </p:cNvSpPr>
          <p:nvPr>
            <p:ph type="body" idx="1"/>
          </p:nvPr>
        </p:nvSpPr>
        <p:spPr>
          <a:xfrm>
            <a:off x="1143000" y="1523999"/>
            <a:ext cx="9791700" cy="4588933"/>
          </a:xfrm>
        </p:spPr>
        <p:txBody>
          <a:bodyPr>
            <a:normAutofit/>
          </a:bodyPr>
          <a:lstStyle/>
          <a:p>
            <a:r>
              <a:rPr lang="en-US" altLang="en-US" dirty="0" smtClean="0"/>
              <a:t>This method can find any number of clusters and organizes them in a tree with sub-clusters.</a:t>
            </a:r>
          </a:p>
          <a:p>
            <a:endParaRPr lang="en-US" altLang="en-US" dirty="0"/>
          </a:p>
          <a:p>
            <a:r>
              <a:rPr lang="en-US" altLang="en-US" dirty="0" smtClean="0"/>
              <a:t>The tree is called a dendrogram.</a:t>
            </a:r>
          </a:p>
          <a:p>
            <a:endParaRPr lang="en-US" altLang="en-US" dirty="0"/>
          </a:p>
          <a:p>
            <a:r>
              <a:rPr lang="en-US" altLang="en-US" dirty="0" smtClean="0"/>
              <a:t>It is the representation of evolutionary trees.</a:t>
            </a:r>
          </a:p>
        </p:txBody>
      </p:sp>
    </p:spTree>
    <p:extLst>
      <p:ext uri="{BB962C8B-B14F-4D97-AF65-F5344CB8AC3E}">
        <p14:creationId xmlns:p14="http://schemas.microsoft.com/office/powerpoint/2010/main" val="26581658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32</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Hierarchical Clustering</a:t>
            </a:r>
          </a:p>
        </p:txBody>
      </p:sp>
      <p:sp>
        <p:nvSpPr>
          <p:cNvPr id="8198" name="Rectangle 3"/>
          <p:cNvSpPr>
            <a:spLocks noGrp="1" noChangeArrowheads="1"/>
          </p:cNvSpPr>
          <p:nvPr>
            <p:ph type="body" idx="1"/>
          </p:nvPr>
        </p:nvSpPr>
        <p:spPr>
          <a:xfrm>
            <a:off x="1619250" y="1523999"/>
            <a:ext cx="9048750" cy="4588933"/>
          </a:xfrm>
        </p:spPr>
        <p:txBody>
          <a:bodyPr>
            <a:normAutofit/>
          </a:bodyPr>
          <a:lstStyle/>
          <a:p>
            <a:r>
              <a:rPr lang="en-US" altLang="en-US" dirty="0" smtClean="0"/>
              <a:t>There are two main methods – divisive and agglomerative.</a:t>
            </a:r>
          </a:p>
        </p:txBody>
      </p:sp>
      <p:grpSp>
        <p:nvGrpSpPr>
          <p:cNvPr id="6" name="Group 4"/>
          <p:cNvGrpSpPr>
            <a:grpSpLocks/>
          </p:cNvGrpSpPr>
          <p:nvPr/>
        </p:nvGrpSpPr>
        <p:grpSpPr bwMode="auto">
          <a:xfrm>
            <a:off x="2856490" y="2471207"/>
            <a:ext cx="6956425" cy="3641725"/>
            <a:chOff x="1200" y="1776"/>
            <a:chExt cx="4382" cy="2294"/>
          </a:xfrm>
        </p:grpSpPr>
        <p:sp>
          <p:nvSpPr>
            <p:cNvPr id="7" name="Line 5"/>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dirty="0"/>
            </a:p>
          </p:txBody>
        </p:sp>
        <p:grpSp>
          <p:nvGrpSpPr>
            <p:cNvPr id="8" name="Group 6"/>
            <p:cNvGrpSpPr>
              <a:grpSpLocks/>
            </p:cNvGrpSpPr>
            <p:nvPr/>
          </p:nvGrpSpPr>
          <p:grpSpPr bwMode="auto">
            <a:xfrm>
              <a:off x="1440" y="1785"/>
              <a:ext cx="480" cy="327"/>
              <a:chOff x="1104" y="1785"/>
              <a:chExt cx="480" cy="327"/>
            </a:xfrm>
          </p:grpSpPr>
          <p:sp>
            <p:nvSpPr>
              <p:cNvPr id="60" name="Line 7"/>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61" name="Text Box 8"/>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0</a:t>
                </a:r>
                <a:endParaRPr lang="en-US" altLang="zh-CN" dirty="0">
                  <a:ea typeface="SimSun" pitchFamily="2" charset="-122"/>
                </a:endParaRPr>
              </a:p>
            </p:txBody>
          </p:sp>
        </p:grpSp>
        <p:grpSp>
          <p:nvGrpSpPr>
            <p:cNvPr id="9" name="Group 9"/>
            <p:cNvGrpSpPr>
              <a:grpSpLocks/>
            </p:cNvGrpSpPr>
            <p:nvPr/>
          </p:nvGrpSpPr>
          <p:grpSpPr bwMode="auto">
            <a:xfrm>
              <a:off x="1968" y="1776"/>
              <a:ext cx="480" cy="327"/>
              <a:chOff x="1104" y="1785"/>
              <a:chExt cx="480" cy="327"/>
            </a:xfrm>
          </p:grpSpPr>
          <p:sp>
            <p:nvSpPr>
              <p:cNvPr id="58" name="Line 10"/>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59" name="Text Box 11"/>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1</a:t>
                </a:r>
                <a:endParaRPr lang="en-US" altLang="zh-CN" dirty="0">
                  <a:ea typeface="SimSun" pitchFamily="2" charset="-122"/>
                </a:endParaRPr>
              </a:p>
            </p:txBody>
          </p:sp>
        </p:grpSp>
        <p:grpSp>
          <p:nvGrpSpPr>
            <p:cNvPr id="10" name="Group 12"/>
            <p:cNvGrpSpPr>
              <a:grpSpLocks/>
            </p:cNvGrpSpPr>
            <p:nvPr/>
          </p:nvGrpSpPr>
          <p:grpSpPr bwMode="auto">
            <a:xfrm>
              <a:off x="2496" y="1776"/>
              <a:ext cx="480" cy="327"/>
              <a:chOff x="1104" y="1785"/>
              <a:chExt cx="480" cy="327"/>
            </a:xfrm>
          </p:grpSpPr>
          <p:sp>
            <p:nvSpPr>
              <p:cNvPr id="56" name="Line 13"/>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57" name="Text Box 14"/>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2</a:t>
                </a:r>
                <a:endParaRPr lang="en-US" altLang="zh-CN" dirty="0">
                  <a:ea typeface="SimSun" pitchFamily="2" charset="-122"/>
                </a:endParaRPr>
              </a:p>
            </p:txBody>
          </p:sp>
        </p:grpSp>
        <p:grpSp>
          <p:nvGrpSpPr>
            <p:cNvPr id="11" name="Group 15"/>
            <p:cNvGrpSpPr>
              <a:grpSpLocks/>
            </p:cNvGrpSpPr>
            <p:nvPr/>
          </p:nvGrpSpPr>
          <p:grpSpPr bwMode="auto">
            <a:xfrm>
              <a:off x="2976" y="1776"/>
              <a:ext cx="480" cy="327"/>
              <a:chOff x="1104" y="1785"/>
              <a:chExt cx="480" cy="327"/>
            </a:xfrm>
          </p:grpSpPr>
          <p:sp>
            <p:nvSpPr>
              <p:cNvPr id="54" name="Line 16"/>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55" name="Text Box 17"/>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3</a:t>
                </a:r>
                <a:endParaRPr lang="en-US" altLang="zh-CN" dirty="0">
                  <a:ea typeface="SimSun" pitchFamily="2" charset="-122"/>
                </a:endParaRPr>
              </a:p>
            </p:txBody>
          </p:sp>
        </p:grpSp>
        <p:grpSp>
          <p:nvGrpSpPr>
            <p:cNvPr id="12" name="Group 18"/>
            <p:cNvGrpSpPr>
              <a:grpSpLocks/>
            </p:cNvGrpSpPr>
            <p:nvPr/>
          </p:nvGrpSpPr>
          <p:grpSpPr bwMode="auto">
            <a:xfrm>
              <a:off x="3456" y="1776"/>
              <a:ext cx="480" cy="327"/>
              <a:chOff x="1104" y="1785"/>
              <a:chExt cx="480" cy="327"/>
            </a:xfrm>
          </p:grpSpPr>
          <p:sp>
            <p:nvSpPr>
              <p:cNvPr id="52" name="Line 19"/>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53" name="Text Box 20"/>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4</a:t>
                </a:r>
                <a:endParaRPr lang="en-US" altLang="zh-CN" dirty="0">
                  <a:ea typeface="SimSun" pitchFamily="2" charset="-122"/>
                </a:endParaRPr>
              </a:p>
            </p:txBody>
          </p:sp>
        </p:grpSp>
        <p:sp>
          <p:nvSpPr>
            <p:cNvPr id="13" name="Text Box 21"/>
            <p:cNvSpPr txBox="1">
              <a:spLocks noChangeArrowheads="1"/>
            </p:cNvSpPr>
            <p:nvPr/>
          </p:nvSpPr>
          <p:spPr bwMode="auto">
            <a:xfrm>
              <a:off x="1440" y="25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b</a:t>
              </a:r>
            </a:p>
          </p:txBody>
        </p:sp>
        <p:sp>
          <p:nvSpPr>
            <p:cNvPr id="14" name="Text Box 22"/>
            <p:cNvSpPr txBox="1">
              <a:spLocks noChangeArrowheads="1"/>
            </p:cNvSpPr>
            <p:nvPr/>
          </p:nvSpPr>
          <p:spPr bwMode="auto">
            <a:xfrm>
              <a:off x="1440" y="31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d</a:t>
              </a:r>
            </a:p>
          </p:txBody>
        </p:sp>
        <p:sp>
          <p:nvSpPr>
            <p:cNvPr id="15" name="Text Box 23"/>
            <p:cNvSpPr txBox="1">
              <a:spLocks noChangeArrowheads="1"/>
            </p:cNvSpPr>
            <p:nvPr/>
          </p:nvSpPr>
          <p:spPr bwMode="auto">
            <a:xfrm>
              <a:off x="1440" y="28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c</a:t>
              </a:r>
            </a:p>
          </p:txBody>
        </p:sp>
        <p:sp>
          <p:nvSpPr>
            <p:cNvPr id="16" name="Text Box 24"/>
            <p:cNvSpPr txBox="1">
              <a:spLocks noChangeArrowheads="1"/>
            </p:cNvSpPr>
            <p:nvPr/>
          </p:nvSpPr>
          <p:spPr bwMode="auto">
            <a:xfrm>
              <a:off x="1440" y="34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e</a:t>
              </a:r>
            </a:p>
          </p:txBody>
        </p:sp>
        <p:sp>
          <p:nvSpPr>
            <p:cNvPr id="17" name="Text Box 25"/>
            <p:cNvSpPr txBox="1">
              <a:spLocks noChangeArrowheads="1"/>
            </p:cNvSpPr>
            <p:nvPr/>
          </p:nvSpPr>
          <p:spPr bwMode="auto">
            <a:xfrm>
              <a:off x="1440" y="2208"/>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a</a:t>
              </a:r>
            </a:p>
          </p:txBody>
        </p:sp>
        <p:sp>
          <p:nvSpPr>
            <p:cNvPr id="18" name="Oval 26"/>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19" name="Oval 27"/>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0" name="Oval 28"/>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1" name="Oval 29"/>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2" name="Oval 30"/>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3" name="Text Box 31"/>
            <p:cNvSpPr txBox="1">
              <a:spLocks noChangeArrowheads="1"/>
            </p:cNvSpPr>
            <p:nvPr/>
          </p:nvSpPr>
          <p:spPr bwMode="auto">
            <a:xfrm>
              <a:off x="1968" y="2304"/>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a b</a:t>
              </a:r>
            </a:p>
          </p:txBody>
        </p:sp>
        <p:sp>
          <p:nvSpPr>
            <p:cNvPr id="24" name="Oval 32"/>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5" name="Text Box 33"/>
            <p:cNvSpPr txBox="1">
              <a:spLocks noChangeArrowheads="1"/>
            </p:cNvSpPr>
            <p:nvPr/>
          </p:nvSpPr>
          <p:spPr bwMode="auto">
            <a:xfrm>
              <a:off x="2496" y="3216"/>
              <a:ext cx="3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d e</a:t>
              </a:r>
            </a:p>
          </p:txBody>
        </p:sp>
        <p:sp>
          <p:nvSpPr>
            <p:cNvPr id="26" name="Oval 34"/>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7" name="Text Box 35"/>
            <p:cNvSpPr txBox="1">
              <a:spLocks noChangeArrowheads="1"/>
            </p:cNvSpPr>
            <p:nvPr/>
          </p:nvSpPr>
          <p:spPr bwMode="auto">
            <a:xfrm>
              <a:off x="2880" y="2928"/>
              <a:ext cx="4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c d e</a:t>
              </a:r>
            </a:p>
          </p:txBody>
        </p:sp>
        <p:sp>
          <p:nvSpPr>
            <p:cNvPr id="28" name="Oval 36"/>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29" name="Text Box 37"/>
            <p:cNvSpPr txBox="1">
              <a:spLocks noChangeArrowheads="1"/>
            </p:cNvSpPr>
            <p:nvPr/>
          </p:nvSpPr>
          <p:spPr bwMode="auto">
            <a:xfrm>
              <a:off x="3216" y="2592"/>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ltLang="zh-CN" dirty="0">
                  <a:ea typeface="SimSun" pitchFamily="2" charset="-122"/>
                </a:rPr>
                <a:t>a b c d e</a:t>
              </a:r>
            </a:p>
          </p:txBody>
        </p:sp>
        <p:sp>
          <p:nvSpPr>
            <p:cNvPr id="30" name="Oval 38"/>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dirty="0"/>
            </a:p>
          </p:txBody>
        </p:sp>
        <p:sp>
          <p:nvSpPr>
            <p:cNvPr id="31" name="Line 39"/>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2" name="Line 40"/>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3" name="Text Box 41"/>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4</a:t>
              </a:r>
              <a:endParaRPr lang="en-US" altLang="zh-CN" dirty="0">
                <a:ea typeface="SimSun" pitchFamily="2" charset="-122"/>
              </a:endParaRPr>
            </a:p>
          </p:txBody>
        </p:sp>
        <p:sp>
          <p:nvSpPr>
            <p:cNvPr id="34" name="Line 42"/>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5" name="Text Box 43"/>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3</a:t>
              </a:r>
              <a:endParaRPr lang="en-US" altLang="zh-CN" dirty="0">
                <a:ea typeface="SimSun" pitchFamily="2" charset="-122"/>
              </a:endParaRPr>
            </a:p>
          </p:txBody>
        </p:sp>
        <p:sp>
          <p:nvSpPr>
            <p:cNvPr id="36" name="Line 44"/>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7" name="Text Box 45"/>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2</a:t>
              </a:r>
              <a:endParaRPr lang="en-US" altLang="zh-CN" dirty="0">
                <a:ea typeface="SimSun" pitchFamily="2" charset="-122"/>
              </a:endParaRPr>
            </a:p>
          </p:txBody>
        </p:sp>
        <p:sp>
          <p:nvSpPr>
            <p:cNvPr id="38" name="Line 46"/>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39" name="Text Box 47"/>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1</a:t>
              </a:r>
              <a:endParaRPr lang="en-US" altLang="zh-CN" dirty="0">
                <a:ea typeface="SimSun" pitchFamily="2" charset="-122"/>
              </a:endParaRPr>
            </a:p>
          </p:txBody>
        </p:sp>
        <p:sp>
          <p:nvSpPr>
            <p:cNvPr id="40" name="Line 48"/>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1" name="Text Box 49"/>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spcBef>
                  <a:spcPct val="50000"/>
                </a:spcBef>
              </a:pPr>
              <a:r>
                <a:rPr lang="en-US" altLang="zh-CN" sz="1800" dirty="0">
                  <a:ea typeface="SimSun" pitchFamily="2" charset="-122"/>
                </a:rPr>
                <a:t>Step 0</a:t>
              </a:r>
              <a:endParaRPr lang="en-US" altLang="zh-CN" dirty="0">
                <a:ea typeface="SimSun" pitchFamily="2" charset="-122"/>
              </a:endParaRPr>
            </a:p>
          </p:txBody>
        </p:sp>
        <p:sp>
          <p:nvSpPr>
            <p:cNvPr id="42" name="Line 50"/>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3" name="Line 51"/>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4" name="Line 52"/>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5" name="Line 53"/>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6" name="Line 54"/>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7" name="Line 55"/>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8" name="Line 56"/>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49" name="Line 57"/>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dirty="0"/>
            </a:p>
          </p:txBody>
        </p:sp>
        <p:sp>
          <p:nvSpPr>
            <p:cNvPr id="50" name="Text Box 58"/>
            <p:cNvSpPr txBox="1">
              <a:spLocks noChangeArrowheads="1"/>
            </p:cNvSpPr>
            <p:nvPr/>
          </p:nvSpPr>
          <p:spPr bwMode="auto">
            <a:xfrm>
              <a:off x="4305" y="1824"/>
              <a:ext cx="127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r>
                <a:rPr lang="en-US" altLang="zh-CN" b="1" dirty="0">
                  <a:ea typeface="SimSun" pitchFamily="2" charset="-122"/>
                </a:rPr>
                <a:t>agglomerative</a:t>
              </a:r>
            </a:p>
            <a:p>
              <a:r>
                <a:rPr lang="en-US" altLang="zh-CN" b="1" dirty="0">
                  <a:ea typeface="SimSun" pitchFamily="2" charset="-122"/>
                </a:rPr>
                <a:t>(AGNES)</a:t>
              </a:r>
            </a:p>
          </p:txBody>
        </p:sp>
        <p:sp>
          <p:nvSpPr>
            <p:cNvPr id="51" name="Text Box 59"/>
            <p:cNvSpPr txBox="1">
              <a:spLocks noChangeArrowheads="1"/>
            </p:cNvSpPr>
            <p:nvPr/>
          </p:nvSpPr>
          <p:spPr bwMode="auto">
            <a:xfrm>
              <a:off x="4401" y="3552"/>
              <a:ext cx="87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r>
                <a:rPr lang="en-US" altLang="zh-CN" b="1" dirty="0">
                  <a:ea typeface="SimSun" pitchFamily="2" charset="-122"/>
                </a:rPr>
                <a:t>divisive</a:t>
              </a:r>
            </a:p>
            <a:p>
              <a:r>
                <a:rPr lang="en-US" altLang="zh-CN" b="1" dirty="0">
                  <a:ea typeface="SimSun" pitchFamily="2" charset="-122"/>
                </a:rPr>
                <a:t>(DIANA)</a:t>
              </a:r>
              <a:endParaRPr lang="en-US" altLang="zh-CN" dirty="0">
                <a:ea typeface="SimSun" pitchFamily="2" charset="-122"/>
              </a:endParaRPr>
            </a:p>
          </p:txBody>
        </p:sp>
      </p:grpSp>
    </p:spTree>
    <p:extLst>
      <p:ext uri="{BB962C8B-B14F-4D97-AF65-F5344CB8AC3E}">
        <p14:creationId xmlns:p14="http://schemas.microsoft.com/office/powerpoint/2010/main" val="10822568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33</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Hierarchical Clustering</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Hierarchical clustering has </a:t>
            </a:r>
            <a:br>
              <a:rPr lang="en-US" altLang="en-US" dirty="0" smtClean="0"/>
            </a:br>
            <a:r>
              <a:rPr lang="en-US" altLang="en-US" dirty="0" smtClean="0"/>
              <a:t>many applications in </a:t>
            </a:r>
            <a:br>
              <a:rPr lang="en-US" altLang="en-US" dirty="0" smtClean="0"/>
            </a:br>
            <a:r>
              <a:rPr lang="en-US" altLang="en-US" dirty="0" smtClean="0"/>
              <a:t>bioinformatics, and particularly </a:t>
            </a:r>
            <a:br>
              <a:rPr lang="en-US" altLang="en-US" dirty="0" smtClean="0"/>
            </a:br>
            <a:r>
              <a:rPr lang="en-US" altLang="en-US" dirty="0" smtClean="0"/>
              <a:t>in phylogenetic classification </a:t>
            </a:r>
            <a:br>
              <a:rPr lang="en-US" altLang="en-US" dirty="0" smtClean="0"/>
            </a:br>
            <a:r>
              <a:rPr lang="en-US" altLang="en-US" dirty="0" smtClean="0"/>
              <a:t>in which species are organized </a:t>
            </a:r>
            <a:br>
              <a:rPr lang="en-US" altLang="en-US" dirty="0" smtClean="0"/>
            </a:br>
            <a:r>
              <a:rPr lang="en-US" altLang="en-US" dirty="0" smtClean="0"/>
              <a:t>along a tree – the tree of life.</a:t>
            </a:r>
          </a:p>
        </p:txBody>
      </p:sp>
      <p:graphicFrame>
        <p:nvGraphicFramePr>
          <p:cNvPr id="7" name="Object 6"/>
          <p:cNvGraphicFramePr>
            <a:graphicFrameLocks noChangeAspect="1"/>
          </p:cNvGraphicFramePr>
          <p:nvPr>
            <p:extLst>
              <p:ext uri="{D42A27DB-BD31-4B8C-83A1-F6EECF244321}">
                <p14:modId xmlns:p14="http://schemas.microsoft.com/office/powerpoint/2010/main" val="1750628796"/>
              </p:ext>
            </p:extLst>
          </p:nvPr>
        </p:nvGraphicFramePr>
        <p:xfrm>
          <a:off x="6906202" y="1761065"/>
          <a:ext cx="4111625" cy="4114800"/>
        </p:xfrm>
        <a:graphic>
          <a:graphicData uri="http://schemas.openxmlformats.org/presentationml/2006/ole">
            <mc:AlternateContent xmlns:mc="http://schemas.openxmlformats.org/markup-compatibility/2006">
              <mc:Choice xmlns:v="urn:schemas-microsoft-com:vml" Requires="v">
                <p:oleObj spid="_x0000_s11301" name="Picture" r:id="rId3" imgW="2372400" imgH="2372400" progId="Word.Picture.8">
                  <p:embed/>
                </p:oleObj>
              </mc:Choice>
              <mc:Fallback>
                <p:oleObj name="Picture" r:id="rId3" imgW="2372400" imgH="2372400" progId="Word.Picture.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6202" y="1761065"/>
                        <a:ext cx="4111625" cy="4114800"/>
                      </a:xfrm>
                      <a:prstGeom prst="rect">
                        <a:avLst/>
                      </a:prstGeom>
                      <a:noFill/>
                      <a:ln>
                        <a:noFill/>
                      </a:ln>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671606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34</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b="1" dirty="0" smtClean="0">
                <a:solidFill>
                  <a:srgbClr val="FFFF00"/>
                </a:solidFill>
              </a:rPr>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34320254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xfrm>
            <a:off x="8808027" y="6336818"/>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35</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Analysis</a:t>
            </a:r>
          </a:p>
        </p:txBody>
      </p:sp>
      <p:sp>
        <p:nvSpPr>
          <p:cNvPr id="8198" name="Rectangle 3"/>
          <p:cNvSpPr>
            <a:spLocks noGrp="1" noChangeArrowheads="1"/>
          </p:cNvSpPr>
          <p:nvPr>
            <p:ph type="body" idx="1"/>
          </p:nvPr>
        </p:nvSpPr>
        <p:spPr>
          <a:xfrm>
            <a:off x="514350" y="1464733"/>
            <a:ext cx="8686800" cy="4588933"/>
          </a:xfrm>
        </p:spPr>
        <p:txBody>
          <a:bodyPr>
            <a:normAutofit fontScale="92500" lnSpcReduction="10000"/>
          </a:bodyPr>
          <a:lstStyle/>
          <a:p>
            <a:r>
              <a:rPr lang="en-US" altLang="en-US" dirty="0" smtClean="0"/>
              <a:t>Pathways are more complex structures than clusters.</a:t>
            </a:r>
          </a:p>
          <a:p>
            <a:endParaRPr lang="en-US" altLang="en-US" dirty="0"/>
          </a:p>
          <a:p>
            <a:r>
              <a:rPr lang="en-US" altLang="en-US" dirty="0" smtClean="0"/>
              <a:t>A biological pathway corresponds to a series of </a:t>
            </a:r>
            <a:br>
              <a:rPr lang="en-US" altLang="en-US" dirty="0" smtClean="0"/>
            </a:br>
            <a:r>
              <a:rPr lang="en-US" altLang="en-US" dirty="0" smtClean="0"/>
              <a:t>actions among molecules in a cell that leads to a </a:t>
            </a:r>
            <a:br>
              <a:rPr lang="en-US" altLang="en-US" dirty="0" smtClean="0"/>
            </a:br>
            <a:r>
              <a:rPr lang="en-US" altLang="en-US" dirty="0" smtClean="0"/>
              <a:t>certain product or change.</a:t>
            </a:r>
          </a:p>
          <a:p>
            <a:endParaRPr lang="en-US" altLang="en-US" dirty="0"/>
          </a:p>
          <a:p>
            <a:r>
              <a:rPr lang="en-US" altLang="en-US" dirty="0" smtClean="0"/>
              <a:t>For example, a pathway can result in the formation </a:t>
            </a:r>
            <a:br>
              <a:rPr lang="en-US" altLang="en-US" dirty="0" smtClean="0"/>
            </a:br>
            <a:r>
              <a:rPr lang="en-US" altLang="en-US" dirty="0" smtClean="0"/>
              <a:t>of a particular protein, or can turn a gene on or off. </a:t>
            </a:r>
          </a:p>
          <a:p>
            <a:endParaRPr lang="en-US" altLang="en-US" dirty="0"/>
          </a:p>
          <a:p>
            <a:r>
              <a:rPr lang="en-US" altLang="en-US" dirty="0" smtClean="0"/>
              <a:t>Biological pathways may be mostly: metabolic, genetic, or signal transduction.</a:t>
            </a:r>
          </a:p>
        </p:txBody>
      </p:sp>
      <p:pic>
        <p:nvPicPr>
          <p:cNvPr id="12290" name="Picture 2" descr="View larg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7527" y="2026227"/>
            <a:ext cx="3574473" cy="357447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7029450" y="5835676"/>
            <a:ext cx="5124450" cy="369332"/>
          </a:xfrm>
          <a:prstGeom prst="rect">
            <a:avLst/>
          </a:prstGeom>
        </p:spPr>
        <p:txBody>
          <a:bodyPr wrap="square">
            <a:spAutoFit/>
          </a:bodyPr>
          <a:lstStyle/>
          <a:p>
            <a:r>
              <a:rPr lang="en-US" altLang="en-US" dirty="0"/>
              <a:t>From </a:t>
            </a:r>
            <a:r>
              <a:rPr lang="en-US" altLang="en-US" dirty="0" smtClean="0"/>
              <a:t>National Human Genome Research Institute</a:t>
            </a:r>
            <a:endParaRPr lang="en-US" altLang="en-US" dirty="0"/>
          </a:p>
        </p:txBody>
      </p:sp>
    </p:spTree>
    <p:extLst>
      <p:ext uri="{BB962C8B-B14F-4D97-AF65-F5344CB8AC3E}">
        <p14:creationId xmlns:p14="http://schemas.microsoft.com/office/powerpoint/2010/main" val="26267965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xfrm>
            <a:off x="8808027" y="6336818"/>
            <a:ext cx="27432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Analysis</a:t>
            </a:r>
          </a:p>
        </p:txBody>
      </p:sp>
      <p:sp>
        <p:nvSpPr>
          <p:cNvPr id="8198" name="Rectangle 3"/>
          <p:cNvSpPr>
            <a:spLocks noGrp="1" noChangeArrowheads="1"/>
          </p:cNvSpPr>
          <p:nvPr>
            <p:ph type="body" idx="1"/>
          </p:nvPr>
        </p:nvSpPr>
        <p:spPr>
          <a:xfrm>
            <a:off x="514350" y="1464733"/>
            <a:ext cx="8686800" cy="4588933"/>
          </a:xfrm>
        </p:spPr>
        <p:txBody>
          <a:bodyPr>
            <a:normAutofit lnSpcReduction="10000"/>
          </a:bodyPr>
          <a:lstStyle/>
          <a:p>
            <a:r>
              <a:rPr lang="en-US" altLang="en-US" dirty="0" smtClean="0"/>
              <a:t>In comparison a gene regulatory network (GRN) may involve multiple pathways also called gene regulation pathways.</a:t>
            </a:r>
          </a:p>
          <a:p>
            <a:endParaRPr lang="en-US" altLang="en-US" dirty="0" smtClean="0"/>
          </a:p>
          <a:p>
            <a:r>
              <a:rPr lang="en-US" altLang="en-US" dirty="0" smtClean="0"/>
              <a:t>A GRN has for effect to increase or decrease the </a:t>
            </a:r>
            <a:br>
              <a:rPr lang="en-US" altLang="en-US" dirty="0" smtClean="0"/>
            </a:br>
            <a:r>
              <a:rPr lang="en-US" altLang="en-US" dirty="0" smtClean="0"/>
              <a:t>production of mRNA from a particular gene, set of </a:t>
            </a:r>
            <a:br>
              <a:rPr lang="en-US" altLang="en-US" dirty="0" smtClean="0"/>
            </a:br>
            <a:r>
              <a:rPr lang="en-US" altLang="en-US" dirty="0" smtClean="0"/>
              <a:t>genes,  or the corresponding protein(s).</a:t>
            </a:r>
          </a:p>
          <a:p>
            <a:endParaRPr lang="en-US" altLang="en-US" dirty="0" smtClean="0"/>
          </a:p>
          <a:p>
            <a:r>
              <a:rPr lang="en-US" altLang="en-US" dirty="0" smtClean="0"/>
              <a:t>It is very important for treatment to determine the pathways involved in disease progression as to find cures (ex: CML).</a:t>
            </a:r>
            <a:endParaRPr lang="en-US" altLang="en-US" dirty="0"/>
          </a:p>
        </p:txBody>
      </p:sp>
      <p:pic>
        <p:nvPicPr>
          <p:cNvPr id="15362" name="Picture 2" descr="https://upload.wikimedia.org/wikipedia/commons/thumb/d/df/Gene_Regulatory_Network_2.jpg/360px-Gene_Regulatory_Network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8967" y="2514600"/>
            <a:ext cx="4061320" cy="212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1768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37</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b="1" dirty="0" smtClean="0">
                <a:solidFill>
                  <a:srgbClr val="FFFF00"/>
                </a:solidFill>
              </a:rPr>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398940769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38</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a:t>
            </a:r>
            <a:r>
              <a:rPr lang="en-US" altLang="en-US" b="1" dirty="0">
                <a:effectLst>
                  <a:outerShdw blurRad="38100" dist="38100" dir="2700000" algn="tl">
                    <a:srgbClr val="000000">
                      <a:alpha val="43137"/>
                    </a:srgbClr>
                  </a:outerShdw>
                </a:effectLst>
              </a:rPr>
              <a:t>A</a:t>
            </a:r>
            <a:r>
              <a:rPr lang="en-US" altLang="en-US" b="1" dirty="0" smtClean="0">
                <a:effectLst>
                  <a:outerShdw blurRad="38100" dist="38100" dir="2700000" algn="tl">
                    <a:srgbClr val="000000">
                      <a:alpha val="43137"/>
                    </a:srgbClr>
                  </a:outerShdw>
                </a:effectLst>
              </a:rPr>
              <a:t>nalysis Overview</a:t>
            </a:r>
          </a:p>
        </p:txBody>
      </p:sp>
      <p:sp>
        <p:nvSpPr>
          <p:cNvPr id="8198" name="Rectangle 3"/>
          <p:cNvSpPr>
            <a:spLocks noGrp="1" noChangeArrowheads="1"/>
          </p:cNvSpPr>
          <p:nvPr>
            <p:ph type="body" idx="1"/>
          </p:nvPr>
        </p:nvSpPr>
        <p:spPr>
          <a:xfrm>
            <a:off x="902277" y="1572683"/>
            <a:ext cx="8686800" cy="4588933"/>
          </a:xfrm>
        </p:spPr>
        <p:txBody>
          <a:bodyPr>
            <a:normAutofit fontScale="92500" lnSpcReduction="10000"/>
          </a:bodyPr>
          <a:lstStyle/>
          <a:p>
            <a:r>
              <a:rPr lang="en-US" altLang="en-US" dirty="0"/>
              <a:t>Complex systems are composed of many elements interacting with one another.</a:t>
            </a:r>
          </a:p>
          <a:p>
            <a:endParaRPr lang="en-US" altLang="en-US" dirty="0">
              <a:sym typeface="Symbol" panose="05050102010706020507" pitchFamily="18" charset="2"/>
            </a:endParaRPr>
          </a:p>
          <a:p>
            <a:r>
              <a:rPr lang="en-US" altLang="en-US" dirty="0">
                <a:sym typeface="Symbol" panose="05050102010706020507" pitchFamily="18" charset="2"/>
              </a:rPr>
              <a:t>Interactions are frequent so that the system changes and reorganizes based on these.</a:t>
            </a:r>
          </a:p>
          <a:p>
            <a:endParaRPr lang="en-US" altLang="en-US" dirty="0">
              <a:sym typeface="Symbol" panose="05050102010706020507" pitchFamily="18" charset="2"/>
            </a:endParaRPr>
          </a:p>
          <a:p>
            <a:r>
              <a:rPr lang="en-US" altLang="en-US" dirty="0">
                <a:sym typeface="Symbol" panose="05050102010706020507" pitchFamily="18" charset="2"/>
              </a:rPr>
              <a:t>Even small changes in the system can cause important changes in the whole system. </a:t>
            </a:r>
          </a:p>
          <a:p>
            <a:endParaRPr lang="en-US" altLang="en-US" dirty="0">
              <a:sym typeface="Symbol" panose="05050102010706020507" pitchFamily="18" charset="2"/>
            </a:endParaRPr>
          </a:p>
          <a:p>
            <a:r>
              <a:rPr lang="en-US" altLang="en-US" dirty="0">
                <a:sym typeface="Symbol" panose="05050102010706020507" pitchFamily="18" charset="2"/>
              </a:rPr>
              <a:t>Complex systems researchers need tools to represent and understand their functioning.</a:t>
            </a:r>
            <a:endParaRPr lang="en-US" altLang="en-US" sz="2000" dirty="0">
              <a:sym typeface="Symbol" panose="05050102010706020507" pitchFamily="18" charset="2"/>
            </a:endParaRPr>
          </a:p>
          <a:p>
            <a:endParaRPr lang="en-US" altLang="en-US" dirty="0" smtClean="0"/>
          </a:p>
        </p:txBody>
      </p:sp>
      <p:pic>
        <p:nvPicPr>
          <p:cNvPr id="16386" name="Picture 2" descr="Image result for complex systems go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0150" y="2278855"/>
            <a:ext cx="3371850" cy="2950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4549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a:t>
            </a:r>
            <a:r>
              <a:rPr lang="en-US" altLang="en-US" b="1" dirty="0">
                <a:effectLst>
                  <a:outerShdw blurRad="38100" dist="38100" dir="2700000" algn="tl">
                    <a:srgbClr val="000000">
                      <a:alpha val="43137"/>
                    </a:srgbClr>
                  </a:outerShdw>
                </a:effectLst>
              </a:rPr>
              <a:t>A</a:t>
            </a:r>
            <a:r>
              <a:rPr lang="en-US" altLang="en-US" b="1" dirty="0" smtClean="0">
                <a:effectLst>
                  <a:outerShdw blurRad="38100" dist="38100" dir="2700000" algn="tl">
                    <a:srgbClr val="000000">
                      <a:alpha val="43137"/>
                    </a:srgbClr>
                  </a:outerShdw>
                </a:effectLst>
              </a:rPr>
              <a:t>nalysis Overview</a:t>
            </a:r>
          </a:p>
        </p:txBody>
      </p:sp>
      <p:sp>
        <p:nvSpPr>
          <p:cNvPr id="8198" name="Rectangle 3"/>
          <p:cNvSpPr>
            <a:spLocks noGrp="1" noChangeArrowheads="1"/>
          </p:cNvSpPr>
          <p:nvPr>
            <p:ph type="body" idx="1"/>
          </p:nvPr>
        </p:nvSpPr>
        <p:spPr>
          <a:xfrm>
            <a:off x="902277" y="1572683"/>
            <a:ext cx="8686800" cy="4588933"/>
          </a:xfrm>
        </p:spPr>
        <p:txBody>
          <a:bodyPr>
            <a:normAutofit/>
          </a:bodyPr>
          <a:lstStyle/>
          <a:p>
            <a:r>
              <a:rPr lang="en-US" altLang="en-US" dirty="0" smtClean="0"/>
              <a:t>Pathway analysis focuses mainly on:</a:t>
            </a:r>
          </a:p>
          <a:p>
            <a:endParaRPr lang="en-US" altLang="en-US" sz="2000" dirty="0">
              <a:sym typeface="Symbol" panose="05050102010706020507" pitchFamily="18" charset="2"/>
            </a:endParaRPr>
          </a:p>
          <a:p>
            <a:pPr lvl="1"/>
            <a:r>
              <a:rPr lang="en-US" altLang="en-US" dirty="0" smtClean="0">
                <a:sym typeface="Symbol" panose="05050102010706020507" pitchFamily="18" charset="2"/>
              </a:rPr>
              <a:t>Gene set enrichment analysis which aims at mapping genes being upregulated or downregulated to higher level structures such as biological pathways and gene regulatory networks. They can start from differentially expressed genes and linking them to neighboring genes and pathways.</a:t>
            </a:r>
          </a:p>
          <a:p>
            <a:pPr lvl="1"/>
            <a:endParaRPr lang="en-US" altLang="en-US" dirty="0">
              <a:sym typeface="Symbol" panose="05050102010706020507" pitchFamily="18" charset="2"/>
            </a:endParaRPr>
          </a:p>
          <a:p>
            <a:pPr lvl="1"/>
            <a:r>
              <a:rPr lang="en-US" altLang="en-US" dirty="0" smtClean="0">
                <a:sym typeface="Symbol" panose="05050102010706020507" pitchFamily="18" charset="2"/>
              </a:rPr>
              <a:t>Causal discovery which aims at building pathways and networks from data, and testing network structure hypothesis.</a:t>
            </a:r>
          </a:p>
          <a:p>
            <a:pPr lvl="1"/>
            <a:endParaRPr lang="en-US" altLang="en-US" dirty="0">
              <a:sym typeface="Symbol" panose="05050102010706020507" pitchFamily="18" charset="2"/>
            </a:endParaRPr>
          </a:p>
          <a:p>
            <a:pPr lvl="1"/>
            <a:endParaRPr lang="en-US" altLang="en-US" dirty="0">
              <a:sym typeface="Symbol" panose="05050102010706020507" pitchFamily="18" charset="2"/>
            </a:endParaRPr>
          </a:p>
          <a:p>
            <a:endParaRPr lang="en-US" altLang="en-US" dirty="0" smtClean="0"/>
          </a:p>
        </p:txBody>
      </p:sp>
    </p:spTree>
    <p:extLst>
      <p:ext uri="{BB962C8B-B14F-4D97-AF65-F5344CB8AC3E}">
        <p14:creationId xmlns:p14="http://schemas.microsoft.com/office/powerpoint/2010/main" val="139276221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40</a:t>
            </a:fld>
            <a:endParaRPr lang="en-US" altLang="en-US" sz="1400" dirty="0"/>
          </a:p>
        </p:txBody>
      </p:sp>
      <p:sp>
        <p:nvSpPr>
          <p:cNvPr id="8197" name="Rectangle 2"/>
          <p:cNvSpPr>
            <a:spLocks noGrp="1" noChangeArrowheads="1"/>
          </p:cNvSpPr>
          <p:nvPr>
            <p:ph type="title"/>
          </p:nvPr>
        </p:nvSpPr>
        <p:spPr>
          <a:xfrm>
            <a:off x="2209800" y="170391"/>
            <a:ext cx="7772400" cy="1143000"/>
          </a:xfrm>
        </p:spPr>
        <p:txBody>
          <a:bodyPr/>
          <a:lstStyle/>
          <a:p>
            <a:r>
              <a:rPr lang="en-US" altLang="en-US" b="1" dirty="0" smtClean="0">
                <a:effectLst>
                  <a:outerShdw blurRad="38100" dist="38100" dir="2700000" algn="tl">
                    <a:srgbClr val="000000">
                      <a:alpha val="43137"/>
                    </a:srgbClr>
                  </a:outerShdw>
                </a:effectLst>
              </a:rPr>
              <a:t>Pathway </a:t>
            </a:r>
            <a:r>
              <a:rPr lang="en-US" altLang="en-US" b="1" dirty="0">
                <a:effectLst>
                  <a:outerShdw blurRad="38100" dist="38100" dir="2700000" algn="tl">
                    <a:srgbClr val="000000">
                      <a:alpha val="43137"/>
                    </a:srgbClr>
                  </a:outerShdw>
                </a:effectLst>
              </a:rPr>
              <a:t>A</a:t>
            </a:r>
            <a:r>
              <a:rPr lang="en-US" altLang="en-US" b="1" dirty="0" smtClean="0">
                <a:effectLst>
                  <a:outerShdw blurRad="38100" dist="38100" dir="2700000" algn="tl">
                    <a:srgbClr val="000000">
                      <a:alpha val="43137"/>
                    </a:srgbClr>
                  </a:outerShdw>
                </a:effectLst>
              </a:rPr>
              <a:t>nalysis Overview</a:t>
            </a:r>
          </a:p>
        </p:txBody>
      </p:sp>
      <p:sp>
        <p:nvSpPr>
          <p:cNvPr id="8198" name="Rectangle 3"/>
          <p:cNvSpPr>
            <a:spLocks noGrp="1" noChangeArrowheads="1"/>
          </p:cNvSpPr>
          <p:nvPr>
            <p:ph type="body" idx="1"/>
          </p:nvPr>
        </p:nvSpPr>
        <p:spPr>
          <a:xfrm>
            <a:off x="1752600" y="1540404"/>
            <a:ext cx="8686800" cy="4588933"/>
          </a:xfrm>
        </p:spPr>
        <p:txBody>
          <a:bodyPr>
            <a:normAutofit lnSpcReduction="10000"/>
          </a:bodyPr>
          <a:lstStyle/>
          <a:p>
            <a:r>
              <a:rPr lang="en-US" altLang="en-US" dirty="0" smtClean="0"/>
              <a:t>Ultimately the goal is to move from biological pathways to gene regulatory networks.</a:t>
            </a:r>
          </a:p>
          <a:p>
            <a:r>
              <a:rPr lang="en-US" altLang="en-US" dirty="0" smtClean="0"/>
              <a:t>Gene </a:t>
            </a:r>
            <a:r>
              <a:rPr lang="en-US" altLang="en-US" dirty="0"/>
              <a:t>transcription depends on </a:t>
            </a:r>
            <a:endParaRPr lang="en-US" altLang="en-US" dirty="0" smtClean="0"/>
          </a:p>
          <a:p>
            <a:pPr lvl="1"/>
            <a:r>
              <a:rPr lang="en-US" altLang="en-US" dirty="0" smtClean="0"/>
              <a:t>Trans regulatory circuits:</a:t>
            </a:r>
            <a:endParaRPr lang="en-US" altLang="en-US" dirty="0"/>
          </a:p>
          <a:p>
            <a:pPr lvl="2"/>
            <a:r>
              <a:rPr lang="en-US" altLang="en-US" dirty="0"/>
              <a:t>The trans-regulatory circuit is considered as the regulatory interactions between upstream regulatory genes and transcription factor binding site motifs or cis elements </a:t>
            </a:r>
            <a:r>
              <a:rPr lang="en-US" altLang="en-US" dirty="0">
                <a:sym typeface="Wingdings" panose="05000000000000000000" pitchFamily="2" charset="2"/>
              </a:rPr>
              <a:t> transcription factors.</a:t>
            </a:r>
            <a:r>
              <a:rPr lang="en-US" altLang="en-US" dirty="0"/>
              <a:t> </a:t>
            </a:r>
          </a:p>
          <a:p>
            <a:pPr lvl="1"/>
            <a:r>
              <a:rPr lang="en-US" altLang="en-US" dirty="0"/>
              <a:t>C</a:t>
            </a:r>
            <a:r>
              <a:rPr lang="en-US" altLang="en-US" dirty="0" smtClean="0"/>
              <a:t>is-regulatory circuit:  </a:t>
            </a:r>
          </a:p>
          <a:p>
            <a:pPr lvl="2"/>
            <a:r>
              <a:rPr lang="en-US" altLang="en-US" dirty="0" smtClean="0"/>
              <a:t>The cis-regulatory </a:t>
            </a:r>
            <a:r>
              <a:rPr lang="en-US" altLang="en-US" dirty="0"/>
              <a:t>c</a:t>
            </a:r>
            <a:r>
              <a:rPr lang="en-US" altLang="en-US" dirty="0" smtClean="0"/>
              <a:t>ircuit can be viewed </a:t>
            </a:r>
            <a:r>
              <a:rPr lang="en-US" altLang="en-US" dirty="0"/>
              <a:t>as a dynamic interactive circuit among binding site motifs with their effective action on the expression scheme of the target gene </a:t>
            </a:r>
            <a:r>
              <a:rPr lang="en-US" altLang="en-US" dirty="0">
                <a:sym typeface="Wingdings" panose="05000000000000000000" pitchFamily="2" charset="2"/>
              </a:rPr>
              <a:t> binding site motifs</a:t>
            </a:r>
            <a:r>
              <a:rPr lang="en-US" altLang="en-US" dirty="0" smtClean="0">
                <a:sym typeface="Wingdings" panose="05000000000000000000" pitchFamily="2" charset="2"/>
              </a:rPr>
              <a:t>.</a:t>
            </a:r>
          </a:p>
          <a:p>
            <a:pPr lvl="1"/>
            <a:r>
              <a:rPr lang="en-US" altLang="en-US" dirty="0" smtClean="0">
                <a:sym typeface="Wingdings" panose="05000000000000000000" pitchFamily="2" charset="2"/>
              </a:rPr>
              <a:t>Another mechanism is to add/remove genes to/from a network to change its behavior.</a:t>
            </a:r>
            <a:endParaRPr lang="en-US" altLang="en-US" dirty="0"/>
          </a:p>
          <a:p>
            <a:endParaRPr lang="en-US" altLang="en-US" dirty="0" smtClean="0"/>
          </a:p>
        </p:txBody>
      </p:sp>
    </p:spTree>
    <p:extLst>
      <p:ext uri="{BB962C8B-B14F-4D97-AF65-F5344CB8AC3E}">
        <p14:creationId xmlns:p14="http://schemas.microsoft.com/office/powerpoint/2010/main" val="7838576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41</a:t>
            </a:fld>
            <a:endParaRPr lang="en-US" altLang="en-US" sz="1400" dirty="0"/>
          </a:p>
        </p:txBody>
      </p:sp>
      <p:sp>
        <p:nvSpPr>
          <p:cNvPr id="8198" name="Rectangle 3"/>
          <p:cNvSpPr>
            <a:spLocks noGrp="1" noChangeArrowheads="1"/>
          </p:cNvSpPr>
          <p:nvPr>
            <p:ph type="body" idx="1"/>
          </p:nvPr>
        </p:nvSpPr>
        <p:spPr>
          <a:xfrm>
            <a:off x="1302327" y="1455374"/>
            <a:ext cx="8686800" cy="4588933"/>
          </a:xfrm>
        </p:spPr>
        <p:txBody>
          <a:bodyPr>
            <a:normAutofit/>
          </a:bodyPr>
          <a:lstStyle/>
          <a:p>
            <a:r>
              <a:rPr lang="en-US" altLang="en-US" dirty="0"/>
              <a:t>Next step in genomics: assemble functional components of genomes and cells into the circuits that transform signals into cellular responses.</a:t>
            </a:r>
          </a:p>
          <a:p>
            <a:endParaRPr lang="en-US" altLang="en-US" dirty="0">
              <a:sym typeface="Symbol" panose="05050102010706020507" pitchFamily="18" charset="2"/>
            </a:endParaRPr>
          </a:p>
          <a:p>
            <a:r>
              <a:rPr lang="en-US" altLang="en-US" dirty="0">
                <a:sym typeface="Symbol" panose="05050102010706020507" pitchFamily="18" charset="2"/>
              </a:rPr>
              <a:t>Two approaches:</a:t>
            </a:r>
          </a:p>
          <a:p>
            <a:pPr lvl="1"/>
            <a:r>
              <a:rPr lang="en-US" altLang="en-US" dirty="0">
                <a:sym typeface="Symbol" panose="05050102010706020507" pitchFamily="18" charset="2"/>
              </a:rPr>
              <a:t>Small-scale approaches develop detailed quantitative models of the regulatory circuits controlling one or very few genes.</a:t>
            </a:r>
          </a:p>
          <a:p>
            <a:pPr lvl="1"/>
            <a:r>
              <a:rPr lang="en-US" altLang="en-US" dirty="0">
                <a:sym typeface="Symbol" panose="05050102010706020507" pitchFamily="18" charset="2"/>
              </a:rPr>
              <a:t>Large-scale approaches use computational algorithms to reconstruct genome-scale circuits.</a:t>
            </a:r>
          </a:p>
          <a:p>
            <a:pPr lvl="1"/>
            <a:endParaRPr lang="en-US" altLang="en-US" dirty="0">
              <a:sym typeface="Symbol" panose="05050102010706020507" pitchFamily="18" charset="2"/>
            </a:endParaRPr>
          </a:p>
          <a:p>
            <a:r>
              <a:rPr lang="en-US" altLang="en-US" sz="2400" dirty="0" smtClean="0">
                <a:sym typeface="Symbol" panose="05050102010706020507" pitchFamily="18" charset="2"/>
              </a:rPr>
              <a:t>They are </a:t>
            </a:r>
            <a:r>
              <a:rPr lang="en-US" altLang="en-US" sz="2400" dirty="0">
                <a:sym typeface="Symbol" panose="05050102010706020507" pitchFamily="18" charset="2"/>
              </a:rPr>
              <a:t>likely to merge to produce genome-wide models.</a:t>
            </a:r>
          </a:p>
          <a:p>
            <a:endParaRPr lang="en-US" altLang="en-US" dirty="0" smtClean="0"/>
          </a:p>
        </p:txBody>
      </p:sp>
      <p:sp>
        <p:nvSpPr>
          <p:cNvPr id="2" name="AutoShape 2" descr="Image result for gene regulatory network go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97" name="Rectangle 2"/>
          <p:cNvSpPr>
            <a:spLocks noGrp="1" noChangeArrowheads="1"/>
          </p:cNvSpPr>
          <p:nvPr>
            <p:ph type="title"/>
          </p:nvPr>
        </p:nvSpPr>
        <p:spPr>
          <a:xfrm>
            <a:off x="1428307" y="131245"/>
            <a:ext cx="7772400" cy="1143000"/>
          </a:xfrm>
        </p:spPr>
        <p:txBody>
          <a:bodyPr/>
          <a:lstStyle/>
          <a:p>
            <a:r>
              <a:rPr lang="en-US" altLang="en-US" b="1" dirty="0" smtClean="0">
                <a:effectLst>
                  <a:outerShdw blurRad="38100" dist="38100" dir="2700000" algn="tl">
                    <a:srgbClr val="000000">
                      <a:alpha val="43137"/>
                    </a:srgbClr>
                  </a:outerShdw>
                </a:effectLst>
              </a:rPr>
              <a:t>Pathway </a:t>
            </a:r>
            <a:r>
              <a:rPr lang="en-US" altLang="en-US" b="1" dirty="0">
                <a:effectLst>
                  <a:outerShdw blurRad="38100" dist="38100" dir="2700000" algn="tl">
                    <a:srgbClr val="000000">
                      <a:alpha val="43137"/>
                    </a:srgbClr>
                  </a:outerShdw>
                </a:effectLst>
              </a:rPr>
              <a:t>A</a:t>
            </a:r>
            <a:r>
              <a:rPr lang="en-US" altLang="en-US" b="1" dirty="0" smtClean="0">
                <a:effectLst>
                  <a:outerShdw blurRad="38100" dist="38100" dir="2700000" algn="tl">
                    <a:srgbClr val="000000">
                      <a:alpha val="43137"/>
                    </a:srgbClr>
                  </a:outerShdw>
                </a:effectLst>
              </a:rPr>
              <a:t>nalysis Overview</a:t>
            </a:r>
          </a:p>
        </p:txBody>
      </p:sp>
    </p:spTree>
    <p:extLst>
      <p:ext uri="{BB962C8B-B14F-4D97-AF65-F5344CB8AC3E}">
        <p14:creationId xmlns:p14="http://schemas.microsoft.com/office/powerpoint/2010/main" val="3079950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42</a:t>
            </a:fld>
            <a:endParaRPr lang="en-US" altLang="en-US" sz="1400" dirty="0"/>
          </a:p>
        </p:txBody>
      </p:sp>
      <p:sp>
        <p:nvSpPr>
          <p:cNvPr id="2" name="AutoShape 2" descr="Image result for gene regulatory network go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pic>
        <p:nvPicPr>
          <p:cNvPr id="20482" name="Picture 2" descr="http://pubs.niaaa.nih.gov/publications/arcr343/images/wolen0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798" y="1608139"/>
            <a:ext cx="7620000" cy="375285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906087" y="5844857"/>
            <a:ext cx="1962785" cy="369332"/>
          </a:xfrm>
          <a:prstGeom prst="rect">
            <a:avLst/>
          </a:prstGeom>
        </p:spPr>
        <p:txBody>
          <a:bodyPr wrap="square">
            <a:spAutoFit/>
          </a:bodyPr>
          <a:lstStyle/>
          <a:p>
            <a:r>
              <a:rPr lang="en-US" altLang="en-US" dirty="0" smtClean="0"/>
              <a:t>(Wolen et al.)</a:t>
            </a:r>
            <a:endParaRPr lang="en-US" altLang="en-US" dirty="0"/>
          </a:p>
        </p:txBody>
      </p:sp>
      <p:pic>
        <p:nvPicPr>
          <p:cNvPr id="3" name="Picture 2"/>
          <p:cNvPicPr>
            <a:picLocks noChangeAspect="1"/>
          </p:cNvPicPr>
          <p:nvPr/>
        </p:nvPicPr>
        <p:blipFill>
          <a:blip r:embed="rId3"/>
          <a:stretch>
            <a:fillRect/>
          </a:stretch>
        </p:blipFill>
        <p:spPr>
          <a:xfrm>
            <a:off x="5762734" y="125178"/>
            <a:ext cx="6309687" cy="6732822"/>
          </a:xfrm>
          <a:prstGeom prst="rect">
            <a:avLst/>
          </a:prstGeom>
        </p:spPr>
      </p:pic>
      <p:sp>
        <p:nvSpPr>
          <p:cNvPr id="8197" name="Rectangle 2"/>
          <p:cNvSpPr>
            <a:spLocks noGrp="1" noChangeArrowheads="1"/>
          </p:cNvSpPr>
          <p:nvPr>
            <p:ph type="title"/>
          </p:nvPr>
        </p:nvSpPr>
        <p:spPr>
          <a:xfrm>
            <a:off x="152400" y="160338"/>
            <a:ext cx="7151914" cy="1143000"/>
          </a:xfrm>
        </p:spPr>
        <p:txBody>
          <a:bodyPr/>
          <a:lstStyle/>
          <a:p>
            <a:r>
              <a:rPr lang="en-US" altLang="en-US" b="1" dirty="0" smtClean="0">
                <a:effectLst>
                  <a:outerShdw blurRad="38100" dist="38100" dir="2700000" algn="tl">
                    <a:srgbClr val="000000">
                      <a:alpha val="43137"/>
                    </a:srgbClr>
                  </a:outerShdw>
                </a:effectLst>
              </a:rPr>
              <a:t>Pathway </a:t>
            </a:r>
            <a:r>
              <a:rPr lang="en-US" altLang="en-US" b="1" dirty="0">
                <a:effectLst>
                  <a:outerShdw blurRad="38100" dist="38100" dir="2700000" algn="tl">
                    <a:srgbClr val="000000">
                      <a:alpha val="43137"/>
                    </a:srgbClr>
                  </a:outerShdw>
                </a:effectLst>
              </a:rPr>
              <a:t>A</a:t>
            </a:r>
            <a:r>
              <a:rPr lang="en-US" altLang="en-US" b="1" dirty="0" smtClean="0">
                <a:effectLst>
                  <a:outerShdw blurRad="38100" dist="38100" dir="2700000" algn="tl">
                    <a:srgbClr val="000000">
                      <a:alpha val="43137"/>
                    </a:srgbClr>
                  </a:outerShdw>
                </a:effectLst>
              </a:rPr>
              <a:t>nalysis Overview</a:t>
            </a:r>
          </a:p>
        </p:txBody>
      </p:sp>
      <p:sp>
        <p:nvSpPr>
          <p:cNvPr id="9" name="Rectangle 8"/>
          <p:cNvSpPr/>
          <p:nvPr/>
        </p:nvSpPr>
        <p:spPr>
          <a:xfrm>
            <a:off x="10530840" y="7937"/>
            <a:ext cx="1634432" cy="646331"/>
          </a:xfrm>
          <a:prstGeom prst="rect">
            <a:avLst/>
          </a:prstGeom>
        </p:spPr>
        <p:txBody>
          <a:bodyPr wrap="square">
            <a:spAutoFit/>
          </a:bodyPr>
          <a:lstStyle/>
          <a:p>
            <a:r>
              <a:rPr lang="en-US" altLang="en-US" dirty="0"/>
              <a:t>(</a:t>
            </a:r>
            <a:r>
              <a:rPr lang="en-US" altLang="en-US" dirty="0" smtClean="0"/>
              <a:t>Kim et al. 2009)</a:t>
            </a:r>
            <a:endParaRPr lang="en-US" altLang="en-US" dirty="0"/>
          </a:p>
        </p:txBody>
      </p:sp>
    </p:spTree>
    <p:extLst>
      <p:ext uri="{BB962C8B-B14F-4D97-AF65-F5344CB8AC3E}">
        <p14:creationId xmlns:p14="http://schemas.microsoft.com/office/powerpoint/2010/main" val="183480594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43</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b="1" dirty="0" smtClean="0">
                <a:solidFill>
                  <a:srgbClr val="FFFF00"/>
                </a:solidFill>
              </a:rPr>
              <a:t>Pathway discovery</a:t>
            </a:r>
          </a:p>
          <a:p>
            <a:pPr lvl="1"/>
            <a:r>
              <a:rPr lang="en-US" dirty="0" smtClean="0"/>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20496425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44</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Discovery</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A large number of pathways is already known and can be retrieved from databases:</a:t>
            </a:r>
          </a:p>
          <a:p>
            <a:endParaRPr lang="en-US" altLang="en-US" dirty="0"/>
          </a:p>
          <a:p>
            <a:pPr lvl="1"/>
            <a:r>
              <a:rPr lang="en-US" altLang="en-US" dirty="0" smtClean="0"/>
              <a:t>KEGG (Kyoto Encyclopedia of Genes and Genomes) has known 494 pathways.</a:t>
            </a:r>
          </a:p>
          <a:p>
            <a:pPr lvl="1"/>
            <a:endParaRPr lang="en-US" altLang="en-US" dirty="0"/>
          </a:p>
          <a:p>
            <a:pPr lvl="1"/>
            <a:r>
              <a:rPr lang="en-US" altLang="en-US" dirty="0" smtClean="0"/>
              <a:t>It has both healthy pathways and disease-specific pathways.</a:t>
            </a:r>
          </a:p>
          <a:p>
            <a:pPr lvl="1"/>
            <a:endParaRPr lang="en-US" altLang="en-US" dirty="0"/>
          </a:p>
          <a:p>
            <a:pPr lvl="1"/>
            <a:r>
              <a:rPr lang="en-US" altLang="en-US" dirty="0" smtClean="0"/>
              <a:t>Fee-based however the previous version is freely available.</a:t>
            </a:r>
          </a:p>
        </p:txBody>
      </p:sp>
    </p:spTree>
    <p:extLst>
      <p:ext uri="{BB962C8B-B14F-4D97-AF65-F5344CB8AC3E}">
        <p14:creationId xmlns:p14="http://schemas.microsoft.com/office/powerpoint/2010/main" val="44992800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45</a:t>
            </a:fld>
            <a:endParaRPr lang="en-US" altLang="en-US" sz="1400" dirty="0"/>
          </a:p>
        </p:txBody>
      </p:sp>
      <p:sp>
        <p:nvSpPr>
          <p:cNvPr id="8197" name="Rectangle 2"/>
          <p:cNvSpPr>
            <a:spLocks noGrp="1" noChangeArrowheads="1"/>
          </p:cNvSpPr>
          <p:nvPr>
            <p:ph type="title"/>
          </p:nvPr>
        </p:nvSpPr>
        <p:spPr>
          <a:xfrm>
            <a:off x="1997985" y="0"/>
            <a:ext cx="7772400" cy="1143000"/>
          </a:xfrm>
        </p:spPr>
        <p:txBody>
          <a:bodyPr/>
          <a:lstStyle/>
          <a:p>
            <a:r>
              <a:rPr lang="en-US" altLang="en-US" b="1" dirty="0" smtClean="0">
                <a:effectLst>
                  <a:outerShdw blurRad="38100" dist="38100" dir="2700000" algn="tl">
                    <a:srgbClr val="000000">
                      <a:alpha val="43137"/>
                    </a:srgbClr>
                  </a:outerShdw>
                </a:effectLst>
              </a:rPr>
              <a:t>Pathway Discovery</a:t>
            </a:r>
          </a:p>
        </p:txBody>
      </p:sp>
      <p:pic>
        <p:nvPicPr>
          <p:cNvPr id="3" name="Picture 2"/>
          <p:cNvPicPr>
            <a:picLocks noChangeAspect="1"/>
          </p:cNvPicPr>
          <p:nvPr/>
        </p:nvPicPr>
        <p:blipFill>
          <a:blip r:embed="rId2"/>
          <a:stretch>
            <a:fillRect/>
          </a:stretch>
        </p:blipFill>
        <p:spPr>
          <a:xfrm>
            <a:off x="3014995" y="827457"/>
            <a:ext cx="6076950" cy="5562600"/>
          </a:xfrm>
          <a:prstGeom prst="rect">
            <a:avLst/>
          </a:prstGeom>
        </p:spPr>
      </p:pic>
      <p:sp>
        <p:nvSpPr>
          <p:cNvPr id="8" name="Rectangle 7"/>
          <p:cNvSpPr/>
          <p:nvPr/>
        </p:nvSpPr>
        <p:spPr>
          <a:xfrm>
            <a:off x="533401" y="5844857"/>
            <a:ext cx="2335472" cy="923330"/>
          </a:xfrm>
          <a:prstGeom prst="rect">
            <a:avLst/>
          </a:prstGeom>
        </p:spPr>
        <p:txBody>
          <a:bodyPr wrap="square">
            <a:spAutoFit/>
          </a:bodyPr>
          <a:lstStyle/>
          <a:p>
            <a:r>
              <a:rPr lang="en-US" altLang="en-US" dirty="0" smtClean="0"/>
              <a:t>pathways in cancer </a:t>
            </a:r>
          </a:p>
          <a:p>
            <a:r>
              <a:rPr lang="en-US" altLang="en-US" dirty="0" smtClean="0"/>
              <a:t>(</a:t>
            </a:r>
            <a:r>
              <a:rPr lang="en-US" altLang="en-US" dirty="0" smtClean="0">
                <a:hlinkClick r:id="rId3"/>
              </a:rPr>
              <a:t>www.genome.jp/kegg/</a:t>
            </a:r>
            <a:r>
              <a:rPr lang="en-US" altLang="en-US" dirty="0" smtClean="0"/>
              <a:t>)  </a:t>
            </a:r>
            <a:endParaRPr lang="en-US" altLang="en-US" dirty="0"/>
          </a:p>
        </p:txBody>
      </p:sp>
    </p:spTree>
    <p:extLst>
      <p:ext uri="{BB962C8B-B14F-4D97-AF65-F5344CB8AC3E}">
        <p14:creationId xmlns:p14="http://schemas.microsoft.com/office/powerpoint/2010/main" val="33266802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Discovery</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Pathway enrichment uses known pathways from a pathway database and links them to differentially expressed genes.</a:t>
            </a:r>
          </a:p>
          <a:p>
            <a:pPr lvl="1"/>
            <a:r>
              <a:rPr lang="en-US" altLang="en-US" dirty="0" smtClean="0"/>
              <a:t>Pathway databases such as KEGG, REACTOME, BIOCARTA etc. are used to map differentially expressed genes.</a:t>
            </a:r>
          </a:p>
          <a:p>
            <a:pPr lvl="1"/>
            <a:r>
              <a:rPr lang="en-US" altLang="en-US" dirty="0" smtClean="0"/>
              <a:t>The association between these genes and pathways is quantified to statistically determine which pathways are significantly involved.</a:t>
            </a:r>
          </a:p>
          <a:p>
            <a:pPr lvl="1"/>
            <a:r>
              <a:rPr lang="en-US" altLang="en-US" dirty="0" smtClean="0"/>
              <a:t>Main methods involved:</a:t>
            </a:r>
          </a:p>
          <a:p>
            <a:pPr lvl="2"/>
            <a:r>
              <a:rPr lang="en-US" altLang="en-US" dirty="0" smtClean="0"/>
              <a:t>Causal discovery.</a:t>
            </a:r>
          </a:p>
          <a:p>
            <a:pPr lvl="2"/>
            <a:r>
              <a:rPr lang="en-US" altLang="en-US" dirty="0" smtClean="0"/>
              <a:t>De-convolution methods.</a:t>
            </a:r>
          </a:p>
          <a:p>
            <a:pPr lvl="2"/>
            <a:r>
              <a:rPr lang="en-US" altLang="en-US" dirty="0" smtClean="0"/>
              <a:t>Metabolomics.</a:t>
            </a:r>
          </a:p>
        </p:txBody>
      </p:sp>
    </p:spTree>
    <p:extLst>
      <p:ext uri="{BB962C8B-B14F-4D97-AF65-F5344CB8AC3E}">
        <p14:creationId xmlns:p14="http://schemas.microsoft.com/office/powerpoint/2010/main" val="392787755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47</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Discovery</a:t>
            </a:r>
          </a:p>
        </p:txBody>
      </p:sp>
      <p:sp>
        <p:nvSpPr>
          <p:cNvPr id="8198" name="Rectangle 3"/>
          <p:cNvSpPr>
            <a:spLocks noGrp="1" noChangeArrowheads="1"/>
          </p:cNvSpPr>
          <p:nvPr>
            <p:ph type="body" idx="1"/>
          </p:nvPr>
        </p:nvSpPr>
        <p:spPr>
          <a:xfrm>
            <a:off x="1583315" y="1273628"/>
            <a:ext cx="8686800" cy="4588933"/>
          </a:xfrm>
        </p:spPr>
        <p:txBody>
          <a:bodyPr>
            <a:normAutofit/>
          </a:bodyPr>
          <a:lstStyle/>
          <a:p>
            <a:r>
              <a:rPr lang="en-US" altLang="en-US" dirty="0" smtClean="0"/>
              <a:t>Graphical models support causal discovery and the creation of models linking gene alterations, gene expression data, and other types of data (clinical, environmental, metabolomics etc.).</a:t>
            </a:r>
          </a:p>
          <a:p>
            <a:r>
              <a:rPr lang="en-US" altLang="en-US" dirty="0" smtClean="0"/>
              <a:t>Ex</a:t>
            </a:r>
            <a:r>
              <a:rPr lang="en-US" altLang="en-US" dirty="0"/>
              <a:t>: Tetrad (</a:t>
            </a:r>
            <a:r>
              <a:rPr lang="en-US" altLang="en-US" dirty="0">
                <a:hlinkClick r:id="rId2"/>
              </a:rPr>
              <a:t>http://www.phil.cmu.edu/tetrad</a:t>
            </a:r>
            <a:r>
              <a:rPr lang="en-US" altLang="en-US" dirty="0" smtClean="0">
                <a:hlinkClick r:id="rId2"/>
              </a:rPr>
              <a:t>/</a:t>
            </a:r>
            <a:r>
              <a:rPr lang="en-US" altLang="en-US" dirty="0" smtClean="0"/>
              <a:t>). </a:t>
            </a:r>
          </a:p>
        </p:txBody>
      </p:sp>
      <p:grpSp>
        <p:nvGrpSpPr>
          <p:cNvPr id="6" name="Group 5"/>
          <p:cNvGrpSpPr>
            <a:grpSpLocks noChangeAspect="1"/>
          </p:cNvGrpSpPr>
          <p:nvPr/>
        </p:nvGrpSpPr>
        <p:grpSpPr>
          <a:xfrm>
            <a:off x="3659244" y="3662751"/>
            <a:ext cx="4726220" cy="2876161"/>
            <a:chOff x="-29409" y="0"/>
            <a:chExt cx="2563521" cy="1521435"/>
          </a:xfrm>
          <a:extLst>
            <a:ext uri="{0CCBE362-F206-4b92-989A-16890622DB6E}">
              <ma14:wrappingTextBoxFlag xmlns="" xmlns:ma14="http://schemas.microsoft.com/office/mac/drawingml/2011/main"/>
            </a:ext>
          </a:extLst>
        </p:grpSpPr>
        <p:grpSp>
          <p:nvGrpSpPr>
            <p:cNvPr id="7" name="Group 6"/>
            <p:cNvGrpSpPr/>
            <p:nvPr/>
          </p:nvGrpSpPr>
          <p:grpSpPr>
            <a:xfrm>
              <a:off x="60264" y="233088"/>
              <a:ext cx="2302933" cy="811976"/>
              <a:chOff x="60264" y="233088"/>
              <a:chExt cx="2785535" cy="982134"/>
            </a:xfrm>
          </p:grpSpPr>
          <p:sp>
            <p:nvSpPr>
              <p:cNvPr id="18" name="Oval 17"/>
              <p:cNvSpPr/>
              <p:nvPr/>
            </p:nvSpPr>
            <p:spPr>
              <a:xfrm>
                <a:off x="280398" y="233088"/>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19" name="Oval 18"/>
              <p:cNvSpPr/>
              <p:nvPr/>
            </p:nvSpPr>
            <p:spPr>
              <a:xfrm>
                <a:off x="889998" y="233088"/>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0" name="Oval 19"/>
              <p:cNvSpPr/>
              <p:nvPr/>
            </p:nvSpPr>
            <p:spPr>
              <a:xfrm>
                <a:off x="1491131" y="233088"/>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1" name="Oval 20"/>
              <p:cNvSpPr/>
              <p:nvPr/>
            </p:nvSpPr>
            <p:spPr>
              <a:xfrm>
                <a:off x="2151531" y="233088"/>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2" name="Oval 21"/>
              <p:cNvSpPr/>
              <p:nvPr/>
            </p:nvSpPr>
            <p:spPr>
              <a:xfrm>
                <a:off x="60264" y="1003554"/>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3" name="Oval 22"/>
              <p:cNvSpPr/>
              <p:nvPr/>
            </p:nvSpPr>
            <p:spPr>
              <a:xfrm>
                <a:off x="612402" y="1003555"/>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4" name="Oval 23"/>
              <p:cNvSpPr/>
              <p:nvPr/>
            </p:nvSpPr>
            <p:spPr>
              <a:xfrm>
                <a:off x="1134960" y="1003555"/>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5" name="Oval 24"/>
              <p:cNvSpPr/>
              <p:nvPr/>
            </p:nvSpPr>
            <p:spPr>
              <a:xfrm>
                <a:off x="1651998" y="1003555"/>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6" name="Oval 25"/>
              <p:cNvSpPr/>
              <p:nvPr/>
            </p:nvSpPr>
            <p:spPr>
              <a:xfrm>
                <a:off x="2151531" y="1003555"/>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sp>
            <p:nvSpPr>
              <p:cNvPr id="27" name="Oval 26"/>
              <p:cNvSpPr/>
              <p:nvPr/>
            </p:nvSpPr>
            <p:spPr>
              <a:xfrm>
                <a:off x="2634132" y="1003555"/>
                <a:ext cx="211667" cy="211667"/>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spcBef>
                    <a:spcPts val="0"/>
                  </a:spcBef>
                  <a:spcAft>
                    <a:spcPts val="1000"/>
                  </a:spcAft>
                </a:pPr>
                <a:r>
                  <a:rPr lang="en-US" sz="3200" dirty="0">
                    <a:effectLst/>
                    <a:ea typeface="Times New Roman"/>
                    <a:cs typeface="Times New Roman"/>
                  </a:rPr>
                  <a:t> </a:t>
                </a:r>
                <a:endParaRPr lang="en-US" sz="3200" dirty="0">
                  <a:effectLst/>
                  <a:ea typeface="ＭＳ 明朝"/>
                  <a:cs typeface="Times New Roman"/>
                </a:endParaRPr>
              </a:p>
            </p:txBody>
          </p:sp>
          <p:cxnSp>
            <p:nvCxnSpPr>
              <p:cNvPr id="28" name="Straight Arrow Connector 27"/>
              <p:cNvCxnSpPr/>
              <p:nvPr/>
            </p:nvCxnSpPr>
            <p:spPr>
              <a:xfrm flipH="1">
                <a:off x="166098" y="444755"/>
                <a:ext cx="220134" cy="558799"/>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718236" y="444755"/>
                <a:ext cx="277595" cy="5588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2257365" y="444755"/>
                <a:ext cx="0" cy="5588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995831" y="444755"/>
                <a:ext cx="244962" cy="5588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a:off x="995832" y="444755"/>
                <a:ext cx="687164" cy="58979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a:off x="2257365" y="444755"/>
                <a:ext cx="407765" cy="58979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8" name="Text Box 325"/>
            <p:cNvSpPr txBox="1"/>
            <p:nvPr/>
          </p:nvSpPr>
          <p:spPr>
            <a:xfrm>
              <a:off x="135916" y="0"/>
              <a:ext cx="491288" cy="502211"/>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SGA</a:t>
              </a:r>
              <a:r>
                <a:rPr lang="en-US" kern="1200" baseline="-25000" dirty="0" smtClean="0">
                  <a:solidFill>
                    <a:srgbClr val="000000"/>
                  </a:solidFill>
                  <a:effectLst/>
                  <a:latin typeface="Cambria"/>
                  <a:ea typeface="ＭＳ 明朝"/>
                  <a:cs typeface="Times New Roman"/>
                </a:rPr>
                <a:t>1</a:t>
              </a:r>
              <a:endParaRPr lang="en-US" sz="2000" dirty="0">
                <a:effectLst/>
                <a:latin typeface="Times"/>
                <a:ea typeface="ＭＳ 明朝"/>
                <a:cs typeface="Times New Roman"/>
              </a:endParaRPr>
            </a:p>
          </p:txBody>
        </p:sp>
        <p:sp>
          <p:nvSpPr>
            <p:cNvPr id="9" name="Text Box 326"/>
            <p:cNvSpPr txBox="1"/>
            <p:nvPr/>
          </p:nvSpPr>
          <p:spPr>
            <a:xfrm>
              <a:off x="683459" y="0"/>
              <a:ext cx="571378" cy="502211"/>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SGA</a:t>
              </a:r>
              <a:r>
                <a:rPr lang="en-US" baseline="-25000" dirty="0">
                  <a:solidFill>
                    <a:srgbClr val="000000"/>
                  </a:solidFill>
                  <a:latin typeface="Cambria"/>
                  <a:ea typeface="ＭＳ 明朝"/>
                  <a:cs typeface="Times New Roman"/>
                </a:rPr>
                <a:t>2</a:t>
              </a:r>
              <a:endParaRPr lang="en-US" sz="2000" dirty="0">
                <a:effectLst/>
                <a:latin typeface="Times"/>
                <a:ea typeface="ＭＳ 明朝"/>
                <a:cs typeface="Times New Roman"/>
              </a:endParaRPr>
            </a:p>
          </p:txBody>
        </p:sp>
        <p:sp>
          <p:nvSpPr>
            <p:cNvPr id="10" name="Text Box 327"/>
            <p:cNvSpPr txBox="1"/>
            <p:nvPr/>
          </p:nvSpPr>
          <p:spPr>
            <a:xfrm>
              <a:off x="1205930" y="0"/>
              <a:ext cx="550842" cy="502211"/>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SGA</a:t>
              </a:r>
              <a:r>
                <a:rPr lang="en-US" kern="1200" baseline="-25000" dirty="0" smtClean="0">
                  <a:solidFill>
                    <a:srgbClr val="000000"/>
                  </a:solidFill>
                  <a:effectLst/>
                  <a:latin typeface="Cambria"/>
                  <a:ea typeface="ＭＳ 明朝"/>
                  <a:cs typeface="Times New Roman"/>
                </a:rPr>
                <a:t>2</a:t>
              </a:r>
              <a:endParaRPr lang="en-US" sz="2000" dirty="0">
                <a:effectLst/>
                <a:latin typeface="Times"/>
                <a:ea typeface="ＭＳ 明朝"/>
                <a:cs typeface="Times New Roman"/>
              </a:endParaRPr>
            </a:p>
          </p:txBody>
        </p:sp>
        <p:sp>
          <p:nvSpPr>
            <p:cNvPr id="11" name="Text Box 328"/>
            <p:cNvSpPr txBox="1"/>
            <p:nvPr/>
          </p:nvSpPr>
          <p:spPr>
            <a:xfrm>
              <a:off x="1756772" y="0"/>
              <a:ext cx="501935" cy="502211"/>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SGA</a:t>
              </a:r>
              <a:r>
                <a:rPr lang="en-US" kern="1200" baseline="-25000" dirty="0" smtClean="0">
                  <a:solidFill>
                    <a:srgbClr val="000000"/>
                  </a:solidFill>
                  <a:effectLst/>
                  <a:latin typeface="Cambria"/>
                  <a:ea typeface="ＭＳ 明朝"/>
                  <a:cs typeface="Times New Roman"/>
                </a:rPr>
                <a:t>3</a:t>
              </a:r>
              <a:endParaRPr lang="en-US" sz="2000" dirty="0">
                <a:effectLst/>
                <a:latin typeface="Times"/>
                <a:ea typeface="ＭＳ 明朝"/>
                <a:cs typeface="Times New Roman"/>
              </a:endParaRPr>
            </a:p>
          </p:txBody>
        </p:sp>
        <p:sp>
          <p:nvSpPr>
            <p:cNvPr id="12" name="Text Box 329"/>
            <p:cNvSpPr txBox="1"/>
            <p:nvPr/>
          </p:nvSpPr>
          <p:spPr>
            <a:xfrm>
              <a:off x="-29409" y="1016228"/>
              <a:ext cx="501935" cy="502210"/>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1</a:t>
              </a:r>
              <a:endParaRPr lang="en-US" sz="2000" dirty="0">
                <a:effectLst/>
                <a:latin typeface="Times"/>
                <a:ea typeface="ＭＳ 明朝"/>
                <a:cs typeface="Times New Roman"/>
              </a:endParaRPr>
            </a:p>
          </p:txBody>
        </p:sp>
        <p:sp>
          <p:nvSpPr>
            <p:cNvPr id="13" name="Text Box 330"/>
            <p:cNvSpPr txBox="1"/>
            <p:nvPr/>
          </p:nvSpPr>
          <p:spPr>
            <a:xfrm>
              <a:off x="881132" y="1025843"/>
              <a:ext cx="373705" cy="262520"/>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3</a:t>
              </a:r>
              <a:endParaRPr lang="en-US" sz="2000" dirty="0">
                <a:effectLst/>
                <a:latin typeface="Times"/>
                <a:ea typeface="ＭＳ 明朝"/>
                <a:cs typeface="Times New Roman"/>
              </a:endParaRPr>
            </a:p>
          </p:txBody>
        </p:sp>
        <p:sp>
          <p:nvSpPr>
            <p:cNvPr id="14" name="Text Box 331"/>
            <p:cNvSpPr txBox="1"/>
            <p:nvPr/>
          </p:nvSpPr>
          <p:spPr>
            <a:xfrm>
              <a:off x="1317713" y="1019413"/>
              <a:ext cx="439059" cy="257175"/>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4</a:t>
              </a:r>
              <a:endParaRPr lang="en-US" sz="2000" dirty="0">
                <a:effectLst/>
                <a:latin typeface="Times"/>
                <a:ea typeface="ＭＳ 明朝"/>
                <a:cs typeface="Times New Roman"/>
              </a:endParaRPr>
            </a:p>
          </p:txBody>
        </p:sp>
        <p:sp>
          <p:nvSpPr>
            <p:cNvPr id="15" name="Text Box 332"/>
            <p:cNvSpPr txBox="1"/>
            <p:nvPr/>
          </p:nvSpPr>
          <p:spPr>
            <a:xfrm>
              <a:off x="1726271" y="1019413"/>
              <a:ext cx="532436" cy="257175"/>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5</a:t>
              </a:r>
              <a:endParaRPr lang="en-US" sz="2000" dirty="0">
                <a:effectLst/>
                <a:latin typeface="Times"/>
                <a:ea typeface="ＭＳ 明朝"/>
                <a:cs typeface="Times New Roman"/>
              </a:endParaRPr>
            </a:p>
          </p:txBody>
        </p:sp>
        <p:sp>
          <p:nvSpPr>
            <p:cNvPr id="16" name="Text Box 333"/>
            <p:cNvSpPr txBox="1"/>
            <p:nvPr/>
          </p:nvSpPr>
          <p:spPr>
            <a:xfrm>
              <a:off x="2161144" y="1012621"/>
              <a:ext cx="372968" cy="263967"/>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6</a:t>
              </a:r>
              <a:endParaRPr lang="en-US" sz="2000" dirty="0">
                <a:effectLst/>
                <a:latin typeface="Times"/>
                <a:ea typeface="ＭＳ 明朝"/>
                <a:cs typeface="Times New Roman"/>
              </a:endParaRPr>
            </a:p>
          </p:txBody>
        </p:sp>
        <p:sp>
          <p:nvSpPr>
            <p:cNvPr id="17" name="Text Box 334"/>
            <p:cNvSpPr txBox="1"/>
            <p:nvPr/>
          </p:nvSpPr>
          <p:spPr>
            <a:xfrm>
              <a:off x="466564" y="1019224"/>
              <a:ext cx="501935" cy="502211"/>
            </a:xfrm>
            <a:prstGeom prst="rect">
              <a:avLst/>
            </a:prstGeom>
            <a:noFill/>
          </p:spPr>
          <p:txBody>
            <a:bodyPr wrap="square" rtlCol="0">
              <a:noAutofit/>
            </a:bodyPr>
            <a:lstStyle/>
            <a:p>
              <a:pPr marL="0" marR="0">
                <a:spcBef>
                  <a:spcPts val="0"/>
                </a:spcBef>
                <a:spcAft>
                  <a:spcPts val="0"/>
                </a:spcAft>
              </a:pPr>
              <a:r>
                <a:rPr lang="en-US" i="1" kern="1200" dirty="0" smtClean="0">
                  <a:solidFill>
                    <a:srgbClr val="000000"/>
                  </a:solidFill>
                  <a:effectLst/>
                  <a:latin typeface="Cambria"/>
                  <a:ea typeface="ＭＳ 明朝"/>
                  <a:cs typeface="Times New Roman"/>
                </a:rPr>
                <a:t>DEG</a:t>
              </a:r>
              <a:r>
                <a:rPr lang="en-US" kern="1200" baseline="-25000" dirty="0" smtClean="0">
                  <a:solidFill>
                    <a:srgbClr val="000000"/>
                  </a:solidFill>
                  <a:effectLst/>
                  <a:latin typeface="Cambria"/>
                  <a:ea typeface="ＭＳ 明朝"/>
                  <a:cs typeface="Times New Roman"/>
                </a:rPr>
                <a:t>2</a:t>
              </a:r>
              <a:endParaRPr lang="en-US" sz="2000" dirty="0">
                <a:effectLst/>
                <a:latin typeface="Times"/>
                <a:ea typeface="ＭＳ 明朝"/>
                <a:cs typeface="Times New Roman"/>
              </a:endParaRPr>
            </a:p>
          </p:txBody>
        </p:sp>
      </p:grpSp>
    </p:spTree>
    <p:extLst>
      <p:ext uri="{BB962C8B-B14F-4D97-AF65-F5344CB8AC3E}">
        <p14:creationId xmlns:p14="http://schemas.microsoft.com/office/powerpoint/2010/main" val="289707683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48</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b="1" dirty="0" smtClean="0">
                <a:solidFill>
                  <a:srgbClr val="FFFF00"/>
                </a:solidFill>
              </a:rPr>
              <a:t>Pathway visualization</a:t>
            </a:r>
          </a:p>
          <a:p>
            <a:r>
              <a:rPr lang="en-US" sz="2400" dirty="0" smtClean="0"/>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415877698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Visualization</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cBioPortal (</a:t>
            </a:r>
            <a:r>
              <a:rPr lang="en-US" altLang="en-US" dirty="0" smtClean="0">
                <a:hlinkClick r:id="rId2"/>
              </a:rPr>
              <a:t>http://www.cbioportal.org</a:t>
            </a:r>
            <a:r>
              <a:rPr lang="en-US" altLang="en-US" dirty="0" smtClean="0"/>
              <a:t>).  </a:t>
            </a:r>
          </a:p>
        </p:txBody>
      </p:sp>
      <p:pic>
        <p:nvPicPr>
          <p:cNvPr id="2" name="Picture 1"/>
          <p:cNvPicPr>
            <a:picLocks noChangeAspect="1"/>
          </p:cNvPicPr>
          <p:nvPr/>
        </p:nvPicPr>
        <p:blipFill>
          <a:blip r:embed="rId3"/>
          <a:stretch>
            <a:fillRect/>
          </a:stretch>
        </p:blipFill>
        <p:spPr>
          <a:xfrm>
            <a:off x="3588884" y="2233664"/>
            <a:ext cx="5239431" cy="4025317"/>
          </a:xfrm>
          <a:prstGeom prst="rect">
            <a:avLst/>
          </a:prstGeom>
        </p:spPr>
      </p:pic>
    </p:spTree>
    <p:extLst>
      <p:ext uri="{BB962C8B-B14F-4D97-AF65-F5344CB8AC3E}">
        <p14:creationId xmlns:p14="http://schemas.microsoft.com/office/powerpoint/2010/main" val="40445526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50</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Visualization</a:t>
            </a:r>
          </a:p>
        </p:txBody>
      </p:sp>
      <p:sp>
        <p:nvSpPr>
          <p:cNvPr id="8198" name="Rectangle 3"/>
          <p:cNvSpPr>
            <a:spLocks noGrp="1" noChangeArrowheads="1"/>
          </p:cNvSpPr>
          <p:nvPr>
            <p:ph type="body" idx="1"/>
          </p:nvPr>
        </p:nvSpPr>
        <p:spPr>
          <a:xfrm>
            <a:off x="1752600" y="1523999"/>
            <a:ext cx="8686800" cy="4588933"/>
          </a:xfrm>
        </p:spPr>
        <p:txBody>
          <a:bodyPr>
            <a:normAutofit fontScale="92500"/>
          </a:bodyPr>
          <a:lstStyle/>
          <a:p>
            <a:r>
              <a:rPr lang="en-US" altLang="en-US" dirty="0" smtClean="0"/>
              <a:t>cBioPortal network functionality:</a:t>
            </a:r>
          </a:p>
          <a:p>
            <a:endParaRPr lang="en-US" altLang="en-US" dirty="0"/>
          </a:p>
          <a:p>
            <a:pPr lvl="1"/>
            <a:r>
              <a:rPr lang="en-US" altLang="en-US" dirty="0" smtClean="0"/>
              <a:t>Screen genes shown by percentage of alteration.</a:t>
            </a:r>
          </a:p>
          <a:p>
            <a:pPr lvl="1"/>
            <a:endParaRPr lang="en-US" altLang="en-US" dirty="0"/>
          </a:p>
          <a:p>
            <a:pPr lvl="1"/>
            <a:r>
              <a:rPr lang="en-US" altLang="en-US" dirty="0" smtClean="0"/>
              <a:t>Interaction data and pathway data come from multiple pathway databases   (REACTOME. NCI Pathway Interaction Database, etc.).</a:t>
            </a:r>
          </a:p>
          <a:p>
            <a:pPr lvl="1"/>
            <a:endParaRPr lang="en-US" altLang="en-US" dirty="0"/>
          </a:p>
          <a:p>
            <a:pPr lvl="1"/>
            <a:r>
              <a:rPr lang="en-US" altLang="en-US" dirty="0" smtClean="0"/>
              <a:t>Additional interactions can be shown such as drugs.</a:t>
            </a:r>
          </a:p>
          <a:p>
            <a:pPr lvl="1"/>
            <a:endParaRPr lang="en-US" altLang="en-US" dirty="0"/>
          </a:p>
          <a:p>
            <a:pPr lvl="1"/>
            <a:r>
              <a:rPr lang="en-US" altLang="en-US" dirty="0" smtClean="0"/>
              <a:t>Two types of nodes:</a:t>
            </a:r>
          </a:p>
          <a:p>
            <a:pPr lvl="2"/>
            <a:r>
              <a:rPr lang="en-US" altLang="en-US" dirty="0" smtClean="0"/>
              <a:t>Seed nodes represent the genes in the user query.</a:t>
            </a:r>
          </a:p>
          <a:p>
            <a:pPr lvl="2"/>
            <a:r>
              <a:rPr lang="en-US" altLang="en-US" dirty="0" smtClean="0"/>
              <a:t>Linker nodes are genes linked to seed nodes in known pathways.</a:t>
            </a:r>
          </a:p>
        </p:txBody>
      </p:sp>
    </p:spTree>
    <p:extLst>
      <p:ext uri="{BB962C8B-B14F-4D97-AF65-F5344CB8AC3E}">
        <p14:creationId xmlns:p14="http://schemas.microsoft.com/office/powerpoint/2010/main" val="11742094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51</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Pathway Visualization</a:t>
            </a:r>
          </a:p>
        </p:txBody>
      </p:sp>
      <p:sp>
        <p:nvSpPr>
          <p:cNvPr id="8198" name="Rectangle 3"/>
          <p:cNvSpPr>
            <a:spLocks noGrp="1" noChangeArrowheads="1"/>
          </p:cNvSpPr>
          <p:nvPr>
            <p:ph type="body" idx="1"/>
          </p:nvPr>
        </p:nvSpPr>
        <p:spPr>
          <a:xfrm>
            <a:off x="1752600" y="1523999"/>
            <a:ext cx="8686800" cy="4588933"/>
          </a:xfrm>
        </p:spPr>
        <p:txBody>
          <a:bodyPr>
            <a:normAutofit/>
          </a:bodyPr>
          <a:lstStyle/>
          <a:p>
            <a:r>
              <a:rPr lang="en-US" altLang="en-US" dirty="0" smtClean="0"/>
              <a:t>Cytoscape</a:t>
            </a:r>
            <a:r>
              <a:rPr lang="en-US" altLang="en-US" dirty="0"/>
              <a:t> (</a:t>
            </a:r>
            <a:r>
              <a:rPr lang="en-US" altLang="en-US" dirty="0">
                <a:hlinkClick r:id="rId2"/>
              </a:rPr>
              <a:t>http://www.cytoscape.org</a:t>
            </a:r>
            <a:r>
              <a:rPr lang="en-US" altLang="en-US" dirty="0" smtClean="0">
                <a:hlinkClick r:id="rId2"/>
              </a:rPr>
              <a:t>/</a:t>
            </a:r>
            <a:r>
              <a:rPr lang="en-US" altLang="en-US" dirty="0" smtClean="0"/>
              <a:t>). </a:t>
            </a:r>
          </a:p>
        </p:txBody>
      </p:sp>
      <p:pic>
        <p:nvPicPr>
          <p:cNvPr id="2" name="Picture 1"/>
          <p:cNvPicPr>
            <a:picLocks noChangeAspect="1"/>
          </p:cNvPicPr>
          <p:nvPr/>
        </p:nvPicPr>
        <p:blipFill>
          <a:blip r:embed="rId3"/>
          <a:stretch>
            <a:fillRect/>
          </a:stretch>
        </p:blipFill>
        <p:spPr>
          <a:xfrm>
            <a:off x="1885950" y="2329542"/>
            <a:ext cx="8267700" cy="3657600"/>
          </a:xfrm>
          <a:prstGeom prst="rect">
            <a:avLst/>
          </a:prstGeom>
        </p:spPr>
      </p:pic>
    </p:spTree>
    <p:extLst>
      <p:ext uri="{BB962C8B-B14F-4D97-AF65-F5344CB8AC3E}">
        <p14:creationId xmlns:p14="http://schemas.microsoft.com/office/powerpoint/2010/main" val="392393633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52</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b="1" dirty="0" smtClean="0">
                <a:solidFill>
                  <a:srgbClr val="FFFF00"/>
                </a:solidFill>
              </a:rPr>
              <a:t>Clustering and biological pathways with R</a:t>
            </a:r>
          </a:p>
          <a:p>
            <a:pPr lvl="1"/>
            <a:r>
              <a:rPr lang="en-US" dirty="0" smtClean="0"/>
              <a:t>R </a:t>
            </a:r>
            <a:r>
              <a:rPr lang="en-US" dirty="0"/>
              <a:t>scripts </a:t>
            </a:r>
            <a:r>
              <a:rPr lang="en-US" dirty="0" smtClean="0"/>
              <a:t>to find clusters and pathways</a:t>
            </a:r>
            <a:endParaRPr lang="en-US" altLang="en-US" dirty="0"/>
          </a:p>
        </p:txBody>
      </p:sp>
    </p:spTree>
    <p:extLst>
      <p:ext uri="{BB962C8B-B14F-4D97-AF65-F5344CB8AC3E}">
        <p14:creationId xmlns:p14="http://schemas.microsoft.com/office/powerpoint/2010/main" val="14790625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53</a:t>
            </a:fld>
            <a:endParaRPr lang="en-US" altLang="en-US" sz="1400" dirty="0"/>
          </a:p>
        </p:txBody>
      </p:sp>
      <p:sp>
        <p:nvSpPr>
          <p:cNvPr id="8197" name="Rectangle 2"/>
          <p:cNvSpPr>
            <a:spLocks noGrp="1" noChangeArrowheads="1"/>
          </p:cNvSpPr>
          <p:nvPr>
            <p:ph type="title"/>
          </p:nvPr>
        </p:nvSpPr>
        <p:spPr>
          <a:xfrm>
            <a:off x="2040515" y="234950"/>
            <a:ext cx="9137558" cy="1143000"/>
          </a:xfrm>
        </p:spPr>
        <p:txBody>
          <a:bodyPr>
            <a:normAutofit fontScale="90000"/>
          </a:bodyPr>
          <a:lstStyle/>
          <a:p>
            <a:r>
              <a:rPr lang="en-US" altLang="en-US" b="1" dirty="0" smtClean="0">
                <a:effectLst>
                  <a:outerShdw blurRad="38100" dist="38100" dir="2700000" algn="tl">
                    <a:srgbClr val="000000">
                      <a:alpha val="43137"/>
                    </a:srgbClr>
                  </a:outerShdw>
                </a:effectLst>
              </a:rPr>
              <a:t>Clustering and Biological Pathways with R</a:t>
            </a:r>
          </a:p>
        </p:txBody>
      </p:sp>
      <p:sp>
        <p:nvSpPr>
          <p:cNvPr id="8198" name="Rectangle 3"/>
          <p:cNvSpPr>
            <a:spLocks noGrp="1" noChangeArrowheads="1"/>
          </p:cNvSpPr>
          <p:nvPr>
            <p:ph type="body" idx="1"/>
          </p:nvPr>
        </p:nvSpPr>
        <p:spPr>
          <a:xfrm>
            <a:off x="0" y="1377950"/>
            <a:ext cx="10263673" cy="4588933"/>
          </a:xfrm>
        </p:spPr>
        <p:txBody>
          <a:bodyPr>
            <a:normAutofit fontScale="92500" lnSpcReduction="10000"/>
          </a:bodyPr>
          <a:lstStyle/>
          <a:p>
            <a:r>
              <a:rPr lang="en-US" altLang="en-US" dirty="0" smtClean="0"/>
              <a:t>R packages for</a:t>
            </a:r>
          </a:p>
          <a:p>
            <a:pPr lvl="1"/>
            <a:r>
              <a:rPr lang="en-US" altLang="en-US" dirty="0"/>
              <a:t>d</a:t>
            </a:r>
            <a:r>
              <a:rPr lang="en-US" altLang="en-US" dirty="0" smtClean="0"/>
              <a:t>atasets</a:t>
            </a:r>
            <a:r>
              <a:rPr lang="en-US" altLang="en-US" dirty="0" smtClean="0"/>
              <a:t> (contains a number of datasets such as iris etc.) </a:t>
            </a:r>
            <a:endParaRPr lang="en-US" altLang="en-US" dirty="0" smtClean="0"/>
          </a:p>
          <a:p>
            <a:pPr lvl="1"/>
            <a:r>
              <a:rPr lang="en-US" altLang="en-US" dirty="0" smtClean="0"/>
              <a:t>Clustering </a:t>
            </a:r>
            <a:r>
              <a:rPr lang="en-US" altLang="en-US" dirty="0"/>
              <a:t>(</a:t>
            </a:r>
            <a:r>
              <a:rPr lang="en-US" altLang="en-US" dirty="0">
                <a:hlinkClick r:id="rId2"/>
              </a:rPr>
              <a:t>https://</a:t>
            </a:r>
            <a:r>
              <a:rPr lang="en-US" altLang="en-US" dirty="0" smtClean="0">
                <a:hlinkClick r:id="rId2"/>
              </a:rPr>
              <a:t>cran.r-project.org/web/views/Cluster.html</a:t>
            </a:r>
            <a:r>
              <a:rPr lang="en-US" altLang="en-US" dirty="0" smtClean="0"/>
              <a:t>) </a:t>
            </a:r>
          </a:p>
          <a:p>
            <a:pPr lvl="2"/>
            <a:r>
              <a:rPr lang="en-US" altLang="en-US" dirty="0" smtClean="0"/>
              <a:t>Partitioning (cluster, etc.)</a:t>
            </a:r>
          </a:p>
          <a:p>
            <a:pPr lvl="2"/>
            <a:r>
              <a:rPr lang="en-US" altLang="en-US" dirty="0" smtClean="0"/>
              <a:t>Density-based (dbscan, densityCut, etc.)</a:t>
            </a:r>
          </a:p>
          <a:p>
            <a:pPr lvl="2"/>
            <a:r>
              <a:rPr lang="en-US" altLang="en-US" dirty="0" smtClean="0"/>
              <a:t>Hierarchical (cluster, etc.)</a:t>
            </a:r>
          </a:p>
          <a:p>
            <a:pPr lvl="2"/>
            <a:endParaRPr lang="en-US" altLang="en-US" dirty="0" smtClean="0"/>
          </a:p>
          <a:p>
            <a:pPr lvl="1"/>
            <a:r>
              <a:rPr lang="en-US" altLang="en-US" dirty="0"/>
              <a:t>Pathway analysis (</a:t>
            </a:r>
            <a:r>
              <a:rPr lang="en-US" altLang="en-US" dirty="0">
                <a:hlinkClick r:id="rId3"/>
              </a:rPr>
              <a:t>http://bioconductor.org/packages/release/BiocViews.html#___</a:t>
            </a:r>
            <a:r>
              <a:rPr lang="en-US" altLang="en-US" dirty="0" smtClean="0">
                <a:hlinkClick r:id="rId3"/>
              </a:rPr>
              <a:t>Pathways</a:t>
            </a:r>
            <a:r>
              <a:rPr lang="en-US" altLang="en-US" dirty="0" smtClean="0"/>
              <a:t>)</a:t>
            </a:r>
          </a:p>
          <a:p>
            <a:pPr lvl="2"/>
            <a:r>
              <a:rPr lang="en-US" altLang="en-US" dirty="0" smtClean="0"/>
              <a:t>KEGGgraph</a:t>
            </a:r>
          </a:p>
          <a:p>
            <a:pPr lvl="2"/>
            <a:r>
              <a:rPr lang="en-US" altLang="en-US" dirty="0" smtClean="0"/>
              <a:t>ROntoTools</a:t>
            </a:r>
          </a:p>
          <a:p>
            <a:pPr lvl="2"/>
            <a:r>
              <a:rPr lang="en-US" altLang="en-US" dirty="0" smtClean="0"/>
              <a:t>ReactomePA</a:t>
            </a:r>
          </a:p>
          <a:p>
            <a:pPr lvl="2"/>
            <a:r>
              <a:rPr lang="en-US" altLang="en-US" dirty="0" smtClean="0"/>
              <a:t>iPathwayGuide</a:t>
            </a:r>
          </a:p>
          <a:p>
            <a:pPr lvl="2"/>
            <a:r>
              <a:rPr lang="en-US" altLang="en-US" dirty="0"/>
              <a:t>e</a:t>
            </a:r>
            <a:r>
              <a:rPr lang="en-US" altLang="en-US" dirty="0" smtClean="0"/>
              <a:t>tc.</a:t>
            </a:r>
          </a:p>
        </p:txBody>
      </p:sp>
      <p:pic>
        <p:nvPicPr>
          <p:cNvPr id="2" name="Picture 1"/>
          <p:cNvPicPr>
            <a:picLocks noChangeAspect="1"/>
          </p:cNvPicPr>
          <p:nvPr/>
        </p:nvPicPr>
        <p:blipFill>
          <a:blip r:embed="rId4"/>
          <a:stretch>
            <a:fillRect/>
          </a:stretch>
        </p:blipFill>
        <p:spPr>
          <a:xfrm>
            <a:off x="7877175" y="2153179"/>
            <a:ext cx="4314825" cy="3038475"/>
          </a:xfrm>
          <a:prstGeom prst="rect">
            <a:avLst/>
          </a:prstGeom>
        </p:spPr>
      </p:pic>
    </p:spTree>
    <p:extLst>
      <p:ext uri="{BB962C8B-B14F-4D97-AF65-F5344CB8AC3E}">
        <p14:creationId xmlns:p14="http://schemas.microsoft.com/office/powerpoint/2010/main" val="42181052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54</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92500" lnSpcReduction="1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sz="2400" dirty="0" smtClean="0"/>
              <a:t>Clustering overview</a:t>
            </a:r>
          </a:p>
          <a:p>
            <a:pPr lvl="1"/>
            <a:r>
              <a:rPr lang="en-US" dirty="0" smtClean="0"/>
              <a:t>Overview </a:t>
            </a:r>
            <a:r>
              <a:rPr lang="en-US" dirty="0"/>
              <a:t>of </a:t>
            </a:r>
            <a:r>
              <a:rPr lang="en-US" dirty="0" smtClean="0"/>
              <a:t>clustering methods</a:t>
            </a:r>
          </a:p>
          <a:p>
            <a:pPr lvl="1"/>
            <a:r>
              <a:rPr lang="en-US" dirty="0" smtClean="0"/>
              <a:t>Similarity assessment</a:t>
            </a:r>
          </a:p>
          <a:p>
            <a:r>
              <a:rPr lang="en-US" sz="2400" dirty="0" smtClean="0"/>
              <a:t>Clustering methods</a:t>
            </a:r>
          </a:p>
          <a:p>
            <a:pPr lvl="1"/>
            <a:r>
              <a:rPr lang="en-US" dirty="0" smtClean="0"/>
              <a:t>Clustering with KMeans</a:t>
            </a:r>
          </a:p>
          <a:p>
            <a:pPr lvl="1"/>
            <a:r>
              <a:rPr lang="en-US" dirty="0" smtClean="0"/>
              <a:t>Density based clustering</a:t>
            </a:r>
          </a:p>
          <a:p>
            <a:pPr lvl="1"/>
            <a:r>
              <a:rPr lang="en-US" dirty="0" smtClean="0"/>
              <a:t>Hierarchical clustering</a:t>
            </a:r>
          </a:p>
          <a:p>
            <a:r>
              <a:rPr lang="en-US" sz="2400" dirty="0" smtClean="0"/>
              <a:t>Pathway analysis</a:t>
            </a:r>
          </a:p>
          <a:p>
            <a:pPr lvl="1"/>
            <a:r>
              <a:rPr lang="en-US" dirty="0" smtClean="0"/>
              <a:t>Pathway analysis overview</a:t>
            </a:r>
          </a:p>
          <a:p>
            <a:pPr lvl="1"/>
            <a:r>
              <a:rPr lang="en-US" dirty="0" smtClean="0"/>
              <a:t>Pathway discovery</a:t>
            </a:r>
          </a:p>
          <a:p>
            <a:pPr lvl="1"/>
            <a:r>
              <a:rPr lang="en-US" dirty="0" smtClean="0"/>
              <a:t>Pathway visualization</a:t>
            </a:r>
          </a:p>
          <a:p>
            <a:r>
              <a:rPr lang="en-US" sz="2400" dirty="0" smtClean="0"/>
              <a:t>Clustering and biological pathways with R</a:t>
            </a:r>
          </a:p>
          <a:p>
            <a:pPr lvl="1"/>
            <a:r>
              <a:rPr lang="en-US" b="1" dirty="0" smtClean="0">
                <a:solidFill>
                  <a:srgbClr val="FFFF00"/>
                </a:solidFill>
              </a:rPr>
              <a:t>R </a:t>
            </a:r>
            <a:r>
              <a:rPr lang="en-US" b="1" dirty="0">
                <a:solidFill>
                  <a:srgbClr val="FFFF00"/>
                </a:solidFill>
              </a:rPr>
              <a:t>scripts </a:t>
            </a:r>
            <a:r>
              <a:rPr lang="en-US" b="1" dirty="0" smtClean="0">
                <a:solidFill>
                  <a:srgbClr val="FFFF00"/>
                </a:solidFill>
              </a:rPr>
              <a:t>to find clusters and pathways</a:t>
            </a:r>
            <a:endParaRPr lang="en-US" altLang="en-US" b="1" dirty="0">
              <a:solidFill>
                <a:srgbClr val="FFFF00"/>
              </a:solidFill>
            </a:endParaRPr>
          </a:p>
        </p:txBody>
      </p:sp>
    </p:spTree>
    <p:extLst>
      <p:ext uri="{BB962C8B-B14F-4D97-AF65-F5344CB8AC3E}">
        <p14:creationId xmlns:p14="http://schemas.microsoft.com/office/powerpoint/2010/main" val="3455279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55</a:t>
            </a:fld>
            <a:endParaRPr lang="en-US" altLang="en-US" sz="1400" dirty="0"/>
          </a:p>
        </p:txBody>
      </p:sp>
      <p:sp>
        <p:nvSpPr>
          <p:cNvPr id="401410" name="Rectangle 2"/>
          <p:cNvSpPr>
            <a:spLocks noGrp="1" noChangeArrowheads="1"/>
          </p:cNvSpPr>
          <p:nvPr>
            <p:ph type="title"/>
          </p:nvPr>
        </p:nvSpPr>
        <p:spPr>
          <a:xfrm>
            <a:off x="905967" y="0"/>
            <a:ext cx="10454760" cy="944217"/>
          </a:xfrm>
        </p:spPr>
        <p:txBody>
          <a:bodyPr vert="horz" lIns="92075" tIns="46038" rIns="92075" bIns="46038" rtlCol="0" anchor="b">
            <a:noAutofit/>
          </a:bodyPr>
          <a:lstStyle/>
          <a:p>
            <a:r>
              <a:rPr lang="en-US" altLang="en-US" b="1" dirty="0" smtClean="0">
                <a:effectLst>
                  <a:outerShdw blurRad="38100" dist="38100" dir="2700000" algn="tl">
                    <a:srgbClr val="000000">
                      <a:alpha val="43137"/>
                    </a:srgbClr>
                  </a:outerShdw>
                </a:effectLst>
              </a:rPr>
              <a:t>R Scripts for Find Clusters and Pathways</a:t>
            </a:r>
            <a:endParaRPr lang="en-US" altLang="en-US" b="1" dirty="0">
              <a:effectLst>
                <a:outerShdw blurRad="38100" dist="38100" dir="2700000" algn="tl">
                  <a:srgbClr val="000000">
                    <a:alpha val="43137"/>
                  </a:srgbClr>
                </a:outerShdw>
              </a:effectLst>
            </a:endParaRPr>
          </a:p>
        </p:txBody>
      </p:sp>
      <p:sp>
        <p:nvSpPr>
          <p:cNvPr id="7174" name="Rectangle 3"/>
          <p:cNvSpPr>
            <a:spLocks noGrp="1" noChangeArrowheads="1"/>
          </p:cNvSpPr>
          <p:nvPr>
            <p:ph type="body" idx="1"/>
          </p:nvPr>
        </p:nvSpPr>
        <p:spPr>
          <a:xfrm>
            <a:off x="1509330" y="1875155"/>
            <a:ext cx="9074727" cy="2804421"/>
          </a:xfrm>
          <a:noFill/>
        </p:spPr>
        <p:txBody>
          <a:bodyPr vert="horz" lIns="92075" tIns="46038" rIns="92075" bIns="46038" rtlCol="0">
            <a:normAutofit/>
          </a:bodyPr>
          <a:lstStyle/>
          <a:p>
            <a:pPr marL="0" indent="0">
              <a:buNone/>
            </a:pPr>
            <a:endParaRPr lang="en-US" altLang="en-US" dirty="0"/>
          </a:p>
          <a:p>
            <a:r>
              <a:rPr lang="en-US" altLang="en-US" dirty="0"/>
              <a:t>Start Jupyter notebook from the provided link</a:t>
            </a:r>
          </a:p>
          <a:p>
            <a:pPr marL="0" indent="0">
              <a:lnSpc>
                <a:spcPct val="90000"/>
              </a:lnSpc>
              <a:buNone/>
            </a:pPr>
            <a:endParaRPr lang="en-US" altLang="en-US" dirty="0"/>
          </a:p>
        </p:txBody>
      </p:sp>
    </p:spTree>
    <p:extLst>
      <p:ext uri="{BB962C8B-B14F-4D97-AF65-F5344CB8AC3E}">
        <p14:creationId xmlns:p14="http://schemas.microsoft.com/office/powerpoint/2010/main" val="2278597563"/>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12213</TotalTime>
  <Words>2444</Words>
  <Application>Microsoft Office PowerPoint</Application>
  <PresentationFormat>Widescreen</PresentationFormat>
  <Paragraphs>707</Paragraphs>
  <Slides>55</Slides>
  <Notes>16</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3</vt:i4>
      </vt:variant>
      <vt:variant>
        <vt:lpstr>Slide Titles</vt:lpstr>
      </vt:variant>
      <vt:variant>
        <vt:i4>55</vt:i4>
      </vt:variant>
    </vt:vector>
  </HeadingPairs>
  <TitlesOfParts>
    <vt:vector size="72" baseType="lpstr">
      <vt:lpstr>Gulim</vt:lpstr>
      <vt:lpstr>ＭＳ 明朝</vt:lpstr>
      <vt:lpstr>SimSun</vt:lpstr>
      <vt:lpstr>Arial</vt:lpstr>
      <vt:lpstr>Calibri</vt:lpstr>
      <vt:lpstr>Calibri Light</vt:lpstr>
      <vt:lpstr>Cambria</vt:lpstr>
      <vt:lpstr>Symbol</vt:lpstr>
      <vt:lpstr>Tahoma</vt:lpstr>
      <vt:lpstr>Times</vt:lpstr>
      <vt:lpstr>Times New Roman</vt:lpstr>
      <vt:lpstr>Wingdings</vt:lpstr>
      <vt:lpstr>Wingdings 2</vt:lpstr>
      <vt:lpstr>HDOfficeLightV0</vt:lpstr>
      <vt:lpstr>Equation</vt:lpstr>
      <vt:lpstr>Worksheet</vt:lpstr>
      <vt:lpstr>Picture</vt:lpstr>
      <vt:lpstr>Module 6</vt:lpstr>
      <vt:lpstr>Outline</vt:lpstr>
      <vt:lpstr>Learning Objectives</vt:lpstr>
      <vt:lpstr>Introduction to Module</vt:lpstr>
      <vt:lpstr>Outline</vt:lpstr>
      <vt:lpstr>Clustering Overview</vt:lpstr>
      <vt:lpstr>Clustering Overview</vt:lpstr>
      <vt:lpstr>Outline</vt:lpstr>
      <vt:lpstr>Overview of Clustering Methods</vt:lpstr>
      <vt:lpstr>Overview of Clustering Methods</vt:lpstr>
      <vt:lpstr>Overview of Clustering Methods</vt:lpstr>
      <vt:lpstr>Outline</vt:lpstr>
      <vt:lpstr>Similarity Assessment</vt:lpstr>
      <vt:lpstr>Similarity Assessment</vt:lpstr>
      <vt:lpstr>Similarity Assessment</vt:lpstr>
      <vt:lpstr>Similarity Assessment</vt:lpstr>
      <vt:lpstr>Similarity Assessment</vt:lpstr>
      <vt:lpstr>Outline</vt:lpstr>
      <vt:lpstr>Clustering Methods</vt:lpstr>
      <vt:lpstr>Outline</vt:lpstr>
      <vt:lpstr>Clustering with KMeans</vt:lpstr>
      <vt:lpstr>Clustering with KMeans</vt:lpstr>
      <vt:lpstr>Clustering with KMeans</vt:lpstr>
      <vt:lpstr>Clustering with KMeans</vt:lpstr>
      <vt:lpstr>Clustering with KMeans</vt:lpstr>
      <vt:lpstr>Clustering with KMeans</vt:lpstr>
      <vt:lpstr>Outline</vt:lpstr>
      <vt:lpstr>Density Based Clustering</vt:lpstr>
      <vt:lpstr>Density Based Clustering</vt:lpstr>
      <vt:lpstr>Outline</vt:lpstr>
      <vt:lpstr>Hierarchical Clustering</vt:lpstr>
      <vt:lpstr>Hierarchical Clustering</vt:lpstr>
      <vt:lpstr>Hierarchical Clustering</vt:lpstr>
      <vt:lpstr>Outline</vt:lpstr>
      <vt:lpstr>Pathway Analysis</vt:lpstr>
      <vt:lpstr>Pathway Analysis</vt:lpstr>
      <vt:lpstr>Outline</vt:lpstr>
      <vt:lpstr>Pathway Analysis Overview</vt:lpstr>
      <vt:lpstr>Pathway Analysis Overview</vt:lpstr>
      <vt:lpstr>Pathway Analysis Overview</vt:lpstr>
      <vt:lpstr>Pathway Analysis Overview</vt:lpstr>
      <vt:lpstr>Pathway Analysis Overview</vt:lpstr>
      <vt:lpstr>Outline</vt:lpstr>
      <vt:lpstr>Pathway Discovery</vt:lpstr>
      <vt:lpstr>Pathway Discovery</vt:lpstr>
      <vt:lpstr>Pathway Discovery</vt:lpstr>
      <vt:lpstr>Pathway Discovery</vt:lpstr>
      <vt:lpstr>Outline</vt:lpstr>
      <vt:lpstr>Pathway Visualization</vt:lpstr>
      <vt:lpstr>Pathway Visualization</vt:lpstr>
      <vt:lpstr>Pathway Visualization</vt:lpstr>
      <vt:lpstr>Outline</vt:lpstr>
      <vt:lpstr>Clustering and Biological Pathways with R</vt:lpstr>
      <vt:lpstr>Outline</vt:lpstr>
      <vt:lpstr>R Scripts for Find Clusters and Pathways</vt:lpstr>
    </vt:vector>
  </TitlesOfParts>
  <Company>SUNY Oswego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Isabelle Bichindaritz</dc:creator>
  <cp:lastModifiedBy>Isabelle Bichindaritz</cp:lastModifiedBy>
  <cp:revision>517</cp:revision>
  <cp:lastPrinted>2016-08-19T15:12:24Z</cp:lastPrinted>
  <dcterms:created xsi:type="dcterms:W3CDTF">2016-07-10T19:12:56Z</dcterms:created>
  <dcterms:modified xsi:type="dcterms:W3CDTF">2016-09-23T02:56:11Z</dcterms:modified>
</cp:coreProperties>
</file>