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261" r:id="rId3"/>
    <p:sldId id="262" r:id="rId4"/>
    <p:sldId id="257" r:id="rId5"/>
    <p:sldId id="263" r:id="rId6"/>
    <p:sldId id="264" r:id="rId7"/>
    <p:sldId id="265" r:id="rId8"/>
    <p:sldId id="266" r:id="rId9"/>
    <p:sldId id="299" r:id="rId10"/>
    <p:sldId id="300" r:id="rId11"/>
    <p:sldId id="311" r:id="rId12"/>
    <p:sldId id="312" r:id="rId13"/>
    <p:sldId id="267" r:id="rId14"/>
    <p:sldId id="268" r:id="rId15"/>
    <p:sldId id="314" r:id="rId16"/>
    <p:sldId id="315" r:id="rId17"/>
    <p:sldId id="317" r:id="rId18"/>
    <p:sldId id="313" r:id="rId19"/>
    <p:sldId id="269" r:id="rId20"/>
    <p:sldId id="270" r:id="rId21"/>
    <p:sldId id="301" r:id="rId22"/>
    <p:sldId id="302" r:id="rId23"/>
    <p:sldId id="271" r:id="rId24"/>
    <p:sldId id="272" r:id="rId25"/>
    <p:sldId id="318" r:id="rId26"/>
    <p:sldId id="273" r:id="rId27"/>
    <p:sldId id="274" r:id="rId28"/>
    <p:sldId id="303" r:id="rId29"/>
    <p:sldId id="304" r:id="rId30"/>
    <p:sldId id="275" r:id="rId31"/>
    <p:sldId id="276" r:id="rId32"/>
    <p:sldId id="277" r:id="rId33"/>
    <p:sldId id="278" r:id="rId34"/>
    <p:sldId id="305" r:id="rId35"/>
    <p:sldId id="306" r:id="rId36"/>
    <p:sldId id="320" r:id="rId37"/>
    <p:sldId id="279" r:id="rId38"/>
    <p:sldId id="280" r:id="rId39"/>
    <p:sldId id="281" r:id="rId40"/>
    <p:sldId id="319" r:id="rId41"/>
    <p:sldId id="282" r:id="rId42"/>
    <p:sldId id="307" r:id="rId43"/>
    <p:sldId id="308" r:id="rId44"/>
    <p:sldId id="283" r:id="rId45"/>
    <p:sldId id="284" r:id="rId46"/>
    <p:sldId id="285" r:id="rId47"/>
    <p:sldId id="310" r:id="rId4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0" d="100"/>
          <a:sy n="50" d="100"/>
        </p:scale>
        <p:origin x="60" y="600"/>
      </p:cViewPr>
      <p:guideLst/>
    </p:cSldViewPr>
  </p:slideViewPr>
  <p:notesTextViewPr>
    <p:cViewPr>
      <p:scale>
        <a:sx n="1" d="1"/>
        <a:sy n="1" d="1"/>
      </p:scale>
      <p:origin x="0" y="0"/>
    </p:cViewPr>
  </p:notesTextViewPr>
  <p:sorterViewPr>
    <p:cViewPr varScale="1">
      <p:scale>
        <a:sx n="100" d="100"/>
        <a:sy n="100" d="100"/>
      </p:scale>
      <p:origin x="0" y="-1248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308481BC-C8FD-4874-AC97-BD3798764E27}" type="datetimeFigureOut">
              <a:rPr lang="en-US" smtClean="0"/>
              <a:t>9/22/2016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ADF3B73-E173-45C2-B65F-B02BEF24A8B4}" type="slidenum">
              <a:rPr lang="en-US" smtClean="0"/>
              <a:t>‹#›</a:t>
            </a:fld>
            <a:endParaRPr lang="en-US"/>
          </a:p>
        </p:txBody>
      </p:sp>
    </p:spTree>
    <p:extLst>
      <p:ext uri="{BB962C8B-B14F-4D97-AF65-F5344CB8AC3E}">
        <p14:creationId xmlns:p14="http://schemas.microsoft.com/office/powerpoint/2010/main" val="101255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2</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980003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036358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5</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707292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7</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750207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13</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119899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19</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128817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23</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62323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26</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890390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30</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991637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32</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283564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37</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249387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39</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043938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44</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24448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46</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206123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47</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968671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3029997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2945169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3384263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r>
              <a:rPr lang="en-US" smtClean="0"/>
              <a:t>1/4/2010</a:t>
            </a:r>
            <a:endParaRPr lang="en-US"/>
          </a:p>
        </p:txBody>
      </p:sp>
      <p:sp>
        <p:nvSpPr>
          <p:cNvPr id="6" name="Footer Placeholder 5"/>
          <p:cNvSpPr>
            <a:spLocks noGrp="1"/>
          </p:cNvSpPr>
          <p:nvPr>
            <p:ph type="ftr" sz="quarter" idx="11"/>
          </p:nvPr>
        </p:nvSpPr>
        <p:spPr/>
        <p:txBody>
          <a:bodyPr/>
          <a:lstStyle/>
          <a:p>
            <a:r>
              <a:rPr lang="en-US" smtClean="0"/>
              <a:t>Isabelle Bichindaritz, SUNY Oswego</a:t>
            </a:r>
            <a:endParaRPr lang="en-US"/>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3182884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5127" y="2507550"/>
            <a:ext cx="5156200"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7550"/>
            <a:ext cx="5181601"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1/4/2010</a:t>
            </a:r>
            <a:endParaRPr lang="en-US"/>
          </a:p>
        </p:txBody>
      </p:sp>
      <p:sp>
        <p:nvSpPr>
          <p:cNvPr id="8" name="Footer Placeholder 7"/>
          <p:cNvSpPr>
            <a:spLocks noGrp="1"/>
          </p:cNvSpPr>
          <p:nvPr>
            <p:ph type="ftr" sz="quarter" idx="11"/>
          </p:nvPr>
        </p:nvSpPr>
        <p:spPr/>
        <p:txBody>
          <a:bodyPr/>
          <a:lstStyle/>
          <a:p>
            <a:r>
              <a:rPr lang="en-US" smtClean="0"/>
              <a:t>Isabelle Bichindaritz, SUNY Oswego</a:t>
            </a:r>
            <a:endParaRPr lang="en-US"/>
          </a:p>
        </p:txBody>
      </p:sp>
      <p:sp>
        <p:nvSpPr>
          <p:cNvPr id="9" name="Slide Number Placeholder 8"/>
          <p:cNvSpPr>
            <a:spLocks noGrp="1"/>
          </p:cNvSpPr>
          <p:nvPr>
            <p:ph type="sldNum" sz="quarter" idx="12"/>
          </p:nvPr>
        </p:nvSpPr>
        <p:spPr/>
        <p:txBody>
          <a:bodyPr/>
          <a:lstStyle/>
          <a:p>
            <a:fld id="{CC28588C-1661-40F2-A5C9-AAE089DDE36E}"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68988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1/4/2010</a:t>
            </a:r>
            <a:endParaRPr lang="en-US"/>
          </a:p>
        </p:txBody>
      </p:sp>
      <p:sp>
        <p:nvSpPr>
          <p:cNvPr id="4" name="Footer Placeholder 3"/>
          <p:cNvSpPr>
            <a:spLocks noGrp="1"/>
          </p:cNvSpPr>
          <p:nvPr>
            <p:ph type="ftr" sz="quarter" idx="11"/>
          </p:nvPr>
        </p:nvSpPr>
        <p:spPr/>
        <p:txBody>
          <a:bodyPr/>
          <a:lstStyle/>
          <a:p>
            <a:r>
              <a:rPr lang="en-US" smtClean="0"/>
              <a:t>Isabelle Bichindaritz, SUNY Oswego</a:t>
            </a:r>
            <a:endParaRPr lang="en-US"/>
          </a:p>
        </p:txBody>
      </p:sp>
      <p:sp>
        <p:nvSpPr>
          <p:cNvPr id="5" name="Slide Number Placeholder 4"/>
          <p:cNvSpPr>
            <a:spLocks noGrp="1"/>
          </p:cNvSpPr>
          <p:nvPr>
            <p:ph type="sldNum" sz="quarter" idx="12"/>
          </p:nvPr>
        </p:nvSpPr>
        <p:spPr/>
        <p:txBody>
          <a:bodyPr/>
          <a:lstStyle/>
          <a:p>
            <a:fld id="{CC28588C-1661-40F2-A5C9-AAE089DDE36E}" type="slidenum">
              <a:rPr lang="en-US" smtClean="0"/>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68919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1/4/2010</a:t>
            </a:r>
            <a:endParaRPr lang="en-US"/>
          </a:p>
        </p:txBody>
      </p:sp>
      <p:sp>
        <p:nvSpPr>
          <p:cNvPr id="3" name="Footer Placeholder 2"/>
          <p:cNvSpPr>
            <a:spLocks noGrp="1"/>
          </p:cNvSpPr>
          <p:nvPr>
            <p:ph type="ftr" sz="quarter" idx="11"/>
          </p:nvPr>
        </p:nvSpPr>
        <p:spPr/>
        <p:txBody>
          <a:bodyPr/>
          <a:lstStyle/>
          <a:p>
            <a:r>
              <a:rPr lang="en-US" smtClean="0"/>
              <a:t>Isabelle Bichindaritz, SUNY Oswego</a:t>
            </a:r>
            <a:endParaRPr lang="en-US"/>
          </a:p>
        </p:txBody>
      </p:sp>
      <p:sp>
        <p:nvSpPr>
          <p:cNvPr id="4" name="Slide Number Placeholder 3"/>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2524609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en-US" smtClean="0"/>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1/4/2010</a:t>
            </a:r>
            <a:endParaRPr lang="en-US"/>
          </a:p>
        </p:txBody>
      </p:sp>
      <p:sp>
        <p:nvSpPr>
          <p:cNvPr id="6" name="Footer Placeholder 5"/>
          <p:cNvSpPr>
            <a:spLocks noGrp="1"/>
          </p:cNvSpPr>
          <p:nvPr>
            <p:ph type="ftr" sz="quarter" idx="11"/>
          </p:nvPr>
        </p:nvSpPr>
        <p:spPr/>
        <p:txBody>
          <a:bodyPr/>
          <a:lstStyle/>
          <a:p>
            <a:r>
              <a:rPr lang="en-US" smtClean="0"/>
              <a:t>Isabelle Bichindaritz, SUNY Oswego</a:t>
            </a:r>
            <a:endParaRPr lang="en-US"/>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310700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1/4/2010</a:t>
            </a:r>
            <a:endParaRPr lang="en-US"/>
          </a:p>
        </p:txBody>
      </p:sp>
      <p:sp>
        <p:nvSpPr>
          <p:cNvPr id="6" name="Footer Placeholder 5"/>
          <p:cNvSpPr>
            <a:spLocks noGrp="1"/>
          </p:cNvSpPr>
          <p:nvPr>
            <p:ph type="ftr" sz="quarter" idx="11"/>
          </p:nvPr>
        </p:nvSpPr>
        <p:spPr/>
        <p:txBody>
          <a:bodyPr/>
          <a:lstStyle/>
          <a:p>
            <a:r>
              <a:rPr lang="en-US" smtClean="0"/>
              <a:t>Isabelle Bichindaritz, SUNY Oswego</a:t>
            </a:r>
            <a:endParaRPr lang="en-US"/>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147435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156027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501645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smtClean="0"/>
              <a:t>1/4/2010</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r>
              <a:rPr lang="en-US" smtClean="0"/>
              <a:t>Isabelle Bichindaritz, SUNY Oswego</a:t>
            </a:r>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CC28588C-1661-40F2-A5C9-AAE089DDE36E}" type="slidenum">
              <a:rPr lang="en-US" smtClean="0"/>
              <a:t>‹#›</a:t>
            </a:fld>
            <a:endParaRPr lang="en-US"/>
          </a:p>
        </p:txBody>
      </p:sp>
    </p:spTree>
    <p:extLst>
      <p:ext uri="{BB962C8B-B14F-4D97-AF65-F5344CB8AC3E}">
        <p14:creationId xmlns:p14="http://schemas.microsoft.com/office/powerpoint/2010/main" val="26275612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askabiologist.asu.edu/"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gif"/><Relationship Id="rId4" Type="http://schemas.openxmlformats.org/officeDocument/2006/relationships/hyperlink" Target="http://www.ai.mit.edu/"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oncologic.blogspot.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study.com/"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atlasgeneticsoncology.org/"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omictools.com/cnv-detection2-category"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 5</a:t>
            </a:r>
            <a:endParaRPr lang="en-US" dirty="0"/>
          </a:p>
        </p:txBody>
      </p:sp>
      <p:sp>
        <p:nvSpPr>
          <p:cNvPr id="3" name="Subtitle 2"/>
          <p:cNvSpPr>
            <a:spLocks noGrp="1"/>
          </p:cNvSpPr>
          <p:nvPr>
            <p:ph type="subTitle" idx="1"/>
          </p:nvPr>
        </p:nvSpPr>
        <p:spPr/>
        <p:txBody>
          <a:bodyPr/>
          <a:lstStyle/>
          <a:p>
            <a:r>
              <a:rPr lang="en-US" dirty="0" smtClean="0"/>
              <a:t>Gene Alterations</a:t>
            </a:r>
            <a:endParaRPr lang="en-US" dirty="0"/>
          </a:p>
        </p:txBody>
      </p:sp>
      <p:sp>
        <p:nvSpPr>
          <p:cNvPr id="4" name="Footer Placeholder 3"/>
          <p:cNvSpPr>
            <a:spLocks noGrp="1"/>
          </p:cNvSpPr>
          <p:nvPr>
            <p:ph type="ftr" sz="quarter" idx="11"/>
          </p:nvPr>
        </p:nvSpPr>
        <p:spPr/>
        <p:txBody>
          <a:bodyPr/>
          <a:lstStyle/>
          <a:p>
            <a:r>
              <a:rPr lang="en-US" smtClean="0"/>
              <a:t>Isabelle Bichindaritz, SUNY Oswego</a:t>
            </a:r>
            <a:endParaRPr lang="en-US"/>
          </a:p>
        </p:txBody>
      </p:sp>
      <p:sp>
        <p:nvSpPr>
          <p:cNvPr id="5" name="Slide Number Placeholder 4"/>
          <p:cNvSpPr>
            <a:spLocks noGrp="1"/>
          </p:cNvSpPr>
          <p:nvPr>
            <p:ph type="sldNum" sz="quarter" idx="12"/>
          </p:nvPr>
        </p:nvSpPr>
        <p:spPr/>
        <p:txBody>
          <a:bodyPr/>
          <a:lstStyle/>
          <a:p>
            <a:fld id="{CC28588C-1661-40F2-A5C9-AAE089DDE36E}" type="slidenum">
              <a:rPr lang="en-US" smtClean="0"/>
              <a:t>1</a:t>
            </a:fld>
            <a:endParaRPr lang="en-US"/>
          </a:p>
        </p:txBody>
      </p:sp>
    </p:spTree>
    <p:extLst>
      <p:ext uri="{BB962C8B-B14F-4D97-AF65-F5344CB8AC3E}">
        <p14:creationId xmlns:p14="http://schemas.microsoft.com/office/powerpoint/2010/main" val="6381884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2</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12437467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Learning Objectives</a:t>
            </a:r>
          </a:p>
        </p:txBody>
      </p:sp>
      <p:sp>
        <p:nvSpPr>
          <p:cNvPr id="7174" name="Rectangle 3"/>
          <p:cNvSpPr>
            <a:spLocks noGrp="1" noChangeArrowheads="1"/>
          </p:cNvSpPr>
          <p:nvPr>
            <p:ph type="body" idx="1"/>
          </p:nvPr>
        </p:nvSpPr>
        <p:spPr>
          <a:xfrm>
            <a:off x="1549111" y="1913255"/>
            <a:ext cx="9074727" cy="3649345"/>
          </a:xfrm>
          <a:noFill/>
        </p:spPr>
        <p:txBody>
          <a:bodyPr vert="horz" lIns="92075" tIns="46038" rIns="92075" bIns="46038" rtlCol="0">
            <a:normAutofit/>
          </a:bodyPr>
          <a:lstStyle/>
          <a:p>
            <a:pPr>
              <a:lnSpc>
                <a:spcPct val="90000"/>
              </a:lnSpc>
            </a:pPr>
            <a:endParaRPr lang="en-US" altLang="en-US" dirty="0"/>
          </a:p>
          <a:p>
            <a:pPr marL="0" indent="0">
              <a:buNone/>
            </a:pPr>
            <a:r>
              <a:rPr lang="en-US" dirty="0" smtClean="0"/>
              <a:t>1. Determine </a:t>
            </a:r>
            <a:r>
              <a:rPr lang="en-US" dirty="0"/>
              <a:t>whether genes are altered and if they are which type of alteration they have</a:t>
            </a:r>
            <a:r>
              <a:rPr lang="en-US" dirty="0" smtClean="0"/>
              <a:t>.</a:t>
            </a:r>
          </a:p>
          <a:p>
            <a:pPr marL="0" indent="0">
              <a:buNone/>
            </a:pPr>
            <a:endParaRPr lang="en-US" dirty="0"/>
          </a:p>
          <a:p>
            <a:pPr marL="0" indent="0">
              <a:buNone/>
            </a:pPr>
            <a:r>
              <a:rPr lang="en-US" dirty="0"/>
              <a:t>2. Write R scripts to determine gene alterations and their types.</a:t>
            </a:r>
          </a:p>
          <a:p>
            <a:pPr marL="0" indent="0">
              <a:lnSpc>
                <a:spcPct val="90000"/>
              </a:lnSpc>
              <a:buNone/>
            </a:pPr>
            <a:endParaRPr lang="en-US" altLang="en-US" dirty="0"/>
          </a:p>
        </p:txBody>
      </p:sp>
    </p:spTree>
    <p:extLst>
      <p:ext uri="{BB962C8B-B14F-4D97-AF65-F5344CB8AC3E}">
        <p14:creationId xmlns:p14="http://schemas.microsoft.com/office/powerpoint/2010/main" val="29986549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Introduction to Module</a:t>
            </a:r>
          </a:p>
        </p:txBody>
      </p:sp>
      <p:sp>
        <p:nvSpPr>
          <p:cNvPr id="8198" name="Rectangle 3"/>
          <p:cNvSpPr>
            <a:spLocks noGrp="1" noChangeArrowheads="1"/>
          </p:cNvSpPr>
          <p:nvPr>
            <p:ph type="body" idx="1"/>
          </p:nvPr>
        </p:nvSpPr>
        <p:spPr>
          <a:xfrm>
            <a:off x="1752600" y="1523999"/>
            <a:ext cx="8686800" cy="4588933"/>
          </a:xfrm>
        </p:spPr>
        <p:txBody>
          <a:bodyPr>
            <a:normAutofit lnSpcReduction="10000"/>
          </a:bodyPr>
          <a:lstStyle/>
          <a:p>
            <a:r>
              <a:rPr lang="en-US" altLang="en-US" dirty="0" smtClean="0"/>
              <a:t>This module studies the important topic of gene alterations.</a:t>
            </a:r>
          </a:p>
          <a:p>
            <a:r>
              <a:rPr lang="en-US" altLang="en-US" dirty="0" smtClean="0"/>
              <a:t>Genomic alterations (in the DNA) are often presented as causing transcriptomic alterations (in the RNA or proteins), which means that changes in the genes often cause changes in the level of expression of genes.</a:t>
            </a:r>
          </a:p>
          <a:p>
            <a:r>
              <a:rPr lang="en-US" altLang="en-US" dirty="0" smtClean="0"/>
              <a:t>We will study different types of genetic alterations such as somatic mutations, copy number alterations, and methylations since they are major types of gene alterations.</a:t>
            </a:r>
          </a:p>
          <a:p>
            <a:r>
              <a:rPr lang="en-US" altLang="en-US" dirty="0" smtClean="0"/>
              <a:t>R provides many useful functions for the detection and quantification of gene alterations of several types.</a:t>
            </a:r>
          </a:p>
        </p:txBody>
      </p:sp>
    </p:spTree>
    <p:extLst>
      <p:ext uri="{BB962C8B-B14F-4D97-AF65-F5344CB8AC3E}">
        <p14:creationId xmlns:p14="http://schemas.microsoft.com/office/powerpoint/2010/main" val="6975581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5</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b="1" dirty="0">
                <a:solidFill>
                  <a:srgbClr val="FFFF00"/>
                </a:solidFill>
              </a:rPr>
              <a:t>Gene alterations and their </a:t>
            </a:r>
            <a:r>
              <a:rPr lang="en-US" sz="2400" b="1" dirty="0" smtClean="0">
                <a:solidFill>
                  <a:srgbClr val="FFFF00"/>
                </a:solidFill>
              </a:rPr>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13170813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a:t>
            </a:fld>
            <a:endParaRPr lang="en-US" altLang="en-US" sz="1400" dirty="0"/>
          </a:p>
        </p:txBody>
      </p:sp>
      <p:sp>
        <p:nvSpPr>
          <p:cNvPr id="8197" name="Rectangle 2"/>
          <p:cNvSpPr>
            <a:spLocks noGrp="1" noChangeArrowheads="1"/>
          </p:cNvSpPr>
          <p:nvPr>
            <p:ph type="title"/>
          </p:nvPr>
        </p:nvSpPr>
        <p:spPr>
          <a:xfrm>
            <a:off x="2040515" y="234950"/>
            <a:ext cx="8789410" cy="1143000"/>
          </a:xfrm>
        </p:spPr>
        <p:txBody>
          <a:bodyPr>
            <a:normAutofit fontScale="90000"/>
          </a:bodyPr>
          <a:lstStyle/>
          <a:p>
            <a:r>
              <a:rPr lang="en-US" altLang="en-US" b="1" dirty="0" smtClean="0">
                <a:effectLst>
                  <a:outerShdw blurRad="38100" dist="38100" dir="2700000" algn="tl">
                    <a:srgbClr val="000000">
                      <a:alpha val="43137"/>
                    </a:srgbClr>
                  </a:outerShdw>
                </a:effectLst>
              </a:rPr>
              <a:t>Gene Alterations and their Consequences</a:t>
            </a:r>
          </a:p>
        </p:txBody>
      </p:sp>
      <p:sp>
        <p:nvSpPr>
          <p:cNvPr id="8198" name="Rectangle 3"/>
          <p:cNvSpPr>
            <a:spLocks noGrp="1" noChangeArrowheads="1"/>
          </p:cNvSpPr>
          <p:nvPr>
            <p:ph type="body" idx="1"/>
          </p:nvPr>
        </p:nvSpPr>
        <p:spPr>
          <a:xfrm>
            <a:off x="317695" y="1377950"/>
            <a:ext cx="8686800" cy="4588933"/>
          </a:xfrm>
        </p:spPr>
        <p:txBody>
          <a:bodyPr>
            <a:normAutofit fontScale="92500" lnSpcReduction="20000"/>
          </a:bodyPr>
          <a:lstStyle/>
          <a:p>
            <a:r>
              <a:rPr lang="en-US" altLang="en-US" dirty="0" smtClean="0"/>
              <a:t>In some diseases, it has been shown that </a:t>
            </a:r>
            <a:br>
              <a:rPr lang="en-US" altLang="en-US" dirty="0" smtClean="0"/>
            </a:br>
            <a:r>
              <a:rPr lang="en-US" altLang="en-US" dirty="0" smtClean="0"/>
              <a:t>gene alterations cause or are closely </a:t>
            </a:r>
            <a:br>
              <a:rPr lang="en-US" altLang="en-US" dirty="0" smtClean="0"/>
            </a:br>
            <a:r>
              <a:rPr lang="en-US" altLang="en-US" dirty="0" smtClean="0"/>
              <a:t>associated with the onset and progression </a:t>
            </a:r>
            <a:br>
              <a:rPr lang="en-US" altLang="en-US" dirty="0" smtClean="0"/>
            </a:br>
            <a:r>
              <a:rPr lang="en-US" altLang="en-US" dirty="0" smtClean="0"/>
              <a:t>of the disease.</a:t>
            </a:r>
          </a:p>
          <a:p>
            <a:endParaRPr lang="en-US" altLang="en-US" dirty="0" smtClean="0"/>
          </a:p>
          <a:p>
            <a:r>
              <a:rPr lang="en-US" altLang="en-US" dirty="0" smtClean="0"/>
              <a:t>In other cases gene alterations have been </a:t>
            </a:r>
            <a:br>
              <a:rPr lang="en-US" altLang="en-US" dirty="0" smtClean="0"/>
            </a:br>
            <a:r>
              <a:rPr lang="en-US" altLang="en-US" dirty="0" smtClean="0"/>
              <a:t>shown to directly cause the disease.</a:t>
            </a:r>
            <a:endParaRPr lang="en-US" altLang="en-US" dirty="0"/>
          </a:p>
          <a:p>
            <a:endParaRPr lang="en-US" altLang="en-US" dirty="0" smtClean="0"/>
          </a:p>
          <a:p>
            <a:r>
              <a:rPr lang="en-US" altLang="en-US" dirty="0" smtClean="0"/>
              <a:t>Ex: Chronic Myeloid Leukemia (CML) is </a:t>
            </a:r>
            <a:br>
              <a:rPr lang="en-US" altLang="en-US" dirty="0" smtClean="0"/>
            </a:br>
            <a:r>
              <a:rPr lang="en-US" altLang="en-US" dirty="0" smtClean="0"/>
              <a:t>associated to the Philadelphia </a:t>
            </a:r>
            <a:br>
              <a:rPr lang="en-US" altLang="en-US" dirty="0" smtClean="0"/>
            </a:br>
            <a:r>
              <a:rPr lang="en-US" altLang="en-US" dirty="0" smtClean="0"/>
              <a:t>chromosome, which results from a fusion </a:t>
            </a:r>
            <a:br>
              <a:rPr lang="en-US" altLang="en-US" dirty="0" smtClean="0"/>
            </a:br>
            <a:r>
              <a:rPr lang="en-US" altLang="en-US" dirty="0" smtClean="0"/>
              <a:t>between the ABL gene </a:t>
            </a:r>
            <a:r>
              <a:rPr lang="en-US" altLang="en-US" dirty="0"/>
              <a:t>(from a virus) </a:t>
            </a:r>
            <a:r>
              <a:rPr lang="en-US" altLang="en-US" dirty="0" smtClean="0"/>
              <a:t>on </a:t>
            </a:r>
            <a:br>
              <a:rPr lang="en-US" altLang="en-US" dirty="0" smtClean="0"/>
            </a:br>
            <a:r>
              <a:rPr lang="en-US" altLang="en-US" dirty="0" smtClean="0"/>
              <a:t>chromosome 9 and the BCR gene on </a:t>
            </a:r>
            <a:br>
              <a:rPr lang="en-US" altLang="en-US" dirty="0" smtClean="0"/>
            </a:br>
            <a:r>
              <a:rPr lang="en-US" altLang="en-US" dirty="0" smtClean="0"/>
              <a:t>chromosome 22.</a:t>
            </a:r>
          </a:p>
        </p:txBody>
      </p:sp>
      <p:pic>
        <p:nvPicPr>
          <p:cNvPr id="3" name="Picture 2"/>
          <p:cNvPicPr>
            <a:picLocks noChangeAspect="1"/>
          </p:cNvPicPr>
          <p:nvPr/>
        </p:nvPicPr>
        <p:blipFill>
          <a:blip r:embed="rId2"/>
          <a:stretch>
            <a:fillRect/>
          </a:stretch>
        </p:blipFill>
        <p:spPr>
          <a:xfrm>
            <a:off x="6964970" y="1767417"/>
            <a:ext cx="5086350" cy="3552825"/>
          </a:xfrm>
          <a:prstGeom prst="rect">
            <a:avLst/>
          </a:prstGeom>
        </p:spPr>
      </p:pic>
    </p:spTree>
    <p:extLst>
      <p:ext uri="{BB962C8B-B14F-4D97-AF65-F5344CB8AC3E}">
        <p14:creationId xmlns:p14="http://schemas.microsoft.com/office/powerpoint/2010/main" val="279613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7</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b="1" dirty="0" smtClean="0">
                <a:solidFill>
                  <a:srgbClr val="FFFF00"/>
                </a:solidFill>
              </a:rPr>
              <a:t>Overview </a:t>
            </a:r>
            <a:r>
              <a:rPr lang="en-US" b="1" dirty="0">
                <a:solidFill>
                  <a:srgbClr val="FFFF00"/>
                </a:solidFill>
              </a:rPr>
              <a:t>of </a:t>
            </a:r>
            <a:r>
              <a:rPr lang="en-US" b="1" dirty="0" smtClean="0">
                <a:solidFill>
                  <a:srgbClr val="FFFF00"/>
                </a:solidFill>
              </a:rPr>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25239890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8</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Overview of Gene Alterations</a:t>
            </a:r>
          </a:p>
        </p:txBody>
      </p:sp>
      <p:sp>
        <p:nvSpPr>
          <p:cNvPr id="8198" name="Rectangle 3"/>
          <p:cNvSpPr>
            <a:spLocks noGrp="1" noChangeArrowheads="1"/>
          </p:cNvSpPr>
          <p:nvPr>
            <p:ph type="body" idx="1"/>
          </p:nvPr>
        </p:nvSpPr>
        <p:spPr>
          <a:xfrm>
            <a:off x="632926" y="1114545"/>
            <a:ext cx="10727801" cy="3895487"/>
          </a:xfrm>
        </p:spPr>
        <p:txBody>
          <a:bodyPr>
            <a:normAutofit fontScale="92500" lnSpcReduction="10000"/>
          </a:bodyPr>
          <a:lstStyle/>
          <a:p>
            <a:r>
              <a:rPr lang="en-US" altLang="en-US" dirty="0" smtClean="0"/>
              <a:t>Gene alterations may be:</a:t>
            </a:r>
          </a:p>
          <a:p>
            <a:pPr lvl="1"/>
            <a:r>
              <a:rPr lang="en-US" altLang="en-US" dirty="0" smtClean="0"/>
              <a:t>Hereditary (acquired by birth) and present in all cells of a body.</a:t>
            </a:r>
          </a:p>
          <a:p>
            <a:pPr lvl="1"/>
            <a:r>
              <a:rPr lang="en-US" altLang="en-US" dirty="0" smtClean="0"/>
              <a:t>Somatic (acquired after birth) and present in only certain cells.</a:t>
            </a:r>
          </a:p>
          <a:p>
            <a:pPr marL="457200" lvl="1" indent="0">
              <a:buNone/>
            </a:pPr>
            <a:endParaRPr lang="en-US" altLang="en-US" dirty="0"/>
          </a:p>
          <a:p>
            <a:r>
              <a:rPr lang="en-US" altLang="en-US" dirty="0" smtClean="0"/>
              <a:t>Somatic gene alterations (SGAs) can be caused by a number of factors, including:</a:t>
            </a:r>
          </a:p>
          <a:p>
            <a:pPr lvl="1"/>
            <a:r>
              <a:rPr lang="en-US" altLang="en-US" dirty="0" smtClean="0"/>
              <a:t>Viruses such as human papilloma virus (HPV), which insert their genes in human DNA</a:t>
            </a:r>
          </a:p>
          <a:p>
            <a:pPr lvl="1"/>
            <a:r>
              <a:rPr lang="en-US" altLang="en-US" dirty="0" smtClean="0"/>
              <a:t>Ultraviolet radiation and environmental factors (tobacco, benzene, etc.).</a:t>
            </a:r>
          </a:p>
          <a:p>
            <a:pPr lvl="1"/>
            <a:r>
              <a:rPr lang="en-US" altLang="en-US" dirty="0" smtClean="0"/>
              <a:t>Mistakes during cell division (50-70 billion cells are replaced by new ones in an adult on average each day, and 2 million red blood cells are created per second for a total of an average 222-242 billion cells produced each day on average in an adult).</a:t>
            </a:r>
          </a:p>
        </p:txBody>
      </p:sp>
      <p:pic>
        <p:nvPicPr>
          <p:cNvPr id="2050" name="Picture 2" descr="Mito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7350" y="4672011"/>
            <a:ext cx="5143500" cy="186690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354531" y="5236129"/>
            <a:ext cx="3993914" cy="923330"/>
          </a:xfrm>
          <a:prstGeom prst="rect">
            <a:avLst/>
          </a:prstGeom>
          <a:noFill/>
        </p:spPr>
        <p:txBody>
          <a:bodyPr wrap="none" rtlCol="0">
            <a:spAutoFit/>
          </a:bodyPr>
          <a:lstStyle/>
          <a:p>
            <a:r>
              <a:rPr lang="en-US" dirty="0" smtClean="0"/>
              <a:t>From </a:t>
            </a:r>
            <a:r>
              <a:rPr lang="en-US" dirty="0" smtClean="0">
                <a:hlinkClick r:id="rId3"/>
              </a:rPr>
              <a:t>http://askabiologist.asu.edu</a:t>
            </a:r>
            <a:r>
              <a:rPr lang="en-US" dirty="0" smtClean="0"/>
              <a:t> (right)</a:t>
            </a:r>
          </a:p>
          <a:p>
            <a:r>
              <a:rPr lang="en-US" dirty="0" smtClean="0"/>
              <a:t>And</a:t>
            </a:r>
          </a:p>
          <a:p>
            <a:r>
              <a:rPr lang="en-US" dirty="0"/>
              <a:t>From </a:t>
            </a:r>
            <a:r>
              <a:rPr lang="en-US" dirty="0">
                <a:hlinkClick r:id="rId4"/>
              </a:rPr>
              <a:t>http://</a:t>
            </a:r>
            <a:r>
              <a:rPr lang="en-US" dirty="0" smtClean="0">
                <a:hlinkClick r:id="rId4"/>
              </a:rPr>
              <a:t>www.ai.mit.edu/</a:t>
            </a:r>
            <a:r>
              <a:rPr lang="en-US" dirty="0" smtClean="0"/>
              <a:t> (left)</a:t>
            </a:r>
            <a:endParaRPr lang="en-US" dirty="0"/>
          </a:p>
        </p:txBody>
      </p:sp>
      <p:pic>
        <p:nvPicPr>
          <p:cNvPr id="2052" name="Picture 4" descr="http://www.ai.mit.edu/lab/olympics/98/events/MITosis/mitosis-animation.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92869" y="4701688"/>
            <a:ext cx="2590800" cy="2095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97113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9</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Overview of Gene Alterations</a:t>
            </a:r>
          </a:p>
        </p:txBody>
      </p:sp>
      <p:sp>
        <p:nvSpPr>
          <p:cNvPr id="8198" name="Rectangle 3"/>
          <p:cNvSpPr>
            <a:spLocks noGrp="1" noChangeArrowheads="1"/>
          </p:cNvSpPr>
          <p:nvPr>
            <p:ph type="body" idx="1"/>
          </p:nvPr>
        </p:nvSpPr>
        <p:spPr>
          <a:xfrm>
            <a:off x="210671" y="1377950"/>
            <a:ext cx="8686800" cy="4588933"/>
          </a:xfrm>
        </p:spPr>
        <p:txBody>
          <a:bodyPr>
            <a:normAutofit fontScale="85000" lnSpcReduction="20000"/>
          </a:bodyPr>
          <a:lstStyle/>
          <a:p>
            <a:r>
              <a:rPr lang="en-US" altLang="en-US" dirty="0" smtClean="0"/>
              <a:t>Major gene alterations reported </a:t>
            </a:r>
            <a:r>
              <a:rPr lang="en-US" altLang="en-US" dirty="0"/>
              <a:t>in the DNA </a:t>
            </a:r>
            <a:r>
              <a:rPr lang="en-US" altLang="en-US" dirty="0" smtClean="0"/>
              <a:t> are:</a:t>
            </a:r>
          </a:p>
          <a:p>
            <a:endParaRPr lang="en-US" altLang="en-US" dirty="0" smtClean="0"/>
          </a:p>
          <a:p>
            <a:pPr lvl="1"/>
            <a:r>
              <a:rPr lang="en-US" altLang="en-US" dirty="0" smtClean="0"/>
              <a:t>Gene mutations refers to changes in the DNA sequence of a gene. Most are harmless and single base changes (point mutations). </a:t>
            </a:r>
            <a:endParaRPr lang="en-US" altLang="en-US" dirty="0"/>
          </a:p>
          <a:p>
            <a:pPr lvl="1"/>
            <a:endParaRPr lang="en-US" altLang="en-US" dirty="0"/>
          </a:p>
          <a:p>
            <a:pPr lvl="1"/>
            <a:r>
              <a:rPr lang="en-US" altLang="en-US" dirty="0"/>
              <a:t>Chromosomal instability refers to the loss of portions of chromosomes , or rearrangements of part of chromosome such as inversion, translocation, deletion, or insertion</a:t>
            </a:r>
            <a:r>
              <a:rPr lang="en-US" altLang="en-US" dirty="0" smtClean="0"/>
              <a:t>.</a:t>
            </a:r>
          </a:p>
          <a:p>
            <a:pPr lvl="1"/>
            <a:endParaRPr lang="en-US" altLang="en-US" dirty="0" smtClean="0"/>
          </a:p>
          <a:p>
            <a:pPr lvl="1"/>
            <a:r>
              <a:rPr lang="en-US" altLang="en-US" dirty="0" smtClean="0"/>
              <a:t>Copy number variation refers to sections of the genome being repeated and the number of repeats varying between individuals in a population.</a:t>
            </a:r>
          </a:p>
          <a:p>
            <a:pPr lvl="1"/>
            <a:endParaRPr lang="en-US" altLang="en-US" dirty="0"/>
          </a:p>
          <a:p>
            <a:pPr lvl="1"/>
            <a:r>
              <a:rPr lang="en-US" altLang="en-US" dirty="0"/>
              <a:t>Gene amplification refers to duplication of genes in the DNA</a:t>
            </a:r>
            <a:r>
              <a:rPr lang="en-US" altLang="en-US" dirty="0" smtClean="0"/>
              <a:t>.</a:t>
            </a:r>
          </a:p>
          <a:p>
            <a:pPr lvl="1"/>
            <a:endParaRPr lang="en-US" altLang="en-US" dirty="0" smtClean="0"/>
          </a:p>
          <a:p>
            <a:pPr lvl="1"/>
            <a:r>
              <a:rPr lang="en-US" altLang="en-US" dirty="0" smtClean="0"/>
              <a:t>Methylation refers to the addition of methyl groups  on some nucleotides in the DNA.</a:t>
            </a:r>
          </a:p>
          <a:p>
            <a:pPr marL="457200" lvl="1" indent="0">
              <a:buNone/>
            </a:pPr>
            <a:endParaRPr lang="en-US" altLang="en-US" dirty="0" smtClean="0"/>
          </a:p>
          <a:p>
            <a:pPr lvl="1"/>
            <a:endParaRPr lang="en-US" altLang="en-US" dirty="0" smtClean="0"/>
          </a:p>
        </p:txBody>
      </p:sp>
      <p:pic>
        <p:nvPicPr>
          <p:cNvPr id="2" name="Picture 1"/>
          <p:cNvPicPr>
            <a:picLocks noChangeAspect="1"/>
          </p:cNvPicPr>
          <p:nvPr/>
        </p:nvPicPr>
        <p:blipFill>
          <a:blip r:embed="rId2"/>
          <a:stretch>
            <a:fillRect/>
          </a:stretch>
        </p:blipFill>
        <p:spPr>
          <a:xfrm>
            <a:off x="9140381" y="2043952"/>
            <a:ext cx="3051619" cy="3068731"/>
          </a:xfrm>
          <a:prstGeom prst="rect">
            <a:avLst/>
          </a:prstGeom>
        </p:spPr>
      </p:pic>
    </p:spTree>
    <p:extLst>
      <p:ext uri="{BB962C8B-B14F-4D97-AF65-F5344CB8AC3E}">
        <p14:creationId xmlns:p14="http://schemas.microsoft.com/office/powerpoint/2010/main" val="21885761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10</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Overview of Gene Alterations</a:t>
            </a:r>
          </a:p>
        </p:txBody>
      </p:sp>
      <p:sp>
        <p:nvSpPr>
          <p:cNvPr id="8198" name="Rectangle 3"/>
          <p:cNvSpPr>
            <a:spLocks noGrp="1" noChangeArrowheads="1"/>
          </p:cNvSpPr>
          <p:nvPr>
            <p:ph type="body" idx="1"/>
          </p:nvPr>
        </p:nvSpPr>
        <p:spPr>
          <a:xfrm>
            <a:off x="0" y="1377950"/>
            <a:ext cx="8686800" cy="4588933"/>
          </a:xfrm>
        </p:spPr>
        <p:txBody>
          <a:bodyPr>
            <a:normAutofit fontScale="92500" lnSpcReduction="10000"/>
          </a:bodyPr>
          <a:lstStyle/>
          <a:p>
            <a:r>
              <a:rPr lang="en-US" altLang="en-US" dirty="0" smtClean="0"/>
              <a:t>The effects of gene alterations may be:</a:t>
            </a:r>
          </a:p>
          <a:p>
            <a:pPr marL="0" indent="0">
              <a:buNone/>
            </a:pPr>
            <a:endParaRPr lang="en-US" altLang="en-US" dirty="0" smtClean="0"/>
          </a:p>
          <a:p>
            <a:pPr lvl="1"/>
            <a:r>
              <a:rPr lang="en-US" altLang="en-US" dirty="0" smtClean="0"/>
              <a:t>Overexpression or </a:t>
            </a:r>
            <a:r>
              <a:rPr lang="en-US" altLang="en-US" dirty="0" err="1" smtClean="0"/>
              <a:t>underexpression</a:t>
            </a:r>
            <a:r>
              <a:rPr lang="en-US" altLang="en-US" dirty="0" smtClean="0"/>
              <a:t> of the </a:t>
            </a:r>
            <a:br>
              <a:rPr lang="en-US" altLang="en-US" dirty="0" smtClean="0"/>
            </a:br>
            <a:r>
              <a:rPr lang="en-US" altLang="en-US" dirty="0" smtClean="0"/>
              <a:t>corresponding gene.</a:t>
            </a:r>
          </a:p>
          <a:p>
            <a:pPr lvl="2"/>
            <a:r>
              <a:rPr lang="en-US" altLang="en-US" dirty="0" smtClean="0"/>
              <a:t>Ex: gene amplification generates an overexpression of the </a:t>
            </a:r>
            <a:br>
              <a:rPr lang="en-US" altLang="en-US" dirty="0" smtClean="0"/>
            </a:br>
            <a:r>
              <a:rPr lang="en-US" altLang="en-US" dirty="0" smtClean="0"/>
              <a:t>corresponding mRNA.</a:t>
            </a:r>
          </a:p>
          <a:p>
            <a:pPr marL="914400" lvl="2" indent="0">
              <a:buNone/>
            </a:pPr>
            <a:endParaRPr lang="en-US" altLang="en-US" dirty="0" smtClean="0"/>
          </a:p>
          <a:p>
            <a:pPr lvl="1"/>
            <a:r>
              <a:rPr lang="en-US" altLang="en-US" dirty="0" smtClean="0"/>
              <a:t>Translation into new forms of proteins, which may lead more </a:t>
            </a:r>
            <a:br>
              <a:rPr lang="en-US" altLang="en-US" dirty="0" smtClean="0"/>
            </a:br>
            <a:r>
              <a:rPr lang="en-US" altLang="en-US" dirty="0" smtClean="0"/>
              <a:t>easily to a disease, or less so through the modification of </a:t>
            </a:r>
            <a:br>
              <a:rPr lang="en-US" altLang="en-US" dirty="0" smtClean="0"/>
            </a:br>
            <a:r>
              <a:rPr lang="en-US" altLang="en-US" dirty="0" smtClean="0"/>
              <a:t>their original function and regulation.</a:t>
            </a:r>
          </a:p>
          <a:p>
            <a:pPr lvl="2"/>
            <a:r>
              <a:rPr lang="en-US" altLang="en-US" dirty="0" smtClean="0"/>
              <a:t>Ex: ABL-BCR  protein is a different form of ABL; ABL is an oncogene, normally regulated, however ABL-BCR is not regulated in the same </a:t>
            </a:r>
            <a:br>
              <a:rPr lang="en-US" altLang="en-US" dirty="0" smtClean="0"/>
            </a:br>
            <a:r>
              <a:rPr lang="en-US" altLang="en-US" dirty="0" smtClean="0"/>
              <a:t>way, leading to an oncogene.</a:t>
            </a:r>
          </a:p>
          <a:p>
            <a:pPr lvl="2"/>
            <a:endParaRPr lang="en-US" altLang="en-US" dirty="0"/>
          </a:p>
          <a:p>
            <a:pPr lvl="1"/>
            <a:r>
              <a:rPr lang="en-US" altLang="en-US" dirty="0" smtClean="0"/>
              <a:t>Suppression of a protein. </a:t>
            </a:r>
          </a:p>
        </p:txBody>
      </p:sp>
      <p:pic>
        <p:nvPicPr>
          <p:cNvPr id="2" name="Picture 1"/>
          <p:cNvPicPr>
            <a:picLocks noChangeAspect="1"/>
          </p:cNvPicPr>
          <p:nvPr/>
        </p:nvPicPr>
        <p:blipFill>
          <a:blip r:embed="rId2"/>
          <a:stretch>
            <a:fillRect/>
          </a:stretch>
        </p:blipFill>
        <p:spPr>
          <a:xfrm>
            <a:off x="7996518" y="2150470"/>
            <a:ext cx="4195482" cy="3313478"/>
          </a:xfrm>
          <a:prstGeom prst="rect">
            <a:avLst/>
          </a:prstGeom>
        </p:spPr>
      </p:pic>
    </p:spTree>
    <p:extLst>
      <p:ext uri="{BB962C8B-B14F-4D97-AF65-F5344CB8AC3E}">
        <p14:creationId xmlns:p14="http://schemas.microsoft.com/office/powerpoint/2010/main" val="18572661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Overview of Gene Alterations</a:t>
            </a:r>
          </a:p>
        </p:txBody>
      </p:sp>
      <p:sp>
        <p:nvSpPr>
          <p:cNvPr id="8198" name="Rectangle 3"/>
          <p:cNvSpPr>
            <a:spLocks noGrp="1" noChangeArrowheads="1"/>
          </p:cNvSpPr>
          <p:nvPr>
            <p:ph type="body" idx="1"/>
          </p:nvPr>
        </p:nvSpPr>
        <p:spPr>
          <a:xfrm>
            <a:off x="950259" y="1180726"/>
            <a:ext cx="10410467" cy="4588933"/>
          </a:xfrm>
        </p:spPr>
        <p:txBody>
          <a:bodyPr>
            <a:normAutofit fontScale="92500" lnSpcReduction="10000"/>
          </a:bodyPr>
          <a:lstStyle/>
          <a:p>
            <a:r>
              <a:rPr lang="en-US" altLang="en-US" dirty="0" smtClean="0"/>
              <a:t>Certain genes are more important for certain diseases, therefore their alterations are more dangerous than others: </a:t>
            </a:r>
          </a:p>
          <a:p>
            <a:pPr marL="0" indent="0">
              <a:buNone/>
            </a:pPr>
            <a:endParaRPr lang="en-US" altLang="en-US" dirty="0" smtClean="0"/>
          </a:p>
          <a:p>
            <a:pPr lvl="1"/>
            <a:r>
              <a:rPr lang="en-US" altLang="en-US" dirty="0" smtClean="0"/>
              <a:t>Oncogenes are genes known to promote the growth of cancer cells and associated phenotype. They are normally inhibited.</a:t>
            </a:r>
          </a:p>
          <a:p>
            <a:pPr lvl="1"/>
            <a:endParaRPr lang="en-US" altLang="en-US" dirty="0" smtClean="0"/>
          </a:p>
          <a:p>
            <a:pPr lvl="1"/>
            <a:r>
              <a:rPr lang="en-US" altLang="en-US" dirty="0" smtClean="0"/>
              <a:t>Proto-oncogenes are genes that produce proteins stimulating cell division. Mutations on these genes could cause cells to divide too rapidly, such as in cancer. </a:t>
            </a:r>
          </a:p>
          <a:p>
            <a:pPr lvl="1"/>
            <a:endParaRPr lang="en-US" altLang="en-US" dirty="0" smtClean="0"/>
          </a:p>
          <a:p>
            <a:pPr lvl="1"/>
            <a:r>
              <a:rPr lang="en-US" altLang="en-US" dirty="0" smtClean="0"/>
              <a:t>Tumor suppressor genes are genes known to protect against cancer because they inhibit cell division.</a:t>
            </a:r>
          </a:p>
          <a:p>
            <a:pPr lvl="1"/>
            <a:endParaRPr lang="en-US" altLang="en-US" dirty="0"/>
          </a:p>
          <a:p>
            <a:pPr lvl="1"/>
            <a:r>
              <a:rPr lang="en-US" altLang="en-US" dirty="0" smtClean="0"/>
              <a:t>Generally several types of modifications are required for cancer or another disease to start.</a:t>
            </a:r>
          </a:p>
          <a:p>
            <a:pPr lvl="1"/>
            <a:endParaRPr lang="en-US" altLang="en-US" dirty="0"/>
          </a:p>
          <a:p>
            <a:pPr lvl="1"/>
            <a:endParaRPr lang="en-US" altLang="en-US" dirty="0" smtClean="0"/>
          </a:p>
        </p:txBody>
      </p:sp>
    </p:spTree>
    <p:extLst>
      <p:ext uri="{BB962C8B-B14F-4D97-AF65-F5344CB8AC3E}">
        <p14:creationId xmlns:p14="http://schemas.microsoft.com/office/powerpoint/2010/main" val="37581686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12</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Overview of Gene Alterations</a:t>
            </a:r>
          </a:p>
        </p:txBody>
      </p:sp>
      <p:sp>
        <p:nvSpPr>
          <p:cNvPr id="8198" name="Rectangle 3"/>
          <p:cNvSpPr>
            <a:spLocks noGrp="1" noChangeArrowheads="1"/>
          </p:cNvSpPr>
          <p:nvPr>
            <p:ph type="body" idx="1"/>
          </p:nvPr>
        </p:nvSpPr>
        <p:spPr>
          <a:xfrm>
            <a:off x="950260" y="5614318"/>
            <a:ext cx="10410467" cy="552200"/>
          </a:xfrm>
        </p:spPr>
        <p:txBody>
          <a:bodyPr>
            <a:normAutofit/>
          </a:bodyPr>
          <a:lstStyle/>
          <a:p>
            <a:pPr marL="0" indent="0">
              <a:buNone/>
            </a:pPr>
            <a:r>
              <a:rPr lang="en-US" altLang="en-US" dirty="0"/>
              <a:t>From </a:t>
            </a:r>
            <a:r>
              <a:rPr lang="en-US" altLang="en-US" dirty="0">
                <a:hlinkClick r:id="rId2"/>
              </a:rPr>
              <a:t>http://oncologic.blogspot.com</a:t>
            </a:r>
            <a:r>
              <a:rPr lang="en-US" altLang="en-US" dirty="0" smtClean="0">
                <a:hlinkClick r:id="rId2"/>
              </a:rPr>
              <a:t>/</a:t>
            </a:r>
            <a:r>
              <a:rPr lang="en-US" altLang="en-US" dirty="0" smtClean="0"/>
              <a:t>  </a:t>
            </a:r>
          </a:p>
          <a:p>
            <a:pPr lvl="1"/>
            <a:endParaRPr lang="en-US" altLang="en-US" dirty="0"/>
          </a:p>
          <a:p>
            <a:pPr lvl="1"/>
            <a:endParaRPr lang="en-US" altLang="en-US" dirty="0" smtClean="0"/>
          </a:p>
        </p:txBody>
      </p:sp>
      <p:pic>
        <p:nvPicPr>
          <p:cNvPr id="2" name="Picture 1"/>
          <p:cNvPicPr>
            <a:picLocks noChangeAspect="1"/>
          </p:cNvPicPr>
          <p:nvPr/>
        </p:nvPicPr>
        <p:blipFill>
          <a:blip r:embed="rId3"/>
          <a:stretch>
            <a:fillRect/>
          </a:stretch>
        </p:blipFill>
        <p:spPr>
          <a:xfrm>
            <a:off x="2677367" y="1433512"/>
            <a:ext cx="6657975" cy="3990975"/>
          </a:xfrm>
          <a:prstGeom prst="rect">
            <a:avLst/>
          </a:prstGeom>
        </p:spPr>
      </p:pic>
    </p:spTree>
    <p:extLst>
      <p:ext uri="{BB962C8B-B14F-4D97-AF65-F5344CB8AC3E}">
        <p14:creationId xmlns:p14="http://schemas.microsoft.com/office/powerpoint/2010/main" val="498836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13</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b="1" dirty="0">
                <a:solidFill>
                  <a:srgbClr val="FFFF00"/>
                </a:solidFill>
              </a:rPr>
              <a:t>Genetic </a:t>
            </a:r>
            <a:r>
              <a:rPr lang="en-US" sz="2400" b="1" dirty="0" smtClean="0">
                <a:solidFill>
                  <a:srgbClr val="FFFF00"/>
                </a:solidFill>
              </a:rPr>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27633931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Genetic Mutations</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Genetic mutations refer to DNA mutations</a:t>
            </a:r>
            <a:br>
              <a:rPr lang="en-US" altLang="en-US" dirty="0" smtClean="0"/>
            </a:br>
            <a:r>
              <a:rPr lang="en-US" altLang="en-US" dirty="0" smtClean="0"/>
              <a:t>such as: </a:t>
            </a:r>
          </a:p>
          <a:p>
            <a:pPr marL="0" indent="0">
              <a:buNone/>
            </a:pPr>
            <a:endParaRPr lang="en-US" altLang="en-US" dirty="0" smtClean="0"/>
          </a:p>
          <a:p>
            <a:pPr lvl="1"/>
            <a:r>
              <a:rPr lang="en-US" altLang="en-US" dirty="0" smtClean="0"/>
              <a:t>Substitution of a nucleotide – also called </a:t>
            </a:r>
            <a:br>
              <a:rPr lang="en-US" altLang="en-US" dirty="0" smtClean="0"/>
            </a:br>
            <a:r>
              <a:rPr lang="en-US" altLang="en-US" dirty="0" smtClean="0"/>
              <a:t>in frame mutation because they do not </a:t>
            </a:r>
            <a:br>
              <a:rPr lang="en-US" altLang="en-US" dirty="0" smtClean="0"/>
            </a:br>
            <a:r>
              <a:rPr lang="en-US" altLang="en-US" dirty="0" smtClean="0"/>
              <a:t>cause a shift in the codon reading frame</a:t>
            </a:r>
            <a:endParaRPr lang="en-US" altLang="en-US" dirty="0"/>
          </a:p>
          <a:p>
            <a:pPr lvl="1"/>
            <a:endParaRPr lang="en-US" altLang="en-US" dirty="0" smtClean="0"/>
          </a:p>
          <a:p>
            <a:pPr lvl="1"/>
            <a:r>
              <a:rPr lang="en-US" altLang="en-US" dirty="0" smtClean="0"/>
              <a:t>Insertion of a nucleotide.</a:t>
            </a:r>
            <a:endParaRPr lang="en-US" altLang="en-US" dirty="0"/>
          </a:p>
          <a:p>
            <a:pPr marL="457200" lvl="1" indent="0">
              <a:buNone/>
            </a:pPr>
            <a:endParaRPr lang="en-US" altLang="en-US" dirty="0"/>
          </a:p>
          <a:p>
            <a:pPr lvl="1"/>
            <a:endParaRPr lang="en-US" altLang="en-US" dirty="0" smtClean="0"/>
          </a:p>
          <a:p>
            <a:pPr lvl="1"/>
            <a:endParaRPr lang="en-US" altLang="en-US" dirty="0"/>
          </a:p>
        </p:txBody>
      </p:sp>
      <p:pic>
        <p:nvPicPr>
          <p:cNvPr id="28" name="Picture 2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19276" y="4025990"/>
            <a:ext cx="2447925" cy="2105025"/>
          </a:xfrm>
          <a:prstGeom prst="rect">
            <a:avLst/>
          </a:prstGeom>
          <a:solidFill>
            <a:schemeClr val="accent1"/>
          </a:solidFill>
          <a:ln>
            <a:noFill/>
          </a:ln>
        </p:spPr>
      </p:pic>
      <p:pic>
        <p:nvPicPr>
          <p:cNvPr id="29" name="Picture 2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0429" y="1736816"/>
            <a:ext cx="2019300" cy="2143125"/>
          </a:xfrm>
          <a:prstGeom prst="rect">
            <a:avLst/>
          </a:prstGeom>
          <a:solidFill>
            <a:srgbClr val="FF99FF"/>
          </a:solidFill>
          <a:ln>
            <a:noFill/>
          </a:ln>
        </p:spPr>
      </p:pic>
    </p:spTree>
    <p:extLst>
      <p:ext uri="{BB962C8B-B14F-4D97-AF65-F5344CB8AC3E}">
        <p14:creationId xmlns:p14="http://schemas.microsoft.com/office/powerpoint/2010/main" val="28565395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15</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Genetic Mutations</a:t>
            </a:r>
          </a:p>
        </p:txBody>
      </p:sp>
      <p:sp>
        <p:nvSpPr>
          <p:cNvPr id="8198" name="Rectangle 3"/>
          <p:cNvSpPr>
            <a:spLocks noGrp="1" noChangeArrowheads="1"/>
          </p:cNvSpPr>
          <p:nvPr>
            <p:ph type="body" idx="1"/>
          </p:nvPr>
        </p:nvSpPr>
        <p:spPr>
          <a:xfrm>
            <a:off x="1752600" y="1523999"/>
            <a:ext cx="8686800" cy="4588933"/>
          </a:xfrm>
        </p:spPr>
        <p:txBody>
          <a:bodyPr>
            <a:normAutofit fontScale="92500" lnSpcReduction="10000"/>
          </a:bodyPr>
          <a:lstStyle/>
          <a:p>
            <a:r>
              <a:rPr lang="en-US" altLang="en-US" dirty="0" smtClean="0"/>
              <a:t>Genetic mutations refer to </a:t>
            </a:r>
          </a:p>
          <a:p>
            <a:endParaRPr lang="en-US" altLang="en-US" dirty="0" smtClean="0"/>
          </a:p>
          <a:p>
            <a:pPr lvl="1"/>
            <a:r>
              <a:rPr lang="en-US" altLang="en-US" dirty="0" smtClean="0"/>
              <a:t>Deletion of a nucleotide – insertion and </a:t>
            </a:r>
            <a:br>
              <a:rPr lang="en-US" altLang="en-US" dirty="0" smtClean="0"/>
            </a:br>
            <a:r>
              <a:rPr lang="en-US" altLang="en-US" dirty="0" smtClean="0"/>
              <a:t>deletion are called frameshift mutations </a:t>
            </a:r>
            <a:br>
              <a:rPr lang="en-US" altLang="en-US" dirty="0" smtClean="0"/>
            </a:br>
            <a:r>
              <a:rPr lang="en-US" altLang="en-US" dirty="0"/>
              <a:t>because they </a:t>
            </a:r>
            <a:r>
              <a:rPr lang="en-US" altLang="en-US" dirty="0" smtClean="0"/>
              <a:t>cause </a:t>
            </a:r>
            <a:r>
              <a:rPr lang="en-US" altLang="en-US" dirty="0"/>
              <a:t>a shift in the codon </a:t>
            </a:r>
            <a:r>
              <a:rPr lang="en-US" altLang="en-US" dirty="0" smtClean="0"/>
              <a:t/>
            </a:r>
            <a:br>
              <a:rPr lang="en-US" altLang="en-US" dirty="0" smtClean="0"/>
            </a:br>
            <a:r>
              <a:rPr lang="en-US" altLang="en-US" dirty="0" smtClean="0"/>
              <a:t>reading frame.</a:t>
            </a:r>
          </a:p>
          <a:p>
            <a:pPr marL="457200" lvl="1" indent="0">
              <a:buNone/>
            </a:pPr>
            <a:endParaRPr lang="en-US" altLang="en-US" dirty="0"/>
          </a:p>
          <a:p>
            <a:pPr lvl="1"/>
            <a:endParaRPr lang="en-US" altLang="en-US" dirty="0" smtClean="0"/>
          </a:p>
          <a:p>
            <a:r>
              <a:rPr lang="en-US" altLang="en-US" dirty="0" smtClean="0"/>
              <a:t>They can affect </a:t>
            </a:r>
          </a:p>
          <a:p>
            <a:pPr marL="0" indent="0">
              <a:buNone/>
            </a:pPr>
            <a:endParaRPr lang="en-US" altLang="en-US" dirty="0" smtClean="0"/>
          </a:p>
          <a:p>
            <a:pPr lvl="1"/>
            <a:r>
              <a:rPr lang="en-US" altLang="en-US" dirty="0"/>
              <a:t>O</a:t>
            </a:r>
            <a:r>
              <a:rPr lang="en-US" altLang="en-US" dirty="0" smtClean="0"/>
              <a:t>nly one nucleotide (point mutation or single base modification)</a:t>
            </a:r>
          </a:p>
          <a:p>
            <a:pPr lvl="1"/>
            <a:r>
              <a:rPr lang="en-US" altLang="en-US" dirty="0" smtClean="0"/>
              <a:t>Several nucleotides.</a:t>
            </a:r>
          </a:p>
          <a:p>
            <a:pPr lvl="1"/>
            <a:endParaRPr lang="en-US" altLang="en-US" dirty="0"/>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53400" y="1523999"/>
            <a:ext cx="2550730" cy="2117659"/>
          </a:xfrm>
          <a:prstGeom prst="rect">
            <a:avLst/>
          </a:prstGeom>
          <a:solidFill>
            <a:srgbClr val="FFC000"/>
          </a:solidFill>
          <a:ln>
            <a:noFill/>
          </a:ln>
        </p:spPr>
      </p:pic>
    </p:spTree>
    <p:extLst>
      <p:ext uri="{BB962C8B-B14F-4D97-AF65-F5344CB8AC3E}">
        <p14:creationId xmlns:p14="http://schemas.microsoft.com/office/powerpoint/2010/main" val="22388456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16</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Genetic Mutations</a:t>
            </a:r>
          </a:p>
        </p:txBody>
      </p:sp>
      <p:sp>
        <p:nvSpPr>
          <p:cNvPr id="8198" name="Rectangle 3"/>
          <p:cNvSpPr>
            <a:spLocks noGrp="1" noChangeArrowheads="1"/>
          </p:cNvSpPr>
          <p:nvPr>
            <p:ph type="body" idx="1"/>
          </p:nvPr>
        </p:nvSpPr>
        <p:spPr>
          <a:xfrm>
            <a:off x="0" y="1232024"/>
            <a:ext cx="8686800" cy="5124326"/>
          </a:xfrm>
        </p:spPr>
        <p:txBody>
          <a:bodyPr>
            <a:normAutofit/>
          </a:bodyPr>
          <a:lstStyle/>
          <a:p>
            <a:r>
              <a:rPr lang="en-US" altLang="en-US" dirty="0" smtClean="0"/>
              <a:t>More precisely, point mutations may be</a:t>
            </a:r>
            <a:br>
              <a:rPr lang="en-US" altLang="en-US" dirty="0" smtClean="0"/>
            </a:br>
            <a:endParaRPr lang="en-US" altLang="en-US" dirty="0" smtClean="0"/>
          </a:p>
          <a:p>
            <a:pPr lvl="2"/>
            <a:r>
              <a:rPr lang="en-US" altLang="en-US" dirty="0"/>
              <a:t>Silent mutations do not change the protein </a:t>
            </a:r>
            <a:br>
              <a:rPr lang="en-US" altLang="en-US" dirty="0"/>
            </a:br>
            <a:r>
              <a:rPr lang="en-US" altLang="en-US" dirty="0"/>
              <a:t>expressed, therefore will have little effect on the </a:t>
            </a:r>
            <a:br>
              <a:rPr lang="en-US" altLang="en-US" dirty="0"/>
            </a:br>
            <a:r>
              <a:rPr lang="en-US" altLang="en-US" dirty="0"/>
              <a:t>biochemistry. They are also called synonymous</a:t>
            </a:r>
            <a:r>
              <a:rPr lang="en-US" altLang="en-US" dirty="0" smtClean="0"/>
              <a:t>.</a:t>
            </a:r>
          </a:p>
          <a:p>
            <a:pPr lvl="2"/>
            <a:r>
              <a:rPr lang="en-US" altLang="en-US" dirty="0" smtClean="0"/>
              <a:t>Non-synonymous mutations are mutations </a:t>
            </a:r>
            <a:br>
              <a:rPr lang="en-US" altLang="en-US" dirty="0" smtClean="0"/>
            </a:br>
            <a:r>
              <a:rPr lang="en-US" altLang="en-US" dirty="0" smtClean="0"/>
              <a:t>altering the amino acid sequence of a protein.  </a:t>
            </a:r>
            <a:br>
              <a:rPr lang="en-US" altLang="en-US" dirty="0" smtClean="0"/>
            </a:br>
            <a:r>
              <a:rPr lang="en-US" altLang="en-US" dirty="0" smtClean="0"/>
              <a:t>They can be:</a:t>
            </a:r>
          </a:p>
          <a:p>
            <a:pPr lvl="3"/>
            <a:r>
              <a:rPr lang="en-US" altLang="en-US" dirty="0" smtClean="0"/>
              <a:t>Nonsense mutations add a stop  or termination </a:t>
            </a:r>
            <a:br>
              <a:rPr lang="en-US" altLang="en-US" dirty="0" smtClean="0"/>
            </a:br>
            <a:r>
              <a:rPr lang="en-US" altLang="en-US" dirty="0" smtClean="0"/>
              <a:t>codon in the DNA, which will cause the generated </a:t>
            </a:r>
            <a:br>
              <a:rPr lang="en-US" altLang="en-US" dirty="0" smtClean="0"/>
            </a:br>
            <a:r>
              <a:rPr lang="en-US" altLang="en-US" dirty="0" smtClean="0"/>
              <a:t>protein to be shorter than it should. They are also </a:t>
            </a:r>
            <a:br>
              <a:rPr lang="en-US" altLang="en-US" dirty="0" smtClean="0"/>
            </a:br>
            <a:r>
              <a:rPr lang="en-US" altLang="en-US" dirty="0" smtClean="0"/>
              <a:t>referred to as truncating.</a:t>
            </a:r>
          </a:p>
          <a:p>
            <a:pPr lvl="3"/>
            <a:r>
              <a:rPr lang="en-US" altLang="en-US" dirty="0" smtClean="0"/>
              <a:t>Missense mutations generate different codons, </a:t>
            </a:r>
            <a:br>
              <a:rPr lang="en-US" altLang="en-US" dirty="0" smtClean="0"/>
            </a:br>
            <a:r>
              <a:rPr lang="en-US" altLang="en-US" dirty="0" smtClean="0"/>
              <a:t>which may code for a different amino </a:t>
            </a:r>
            <a:br>
              <a:rPr lang="en-US" altLang="en-US" dirty="0" smtClean="0"/>
            </a:br>
            <a:r>
              <a:rPr lang="en-US" altLang="en-US" dirty="0" smtClean="0"/>
              <a:t>acid, therefore the resulting protein may be </a:t>
            </a:r>
            <a:br>
              <a:rPr lang="en-US" altLang="en-US" dirty="0" smtClean="0"/>
            </a:br>
            <a:r>
              <a:rPr lang="en-US" altLang="en-US" dirty="0" smtClean="0"/>
              <a:t>altered, sometimes dramatically. </a:t>
            </a:r>
          </a:p>
        </p:txBody>
      </p:sp>
      <p:pic>
        <p:nvPicPr>
          <p:cNvPr id="3074" name="Picture 2" descr="A diagram showing different types of point mut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3795" y="2045352"/>
            <a:ext cx="5572125" cy="296227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txBox="1">
            <a:spLocks noChangeArrowheads="1"/>
          </p:cNvSpPr>
          <p:nvPr/>
        </p:nvSpPr>
        <p:spPr>
          <a:xfrm>
            <a:off x="7046260" y="5379166"/>
            <a:ext cx="4852349" cy="552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buFont typeface="Wingdings 2" pitchFamily="18" charset="2"/>
              <a:buNone/>
            </a:pPr>
            <a:r>
              <a:rPr lang="en-US" altLang="en-US" dirty="0" smtClean="0"/>
              <a:t>From </a:t>
            </a:r>
            <a:r>
              <a:rPr lang="en-US" altLang="en-US" dirty="0" smtClean="0">
                <a:hlinkClick r:id="rId3"/>
              </a:rPr>
              <a:t>http://www.study.com</a:t>
            </a:r>
            <a:r>
              <a:rPr lang="en-US" altLang="en-US" dirty="0" smtClean="0"/>
              <a:t>  </a:t>
            </a:r>
          </a:p>
          <a:p>
            <a:pPr lvl="1"/>
            <a:endParaRPr lang="en-US" altLang="en-US" dirty="0" smtClean="0"/>
          </a:p>
          <a:p>
            <a:pPr lvl="1"/>
            <a:endParaRPr lang="en-US" altLang="en-US" dirty="0" smtClean="0"/>
          </a:p>
        </p:txBody>
      </p:sp>
    </p:spTree>
    <p:extLst>
      <p:ext uri="{BB962C8B-B14F-4D97-AF65-F5344CB8AC3E}">
        <p14:creationId xmlns:p14="http://schemas.microsoft.com/office/powerpoint/2010/main" val="32752494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xfrm>
            <a:off x="3984812" y="6356350"/>
            <a:ext cx="41148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17</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Genetic Mutations</a:t>
            </a:r>
          </a:p>
        </p:txBody>
      </p:sp>
      <p:sp>
        <p:nvSpPr>
          <p:cNvPr id="8198" name="Rectangle 3"/>
          <p:cNvSpPr>
            <a:spLocks noGrp="1" noChangeArrowheads="1"/>
          </p:cNvSpPr>
          <p:nvPr>
            <p:ph type="body" idx="1"/>
          </p:nvPr>
        </p:nvSpPr>
        <p:spPr>
          <a:xfrm>
            <a:off x="77827" y="1321978"/>
            <a:ext cx="5442406" cy="4588933"/>
          </a:xfrm>
        </p:spPr>
        <p:txBody>
          <a:bodyPr>
            <a:normAutofit/>
          </a:bodyPr>
          <a:lstStyle/>
          <a:p>
            <a:r>
              <a:rPr lang="en-US" altLang="en-US" dirty="0" smtClean="0"/>
              <a:t>Single point mutations may have a</a:t>
            </a:r>
            <a:br>
              <a:rPr lang="en-US" altLang="en-US" dirty="0" smtClean="0"/>
            </a:br>
            <a:r>
              <a:rPr lang="en-US" altLang="en-US" dirty="0" smtClean="0"/>
              <a:t> radical effect on a protein’s </a:t>
            </a:r>
            <a:br>
              <a:rPr lang="en-US" altLang="en-US" dirty="0" smtClean="0"/>
            </a:br>
            <a:r>
              <a:rPr lang="en-US" altLang="en-US" dirty="0" smtClean="0"/>
              <a:t>expression, because they may </a:t>
            </a:r>
            <a:br>
              <a:rPr lang="en-US" altLang="en-US" dirty="0" smtClean="0"/>
            </a:br>
            <a:r>
              <a:rPr lang="en-US" altLang="en-US" dirty="0" smtClean="0"/>
              <a:t>shift the frame of all codons following the mutation </a:t>
            </a:r>
            <a:br>
              <a:rPr lang="en-US" altLang="en-US" dirty="0" smtClean="0"/>
            </a:br>
            <a:r>
              <a:rPr lang="en-US" altLang="en-US" dirty="0" smtClean="0"/>
              <a:t>(frameshift mutation). </a:t>
            </a:r>
            <a:br>
              <a:rPr lang="en-US" altLang="en-US" dirty="0" smtClean="0"/>
            </a:br>
            <a:r>
              <a:rPr lang="en-US" altLang="en-US" dirty="0" smtClean="0"/>
              <a:t>It is the case on insertion and </a:t>
            </a:r>
            <a:br>
              <a:rPr lang="en-US" altLang="en-US" dirty="0" smtClean="0"/>
            </a:br>
            <a:r>
              <a:rPr lang="en-US" altLang="en-US" dirty="0" smtClean="0"/>
              <a:t>deletion of a nucleotide.</a:t>
            </a:r>
            <a:br>
              <a:rPr lang="en-US" altLang="en-US" dirty="0" smtClean="0"/>
            </a:br>
            <a:endParaRPr lang="en-US" altLang="en-US" dirty="0" smtClean="0"/>
          </a:p>
        </p:txBody>
      </p:sp>
      <p:sp>
        <p:nvSpPr>
          <p:cNvPr id="7" name="Rectangle 3"/>
          <p:cNvSpPr txBox="1">
            <a:spLocks noChangeArrowheads="1"/>
          </p:cNvSpPr>
          <p:nvPr/>
        </p:nvSpPr>
        <p:spPr>
          <a:xfrm>
            <a:off x="5510036" y="6007036"/>
            <a:ext cx="4852349" cy="552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buFont typeface="Wingdings 2" pitchFamily="18" charset="2"/>
              <a:buNone/>
            </a:pPr>
            <a:r>
              <a:rPr lang="en-US" altLang="en-US" dirty="0" smtClean="0"/>
              <a:t>From National Cancer Institute</a:t>
            </a:r>
          </a:p>
          <a:p>
            <a:pPr lvl="1"/>
            <a:endParaRPr lang="en-US" altLang="en-US" dirty="0" smtClean="0"/>
          </a:p>
          <a:p>
            <a:pPr lvl="1"/>
            <a:endParaRPr lang="en-US" altLang="en-US" dirty="0" smtClean="0"/>
          </a:p>
        </p:txBody>
      </p:sp>
      <p:pic>
        <p:nvPicPr>
          <p:cNvPr id="2" name="Picture 1"/>
          <p:cNvPicPr>
            <a:picLocks noChangeAspect="1"/>
          </p:cNvPicPr>
          <p:nvPr/>
        </p:nvPicPr>
        <p:blipFill>
          <a:blip r:embed="rId2"/>
          <a:stretch>
            <a:fillRect/>
          </a:stretch>
        </p:blipFill>
        <p:spPr>
          <a:xfrm>
            <a:off x="5520233" y="1083722"/>
            <a:ext cx="6682758" cy="5014264"/>
          </a:xfrm>
          <a:prstGeom prst="rect">
            <a:avLst/>
          </a:prstGeom>
        </p:spPr>
      </p:pic>
    </p:spTree>
    <p:extLst>
      <p:ext uri="{BB962C8B-B14F-4D97-AF65-F5344CB8AC3E}">
        <p14:creationId xmlns:p14="http://schemas.microsoft.com/office/powerpoint/2010/main" val="10205210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18</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Genetic Mutations</a:t>
            </a:r>
          </a:p>
        </p:txBody>
      </p:sp>
      <p:sp>
        <p:nvSpPr>
          <p:cNvPr id="8198" name="Rectangle 3"/>
          <p:cNvSpPr>
            <a:spLocks noGrp="1" noChangeArrowheads="1"/>
          </p:cNvSpPr>
          <p:nvPr>
            <p:ph type="body" idx="1"/>
          </p:nvPr>
        </p:nvSpPr>
        <p:spPr>
          <a:xfrm>
            <a:off x="1752600" y="1523999"/>
            <a:ext cx="8686800" cy="4588933"/>
          </a:xfrm>
        </p:spPr>
        <p:txBody>
          <a:bodyPr>
            <a:normAutofit fontScale="92500" lnSpcReduction="20000"/>
          </a:bodyPr>
          <a:lstStyle/>
          <a:p>
            <a:r>
              <a:rPr lang="en-US" altLang="en-US" dirty="0" smtClean="0"/>
              <a:t>Human beings have 2 copies of the same chromosome – one from their father and one from their mother – except for Y chromosome. They are called diploid.</a:t>
            </a:r>
            <a:endParaRPr lang="en-US" altLang="en-US" dirty="0"/>
          </a:p>
          <a:p>
            <a:r>
              <a:rPr lang="en-US" altLang="en-US" dirty="0" smtClean="0"/>
              <a:t>However a particular gene may not exist in the same form, called allele, in both chromosomes – these individuals are said to be heterozygous</a:t>
            </a:r>
            <a:r>
              <a:rPr lang="en-US" altLang="en-US" dirty="0"/>
              <a:t> </a:t>
            </a:r>
            <a:r>
              <a:rPr lang="en-US" altLang="en-US" dirty="0" smtClean="0"/>
              <a:t>for the gene.</a:t>
            </a:r>
            <a:endParaRPr lang="en-US" altLang="en-US" dirty="0"/>
          </a:p>
          <a:p>
            <a:r>
              <a:rPr lang="en-US" altLang="en-US" dirty="0" smtClean="0"/>
              <a:t>Somatic mutations generally affect only one version of a gene. </a:t>
            </a:r>
          </a:p>
          <a:p>
            <a:r>
              <a:rPr lang="en-US" altLang="en-US" dirty="0" smtClean="0"/>
              <a:t>Many common diseases originate in a mutation in a single gene passed on to future generations.</a:t>
            </a:r>
          </a:p>
          <a:p>
            <a:r>
              <a:rPr lang="en-US" altLang="en-US" dirty="0" smtClean="0"/>
              <a:t>Ex: sickle-cell anemia </a:t>
            </a:r>
            <a:r>
              <a:rPr lang="en-US" dirty="0"/>
              <a:t>is caused by a single missense </a:t>
            </a:r>
            <a:r>
              <a:rPr lang="en-US" dirty="0" smtClean="0"/>
              <a:t>mutation</a:t>
            </a:r>
            <a:r>
              <a:rPr lang="en-US" dirty="0"/>
              <a:t> at </a:t>
            </a:r>
            <a:r>
              <a:rPr lang="en-US" dirty="0" smtClean="0"/>
              <a:t>codon</a:t>
            </a:r>
            <a:r>
              <a:rPr lang="en-US" dirty="0"/>
              <a:t> 6 of the β-globin </a:t>
            </a:r>
            <a:r>
              <a:rPr lang="en-US" dirty="0" smtClean="0"/>
              <a:t>gene and affects 1 in 500 individuals of African descent.</a:t>
            </a:r>
            <a:endParaRPr lang="en-US" altLang="en-US" dirty="0" smtClean="0"/>
          </a:p>
          <a:p>
            <a:endParaRPr lang="en-US" altLang="en-US" dirty="0"/>
          </a:p>
          <a:p>
            <a:endParaRPr lang="en-US" altLang="en-US" dirty="0" smtClean="0"/>
          </a:p>
        </p:txBody>
      </p:sp>
    </p:spTree>
    <p:extLst>
      <p:ext uri="{BB962C8B-B14F-4D97-AF65-F5344CB8AC3E}">
        <p14:creationId xmlns:p14="http://schemas.microsoft.com/office/powerpoint/2010/main" val="16258685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19</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b="1" dirty="0">
                <a:solidFill>
                  <a:srgbClr val="FFFF00"/>
                </a:solidFill>
              </a:rPr>
              <a:t>Finding gene </a:t>
            </a:r>
            <a:r>
              <a:rPr lang="en-US" b="1" dirty="0" smtClean="0">
                <a:solidFill>
                  <a:srgbClr val="FFFF00"/>
                </a:solidFill>
              </a:rPr>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23125318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20</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Gene Mutations</a:t>
            </a:r>
          </a:p>
        </p:txBody>
      </p:sp>
      <p:sp>
        <p:nvSpPr>
          <p:cNvPr id="8198" name="Rectangle 3"/>
          <p:cNvSpPr>
            <a:spLocks noGrp="1" noChangeArrowheads="1"/>
          </p:cNvSpPr>
          <p:nvPr>
            <p:ph type="body" idx="1"/>
          </p:nvPr>
        </p:nvSpPr>
        <p:spPr>
          <a:xfrm>
            <a:off x="0" y="1141296"/>
            <a:ext cx="9730068" cy="4588933"/>
          </a:xfrm>
        </p:spPr>
        <p:txBody>
          <a:bodyPr>
            <a:normAutofit/>
          </a:bodyPr>
          <a:lstStyle/>
          <a:p>
            <a:r>
              <a:rPr lang="en-US" altLang="en-US" dirty="0" err="1" smtClean="0"/>
              <a:t>cBioPortal</a:t>
            </a:r>
            <a:r>
              <a:rPr lang="en-US" altLang="en-US" dirty="0" smtClean="0"/>
              <a:t> may be used to study gene mutations in cancer patients under the </a:t>
            </a:r>
            <a:r>
              <a:rPr lang="en-US" altLang="en-US" dirty="0" err="1" smtClean="0"/>
              <a:t>Oncoprint</a:t>
            </a:r>
            <a:r>
              <a:rPr lang="en-US" altLang="en-US" dirty="0"/>
              <a:t> tab after option: </a:t>
            </a:r>
            <a:r>
              <a:rPr lang="en-US" altLang="en-US" dirty="0" smtClean="0"/>
              <a:t>Mutations.</a:t>
            </a:r>
          </a:p>
          <a:p>
            <a:r>
              <a:rPr lang="en-US" altLang="en-US" dirty="0" smtClean="0"/>
              <a:t>Example: EGFR ERBB2 ERBB3 ERBB4 in Breast cancer shows truncating and missense mutations.</a:t>
            </a:r>
          </a:p>
        </p:txBody>
      </p:sp>
      <p:pic>
        <p:nvPicPr>
          <p:cNvPr id="3" name="Picture 2"/>
          <p:cNvPicPr>
            <a:picLocks noChangeAspect="1"/>
          </p:cNvPicPr>
          <p:nvPr/>
        </p:nvPicPr>
        <p:blipFill>
          <a:blip r:embed="rId2"/>
          <a:stretch>
            <a:fillRect/>
          </a:stretch>
        </p:blipFill>
        <p:spPr>
          <a:xfrm>
            <a:off x="1162050" y="3057525"/>
            <a:ext cx="9867900" cy="3181350"/>
          </a:xfrm>
          <a:prstGeom prst="rect">
            <a:avLst/>
          </a:prstGeom>
        </p:spPr>
      </p:pic>
      <p:pic>
        <p:nvPicPr>
          <p:cNvPr id="4" name="Picture 3"/>
          <p:cNvPicPr>
            <a:picLocks noChangeAspect="1"/>
          </p:cNvPicPr>
          <p:nvPr/>
        </p:nvPicPr>
        <p:blipFill>
          <a:blip r:embed="rId3"/>
          <a:stretch>
            <a:fillRect/>
          </a:stretch>
        </p:blipFill>
        <p:spPr>
          <a:xfrm>
            <a:off x="8830190" y="847633"/>
            <a:ext cx="3181350" cy="1752600"/>
          </a:xfrm>
          <a:prstGeom prst="rect">
            <a:avLst/>
          </a:prstGeom>
        </p:spPr>
      </p:pic>
    </p:spTree>
    <p:extLst>
      <p:ext uri="{BB962C8B-B14F-4D97-AF65-F5344CB8AC3E}">
        <p14:creationId xmlns:p14="http://schemas.microsoft.com/office/powerpoint/2010/main" val="10651999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Gene Mutations</a:t>
            </a:r>
          </a:p>
        </p:txBody>
      </p:sp>
      <p:sp>
        <p:nvSpPr>
          <p:cNvPr id="8198" name="Rectangle 3"/>
          <p:cNvSpPr>
            <a:spLocks noGrp="1" noChangeArrowheads="1"/>
          </p:cNvSpPr>
          <p:nvPr>
            <p:ph type="body" idx="1"/>
          </p:nvPr>
        </p:nvSpPr>
        <p:spPr>
          <a:xfrm>
            <a:off x="748146" y="1289435"/>
            <a:ext cx="10487890" cy="4588933"/>
          </a:xfrm>
        </p:spPr>
        <p:txBody>
          <a:bodyPr>
            <a:normAutofit/>
          </a:bodyPr>
          <a:lstStyle/>
          <a:p>
            <a:r>
              <a:rPr lang="en-US" altLang="en-US" dirty="0" smtClean="0"/>
              <a:t>Example</a:t>
            </a:r>
            <a:r>
              <a:rPr lang="en-US" altLang="en-US" dirty="0"/>
              <a:t>: EGFR ERBB2 ERBB3 ERBB4 PTEN ATM </a:t>
            </a:r>
            <a:r>
              <a:rPr lang="en-US" altLang="en-US" dirty="0" smtClean="0"/>
              <a:t>CDH1 TP53  in Breast cancer.</a:t>
            </a:r>
          </a:p>
        </p:txBody>
      </p:sp>
      <p:pic>
        <p:nvPicPr>
          <p:cNvPr id="3" name="Picture 2"/>
          <p:cNvPicPr>
            <a:picLocks noChangeAspect="1"/>
          </p:cNvPicPr>
          <p:nvPr/>
        </p:nvPicPr>
        <p:blipFill>
          <a:blip r:embed="rId2"/>
          <a:stretch>
            <a:fillRect/>
          </a:stretch>
        </p:blipFill>
        <p:spPr>
          <a:xfrm>
            <a:off x="1313580" y="2354984"/>
            <a:ext cx="9620250" cy="3762375"/>
          </a:xfrm>
          <a:prstGeom prst="rect">
            <a:avLst/>
          </a:prstGeom>
        </p:spPr>
      </p:pic>
    </p:spTree>
    <p:extLst>
      <p:ext uri="{BB962C8B-B14F-4D97-AF65-F5344CB8AC3E}">
        <p14:creationId xmlns:p14="http://schemas.microsoft.com/office/powerpoint/2010/main" val="23447661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22</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Gene Mutations</a:t>
            </a:r>
          </a:p>
        </p:txBody>
      </p:sp>
      <p:sp>
        <p:nvSpPr>
          <p:cNvPr id="8198" name="Rectangle 3"/>
          <p:cNvSpPr>
            <a:spLocks noGrp="1" noChangeArrowheads="1"/>
          </p:cNvSpPr>
          <p:nvPr>
            <p:ph type="body" idx="1"/>
          </p:nvPr>
        </p:nvSpPr>
        <p:spPr>
          <a:xfrm>
            <a:off x="491836" y="1377950"/>
            <a:ext cx="8686800" cy="4588933"/>
          </a:xfrm>
        </p:spPr>
        <p:txBody>
          <a:bodyPr>
            <a:normAutofit lnSpcReduction="10000"/>
          </a:bodyPr>
          <a:lstStyle/>
          <a:p>
            <a:r>
              <a:rPr lang="en-US" altLang="en-US" dirty="0" smtClean="0"/>
              <a:t>Mutation types in </a:t>
            </a:r>
            <a:r>
              <a:rPr lang="en-US" altLang="en-US" dirty="0" err="1" smtClean="0"/>
              <a:t>cBioPortal</a:t>
            </a:r>
            <a:endParaRPr lang="en-US" altLang="en-US" dirty="0"/>
          </a:p>
          <a:p>
            <a:pPr lvl="1"/>
            <a:r>
              <a:rPr lang="en-US" dirty="0" smtClean="0"/>
              <a:t>MISSENSE (in frame substitution </a:t>
            </a:r>
            <a:br>
              <a:rPr lang="en-US" dirty="0" smtClean="0"/>
            </a:br>
            <a:r>
              <a:rPr lang="en-US" dirty="0" smtClean="0"/>
              <a:t>with new AA)</a:t>
            </a:r>
            <a:endParaRPr lang="en-US" dirty="0"/>
          </a:p>
          <a:p>
            <a:pPr lvl="1"/>
            <a:r>
              <a:rPr lang="en-US" dirty="0" smtClean="0"/>
              <a:t>NONSENSE (truncating)</a:t>
            </a:r>
            <a:endParaRPr lang="en-US" dirty="0"/>
          </a:p>
          <a:p>
            <a:pPr lvl="1"/>
            <a:r>
              <a:rPr lang="en-US" dirty="0" smtClean="0"/>
              <a:t>NONSTART (changes start codon)</a:t>
            </a:r>
            <a:endParaRPr lang="en-US" dirty="0"/>
          </a:p>
          <a:p>
            <a:pPr lvl="1"/>
            <a:r>
              <a:rPr lang="en-US" dirty="0" smtClean="0"/>
              <a:t>NONSTOP (changes stop codon)</a:t>
            </a:r>
            <a:endParaRPr lang="en-US" dirty="0"/>
          </a:p>
          <a:p>
            <a:pPr lvl="1"/>
            <a:r>
              <a:rPr lang="en-US" dirty="0" smtClean="0"/>
              <a:t>FRAMESHIFT (shifts frame)</a:t>
            </a:r>
            <a:endParaRPr lang="en-US" dirty="0"/>
          </a:p>
          <a:p>
            <a:pPr lvl="1"/>
            <a:r>
              <a:rPr lang="en-US" dirty="0" smtClean="0"/>
              <a:t>INFRAME (in frame substitution but </a:t>
            </a:r>
            <a:br>
              <a:rPr lang="en-US" dirty="0" smtClean="0"/>
            </a:br>
            <a:r>
              <a:rPr lang="en-US" dirty="0" smtClean="0"/>
              <a:t>no new AA)</a:t>
            </a:r>
            <a:endParaRPr lang="en-US" dirty="0"/>
          </a:p>
          <a:p>
            <a:pPr lvl="1"/>
            <a:r>
              <a:rPr lang="en-US" dirty="0" smtClean="0"/>
              <a:t>SPLICE (genetic mutation that inserts, deletes, or changes a number of nucleotides in the specific site at which splicing takes place during transcription)</a:t>
            </a:r>
          </a:p>
          <a:p>
            <a:pPr lvl="1"/>
            <a:r>
              <a:rPr lang="en-US" dirty="0" smtClean="0"/>
              <a:t>TRUNC (NONSENSE, NONSTART, FRAMESHIFT, and SPLICE).</a:t>
            </a:r>
            <a:endParaRPr lang="en-US" dirty="0"/>
          </a:p>
          <a:p>
            <a:pPr lvl="1"/>
            <a:endParaRPr lang="en-US" altLang="en-US" dirty="0" smtClean="0"/>
          </a:p>
        </p:txBody>
      </p:sp>
      <p:pic>
        <p:nvPicPr>
          <p:cNvPr id="2" name="Picture 1"/>
          <p:cNvPicPr>
            <a:picLocks noChangeAspect="1"/>
          </p:cNvPicPr>
          <p:nvPr/>
        </p:nvPicPr>
        <p:blipFill>
          <a:blip r:embed="rId2"/>
          <a:stretch>
            <a:fillRect/>
          </a:stretch>
        </p:blipFill>
        <p:spPr>
          <a:xfrm>
            <a:off x="6096000" y="1377950"/>
            <a:ext cx="5372100" cy="2914650"/>
          </a:xfrm>
          <a:prstGeom prst="rect">
            <a:avLst/>
          </a:prstGeom>
        </p:spPr>
      </p:pic>
    </p:spTree>
    <p:extLst>
      <p:ext uri="{BB962C8B-B14F-4D97-AF65-F5344CB8AC3E}">
        <p14:creationId xmlns:p14="http://schemas.microsoft.com/office/powerpoint/2010/main" val="16801412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23</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b="1" dirty="0" smtClean="0">
                <a:solidFill>
                  <a:srgbClr val="FFFF00"/>
                </a:solidFill>
              </a:rPr>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7351277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Methylation</a:t>
            </a:r>
          </a:p>
        </p:txBody>
      </p:sp>
      <p:sp>
        <p:nvSpPr>
          <p:cNvPr id="8198" name="Rectangle 3"/>
          <p:cNvSpPr>
            <a:spLocks noGrp="1" noChangeArrowheads="1"/>
          </p:cNvSpPr>
          <p:nvPr>
            <p:ph type="body" idx="1"/>
          </p:nvPr>
        </p:nvSpPr>
        <p:spPr>
          <a:xfrm>
            <a:off x="803564" y="1108363"/>
            <a:ext cx="10875818" cy="4588933"/>
          </a:xfrm>
        </p:spPr>
        <p:txBody>
          <a:bodyPr>
            <a:normAutofit/>
          </a:bodyPr>
          <a:lstStyle/>
          <a:p>
            <a:r>
              <a:rPr lang="en-US" altLang="en-US" dirty="0" smtClean="0"/>
              <a:t>Methylation is the addition of methyl groups (-CH3) on nucleotides in the DNA. It affects only C and A nucleotides.</a:t>
            </a:r>
            <a:endParaRPr lang="en-US" altLang="en-US" dirty="0"/>
          </a:p>
          <a:p>
            <a:r>
              <a:rPr lang="en-US" altLang="en-US" dirty="0" smtClean="0"/>
              <a:t>Methylation has for effect to repress gene transcription and plays an important role in normal cell functioning.</a:t>
            </a:r>
            <a:endParaRPr lang="en-US" altLang="en-US" dirty="0"/>
          </a:p>
          <a:p>
            <a:r>
              <a:rPr lang="en-US" altLang="en-US" dirty="0" smtClean="0"/>
              <a:t>However a change in the methylation process has been linked </a:t>
            </a:r>
            <a:r>
              <a:rPr lang="en-US" altLang="en-US" dirty="0"/>
              <a:t>t</a:t>
            </a:r>
            <a:r>
              <a:rPr lang="en-US" altLang="en-US" dirty="0" smtClean="0"/>
              <a:t>o many diseases, including cancer, schizophrenia, heart disease, type II diabetes, lupus, and aging.</a:t>
            </a:r>
          </a:p>
          <a:p>
            <a:endParaRPr lang="en-US" altLang="en-US" dirty="0"/>
          </a:p>
          <a:p>
            <a:endParaRPr lang="en-US" altLang="en-US" dirty="0" smtClean="0"/>
          </a:p>
        </p:txBody>
      </p:sp>
      <p:pic>
        <p:nvPicPr>
          <p:cNvPr id="6146" name="Picture 2" descr="http://atlasgeneticsoncology.org/Deep/Images/DNAMethylationFig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70" y="3956263"/>
            <a:ext cx="6324600" cy="23812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txBox="1">
            <a:spLocks noChangeArrowheads="1"/>
          </p:cNvSpPr>
          <p:nvPr/>
        </p:nvSpPr>
        <p:spPr>
          <a:xfrm>
            <a:off x="7124907" y="5799262"/>
            <a:ext cx="4852349" cy="45512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buNone/>
            </a:pPr>
            <a:r>
              <a:rPr lang="en-US" altLang="en-US" dirty="0"/>
              <a:t>From </a:t>
            </a:r>
            <a:r>
              <a:rPr lang="en-US" altLang="en-US" dirty="0">
                <a:hlinkClick r:id="rId3"/>
              </a:rPr>
              <a:t>http://</a:t>
            </a:r>
            <a:r>
              <a:rPr lang="en-US" altLang="en-US" dirty="0" smtClean="0">
                <a:hlinkClick r:id="rId3"/>
              </a:rPr>
              <a:t>atlasgeneticsoncology.o</a:t>
            </a:r>
            <a:r>
              <a:rPr lang="en-US" altLang="en-US" dirty="0">
                <a:hlinkClick r:id="rId3"/>
              </a:rPr>
              <a:t>r</a:t>
            </a:r>
            <a:r>
              <a:rPr lang="en-US" altLang="en-US" dirty="0" smtClean="0">
                <a:hlinkClick r:id="rId3"/>
              </a:rPr>
              <a:t>g/</a:t>
            </a:r>
            <a:r>
              <a:rPr lang="en-US" altLang="en-US" dirty="0" smtClean="0"/>
              <a:t>   </a:t>
            </a:r>
          </a:p>
          <a:p>
            <a:pPr lvl="1"/>
            <a:endParaRPr lang="en-US" altLang="en-US" dirty="0" smtClean="0"/>
          </a:p>
          <a:p>
            <a:pPr lvl="1"/>
            <a:endParaRPr lang="en-US" altLang="en-US" dirty="0" smtClean="0"/>
          </a:p>
        </p:txBody>
      </p:sp>
    </p:spTree>
    <p:extLst>
      <p:ext uri="{BB962C8B-B14F-4D97-AF65-F5344CB8AC3E}">
        <p14:creationId xmlns:p14="http://schemas.microsoft.com/office/powerpoint/2010/main" val="4790509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25</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Methylation</a:t>
            </a:r>
          </a:p>
        </p:txBody>
      </p:sp>
      <p:sp>
        <p:nvSpPr>
          <p:cNvPr id="8198" name="Rectangle 3"/>
          <p:cNvSpPr>
            <a:spLocks noGrp="1" noChangeArrowheads="1"/>
          </p:cNvSpPr>
          <p:nvPr>
            <p:ph type="body" idx="1"/>
          </p:nvPr>
        </p:nvSpPr>
        <p:spPr>
          <a:xfrm>
            <a:off x="831273" y="1767417"/>
            <a:ext cx="10875818" cy="4588933"/>
          </a:xfrm>
        </p:spPr>
        <p:txBody>
          <a:bodyPr>
            <a:normAutofit fontScale="85000" lnSpcReduction="20000"/>
          </a:bodyPr>
          <a:lstStyle/>
          <a:p>
            <a:r>
              <a:rPr lang="en-US" altLang="en-US" dirty="0" smtClean="0"/>
              <a:t>DNA methylation is critical for gene expression such that a specific methylation signature can be associated with diseases in a way similar to gene expression signatures (differentially expressed genes).</a:t>
            </a:r>
          </a:p>
          <a:p>
            <a:endParaRPr lang="en-US" altLang="en-US" dirty="0"/>
          </a:p>
          <a:p>
            <a:r>
              <a:rPr lang="en-US" altLang="en-US" dirty="0"/>
              <a:t>DNA methylation plays a role in the silencing of tumor suppressor genes in </a:t>
            </a:r>
            <a:r>
              <a:rPr lang="en-US" altLang="en-US" dirty="0" smtClean="0"/>
              <a:t>cancer</a:t>
            </a:r>
            <a:r>
              <a:rPr lang="en-US" altLang="en-US" dirty="0"/>
              <a:t> </a:t>
            </a:r>
            <a:r>
              <a:rPr lang="en-US" altLang="en-US" dirty="0" smtClean="0"/>
              <a:t>and can help in cancer staging.</a:t>
            </a:r>
          </a:p>
          <a:p>
            <a:endParaRPr lang="en-US" altLang="en-US" dirty="0"/>
          </a:p>
          <a:p>
            <a:r>
              <a:rPr lang="en-US" altLang="en-US" dirty="0" smtClean="0"/>
              <a:t>Whole genome sequencing data (</a:t>
            </a:r>
            <a:r>
              <a:rPr lang="en-US" altLang="en-US" dirty="0" err="1" smtClean="0"/>
              <a:t>methylome</a:t>
            </a:r>
            <a:r>
              <a:rPr lang="en-US" altLang="en-US" dirty="0" err="1"/>
              <a:t>-</a:t>
            </a:r>
            <a:r>
              <a:rPr lang="en-US" altLang="en-US" dirty="0" err="1" smtClean="0"/>
              <a:t>seq</a:t>
            </a:r>
            <a:r>
              <a:rPr lang="en-US" altLang="en-US" dirty="0" smtClean="0"/>
              <a:t>) give us the ability to classify different subtypes of cancer based on methylation biomarkers and are more stable than RNA or proteins.</a:t>
            </a:r>
          </a:p>
          <a:p>
            <a:endParaRPr lang="en-US" altLang="en-US" dirty="0"/>
          </a:p>
          <a:p>
            <a:r>
              <a:rPr lang="en-US" altLang="en-US" dirty="0" smtClean="0"/>
              <a:t>Methylation is linked to epigenetic modifications – those that are not part of the genetic material in chromosomes however affect it and can be passed onto offspring. </a:t>
            </a:r>
          </a:p>
          <a:p>
            <a:endParaRPr lang="en-US" altLang="en-US" dirty="0"/>
          </a:p>
          <a:p>
            <a:endParaRPr lang="en-US" altLang="en-US" dirty="0"/>
          </a:p>
          <a:p>
            <a:endParaRPr lang="en-US" altLang="en-US" dirty="0" smtClean="0"/>
          </a:p>
          <a:p>
            <a:endParaRPr lang="en-US" altLang="en-US" dirty="0"/>
          </a:p>
        </p:txBody>
      </p:sp>
    </p:spTree>
    <p:extLst>
      <p:ext uri="{BB962C8B-B14F-4D97-AF65-F5344CB8AC3E}">
        <p14:creationId xmlns:p14="http://schemas.microsoft.com/office/powerpoint/2010/main" val="3431988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26</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b="1" dirty="0">
                <a:solidFill>
                  <a:srgbClr val="FFFF00"/>
                </a:solidFill>
              </a:rPr>
              <a:t>Finding </a:t>
            </a:r>
            <a:r>
              <a:rPr lang="en-US" b="1" dirty="0" smtClean="0">
                <a:solidFill>
                  <a:srgbClr val="FFFF00"/>
                </a:solidFill>
              </a:rPr>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34784871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27</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Methylated Genes</a:t>
            </a:r>
          </a:p>
        </p:txBody>
      </p:sp>
      <p:sp>
        <p:nvSpPr>
          <p:cNvPr id="8198" name="Rectangle 3"/>
          <p:cNvSpPr>
            <a:spLocks noGrp="1" noChangeArrowheads="1"/>
          </p:cNvSpPr>
          <p:nvPr>
            <p:ph type="body" idx="1"/>
          </p:nvPr>
        </p:nvSpPr>
        <p:spPr>
          <a:xfrm>
            <a:off x="685800" y="1572683"/>
            <a:ext cx="8686800" cy="4588933"/>
          </a:xfrm>
        </p:spPr>
        <p:txBody>
          <a:bodyPr>
            <a:normAutofit lnSpcReduction="10000"/>
          </a:bodyPr>
          <a:lstStyle/>
          <a:p>
            <a:r>
              <a:rPr lang="en-US" altLang="en-US" dirty="0" smtClean="0"/>
              <a:t>Methylated genes are determined by analyzing bisulfite sequencing (BS-</a:t>
            </a:r>
            <a:r>
              <a:rPr lang="en-US" altLang="en-US" dirty="0" err="1" smtClean="0"/>
              <a:t>seq</a:t>
            </a:r>
            <a:r>
              <a:rPr lang="en-US" altLang="en-US" dirty="0" smtClean="0"/>
              <a:t>) data.</a:t>
            </a:r>
          </a:p>
          <a:p>
            <a:pPr marL="0" indent="0">
              <a:buNone/>
            </a:pPr>
            <a:endParaRPr lang="en-US" altLang="en-US" dirty="0" smtClean="0"/>
          </a:p>
          <a:p>
            <a:r>
              <a:rPr lang="en-US" altLang="en-US" dirty="0" smtClean="0"/>
              <a:t>TCGA provides a number of methylation data for cancer, coming mainly from two methylation platforms:</a:t>
            </a:r>
          </a:p>
          <a:p>
            <a:pPr lvl="1"/>
            <a:r>
              <a:rPr lang="en-US" altLang="en-US" dirty="0" smtClean="0"/>
              <a:t>Methylation450 (higher resolution and greater sample count), and</a:t>
            </a:r>
          </a:p>
          <a:p>
            <a:pPr lvl="1"/>
            <a:r>
              <a:rPr lang="en-US" altLang="en-US" dirty="0" smtClean="0"/>
              <a:t>Methylation27.</a:t>
            </a:r>
          </a:p>
          <a:p>
            <a:pPr lvl="1"/>
            <a:endParaRPr lang="en-US" altLang="en-US" dirty="0" smtClean="0"/>
          </a:p>
          <a:p>
            <a:r>
              <a:rPr lang="en-US" altLang="en-US" dirty="0" smtClean="0"/>
              <a:t>Data can be analyzed to compare methylation between groups or between patients and normal.</a:t>
            </a:r>
            <a:endParaRPr lang="en-US" altLang="en-US" dirty="0"/>
          </a:p>
          <a:p>
            <a:endParaRPr lang="en-US" altLang="en-US" dirty="0" smtClean="0"/>
          </a:p>
        </p:txBody>
      </p:sp>
    </p:spTree>
    <p:extLst>
      <p:ext uri="{BB962C8B-B14F-4D97-AF65-F5344CB8AC3E}">
        <p14:creationId xmlns:p14="http://schemas.microsoft.com/office/powerpoint/2010/main" val="15773743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28</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Methylated Genes</a:t>
            </a:r>
          </a:p>
        </p:txBody>
      </p:sp>
      <p:sp>
        <p:nvSpPr>
          <p:cNvPr id="8198" name="Rectangle 3"/>
          <p:cNvSpPr>
            <a:spLocks noGrp="1" noChangeArrowheads="1"/>
          </p:cNvSpPr>
          <p:nvPr>
            <p:ph type="body" idx="1"/>
          </p:nvPr>
        </p:nvSpPr>
        <p:spPr>
          <a:xfrm>
            <a:off x="655320" y="1572683"/>
            <a:ext cx="8686800" cy="4588933"/>
          </a:xfrm>
        </p:spPr>
        <p:txBody>
          <a:bodyPr>
            <a:normAutofit/>
          </a:bodyPr>
          <a:lstStyle/>
          <a:p>
            <a:r>
              <a:rPr lang="en-US" altLang="en-US" dirty="0" smtClean="0"/>
              <a:t>R packages for methylation data analysis:</a:t>
            </a:r>
          </a:p>
          <a:p>
            <a:endParaRPr lang="en-US" altLang="en-US" dirty="0"/>
          </a:p>
          <a:p>
            <a:pPr lvl="1"/>
            <a:r>
              <a:rPr lang="en-US" altLang="en-US" dirty="0" smtClean="0"/>
              <a:t>Methylation analysis pipelines examples:</a:t>
            </a:r>
          </a:p>
          <a:p>
            <a:pPr lvl="2"/>
            <a:r>
              <a:rPr lang="en-US" altLang="en-US" dirty="0" smtClean="0"/>
              <a:t>BSMAP (wild-card matching approach)</a:t>
            </a:r>
          </a:p>
          <a:p>
            <a:pPr lvl="2"/>
            <a:r>
              <a:rPr lang="en-US" altLang="en-US" dirty="0" err="1" smtClean="0"/>
              <a:t>Bismark</a:t>
            </a:r>
            <a:r>
              <a:rPr lang="en-US" altLang="en-US" dirty="0" smtClean="0"/>
              <a:t> (three-letter alignment algorithm) maps bisulfite treated sequencing reads to a genome of interest and performs methylation calls.</a:t>
            </a:r>
          </a:p>
          <a:p>
            <a:pPr lvl="2"/>
            <a:r>
              <a:rPr lang="en-US" altLang="en-US" dirty="0" smtClean="0"/>
              <a:t>Programs can extract this information and provide the list of genes being methylated.</a:t>
            </a:r>
          </a:p>
          <a:p>
            <a:pPr lvl="1"/>
            <a:r>
              <a:rPr lang="en-US" altLang="en-US" dirty="0" err="1"/>
              <a:t>m</a:t>
            </a:r>
            <a:r>
              <a:rPr lang="en-US" altLang="en-US" dirty="0" err="1" smtClean="0"/>
              <a:t>ethylPipeline</a:t>
            </a:r>
            <a:r>
              <a:rPr lang="en-US" altLang="en-US" dirty="0" smtClean="0"/>
              <a:t> (Bioconductor R package).</a:t>
            </a:r>
          </a:p>
          <a:p>
            <a:pPr lvl="1"/>
            <a:r>
              <a:rPr lang="en-US" altLang="en-US" dirty="0" err="1" smtClean="0"/>
              <a:t>methyAnalysis</a:t>
            </a:r>
            <a:r>
              <a:rPr lang="en-US" altLang="en-US" dirty="0" smtClean="0"/>
              <a:t> (Bioconductor R package).</a:t>
            </a:r>
          </a:p>
          <a:p>
            <a:pPr lvl="1"/>
            <a:endParaRPr lang="en-US" altLang="en-US" dirty="0" smtClean="0"/>
          </a:p>
          <a:p>
            <a:pPr lvl="1"/>
            <a:endParaRPr lang="en-US" altLang="en-US" dirty="0"/>
          </a:p>
          <a:p>
            <a:pPr lvl="1"/>
            <a:endParaRPr lang="en-US" altLang="en-US" dirty="0" smtClean="0"/>
          </a:p>
        </p:txBody>
      </p:sp>
    </p:spTree>
    <p:extLst>
      <p:ext uri="{BB962C8B-B14F-4D97-AF65-F5344CB8AC3E}">
        <p14:creationId xmlns:p14="http://schemas.microsoft.com/office/powerpoint/2010/main" val="13363181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29</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Methylated Genes</a:t>
            </a:r>
          </a:p>
        </p:txBody>
      </p:sp>
      <p:sp>
        <p:nvSpPr>
          <p:cNvPr id="8198" name="Rectangle 3"/>
          <p:cNvSpPr>
            <a:spLocks noGrp="1" noChangeArrowheads="1"/>
          </p:cNvSpPr>
          <p:nvPr>
            <p:ph type="body" idx="1"/>
          </p:nvPr>
        </p:nvSpPr>
        <p:spPr>
          <a:xfrm>
            <a:off x="472440" y="3029214"/>
            <a:ext cx="3769360" cy="1177025"/>
          </a:xfrm>
        </p:spPr>
        <p:txBody>
          <a:bodyPr>
            <a:normAutofit lnSpcReduction="10000"/>
          </a:bodyPr>
          <a:lstStyle/>
          <a:p>
            <a:pPr marL="0" indent="0">
              <a:buNone/>
            </a:pPr>
            <a:r>
              <a:rPr lang="en-US" altLang="en-US" dirty="0" smtClean="0"/>
              <a:t>Methylation </a:t>
            </a:r>
            <a:r>
              <a:rPr lang="en-US" altLang="en-US" dirty="0" err="1" smtClean="0"/>
              <a:t>heatmap</a:t>
            </a:r>
            <a:r>
              <a:rPr lang="en-US" altLang="en-US" dirty="0" smtClean="0"/>
              <a:t> for chromosome 21  </a:t>
            </a:r>
            <a:br>
              <a:rPr lang="en-US" altLang="en-US" dirty="0" smtClean="0"/>
            </a:br>
            <a:r>
              <a:rPr lang="en-US" altLang="en-US" dirty="0" smtClean="0"/>
              <a:t>(</a:t>
            </a:r>
            <a:r>
              <a:rPr lang="en-US" altLang="en-US" dirty="0" err="1" smtClean="0"/>
              <a:t>methyAnalysis</a:t>
            </a:r>
            <a:r>
              <a:rPr lang="en-US" altLang="en-US" dirty="0" smtClean="0"/>
              <a:t>)</a:t>
            </a:r>
          </a:p>
        </p:txBody>
      </p:sp>
      <p:pic>
        <p:nvPicPr>
          <p:cNvPr id="2" name="Picture 1"/>
          <p:cNvPicPr>
            <a:picLocks noChangeAspect="1"/>
          </p:cNvPicPr>
          <p:nvPr/>
        </p:nvPicPr>
        <p:blipFill>
          <a:blip r:embed="rId2"/>
          <a:stretch>
            <a:fillRect/>
          </a:stretch>
        </p:blipFill>
        <p:spPr>
          <a:xfrm>
            <a:off x="5161886" y="1075467"/>
            <a:ext cx="6447155" cy="5280883"/>
          </a:xfrm>
          <a:prstGeom prst="rect">
            <a:avLst/>
          </a:prstGeom>
        </p:spPr>
      </p:pic>
    </p:spTree>
    <p:extLst>
      <p:ext uri="{BB962C8B-B14F-4D97-AF65-F5344CB8AC3E}">
        <p14:creationId xmlns:p14="http://schemas.microsoft.com/office/powerpoint/2010/main" val="266107215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30</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b="1" dirty="0">
                <a:solidFill>
                  <a:srgbClr val="FFFF00"/>
                </a:solidFill>
              </a:rPr>
              <a:t>Copy number </a:t>
            </a:r>
            <a:r>
              <a:rPr lang="en-US" sz="2400" b="1" dirty="0" smtClean="0">
                <a:solidFill>
                  <a:srgbClr val="FFFF00"/>
                </a:solidFill>
              </a:rPr>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20539509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31</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Copy Number Alterations</a:t>
            </a:r>
          </a:p>
        </p:txBody>
      </p:sp>
      <p:sp>
        <p:nvSpPr>
          <p:cNvPr id="8198" name="Rectangle 3"/>
          <p:cNvSpPr>
            <a:spLocks noGrp="1" noChangeArrowheads="1"/>
          </p:cNvSpPr>
          <p:nvPr>
            <p:ph type="body" idx="1"/>
          </p:nvPr>
        </p:nvSpPr>
        <p:spPr>
          <a:xfrm>
            <a:off x="259080" y="1377950"/>
            <a:ext cx="8686800" cy="4588933"/>
          </a:xfrm>
        </p:spPr>
        <p:txBody>
          <a:bodyPr>
            <a:normAutofit fontScale="77500" lnSpcReduction="20000"/>
          </a:bodyPr>
          <a:lstStyle/>
          <a:p>
            <a:r>
              <a:rPr lang="en-US" altLang="en-US" dirty="0" smtClean="0"/>
              <a:t>Copy number alterations refer to changes in the number of copies:</a:t>
            </a:r>
          </a:p>
          <a:p>
            <a:endParaRPr lang="en-US" altLang="en-US" dirty="0" smtClean="0"/>
          </a:p>
          <a:p>
            <a:pPr lvl="1"/>
            <a:r>
              <a:rPr lang="en-US" altLang="en-US" dirty="0" smtClean="0"/>
              <a:t>Gene amplification is when a gene has multiple copies resulting from aberrant DNA replication. It is also called gene duplication (in principle, any number of the same gene greater than two in humans and diploid species is an amplification). The number of copies can be very large and has clinical impact.</a:t>
            </a:r>
          </a:p>
          <a:p>
            <a:pPr lvl="1"/>
            <a:endParaRPr lang="en-US" altLang="en-US" dirty="0"/>
          </a:p>
          <a:p>
            <a:pPr lvl="1"/>
            <a:r>
              <a:rPr lang="en-US" altLang="en-US" dirty="0" smtClean="0"/>
              <a:t>Gene copy number gain is when the number of copies of a gene is greater than 2 and is present for example in cancer cells (low gain, high gain). Gain is considered an amplification with few copies generated.</a:t>
            </a:r>
          </a:p>
          <a:p>
            <a:pPr lvl="1"/>
            <a:endParaRPr lang="en-US" altLang="en-US" dirty="0"/>
          </a:p>
          <a:p>
            <a:pPr lvl="1"/>
            <a:r>
              <a:rPr lang="en-US" altLang="en-US" dirty="0" smtClean="0"/>
              <a:t>Gene deletion is when a gene or part of a gene is deleted from a chromosome:</a:t>
            </a:r>
          </a:p>
          <a:p>
            <a:pPr lvl="2"/>
            <a:r>
              <a:rPr lang="en-US" altLang="en-US" dirty="0" smtClean="0"/>
              <a:t>Deep deletion or deletion below minimum median chromosomal arm copy number for that sample by at least 0.1. </a:t>
            </a:r>
            <a:endParaRPr lang="en-US" altLang="en-US" dirty="0"/>
          </a:p>
          <a:p>
            <a:pPr lvl="2"/>
            <a:r>
              <a:rPr lang="en-US" altLang="en-US" dirty="0" smtClean="0"/>
              <a:t>Shallow deletion or deletion from 1.9 to deep deletion threshold..</a:t>
            </a:r>
          </a:p>
          <a:p>
            <a:pPr lvl="2"/>
            <a:r>
              <a:rPr lang="en-US" altLang="en-US" dirty="0" smtClean="0"/>
              <a:t>Homozygous deletion or deletion of a gene  on a single chromosome in considered </a:t>
            </a:r>
            <a:br>
              <a:rPr lang="en-US" altLang="en-US" dirty="0" smtClean="0"/>
            </a:br>
            <a:r>
              <a:rPr lang="en-US" altLang="en-US" dirty="0" smtClean="0"/>
              <a:t>a deep loss.</a:t>
            </a:r>
            <a:endParaRPr lang="en-US" altLang="en-US" dirty="0"/>
          </a:p>
          <a:p>
            <a:pPr lvl="1"/>
            <a:endParaRPr lang="en-US" altLang="en-US" dirty="0" smtClean="0"/>
          </a:p>
        </p:txBody>
      </p:sp>
      <p:pic>
        <p:nvPicPr>
          <p:cNvPr id="7170" name="Picture 2" descr="https://upload.wikimedia.org/wikipedia/commons/7/72/Gene-duplic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7577" y="1087729"/>
            <a:ext cx="3246120" cy="496503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txBox="1">
            <a:spLocks noChangeArrowheads="1"/>
          </p:cNvSpPr>
          <p:nvPr/>
        </p:nvSpPr>
        <p:spPr>
          <a:xfrm>
            <a:off x="7201107" y="6065483"/>
            <a:ext cx="4852349" cy="45512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buNone/>
            </a:pPr>
            <a:r>
              <a:rPr lang="en-US" altLang="en-US" dirty="0" smtClean="0"/>
              <a:t>From Human Genome Research Institute.</a:t>
            </a:r>
          </a:p>
          <a:p>
            <a:pPr lvl="1"/>
            <a:endParaRPr lang="en-US" altLang="en-US" dirty="0" smtClean="0"/>
          </a:p>
          <a:p>
            <a:pPr lvl="1"/>
            <a:endParaRPr lang="en-US" altLang="en-US" dirty="0" smtClean="0"/>
          </a:p>
        </p:txBody>
      </p:sp>
    </p:spTree>
    <p:extLst>
      <p:ext uri="{BB962C8B-B14F-4D97-AF65-F5344CB8AC3E}">
        <p14:creationId xmlns:p14="http://schemas.microsoft.com/office/powerpoint/2010/main" val="31066376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32</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b="1" dirty="0" smtClean="0">
                <a:solidFill>
                  <a:srgbClr val="FFFF00"/>
                </a:solidFill>
              </a:rPr>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14912482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33</a:t>
            </a:fld>
            <a:endParaRPr lang="en-US" altLang="en-US" sz="1400"/>
          </a:p>
        </p:txBody>
      </p:sp>
      <p:sp>
        <p:nvSpPr>
          <p:cNvPr id="8197" name="Rectangle 2"/>
          <p:cNvSpPr>
            <a:spLocks noGrp="1" noChangeArrowheads="1"/>
          </p:cNvSpPr>
          <p:nvPr>
            <p:ph type="title"/>
          </p:nvPr>
        </p:nvSpPr>
        <p:spPr>
          <a:xfrm>
            <a:off x="1144506" y="81269"/>
            <a:ext cx="7772400" cy="1143000"/>
          </a:xfrm>
        </p:spPr>
        <p:txBody>
          <a:bodyPr/>
          <a:lstStyle/>
          <a:p>
            <a:r>
              <a:rPr lang="en-US" altLang="en-US" b="1" dirty="0" smtClean="0">
                <a:effectLst>
                  <a:outerShdw blurRad="38100" dist="38100" dir="2700000" algn="tl">
                    <a:srgbClr val="000000">
                      <a:alpha val="43137"/>
                    </a:srgbClr>
                  </a:outerShdw>
                </a:effectLst>
              </a:rPr>
              <a:t>Finding Copy Number Alterations</a:t>
            </a:r>
          </a:p>
        </p:txBody>
      </p:sp>
      <p:sp>
        <p:nvSpPr>
          <p:cNvPr id="8198" name="Rectangle 3"/>
          <p:cNvSpPr>
            <a:spLocks noGrp="1" noChangeArrowheads="1"/>
          </p:cNvSpPr>
          <p:nvPr>
            <p:ph type="body" idx="1"/>
          </p:nvPr>
        </p:nvSpPr>
        <p:spPr>
          <a:xfrm>
            <a:off x="55196" y="1224269"/>
            <a:ext cx="11080375" cy="4588933"/>
          </a:xfrm>
        </p:spPr>
        <p:txBody>
          <a:bodyPr>
            <a:normAutofit/>
          </a:bodyPr>
          <a:lstStyle/>
          <a:p>
            <a:r>
              <a:rPr lang="en-US" altLang="en-US" sz="2400" dirty="0" err="1" smtClean="0"/>
              <a:t>cBioPortal</a:t>
            </a:r>
            <a:r>
              <a:rPr lang="en-US" altLang="en-US" sz="2400" dirty="0" smtClean="0"/>
              <a:t> </a:t>
            </a:r>
            <a:r>
              <a:rPr lang="en-US" altLang="en-US" sz="2400" dirty="0"/>
              <a:t>may be used to study </a:t>
            </a:r>
            <a:r>
              <a:rPr lang="en-US" altLang="en-US" sz="2400" dirty="0" smtClean="0"/>
              <a:t>copy number alterations in </a:t>
            </a:r>
            <a:r>
              <a:rPr lang="en-US" altLang="en-US" sz="2400" dirty="0"/>
              <a:t>cancer </a:t>
            </a:r>
            <a:r>
              <a:rPr lang="en-US" altLang="en-US" sz="2400" dirty="0" smtClean="0"/>
              <a:t/>
            </a:r>
            <a:br>
              <a:rPr lang="en-US" altLang="en-US" sz="2400" dirty="0" smtClean="0"/>
            </a:br>
            <a:r>
              <a:rPr lang="en-US" altLang="en-US" sz="2400" dirty="0" smtClean="0"/>
              <a:t>patients </a:t>
            </a:r>
            <a:r>
              <a:rPr lang="en-US" altLang="en-US" sz="2400" dirty="0"/>
              <a:t>under the </a:t>
            </a:r>
            <a:r>
              <a:rPr lang="en-US" altLang="en-US" sz="2400" dirty="0" err="1"/>
              <a:t>Oncoprint</a:t>
            </a:r>
            <a:r>
              <a:rPr lang="en-US" altLang="en-US" sz="2400" dirty="0"/>
              <a:t> </a:t>
            </a:r>
            <a:r>
              <a:rPr lang="en-US" altLang="en-US" sz="2400" dirty="0" smtClean="0"/>
              <a:t>tab</a:t>
            </a:r>
            <a:r>
              <a:rPr lang="en-US" altLang="en-US" sz="2400" dirty="0"/>
              <a:t> </a:t>
            </a:r>
            <a:r>
              <a:rPr lang="en-US" altLang="en-US" sz="2400" dirty="0" smtClean="0"/>
              <a:t>after option: Putative copy-number </a:t>
            </a:r>
            <a:br>
              <a:rPr lang="en-US" altLang="en-US" sz="2400" dirty="0" smtClean="0"/>
            </a:br>
            <a:r>
              <a:rPr lang="en-US" altLang="en-US" sz="2400" dirty="0" smtClean="0"/>
              <a:t>alterations from GISTIC.</a:t>
            </a:r>
            <a:endParaRPr lang="en-US" altLang="en-US" sz="2400" dirty="0"/>
          </a:p>
          <a:p>
            <a:r>
              <a:rPr lang="en-US" altLang="en-US" sz="2400" dirty="0"/>
              <a:t>Example: EGFR ERBB2 ERBB3 ERBB4 in Breast cancer shows </a:t>
            </a:r>
            <a:r>
              <a:rPr lang="en-US" altLang="en-US" sz="2400" dirty="0" smtClean="0"/>
              <a:t>amplification and deep deletion.</a:t>
            </a:r>
            <a:endParaRPr lang="en-US" altLang="en-US" sz="2400" dirty="0"/>
          </a:p>
          <a:p>
            <a:pPr lvl="2"/>
            <a:endParaRPr lang="en-US" altLang="en-US" dirty="0"/>
          </a:p>
          <a:p>
            <a:endParaRPr lang="en-US" altLang="en-US" dirty="0" smtClean="0"/>
          </a:p>
        </p:txBody>
      </p:sp>
      <p:pic>
        <p:nvPicPr>
          <p:cNvPr id="3" name="Picture 2"/>
          <p:cNvPicPr>
            <a:picLocks noChangeAspect="1"/>
          </p:cNvPicPr>
          <p:nvPr/>
        </p:nvPicPr>
        <p:blipFill>
          <a:blip r:embed="rId2"/>
          <a:stretch>
            <a:fillRect/>
          </a:stretch>
        </p:blipFill>
        <p:spPr>
          <a:xfrm>
            <a:off x="8916906" y="638035"/>
            <a:ext cx="3114675" cy="1743075"/>
          </a:xfrm>
          <a:prstGeom prst="rect">
            <a:avLst/>
          </a:prstGeom>
        </p:spPr>
      </p:pic>
      <p:pic>
        <p:nvPicPr>
          <p:cNvPr id="4" name="Picture 3"/>
          <p:cNvPicPr>
            <a:picLocks noChangeAspect="1"/>
          </p:cNvPicPr>
          <p:nvPr/>
        </p:nvPicPr>
        <p:blipFill>
          <a:blip r:embed="rId3"/>
          <a:stretch>
            <a:fillRect/>
          </a:stretch>
        </p:blipFill>
        <p:spPr>
          <a:xfrm>
            <a:off x="1317708" y="3106738"/>
            <a:ext cx="9309291" cy="3614737"/>
          </a:xfrm>
          <a:prstGeom prst="rect">
            <a:avLst/>
          </a:prstGeom>
        </p:spPr>
      </p:pic>
    </p:spTree>
    <p:extLst>
      <p:ext uri="{BB962C8B-B14F-4D97-AF65-F5344CB8AC3E}">
        <p14:creationId xmlns:p14="http://schemas.microsoft.com/office/powerpoint/2010/main" val="4452366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Copy Number Alterations</a:t>
            </a:r>
          </a:p>
        </p:txBody>
      </p:sp>
      <p:sp>
        <p:nvSpPr>
          <p:cNvPr id="8198" name="Rectangle 3"/>
          <p:cNvSpPr>
            <a:spLocks noGrp="1" noChangeArrowheads="1"/>
          </p:cNvSpPr>
          <p:nvPr>
            <p:ph type="body" idx="1"/>
          </p:nvPr>
        </p:nvSpPr>
        <p:spPr>
          <a:xfrm>
            <a:off x="730623" y="1377950"/>
            <a:ext cx="10630104" cy="4588933"/>
          </a:xfrm>
        </p:spPr>
        <p:txBody>
          <a:bodyPr>
            <a:normAutofit/>
          </a:bodyPr>
          <a:lstStyle/>
          <a:p>
            <a:r>
              <a:rPr lang="en-US" altLang="en-US" dirty="0"/>
              <a:t>Example: EGFR ERBB2 ERBB3 ERBB4 PTEN ATM CDH1 TP53  in Breast </a:t>
            </a:r>
            <a:r>
              <a:rPr lang="en-US" altLang="en-US" dirty="0" smtClean="0"/>
              <a:t>cancer.</a:t>
            </a:r>
            <a:endParaRPr lang="en-US" altLang="en-US" dirty="0"/>
          </a:p>
          <a:p>
            <a:endParaRPr lang="en-US" altLang="en-US" dirty="0" smtClean="0"/>
          </a:p>
        </p:txBody>
      </p:sp>
      <p:pic>
        <p:nvPicPr>
          <p:cNvPr id="4" name="Picture 3"/>
          <p:cNvPicPr>
            <a:picLocks noChangeAspect="1"/>
          </p:cNvPicPr>
          <p:nvPr/>
        </p:nvPicPr>
        <p:blipFill>
          <a:blip r:embed="rId2"/>
          <a:stretch>
            <a:fillRect/>
          </a:stretch>
        </p:blipFill>
        <p:spPr>
          <a:xfrm>
            <a:off x="395287" y="2471997"/>
            <a:ext cx="11401425" cy="3790950"/>
          </a:xfrm>
          <a:prstGeom prst="rect">
            <a:avLst/>
          </a:prstGeom>
        </p:spPr>
      </p:pic>
    </p:spTree>
    <p:extLst>
      <p:ext uri="{BB962C8B-B14F-4D97-AF65-F5344CB8AC3E}">
        <p14:creationId xmlns:p14="http://schemas.microsoft.com/office/powerpoint/2010/main" val="25675469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35</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Copy Number Alterations</a:t>
            </a:r>
          </a:p>
        </p:txBody>
      </p:sp>
      <p:sp>
        <p:nvSpPr>
          <p:cNvPr id="8198" name="Rectangle 3"/>
          <p:cNvSpPr>
            <a:spLocks noGrp="1" noChangeArrowheads="1"/>
          </p:cNvSpPr>
          <p:nvPr>
            <p:ph type="body" idx="1"/>
          </p:nvPr>
        </p:nvSpPr>
        <p:spPr>
          <a:xfrm>
            <a:off x="1109230" y="1201269"/>
            <a:ext cx="8686800" cy="4588933"/>
          </a:xfrm>
        </p:spPr>
        <p:txBody>
          <a:bodyPr>
            <a:normAutofit/>
          </a:bodyPr>
          <a:lstStyle/>
          <a:p>
            <a:r>
              <a:rPr lang="en-US" altLang="en-US" dirty="0"/>
              <a:t>Example: EGFR ERBB2 ERBB3 ERBB4 PTEN ATM CDH1 TP53  in Breast </a:t>
            </a:r>
            <a:r>
              <a:rPr lang="en-US" altLang="en-US" dirty="0" smtClean="0"/>
              <a:t>cancer with recurrence data.</a:t>
            </a:r>
            <a:endParaRPr lang="en-US" altLang="en-US" dirty="0"/>
          </a:p>
          <a:p>
            <a:endParaRPr lang="en-US" altLang="en-US" dirty="0" smtClean="0"/>
          </a:p>
        </p:txBody>
      </p:sp>
      <p:pic>
        <p:nvPicPr>
          <p:cNvPr id="2" name="Picture 1"/>
          <p:cNvPicPr>
            <a:picLocks noChangeAspect="1"/>
          </p:cNvPicPr>
          <p:nvPr/>
        </p:nvPicPr>
        <p:blipFill>
          <a:blip r:embed="rId2"/>
          <a:stretch>
            <a:fillRect/>
          </a:stretch>
        </p:blipFill>
        <p:spPr>
          <a:xfrm>
            <a:off x="1038225" y="2039032"/>
            <a:ext cx="10115550" cy="4105275"/>
          </a:xfrm>
          <a:prstGeom prst="rect">
            <a:avLst/>
          </a:prstGeom>
        </p:spPr>
      </p:pic>
    </p:spTree>
    <p:extLst>
      <p:ext uri="{BB962C8B-B14F-4D97-AF65-F5344CB8AC3E}">
        <p14:creationId xmlns:p14="http://schemas.microsoft.com/office/powerpoint/2010/main" val="29728092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36</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Finding Copy Number Alterations</a:t>
            </a:r>
          </a:p>
        </p:txBody>
      </p:sp>
      <p:sp>
        <p:nvSpPr>
          <p:cNvPr id="8198" name="Rectangle 3"/>
          <p:cNvSpPr>
            <a:spLocks noGrp="1" noChangeArrowheads="1"/>
          </p:cNvSpPr>
          <p:nvPr>
            <p:ph type="body" idx="1"/>
          </p:nvPr>
        </p:nvSpPr>
        <p:spPr>
          <a:xfrm>
            <a:off x="1532514" y="1805517"/>
            <a:ext cx="8856085" cy="3807883"/>
          </a:xfrm>
        </p:spPr>
        <p:txBody>
          <a:bodyPr>
            <a:normAutofit/>
          </a:bodyPr>
          <a:lstStyle/>
          <a:p>
            <a:r>
              <a:rPr lang="en-US" altLang="en-US" dirty="0" smtClean="0"/>
              <a:t>Software to identify copy number alterations include:</a:t>
            </a:r>
          </a:p>
          <a:p>
            <a:endParaRPr lang="en-US" altLang="en-US" dirty="0"/>
          </a:p>
          <a:p>
            <a:pPr lvl="1"/>
            <a:r>
              <a:rPr lang="en-US" altLang="en-US" dirty="0" smtClean="0"/>
              <a:t>GISTIC (from Broad Institute, Linux-based).</a:t>
            </a:r>
          </a:p>
          <a:p>
            <a:pPr lvl="1"/>
            <a:endParaRPr lang="en-US" altLang="en-US" dirty="0"/>
          </a:p>
          <a:p>
            <a:pPr lvl="1"/>
            <a:r>
              <a:rPr lang="en-US" altLang="en-US" dirty="0" smtClean="0"/>
              <a:t>Many </a:t>
            </a:r>
            <a:r>
              <a:rPr lang="en-US" altLang="en-US" dirty="0"/>
              <a:t>others (</a:t>
            </a:r>
            <a:r>
              <a:rPr lang="en-US" altLang="en-US" dirty="0">
                <a:hlinkClick r:id="rId2"/>
              </a:rPr>
              <a:t>https://omictools.com/cnv-detection2-category</a:t>
            </a:r>
            <a:r>
              <a:rPr lang="en-US" altLang="en-US" dirty="0" smtClean="0"/>
              <a:t>).</a:t>
            </a:r>
          </a:p>
          <a:p>
            <a:pPr marL="457200" lvl="1" indent="0">
              <a:buNone/>
            </a:pPr>
            <a:endParaRPr lang="en-US" altLang="en-US" dirty="0"/>
          </a:p>
          <a:p>
            <a:r>
              <a:rPr lang="en-US" altLang="en-US" dirty="0" smtClean="0"/>
              <a:t>TCGA provides files already processed by GISTIC and ready for further analysis and quantification.</a:t>
            </a:r>
            <a:endParaRPr lang="en-US" altLang="en-US" dirty="0"/>
          </a:p>
          <a:p>
            <a:endParaRPr lang="en-US" altLang="en-US" dirty="0" smtClean="0"/>
          </a:p>
        </p:txBody>
      </p:sp>
    </p:spTree>
    <p:extLst>
      <p:ext uri="{BB962C8B-B14F-4D97-AF65-F5344CB8AC3E}">
        <p14:creationId xmlns:p14="http://schemas.microsoft.com/office/powerpoint/2010/main" val="288659495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37</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b="1" dirty="0">
                <a:solidFill>
                  <a:srgbClr val="FFFF00"/>
                </a:solidFill>
              </a:rPr>
              <a:t>Genomic alterations and gene </a:t>
            </a:r>
            <a:r>
              <a:rPr lang="en-US" sz="2400" b="1" dirty="0" smtClean="0">
                <a:solidFill>
                  <a:srgbClr val="FFFF00"/>
                </a:solidFill>
              </a:rPr>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13866282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38</a:t>
            </a:fld>
            <a:endParaRPr lang="en-US" altLang="en-US" sz="1400"/>
          </a:p>
        </p:txBody>
      </p:sp>
      <p:sp>
        <p:nvSpPr>
          <p:cNvPr id="8197" name="Rectangle 2"/>
          <p:cNvSpPr>
            <a:spLocks noGrp="1" noChangeArrowheads="1"/>
          </p:cNvSpPr>
          <p:nvPr>
            <p:ph type="title"/>
          </p:nvPr>
        </p:nvSpPr>
        <p:spPr>
          <a:xfrm>
            <a:off x="2040515" y="234950"/>
            <a:ext cx="9320212" cy="1143000"/>
          </a:xfrm>
        </p:spPr>
        <p:txBody>
          <a:bodyPr>
            <a:normAutofit fontScale="90000"/>
          </a:bodyPr>
          <a:lstStyle/>
          <a:p>
            <a:r>
              <a:rPr lang="en-US" altLang="en-US" b="1" dirty="0" smtClean="0">
                <a:effectLst>
                  <a:outerShdw blurRad="38100" dist="38100" dir="2700000" algn="tl">
                    <a:srgbClr val="000000">
                      <a:alpha val="43137"/>
                    </a:srgbClr>
                  </a:outerShdw>
                </a:effectLst>
              </a:rPr>
              <a:t>Genomic Alterations and Gene Expressions</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There is a lot of evidence that genomic alterations are associated with </a:t>
            </a:r>
            <a:r>
              <a:rPr lang="en-US" altLang="en-US" dirty="0"/>
              <a:t>d</a:t>
            </a:r>
            <a:r>
              <a:rPr lang="en-US" altLang="en-US" dirty="0" smtClean="0"/>
              <a:t>ysregulated  genes (upregulated or downregulated).</a:t>
            </a:r>
          </a:p>
          <a:p>
            <a:r>
              <a:rPr lang="en-US" altLang="en-US" dirty="0" err="1" smtClean="0"/>
              <a:t>cBioPortal</a:t>
            </a:r>
            <a:r>
              <a:rPr lang="en-US" altLang="en-US" dirty="0" smtClean="0"/>
              <a:t> provides a tool of choice to observe this phenomenon on cancer data.</a:t>
            </a:r>
          </a:p>
          <a:p>
            <a:r>
              <a:rPr lang="en-US" altLang="en-US" dirty="0" smtClean="0"/>
              <a:t>Even though both disturbances – gene alterations and gene expression modifications – are observed in many diseases, showing the causal effect is more difficult than showing that there is an association. Several clinical experiments have been designed to demonstrate this.</a:t>
            </a:r>
          </a:p>
        </p:txBody>
      </p:sp>
    </p:spTree>
    <p:extLst>
      <p:ext uri="{BB962C8B-B14F-4D97-AF65-F5344CB8AC3E}">
        <p14:creationId xmlns:p14="http://schemas.microsoft.com/office/powerpoint/2010/main" val="25510665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39</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a:t>
            </a:r>
            <a:r>
              <a:rPr lang="en-US" b="1" dirty="0">
                <a:solidFill>
                  <a:srgbClr val="FFFF00"/>
                </a:solidFill>
              </a:rPr>
              <a:t>Linking genomic alterations and gene expressions </a:t>
            </a:r>
          </a:p>
          <a:p>
            <a:r>
              <a:rPr lang="en-US" altLang="en-US" sz="2400" dirty="0" smtClean="0"/>
              <a:t>Gene alterations with R</a:t>
            </a:r>
            <a:endParaRPr lang="en-US" altLang="en-US" sz="2400" dirty="0"/>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41035045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40</a:t>
            </a:fld>
            <a:endParaRPr lang="en-US" altLang="en-US" sz="1400"/>
          </a:p>
        </p:txBody>
      </p:sp>
      <p:sp>
        <p:nvSpPr>
          <p:cNvPr id="8197" name="Rectangle 2"/>
          <p:cNvSpPr>
            <a:spLocks noGrp="1" noChangeArrowheads="1"/>
          </p:cNvSpPr>
          <p:nvPr>
            <p:ph type="title"/>
          </p:nvPr>
        </p:nvSpPr>
        <p:spPr>
          <a:xfrm>
            <a:off x="1600200" y="137581"/>
            <a:ext cx="10591800" cy="1143000"/>
          </a:xfrm>
        </p:spPr>
        <p:txBody>
          <a:bodyPr>
            <a:normAutofit fontScale="90000"/>
          </a:bodyPr>
          <a:lstStyle/>
          <a:p>
            <a:r>
              <a:rPr lang="en-US" altLang="en-US" b="1" dirty="0" smtClean="0">
                <a:effectLst>
                  <a:outerShdw blurRad="38100" dist="38100" dir="2700000" algn="tl">
                    <a:srgbClr val="000000">
                      <a:alpha val="43137"/>
                    </a:srgbClr>
                  </a:outerShdw>
                </a:effectLst>
              </a:rPr>
              <a:t>Linking Genomic Alterations and Gene Expressions</a:t>
            </a:r>
          </a:p>
        </p:txBody>
      </p:sp>
      <p:sp>
        <p:nvSpPr>
          <p:cNvPr id="8198" name="Rectangle 3"/>
          <p:cNvSpPr>
            <a:spLocks noGrp="1" noChangeArrowheads="1"/>
          </p:cNvSpPr>
          <p:nvPr>
            <p:ph type="body" idx="1"/>
          </p:nvPr>
        </p:nvSpPr>
        <p:spPr>
          <a:xfrm>
            <a:off x="0" y="1280581"/>
            <a:ext cx="9784977" cy="4588933"/>
          </a:xfrm>
        </p:spPr>
        <p:txBody>
          <a:bodyPr>
            <a:normAutofit/>
          </a:bodyPr>
          <a:lstStyle/>
          <a:p>
            <a:r>
              <a:rPr lang="en-US" altLang="en-US" dirty="0"/>
              <a:t>Example: EGFR ERBB2 ERBB3 ERBB4 in Breast cancer </a:t>
            </a:r>
            <a:r>
              <a:rPr lang="en-US" altLang="en-US" dirty="0" smtClean="0"/>
              <a:t>after options mutations, copy number variation, and mRNA expressions with z-score (</a:t>
            </a:r>
            <a:r>
              <a:rPr lang="en-US" altLang="en-US" sz="2400" dirty="0" smtClean="0"/>
              <a:t>upregulated = more than 2 STD </a:t>
            </a:r>
            <a:br>
              <a:rPr lang="en-US" altLang="en-US" sz="2400" dirty="0" smtClean="0"/>
            </a:br>
            <a:r>
              <a:rPr lang="en-US" altLang="en-US" sz="2400" dirty="0" smtClean="0"/>
              <a:t>above sample mean, downregulated same </a:t>
            </a:r>
            <a:r>
              <a:rPr lang="en-US" altLang="en-US" sz="2400" smtClean="0"/>
              <a:t>with more </a:t>
            </a:r>
            <a:r>
              <a:rPr lang="en-US" altLang="en-US" sz="2400" dirty="0" smtClean="0"/>
              <a:t>than 2 STD below).</a:t>
            </a:r>
            <a:endParaRPr lang="en-US" altLang="en-US" sz="2400" dirty="0"/>
          </a:p>
        </p:txBody>
      </p:sp>
      <p:pic>
        <p:nvPicPr>
          <p:cNvPr id="2" name="Picture 1"/>
          <p:cNvPicPr>
            <a:picLocks noChangeAspect="1"/>
          </p:cNvPicPr>
          <p:nvPr/>
        </p:nvPicPr>
        <p:blipFill>
          <a:blip r:embed="rId2"/>
          <a:stretch>
            <a:fillRect/>
          </a:stretch>
        </p:blipFill>
        <p:spPr>
          <a:xfrm>
            <a:off x="1042987" y="2874432"/>
            <a:ext cx="10106025" cy="3238500"/>
          </a:xfrm>
          <a:prstGeom prst="rect">
            <a:avLst/>
          </a:prstGeom>
        </p:spPr>
      </p:pic>
      <p:pic>
        <p:nvPicPr>
          <p:cNvPr id="3" name="Picture 2"/>
          <p:cNvPicPr>
            <a:picLocks noChangeAspect="1"/>
          </p:cNvPicPr>
          <p:nvPr/>
        </p:nvPicPr>
        <p:blipFill>
          <a:blip r:embed="rId3"/>
          <a:stretch>
            <a:fillRect/>
          </a:stretch>
        </p:blipFill>
        <p:spPr>
          <a:xfrm>
            <a:off x="9010649" y="893232"/>
            <a:ext cx="3181350" cy="1981200"/>
          </a:xfrm>
          <a:prstGeom prst="rect">
            <a:avLst/>
          </a:prstGeom>
        </p:spPr>
      </p:pic>
    </p:spTree>
    <p:extLst>
      <p:ext uri="{BB962C8B-B14F-4D97-AF65-F5344CB8AC3E}">
        <p14:creationId xmlns:p14="http://schemas.microsoft.com/office/powerpoint/2010/main" val="31856809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41</a:t>
            </a:fld>
            <a:endParaRPr lang="en-US" altLang="en-US" sz="1400"/>
          </a:p>
        </p:txBody>
      </p:sp>
      <p:sp>
        <p:nvSpPr>
          <p:cNvPr id="8197" name="Rectangle 2"/>
          <p:cNvSpPr>
            <a:spLocks noGrp="1" noChangeArrowheads="1"/>
          </p:cNvSpPr>
          <p:nvPr>
            <p:ph type="title"/>
          </p:nvPr>
        </p:nvSpPr>
        <p:spPr>
          <a:xfrm>
            <a:off x="1600200" y="137581"/>
            <a:ext cx="10591800" cy="1143000"/>
          </a:xfrm>
        </p:spPr>
        <p:txBody>
          <a:bodyPr>
            <a:normAutofit fontScale="90000"/>
          </a:bodyPr>
          <a:lstStyle/>
          <a:p>
            <a:r>
              <a:rPr lang="en-US" altLang="en-US" b="1" dirty="0" smtClean="0">
                <a:effectLst>
                  <a:outerShdw blurRad="38100" dist="38100" dir="2700000" algn="tl">
                    <a:srgbClr val="000000">
                      <a:alpha val="43137"/>
                    </a:srgbClr>
                  </a:outerShdw>
                </a:effectLst>
              </a:rPr>
              <a:t>Linking Genomic Alterations and Gene Expressions</a:t>
            </a:r>
          </a:p>
        </p:txBody>
      </p:sp>
      <p:sp>
        <p:nvSpPr>
          <p:cNvPr id="8198" name="Rectangle 3"/>
          <p:cNvSpPr>
            <a:spLocks noGrp="1" noChangeArrowheads="1"/>
          </p:cNvSpPr>
          <p:nvPr>
            <p:ph type="body" idx="1"/>
          </p:nvPr>
        </p:nvSpPr>
        <p:spPr>
          <a:xfrm>
            <a:off x="1134034" y="1523999"/>
            <a:ext cx="10226693" cy="4588933"/>
          </a:xfrm>
        </p:spPr>
        <p:txBody>
          <a:bodyPr>
            <a:normAutofit/>
          </a:bodyPr>
          <a:lstStyle/>
          <a:p>
            <a:r>
              <a:rPr lang="en-US" altLang="en-US" dirty="0" smtClean="0"/>
              <a:t>One can combine results with clinical data (by choosing in the drop-down ‘clinical tracks’ tab).</a:t>
            </a:r>
            <a:endParaRPr lang="en-US" altLang="en-US" dirty="0"/>
          </a:p>
        </p:txBody>
      </p:sp>
      <p:pic>
        <p:nvPicPr>
          <p:cNvPr id="4" name="Picture 3"/>
          <p:cNvPicPr>
            <a:picLocks noChangeAspect="1"/>
          </p:cNvPicPr>
          <p:nvPr/>
        </p:nvPicPr>
        <p:blipFill>
          <a:blip r:embed="rId2"/>
          <a:stretch>
            <a:fillRect/>
          </a:stretch>
        </p:blipFill>
        <p:spPr>
          <a:xfrm>
            <a:off x="1927792" y="2607732"/>
            <a:ext cx="8524875" cy="3505200"/>
          </a:xfrm>
          <a:prstGeom prst="rect">
            <a:avLst/>
          </a:prstGeom>
        </p:spPr>
      </p:pic>
    </p:spTree>
    <p:extLst>
      <p:ext uri="{BB962C8B-B14F-4D97-AF65-F5344CB8AC3E}">
        <p14:creationId xmlns:p14="http://schemas.microsoft.com/office/powerpoint/2010/main" val="41541613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42</a:t>
            </a:fld>
            <a:endParaRPr lang="en-US" altLang="en-US" sz="1400"/>
          </a:p>
        </p:txBody>
      </p:sp>
      <p:sp>
        <p:nvSpPr>
          <p:cNvPr id="8197" name="Rectangle 2"/>
          <p:cNvSpPr>
            <a:spLocks noGrp="1" noChangeArrowheads="1"/>
          </p:cNvSpPr>
          <p:nvPr>
            <p:ph type="title"/>
          </p:nvPr>
        </p:nvSpPr>
        <p:spPr>
          <a:xfrm>
            <a:off x="1600200" y="137581"/>
            <a:ext cx="10591800" cy="1143000"/>
          </a:xfrm>
        </p:spPr>
        <p:txBody>
          <a:bodyPr>
            <a:normAutofit fontScale="90000"/>
          </a:bodyPr>
          <a:lstStyle/>
          <a:p>
            <a:r>
              <a:rPr lang="en-US" altLang="en-US" b="1" dirty="0" smtClean="0">
                <a:effectLst>
                  <a:outerShdw blurRad="38100" dist="38100" dir="2700000" algn="tl">
                    <a:srgbClr val="000000">
                      <a:alpha val="43137"/>
                    </a:srgbClr>
                  </a:outerShdw>
                </a:effectLst>
              </a:rPr>
              <a:t>Linking Genomic Alterations and Gene Expressions</a:t>
            </a:r>
          </a:p>
        </p:txBody>
      </p:sp>
      <p:sp>
        <p:nvSpPr>
          <p:cNvPr id="8198" name="Rectangle 3"/>
          <p:cNvSpPr>
            <a:spLocks noGrp="1" noChangeArrowheads="1"/>
          </p:cNvSpPr>
          <p:nvPr>
            <p:ph type="body" idx="1"/>
          </p:nvPr>
        </p:nvSpPr>
        <p:spPr>
          <a:xfrm>
            <a:off x="1102659" y="1523999"/>
            <a:ext cx="10044953" cy="4588933"/>
          </a:xfrm>
        </p:spPr>
        <p:txBody>
          <a:bodyPr>
            <a:normAutofit/>
          </a:bodyPr>
          <a:lstStyle/>
          <a:p>
            <a:r>
              <a:rPr lang="en-US" altLang="en-US" dirty="0" smtClean="0"/>
              <a:t>Clinical tracks can be sorted as well. </a:t>
            </a:r>
            <a:endParaRPr lang="en-US" altLang="en-US" dirty="0"/>
          </a:p>
          <a:p>
            <a:endParaRPr lang="en-US" altLang="en-US" dirty="0" smtClean="0"/>
          </a:p>
        </p:txBody>
      </p:sp>
      <p:pic>
        <p:nvPicPr>
          <p:cNvPr id="2" name="Picture 1"/>
          <p:cNvPicPr>
            <a:picLocks noChangeAspect="1"/>
          </p:cNvPicPr>
          <p:nvPr/>
        </p:nvPicPr>
        <p:blipFill>
          <a:blip r:embed="rId2"/>
          <a:stretch>
            <a:fillRect/>
          </a:stretch>
        </p:blipFill>
        <p:spPr>
          <a:xfrm>
            <a:off x="523875" y="2392176"/>
            <a:ext cx="11144250" cy="3552825"/>
          </a:xfrm>
          <a:prstGeom prst="rect">
            <a:avLst/>
          </a:prstGeom>
        </p:spPr>
      </p:pic>
    </p:spTree>
    <p:extLst>
      <p:ext uri="{BB962C8B-B14F-4D97-AF65-F5344CB8AC3E}">
        <p14:creationId xmlns:p14="http://schemas.microsoft.com/office/powerpoint/2010/main" val="162206930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43</a:t>
            </a:fld>
            <a:endParaRPr lang="en-US" altLang="en-US" sz="1400"/>
          </a:p>
        </p:txBody>
      </p:sp>
      <p:sp>
        <p:nvSpPr>
          <p:cNvPr id="8197" name="Rectangle 2"/>
          <p:cNvSpPr>
            <a:spLocks noGrp="1" noChangeArrowheads="1"/>
          </p:cNvSpPr>
          <p:nvPr>
            <p:ph type="title"/>
          </p:nvPr>
        </p:nvSpPr>
        <p:spPr>
          <a:xfrm>
            <a:off x="1600200" y="137581"/>
            <a:ext cx="10591800" cy="1143000"/>
          </a:xfrm>
        </p:spPr>
        <p:txBody>
          <a:bodyPr>
            <a:normAutofit fontScale="90000"/>
          </a:bodyPr>
          <a:lstStyle/>
          <a:p>
            <a:r>
              <a:rPr lang="en-US" altLang="en-US" b="1" dirty="0" smtClean="0">
                <a:effectLst>
                  <a:outerShdw blurRad="38100" dist="38100" dir="2700000" algn="tl">
                    <a:srgbClr val="000000">
                      <a:alpha val="43137"/>
                    </a:srgbClr>
                  </a:outerShdw>
                </a:effectLst>
              </a:rPr>
              <a:t>Linking Genomic Alterations and Gene Expressions</a:t>
            </a:r>
          </a:p>
        </p:txBody>
      </p:sp>
      <p:sp>
        <p:nvSpPr>
          <p:cNvPr id="8198" name="Rectangle 3"/>
          <p:cNvSpPr>
            <a:spLocks noGrp="1" noChangeArrowheads="1"/>
          </p:cNvSpPr>
          <p:nvPr>
            <p:ph type="body" idx="1"/>
          </p:nvPr>
        </p:nvSpPr>
        <p:spPr>
          <a:xfrm>
            <a:off x="542364" y="1298509"/>
            <a:ext cx="11434483" cy="4588933"/>
          </a:xfrm>
        </p:spPr>
        <p:txBody>
          <a:bodyPr>
            <a:normAutofit lnSpcReduction="10000"/>
          </a:bodyPr>
          <a:lstStyle/>
          <a:p>
            <a:r>
              <a:rPr lang="en-US" altLang="en-US" dirty="0" smtClean="0"/>
              <a:t>Other tabs </a:t>
            </a:r>
            <a:r>
              <a:rPr lang="en-US" altLang="en-US" dirty="0" smtClean="0"/>
              <a:t>include (these may change with different versions of </a:t>
            </a:r>
            <a:r>
              <a:rPr lang="en-US" altLang="en-US" dirty="0" err="1" smtClean="0"/>
              <a:t>cBioPortal</a:t>
            </a:r>
            <a:r>
              <a:rPr lang="en-US" altLang="en-US" dirty="0" smtClean="0"/>
              <a:t>):</a:t>
            </a:r>
            <a:endParaRPr lang="en-US" altLang="en-US" dirty="0" smtClean="0"/>
          </a:p>
          <a:p>
            <a:pPr lvl="1"/>
            <a:r>
              <a:rPr lang="en-US" altLang="en-US" dirty="0" smtClean="0"/>
              <a:t>Cancer types summary.</a:t>
            </a:r>
          </a:p>
          <a:p>
            <a:pPr lvl="1"/>
            <a:r>
              <a:rPr lang="en-US" altLang="en-US" dirty="0" smtClean="0"/>
              <a:t>Mutual exclusivity.</a:t>
            </a:r>
          </a:p>
          <a:p>
            <a:pPr lvl="1"/>
            <a:r>
              <a:rPr lang="en-US" altLang="en-US" dirty="0" smtClean="0"/>
              <a:t>Plots.</a:t>
            </a:r>
          </a:p>
          <a:p>
            <a:pPr lvl="1"/>
            <a:r>
              <a:rPr lang="en-US" altLang="en-US" dirty="0" smtClean="0"/>
              <a:t>Mutations.</a:t>
            </a:r>
          </a:p>
          <a:p>
            <a:pPr lvl="1"/>
            <a:r>
              <a:rPr lang="en-US" altLang="en-US" dirty="0" smtClean="0"/>
              <a:t>Co-expression.</a:t>
            </a:r>
          </a:p>
          <a:p>
            <a:pPr lvl="1"/>
            <a:r>
              <a:rPr lang="en-US" altLang="en-US" dirty="0" smtClean="0"/>
              <a:t>Enrichments.</a:t>
            </a:r>
          </a:p>
          <a:p>
            <a:pPr lvl="1"/>
            <a:r>
              <a:rPr lang="en-US" altLang="en-US" dirty="0" smtClean="0"/>
              <a:t>Survival.</a:t>
            </a:r>
          </a:p>
          <a:p>
            <a:pPr lvl="1"/>
            <a:r>
              <a:rPr lang="en-US" altLang="en-US" dirty="0" smtClean="0"/>
              <a:t>Network.</a:t>
            </a:r>
          </a:p>
          <a:p>
            <a:pPr lvl="1"/>
            <a:r>
              <a:rPr lang="en-US" altLang="en-US" dirty="0" smtClean="0"/>
              <a:t>IGV.</a:t>
            </a:r>
          </a:p>
          <a:p>
            <a:pPr lvl="1"/>
            <a:r>
              <a:rPr lang="en-US" altLang="en-US" dirty="0" smtClean="0"/>
              <a:t>Download.</a:t>
            </a:r>
          </a:p>
          <a:p>
            <a:pPr lvl="1"/>
            <a:r>
              <a:rPr lang="en-US" altLang="en-US" dirty="0" smtClean="0"/>
              <a:t>Bookmark.</a:t>
            </a:r>
          </a:p>
        </p:txBody>
      </p:sp>
      <p:pic>
        <p:nvPicPr>
          <p:cNvPr id="2" name="Picture 1"/>
          <p:cNvPicPr>
            <a:picLocks noChangeAspect="1"/>
          </p:cNvPicPr>
          <p:nvPr/>
        </p:nvPicPr>
        <p:blipFill>
          <a:blip r:embed="rId2"/>
          <a:stretch>
            <a:fillRect/>
          </a:stretch>
        </p:blipFill>
        <p:spPr>
          <a:xfrm>
            <a:off x="4318748" y="2494771"/>
            <a:ext cx="7658100" cy="2486025"/>
          </a:xfrm>
          <a:prstGeom prst="rect">
            <a:avLst/>
          </a:prstGeom>
        </p:spPr>
      </p:pic>
    </p:spTree>
    <p:extLst>
      <p:ext uri="{BB962C8B-B14F-4D97-AF65-F5344CB8AC3E}">
        <p14:creationId xmlns:p14="http://schemas.microsoft.com/office/powerpoint/2010/main" val="3129483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44</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b="1" dirty="0" smtClean="0">
                <a:solidFill>
                  <a:srgbClr val="FFFF00"/>
                </a:solidFill>
              </a:rPr>
              <a:t>Gene alterations with R</a:t>
            </a:r>
            <a:endParaRPr lang="en-US" altLang="en-US" sz="2400" b="1" dirty="0">
              <a:solidFill>
                <a:srgbClr val="FFFF00"/>
              </a:solidFill>
            </a:endParaRPr>
          </a:p>
          <a:p>
            <a:pPr lvl="1"/>
            <a:r>
              <a:rPr lang="en-US" dirty="0"/>
              <a:t>R scripts </a:t>
            </a:r>
            <a:r>
              <a:rPr lang="en-US" dirty="0" smtClean="0"/>
              <a:t>to determine gene alterations</a:t>
            </a:r>
            <a:endParaRPr lang="en-US" altLang="en-US" dirty="0"/>
          </a:p>
        </p:txBody>
      </p:sp>
    </p:spTree>
    <p:extLst>
      <p:ext uri="{BB962C8B-B14F-4D97-AF65-F5344CB8AC3E}">
        <p14:creationId xmlns:p14="http://schemas.microsoft.com/office/powerpoint/2010/main" val="7615876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45</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Gene Alterations with R</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We discussed several packages for gene alterations analysis with R, and there are many more, new packages are added every day:</a:t>
            </a:r>
          </a:p>
          <a:p>
            <a:pPr lvl="1"/>
            <a:r>
              <a:rPr lang="en-US" altLang="en-US" dirty="0" smtClean="0"/>
              <a:t>Mutations</a:t>
            </a:r>
          </a:p>
          <a:p>
            <a:pPr lvl="2"/>
            <a:r>
              <a:rPr lang="en-US" altLang="en-US" dirty="0" err="1" smtClean="0"/>
              <a:t>CancerMutationAnalysis</a:t>
            </a:r>
            <a:endParaRPr lang="en-US" altLang="en-US" dirty="0" smtClean="0"/>
          </a:p>
          <a:p>
            <a:pPr lvl="1"/>
            <a:r>
              <a:rPr lang="en-US" altLang="en-US" dirty="0" smtClean="0"/>
              <a:t>Copy number variations</a:t>
            </a:r>
          </a:p>
          <a:p>
            <a:pPr lvl="2"/>
            <a:r>
              <a:rPr lang="en-US" altLang="en-US" dirty="0" err="1" smtClean="0"/>
              <a:t>seqCNA</a:t>
            </a:r>
            <a:endParaRPr lang="en-US" altLang="en-US" dirty="0" smtClean="0"/>
          </a:p>
          <a:p>
            <a:pPr lvl="2"/>
            <a:r>
              <a:rPr lang="en-US" altLang="en-US" dirty="0" smtClean="0"/>
              <a:t>R-</a:t>
            </a:r>
            <a:r>
              <a:rPr lang="en-US" altLang="en-US" dirty="0" err="1" smtClean="0"/>
              <a:t>Gada</a:t>
            </a:r>
            <a:endParaRPr lang="en-US" altLang="en-US" dirty="0" smtClean="0"/>
          </a:p>
          <a:p>
            <a:pPr lvl="2"/>
            <a:r>
              <a:rPr lang="en-US" altLang="en-US" dirty="0" smtClean="0"/>
              <a:t>CNV-</a:t>
            </a:r>
            <a:r>
              <a:rPr lang="en-US" altLang="en-US" dirty="0" err="1" smtClean="0"/>
              <a:t>seq</a:t>
            </a:r>
            <a:endParaRPr lang="en-US" altLang="en-US" dirty="0" smtClean="0"/>
          </a:p>
          <a:p>
            <a:pPr lvl="1"/>
            <a:r>
              <a:rPr lang="en-US" altLang="en-US" dirty="0" smtClean="0"/>
              <a:t>Methylation</a:t>
            </a:r>
          </a:p>
          <a:p>
            <a:pPr lvl="2"/>
            <a:r>
              <a:rPr lang="en-US" altLang="en-US" dirty="0" err="1" smtClean="0"/>
              <a:t>methyAnalysis</a:t>
            </a:r>
            <a:endParaRPr lang="en-US" altLang="en-US" dirty="0" smtClean="0"/>
          </a:p>
          <a:p>
            <a:pPr lvl="2"/>
            <a:r>
              <a:rPr lang="en-US" altLang="en-US" dirty="0" err="1" smtClean="0"/>
              <a:t>methylPipeline</a:t>
            </a:r>
            <a:r>
              <a:rPr lang="en-US" altLang="en-US" dirty="0" smtClean="0"/>
              <a:t>.</a:t>
            </a:r>
          </a:p>
          <a:p>
            <a:pPr lvl="1"/>
            <a:endParaRPr lang="en-US" altLang="en-US" dirty="0" smtClean="0"/>
          </a:p>
        </p:txBody>
      </p:sp>
    </p:spTree>
    <p:extLst>
      <p:ext uri="{BB962C8B-B14F-4D97-AF65-F5344CB8AC3E}">
        <p14:creationId xmlns:p14="http://schemas.microsoft.com/office/powerpoint/2010/main" val="29876192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46</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a:t>Gene alterations and their </a:t>
            </a:r>
            <a:r>
              <a:rPr lang="en-US" sz="2400" dirty="0" smtClean="0"/>
              <a:t>consequences</a:t>
            </a:r>
          </a:p>
          <a:p>
            <a:pPr lvl="1"/>
            <a:r>
              <a:rPr lang="en-US" dirty="0" smtClean="0"/>
              <a:t>Overview </a:t>
            </a:r>
            <a:r>
              <a:rPr lang="en-US" dirty="0"/>
              <a:t>of </a:t>
            </a:r>
            <a:r>
              <a:rPr lang="en-US" dirty="0" smtClean="0"/>
              <a:t>gene alterations</a:t>
            </a:r>
          </a:p>
          <a:p>
            <a:r>
              <a:rPr lang="en-US" sz="2400" dirty="0"/>
              <a:t>Genetic </a:t>
            </a:r>
            <a:r>
              <a:rPr lang="en-US" sz="2400" dirty="0" smtClean="0"/>
              <a:t>mutations</a:t>
            </a:r>
          </a:p>
          <a:p>
            <a:pPr lvl="1"/>
            <a:r>
              <a:rPr lang="en-US" dirty="0"/>
              <a:t>Finding gene </a:t>
            </a:r>
            <a:r>
              <a:rPr lang="en-US" dirty="0" smtClean="0"/>
              <a:t>mutations</a:t>
            </a:r>
          </a:p>
          <a:p>
            <a:r>
              <a:rPr lang="en-US" sz="2400" dirty="0" smtClean="0"/>
              <a:t>Methylation</a:t>
            </a:r>
          </a:p>
          <a:p>
            <a:pPr lvl="1"/>
            <a:r>
              <a:rPr lang="en-US" dirty="0"/>
              <a:t>Finding </a:t>
            </a:r>
            <a:r>
              <a:rPr lang="en-US" dirty="0" smtClean="0"/>
              <a:t>methylated genes</a:t>
            </a:r>
          </a:p>
          <a:p>
            <a:r>
              <a:rPr lang="en-US" sz="2400" dirty="0"/>
              <a:t>Copy number </a:t>
            </a:r>
            <a:r>
              <a:rPr lang="en-US" sz="2400" dirty="0" smtClean="0"/>
              <a:t>alterations</a:t>
            </a:r>
          </a:p>
          <a:p>
            <a:pPr lvl="1"/>
            <a:r>
              <a:rPr lang="en-US" dirty="0" smtClean="0"/>
              <a:t>Finding copy number alterations</a:t>
            </a:r>
          </a:p>
          <a:p>
            <a:r>
              <a:rPr lang="en-US" sz="2400" dirty="0"/>
              <a:t>Genomic alterations and gene </a:t>
            </a:r>
            <a:r>
              <a:rPr lang="en-US" sz="2400" dirty="0" smtClean="0"/>
              <a:t>expressions</a:t>
            </a:r>
          </a:p>
          <a:p>
            <a:pPr lvl="1"/>
            <a:r>
              <a:rPr lang="en-US" dirty="0"/>
              <a:t> Linking genomic alterations and gene expressions </a:t>
            </a:r>
          </a:p>
          <a:p>
            <a:r>
              <a:rPr lang="en-US" altLang="en-US" sz="2400" dirty="0" smtClean="0"/>
              <a:t>Gene alterations with R</a:t>
            </a:r>
            <a:endParaRPr lang="en-US" altLang="en-US" sz="2400" dirty="0"/>
          </a:p>
          <a:p>
            <a:pPr lvl="1"/>
            <a:r>
              <a:rPr lang="en-US" b="1" dirty="0">
                <a:solidFill>
                  <a:srgbClr val="FFFF00"/>
                </a:solidFill>
              </a:rPr>
              <a:t>R scripts </a:t>
            </a:r>
            <a:r>
              <a:rPr lang="en-US" b="1" dirty="0" smtClean="0">
                <a:solidFill>
                  <a:srgbClr val="FFFF00"/>
                </a:solidFill>
              </a:rPr>
              <a:t>to determine gene alterations</a:t>
            </a:r>
            <a:endParaRPr lang="en-US" altLang="en-US" b="1" dirty="0">
              <a:solidFill>
                <a:srgbClr val="FFFF00"/>
              </a:solidFill>
            </a:endParaRPr>
          </a:p>
        </p:txBody>
      </p:sp>
    </p:spTree>
    <p:extLst>
      <p:ext uri="{BB962C8B-B14F-4D97-AF65-F5344CB8AC3E}">
        <p14:creationId xmlns:p14="http://schemas.microsoft.com/office/powerpoint/2010/main" val="7702238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47</a:t>
            </a:fld>
            <a:endParaRPr lang="en-US" altLang="en-US" sz="1400"/>
          </a:p>
        </p:txBody>
      </p:sp>
      <p:sp>
        <p:nvSpPr>
          <p:cNvPr id="401410" name="Rectangle 2"/>
          <p:cNvSpPr>
            <a:spLocks noGrp="1" noChangeArrowheads="1"/>
          </p:cNvSpPr>
          <p:nvPr>
            <p:ph type="title"/>
          </p:nvPr>
        </p:nvSpPr>
        <p:spPr>
          <a:xfrm>
            <a:off x="905967" y="0"/>
            <a:ext cx="10454760" cy="944217"/>
          </a:xfrm>
        </p:spPr>
        <p:txBody>
          <a:bodyPr vert="horz" lIns="92075" tIns="46038" rIns="92075" bIns="46038" rtlCol="0" anchor="b">
            <a:noAutofit/>
          </a:bodyPr>
          <a:lstStyle/>
          <a:p>
            <a:r>
              <a:rPr lang="en-US" altLang="en-US" b="1" dirty="0" smtClean="0">
                <a:effectLst>
                  <a:outerShdw blurRad="38100" dist="38100" dir="2700000" algn="tl">
                    <a:srgbClr val="000000">
                      <a:alpha val="43137"/>
                    </a:srgbClr>
                  </a:outerShdw>
                </a:effectLst>
              </a:rPr>
              <a:t>R Scripts to Determine Gene Alterations</a:t>
            </a:r>
            <a:endParaRPr lang="en-US" altLang="en-US" b="1" dirty="0">
              <a:effectLst>
                <a:outerShdw blurRad="38100" dist="38100" dir="2700000" algn="tl">
                  <a:srgbClr val="000000">
                    <a:alpha val="43137"/>
                  </a:srgbClr>
                </a:outerShdw>
              </a:effectLst>
            </a:endParaRPr>
          </a:p>
        </p:txBody>
      </p:sp>
      <p:sp>
        <p:nvSpPr>
          <p:cNvPr id="7174" name="Rectangle 3"/>
          <p:cNvSpPr>
            <a:spLocks noGrp="1" noChangeArrowheads="1"/>
          </p:cNvSpPr>
          <p:nvPr>
            <p:ph type="body" idx="1"/>
          </p:nvPr>
        </p:nvSpPr>
        <p:spPr>
          <a:xfrm>
            <a:off x="1509330" y="1875155"/>
            <a:ext cx="9074727" cy="2804421"/>
          </a:xfrm>
          <a:noFill/>
        </p:spPr>
        <p:txBody>
          <a:bodyPr vert="horz" lIns="92075" tIns="46038" rIns="92075" bIns="46038" rtlCol="0">
            <a:normAutofit/>
          </a:bodyPr>
          <a:lstStyle/>
          <a:p>
            <a:r>
              <a:rPr lang="en-US" altLang="en-US" dirty="0"/>
              <a:t>Watch the video</a:t>
            </a:r>
          </a:p>
          <a:p>
            <a:endParaRPr lang="en-US" altLang="en-US" dirty="0"/>
          </a:p>
          <a:p>
            <a:r>
              <a:rPr lang="en-US" altLang="en-US" dirty="0"/>
              <a:t>Start </a:t>
            </a:r>
            <a:r>
              <a:rPr lang="en-US" altLang="en-US" dirty="0" err="1"/>
              <a:t>Jupyter</a:t>
            </a:r>
            <a:r>
              <a:rPr lang="en-US" altLang="en-US" dirty="0"/>
              <a:t> notebook from the provided link</a:t>
            </a:r>
          </a:p>
          <a:p>
            <a:pPr marL="0" indent="0">
              <a:lnSpc>
                <a:spcPct val="90000"/>
              </a:lnSpc>
              <a:buNone/>
            </a:pPr>
            <a:endParaRPr lang="en-US" altLang="en-US" dirty="0"/>
          </a:p>
        </p:txBody>
      </p:sp>
    </p:spTree>
    <p:extLst>
      <p:ext uri="{BB962C8B-B14F-4D97-AF65-F5344CB8AC3E}">
        <p14:creationId xmlns:p14="http://schemas.microsoft.com/office/powerpoint/2010/main" val="2278597563"/>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11094</TotalTime>
  <Words>2564</Words>
  <Application>Microsoft Office PowerPoint</Application>
  <PresentationFormat>Widescreen</PresentationFormat>
  <Paragraphs>516</Paragraphs>
  <Slides>47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Calibri</vt:lpstr>
      <vt:lpstr>Calibri Light</vt:lpstr>
      <vt:lpstr>Times New Roman</vt:lpstr>
      <vt:lpstr>Wingdings 2</vt:lpstr>
      <vt:lpstr>HDOfficeLightV0</vt:lpstr>
      <vt:lpstr>Module 5</vt:lpstr>
      <vt:lpstr>Outline</vt:lpstr>
      <vt:lpstr>Learning Objectives</vt:lpstr>
      <vt:lpstr>Introduction to Module</vt:lpstr>
      <vt:lpstr>Outline</vt:lpstr>
      <vt:lpstr>Gene Alterations and their Consequences</vt:lpstr>
      <vt:lpstr>Outline</vt:lpstr>
      <vt:lpstr>Overview of Gene Alterations</vt:lpstr>
      <vt:lpstr>Overview of Gene Alterations</vt:lpstr>
      <vt:lpstr>Overview of Gene Alterations</vt:lpstr>
      <vt:lpstr>Overview of Gene Alterations</vt:lpstr>
      <vt:lpstr>Overview of Gene Alterations</vt:lpstr>
      <vt:lpstr>Outline</vt:lpstr>
      <vt:lpstr>Genetic Mutations</vt:lpstr>
      <vt:lpstr>Genetic Mutations</vt:lpstr>
      <vt:lpstr>Genetic Mutations</vt:lpstr>
      <vt:lpstr>Genetic Mutations</vt:lpstr>
      <vt:lpstr>Genetic Mutations</vt:lpstr>
      <vt:lpstr>Outline</vt:lpstr>
      <vt:lpstr>Finding Gene Mutations</vt:lpstr>
      <vt:lpstr>Finding Gene Mutations</vt:lpstr>
      <vt:lpstr>Finding Gene Mutations</vt:lpstr>
      <vt:lpstr>Outline</vt:lpstr>
      <vt:lpstr>Methylation</vt:lpstr>
      <vt:lpstr>Methylation</vt:lpstr>
      <vt:lpstr>Outline</vt:lpstr>
      <vt:lpstr>Finding Methylated Genes</vt:lpstr>
      <vt:lpstr>Finding Methylated Genes</vt:lpstr>
      <vt:lpstr>Finding Methylated Genes</vt:lpstr>
      <vt:lpstr>Outline</vt:lpstr>
      <vt:lpstr>Copy Number Alterations</vt:lpstr>
      <vt:lpstr>Outline</vt:lpstr>
      <vt:lpstr>Finding Copy Number Alterations</vt:lpstr>
      <vt:lpstr>Finding Copy Number Alterations</vt:lpstr>
      <vt:lpstr>Finding Copy Number Alterations</vt:lpstr>
      <vt:lpstr>Finding Copy Number Alterations</vt:lpstr>
      <vt:lpstr>Outline</vt:lpstr>
      <vt:lpstr>Genomic Alterations and Gene Expressions</vt:lpstr>
      <vt:lpstr>Outline</vt:lpstr>
      <vt:lpstr>Linking Genomic Alterations and Gene Expressions</vt:lpstr>
      <vt:lpstr>Linking Genomic Alterations and Gene Expressions</vt:lpstr>
      <vt:lpstr>Linking Genomic Alterations and Gene Expressions</vt:lpstr>
      <vt:lpstr>Linking Genomic Alterations and Gene Expressions</vt:lpstr>
      <vt:lpstr>Outline</vt:lpstr>
      <vt:lpstr>Gene Alterations with R</vt:lpstr>
      <vt:lpstr>Outline</vt:lpstr>
      <vt:lpstr>R Scripts to Determine Gene Alterations</vt:lpstr>
    </vt:vector>
  </TitlesOfParts>
  <Company>SUNY Oswego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Isabelle Bichindaritz</dc:creator>
  <cp:lastModifiedBy>Isabelle Bichindaritz</cp:lastModifiedBy>
  <cp:revision>442</cp:revision>
  <cp:lastPrinted>2016-08-12T15:29:56Z</cp:lastPrinted>
  <dcterms:created xsi:type="dcterms:W3CDTF">2016-07-10T19:12:56Z</dcterms:created>
  <dcterms:modified xsi:type="dcterms:W3CDTF">2016-09-23T02:46:55Z</dcterms:modified>
</cp:coreProperties>
</file>